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8" d="100"/>
          <a:sy n="88" d="100"/>
        </p:scale>
        <p:origin x="72" y="4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406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各位评委老师好,我是 XXX,我今天答辩的题目是《智能食物营养分析系统——从图像识别到智能问答的端到端方法学研究》。本系统围绕食物识别、分量估计、多盘菜分析与智能问答四个递进问题展开,核心贡献是从通用大模型路线的失败中提炼出"热量反推 + 领域先验"的方法论转向。下面进入正文。</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整个答辩分为六章,共 30 页。前两章铺垫背景与第一问食物识别;第三章是核心——第二问分量估计的方法论转向;第四章呈现第三、四问的系统设计;最后两章分析失败并提炼结论。我会在第三章停留最久,因为这是本研究最有方法论价值的部分。</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食物分析在智能饮食记录与慢性病管理中具有重要价值,但现实场景面临三大挑战:第一是细粒度识别——中餐数万菜品,类间视觉差异极细微;第二是分量估计——从单张 RGB 图估计绝对克数,本质是"视觉-物理映射"问题;第三是多盘菜集成——真实餐桌包含多道菜,需检测、分割、汇总加自然交互。这三问构成今天答辩的主轴。</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进入第一问——食物识别实验。我们关注零样本分类场景,即模型在训练阶段未见过目标类别。</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我们使用 MM-Food-100K 数据集,但聚焦前 55 类高频食物共 6,749 张测试图,更贴近真实场景。对比三个模型:Chinese-CLIP、English-CLIP、Qwen2-VL-2B。评估指标是 Top-1 ≥ 60% 与 Top-5 ≥ 85%。基于表现最好的 English-CLIP,设计 2×2 消融实验,验证检测器(OWL-ViT)和 CoT 推理的增益。</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基线对比显示,English-CLIP 双指标达标——Top-1 62.14% / Top-5 94.74%。关键发现是语言对齐至关重要:English-CLIP 比 Chinese-CLIP 高出 17.49 个百分点,因为英文类别名匹配英文 CLIP 时语义对齐更精确;而 Qwen2-VL 仅 38%,生成式推理在固定类别列表场景下不如 CLIP 的度量学习有效。</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消融实验表明,检测器贡献 +4.00%,因为它帮助模型聚焦食物主体;CoT 推理贡献 +2.50%,引导逻辑验证。两者叠加达到 68.64% Top-1,协同增益 6.50%。这说明简单的检测聚焦和思维链引导对零样本分类仍有可挖掘的提升空间。</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跨场景泛化结果显示,模型在真实拍摄照片上保持 62.16% 准确率,与整体持平,说明泛化能力良好。第一问小结:English-CLIP + 检测器 + CoT 的完整方案在 55 类高频食物上达到 68.64% Top-1,验证视觉语言模型在零样本食物识别中的有效性。</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接下来进入第二问——食物分量估计,这是本研究的核心方法学部分。</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分量估计面临三大独特挑战:形状不规则——食物缺乏可预测几何结构;深度信息缺失——单张 RGB 不含绝对尺度;密度差异显著——不同类别密度跨度大。这三点决定这是一个典型的"视觉-物理映射"问题,而非语义理解问题。</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第一条路线是 SAM 分割加 MiDaS 深度估计,但每环节都有显著误差:SAM 对透明容器和边缘模糊场景误差 ±20-30%;MiDaS 输出相对深度无法换算绝对尺度,误差 &gt;50%;几何假设对不规则食物近似不可控;密度赋值固定值又 ±20-50%。误差以乘积关系累积,最终 &gt;200%,方案完全不可行。</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第二条路线是 Qwen-VL 端到端回归,设计假设本应有多模态理解和 Prompt 直接输出优势,但实际失败:任务不匹配,同图多次推理波动 ±50g;倾向输出整数,无精细差异。典型案例苹果 180g 被预测 150-250g 波动,鸡蛋 55g 被系统性高估为 80-120g。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第三条路线单目 3D 重建因数学欠定也失败。这一连串失败让我们提炼出关键认识:食物重量估计本质是"视觉-物理映射"而非"语义理解"。核心创意是反推链路:图像 → 识别类别 → 查密度 → CalorieCLIP 估热 → 重量 = 热量 / 密度。优势在于热量是食物固有属性,与拍摄角度光照无关;营养库提供标准化先验;估计相对热量比绝对重量更稳定。这一转向是本研究的核心方法学贡献。</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在反推框架下,我们对比四个融合实验。Exp1(A+B+C)MAE 204.31g,因 A 模型污染;Exp2 仍启用 A,MAE 199.51g 仍未解决;Exp3(B_fix+C)MAE 49.43g 达标最优;Exp4 加 MLP 学习融合,MAE 79.20g 反而退化。关键发现:剔除劣质模型比引入复杂融合层更有效。</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最优方案是 CalorieCLIP 加类别级线性校准:ŷ = α_c · y + β_c。原始预测 MAE 126.96g,校准后达到 MAE 21.34g、RE 14.34%,性能提升 MAE 降 83.2%,RE 降 90.1%。这是本研究在第二问的最终方案。</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第二问小结:通用大模型 SAM+MiDaS 与 Qwen-VL 均失败(MAE &gt;100g);轻量专用直接方案 Exp3 达 49.43g;CalorieCLIP + 校准达 21.34g 最优。核心结论:在物理量估计任务中,领域先验知识(密度、热量)比追求更大模型容量更重要。</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进入第三、四问——多盘菜营养分析系统,关注系统集成与自然交互。</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系统采用四层端到端架构:用户交互层(命令行/Gradio Web/Ollama+Qwen2.5);智能体核心层(对话记忆/上下文理解/个性化建议);视觉分析层(YOLOv8 盘检测/SAM 精分割/CalorieCLIP 热量);数据层(中国食物成分数据库 1,657 条)。各层解耦设计便于独立优化。</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多盘菜分割采用四阶段流水线:YOLO 检测盘子/碗区域生成候选框;SAM 精分割获得精确区域;OpenCV 兜底处理完全检测不到的情形;网格切分作为最终兜底。设计原则是检测到 N 盘保持 N,不强制切分,以多级降级保证系统鲁棒性。</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一桌两盘菜实验结果显示:鸡肉松 90.0g/395.8kcal,米饭 412.9g/478.9kcal,总计 502.9g/874.7kcal,蛋白质 17.2g、脂肪 16.0g、碳水 166.1g。系统能正确汇总多盘菜营养信息。</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智能问答基于 Ollama + Qwen2.5,包含三个子模块:对话记忆维护多轮历史支持指代消解;上下文理解结合结构化食物数据和用户健康画像;个性化建议针对减脂/增肌目标定制。</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交互示例展示三轮对话:用户上传图像,系统主动报告总热量 874.7kcal 占每日 43.7%;用户问热量高低,系统解释占比;用户问番茄炒蛋蛋白质,系统回答未检测到该菜品,当前总计 17.2g。展示系统能正确处理多轮上下文与"幻觉"拒绝。</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进入失败案例分析。第一问有四种典型失败模式:细粒度混淆 35%(如 Fried Chicken 误识为 Fried Chicken Wings,视觉相似度高);垃圾桶效应 25%(宽泛类别如 Mixed Chinese Dishes 吸收不确定样本);水果混淆 15%(Apple 与 Lychee 圆形颜色接近);跨类严重错误 10%(Sushi 误识为 Mapo Tofu)。</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第二问 Exp1-4 融合实验对比:Exp1 A 模型异常值污染严重度五星;Exp2 A 仍异常 + B 系统性偏低;Exp3 B/C 同向偏差严重度两星;Exp4 MLP 过度压缩严重度四星。关键洞察:A 模型完全失败是融合隐形杀手;简单加权优于 MLP;C 固定值需类别内回归;B 与 C 互补最关键。</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第三问有三个系统级典型失败:食物分类不准——"鸡肉"误识为"鸡肉松",颜色规则粗糙,改用 CLIP 零样本;热量预测偏高——米饭 412g 远超正常 150-200g,缺像素-厘米参照,加参照物检测;区域切分过大——网格覆盖 1/4 图,缺盘子级分割,优化 YOLO 训练。共性是通用方法缺乏食物领域先验。</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四条贯穿全研究的关键洞察:第一,pred_A 模型完全失败,异常值污染是融合的隐形杀手;第二,简单加权优于 MLP,复杂度不等于效果;第三,pred_C 固定值需类别内回归,同类样本差异大;第四,B 与 C 互补是关键,异向偏差时融合最有效。剔除劣质模块比引入复杂融合更有效——这是核心原则。</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本研究产出七条核心结论:一,语言对齐决定零样本分类效果;二,检测器+CoT 协同增益 6.50%;三,通用大模型不适用于重量估计;四(核心),热量反推是重量估计有效路径;五,轻量专用优于通用大模型;六,精简融合优于复杂融合;七,多级分割保证系统鲁棒性。这七条贯穿识别到系统集成的端到端方法学链路。</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实验全景汇总:第一问 Top-1 68.64%;第二问 MAE 21.34g/RE 14.34%;第三问 2 盘菜 874.7kcal;第四问多轮对话+上下文记忆。统一主线是"视觉感知 + 专业模型 + 大语言模型",四问贯穿同一方法学理念:领域先验优于盲目堆叠模型容量。</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核心启示:在物理量估计任务中,领域先验知识比模型容量更重要。未来四方向:扩展更多食物类别校准参数;加入参照物检测解决像素-厘米尺度;使用专用食物分类模型替代 CLIP;引入多视角或多模态传感器突破单目理论限制。</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以上是我的答辩内容,感谢指导教师、同学讨论和开源工具的支持。本研究从图像识别到智能问答,端到端方法学探索的过程本身就是最大收获。欢迎评委老师提问与指导,谢谢!</a:t>
            </a:r>
          </a:p>
          <a:p>
            <a:endParaRPr lang="zh-CN" dirty="0"/>
          </a:p>
          <a:p>
            <a:r>
              <a:rPr lang="zh-CN" dirty="0"/>
              <a:t>Q&amp;A 准备要点(5 分钟,常见问题预案)</a:t>
            </a:r>
          </a:p>
          <a:p>
            <a:endParaRPr lang="zh-CN" dirty="0"/>
          </a:p>
          <a:p>
            <a:r>
              <a:rPr lang="zh-CN" dirty="0"/>
              <a:t>1. Q: 为什么不直接微调 CLIP?</a:t>
            </a:r>
          </a:p>
          <a:p>
            <a:r>
              <a:rPr lang="zh-CN" dirty="0"/>
              <a:t>A: 零样本场景是研究的核心约束——很多食物类别训练样本稀少,微调会过拟合到训练分布。我们用检测器 + CoT 拿到 +6.50% 的零样本增益,更符合实际部署需求。</a:t>
            </a:r>
          </a:p>
          <a:p>
            <a:endParaRPr lang="zh-CN" dirty="0"/>
          </a:p>
          <a:p>
            <a:r>
              <a:rPr lang="zh-CN" dirty="0"/>
              <a:t>2. Q: CalorieCLIP 的训练数据从哪来?</a:t>
            </a:r>
          </a:p>
          <a:p>
            <a:r>
              <a:rPr lang="zh-CN" dirty="0"/>
              <a:t>A: 使用带有热量标注的食物图像数据集训练,以 kcal 为回归目标。校准阶段只在训练集拟合 α_c、β_c,测试集不参与,避免数据泄漏。</a:t>
            </a:r>
          </a:p>
          <a:p>
            <a:endParaRPr lang="zh-CN" dirty="0"/>
          </a:p>
          <a:p>
            <a:r>
              <a:rPr lang="zh-CN" dirty="0"/>
              <a:t>3. Q: SAM 在第二问失败,为什么第三问又用了?</a:t>
            </a:r>
          </a:p>
          <a:p>
            <a:r>
              <a:rPr lang="zh-CN" dirty="0"/>
              <a:t>A: SAM 在第二问是用于"几何重建",对透明容器和边缘模糊失败;在第三问只用于"区域分割",失败时可由 OpenCV 与网格兜底,任务难度不同。多级降级是关键。</a:t>
            </a:r>
          </a:p>
          <a:p>
            <a:endParaRPr lang="zh-CN" dirty="0"/>
          </a:p>
          <a:p>
            <a:r>
              <a:rPr lang="zh-CN" dirty="0"/>
              <a:t>4. Q: 21.34g 的 MAE 在实际应用中够用吗?</a:t>
            </a:r>
          </a:p>
          <a:p>
            <a:r>
              <a:rPr lang="zh-CN" dirty="0"/>
              <a:t>A: 相对误差 14.34% 已优于通用大模型 100-200% 的水平,且通过类别校准还可继续优化。在饮食记录场景下,这一精度足以支撑日热量追踪和慢性病管理参考。</a:t>
            </a:r>
          </a:p>
          <a:p>
            <a:endParaRPr lang="zh-CN" dirty="0"/>
          </a:p>
          <a:p>
            <a:r>
              <a:rPr lang="zh-CN" dirty="0"/>
              <a:t>5. Q: 为什么不直接用 GPT-4V 等更大模型?</a:t>
            </a:r>
          </a:p>
          <a:p>
            <a:r>
              <a:rPr lang="zh-CN" dirty="0"/>
              <a:t>A: 实验显示 Qwen2-VL-2B 在重量回归任务已失败,生成式大模型学的是语义统计而非物理映射。模型容量增加无法解决"视觉-物理映射"的本质困难——这正是本研究的核心启示。</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2"/>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0D2A4F"/>
                </a:gs>
                <a:gs pos="60000">
                  <a:srgbClr val="1565C0"/>
                </a:gs>
                <a:gs pos="100000">
                  <a:srgbClr val="5C6BC0"/>
                </a:gs>
              </a:gsLst>
              <a:lin ang="2700000" scaled="1"/>
            </a:gradFill>
            <a:ln>
              <a:noFill/>
            </a:ln>
          </p:spPr>
        </p:sp>
        <p:sp>
          <p:nvSpPr>
            <p:cNvPr id="3" name="Rectangle 3"/>
            <p:cNvSpPr/>
            <p:nvPr/>
          </p:nvSpPr>
          <p:spPr>
            <a:xfrm>
              <a:off x="0" y="0"/>
              <a:ext cx="12192000" cy="6858000"/>
            </a:xfrm>
            <a:prstGeom prst="rect">
              <a:avLst/>
            </a:prstGeom>
            <a:gradFill>
              <a:gsLst>
                <a:gs pos="0">
                  <a:srgbClr val="FF8F00">
                    <a:alpha val="18000"/>
                  </a:srgbClr>
                </a:gs>
                <a:gs pos="100000">
                  <a:srgbClr val="FF8F00">
                    <a:alpha val="0"/>
                  </a:srgbClr>
                </a:gs>
              </a:gsLst>
              <a:path path="circle">
                <a:fillToRect l="50000" t="50000" r="50000" b="50000"/>
              </a:path>
            </a:gradFill>
            <a:ln>
              <a:noFill/>
            </a:ln>
          </p:spPr>
        </p:sp>
        <p:sp>
          <p:nvSpPr>
            <p:cNvPr id="4" name="Ellipse 4"/>
            <p:cNvSpPr/>
            <p:nvPr/>
          </p:nvSpPr>
          <p:spPr>
            <a:xfrm>
              <a:off x="10639425" y="1114425"/>
              <a:ext cx="57150" cy="57150"/>
            </a:xfrm>
            <a:prstGeom prst="ellipse">
              <a:avLst/>
            </a:prstGeom>
            <a:solidFill>
              <a:srgbClr val="FFFFFF">
                <a:alpha val="25000"/>
              </a:srgbClr>
            </a:solidFill>
            <a:ln>
              <a:noFill/>
            </a:ln>
          </p:spPr>
        </p:sp>
        <p:sp>
          <p:nvSpPr>
            <p:cNvPr id="5" name="Ellipse 5"/>
            <p:cNvSpPr/>
            <p:nvPr/>
          </p:nvSpPr>
          <p:spPr>
            <a:xfrm>
              <a:off x="10934700" y="1314450"/>
              <a:ext cx="38100" cy="38100"/>
            </a:xfrm>
            <a:prstGeom prst="ellipse">
              <a:avLst/>
            </a:prstGeom>
            <a:solidFill>
              <a:srgbClr val="FFFFFF">
                <a:alpha val="20000"/>
              </a:srgbClr>
            </a:solidFill>
            <a:ln>
              <a:noFill/>
            </a:ln>
          </p:spPr>
        </p:sp>
        <p:sp>
          <p:nvSpPr>
            <p:cNvPr id="6" name="Ellipse 6"/>
            <p:cNvSpPr/>
            <p:nvPr/>
          </p:nvSpPr>
          <p:spPr>
            <a:xfrm>
              <a:off x="10406062" y="1452562"/>
              <a:ext cx="47625" cy="47625"/>
            </a:xfrm>
            <a:prstGeom prst="ellipse">
              <a:avLst/>
            </a:prstGeom>
            <a:solidFill>
              <a:srgbClr val="FFFFFF">
                <a:alpha val="18000"/>
              </a:srgbClr>
            </a:solidFill>
            <a:ln>
              <a:noFill/>
            </a:ln>
          </p:spPr>
        </p:sp>
        <p:sp>
          <p:nvSpPr>
            <p:cNvPr id="7" name="Ellipse 7"/>
            <p:cNvSpPr/>
            <p:nvPr/>
          </p:nvSpPr>
          <p:spPr>
            <a:xfrm>
              <a:off x="11172825" y="933450"/>
              <a:ext cx="38100" cy="38100"/>
            </a:xfrm>
            <a:prstGeom prst="ellipse">
              <a:avLst/>
            </a:prstGeom>
            <a:solidFill>
              <a:srgbClr val="FF8F00">
                <a:alpha val="35000"/>
              </a:srgbClr>
            </a:solidFill>
            <a:ln>
              <a:noFill/>
            </a:ln>
          </p:spPr>
        </p:sp>
        <p:sp>
          <p:nvSpPr>
            <p:cNvPr id="8" name="Ellipse 8"/>
            <p:cNvSpPr/>
            <p:nvPr/>
          </p:nvSpPr>
          <p:spPr>
            <a:xfrm>
              <a:off x="1304925" y="5686425"/>
              <a:ext cx="57150" cy="57150"/>
            </a:xfrm>
            <a:prstGeom prst="ellipse">
              <a:avLst/>
            </a:prstGeom>
            <a:solidFill>
              <a:srgbClr val="FFFFFF">
                <a:alpha val="22000"/>
              </a:srgbClr>
            </a:solidFill>
            <a:ln>
              <a:noFill/>
            </a:ln>
          </p:spPr>
        </p:sp>
        <p:sp>
          <p:nvSpPr>
            <p:cNvPr id="9" name="Ellipse 9"/>
            <p:cNvSpPr/>
            <p:nvPr/>
          </p:nvSpPr>
          <p:spPr>
            <a:xfrm>
              <a:off x="1028700" y="5886450"/>
              <a:ext cx="38100" cy="38100"/>
            </a:xfrm>
            <a:prstGeom prst="ellipse">
              <a:avLst/>
            </a:prstGeom>
            <a:solidFill>
              <a:srgbClr val="FFFFFF">
                <a:alpha val="18000"/>
              </a:srgbClr>
            </a:solidFill>
            <a:ln>
              <a:noFill/>
            </a:ln>
          </p:spPr>
        </p:sp>
        <p:sp>
          <p:nvSpPr>
            <p:cNvPr id="10" name="Ellipse 10"/>
            <p:cNvSpPr/>
            <p:nvPr/>
          </p:nvSpPr>
          <p:spPr>
            <a:xfrm>
              <a:off x="1595438" y="5453062"/>
              <a:ext cx="47625" cy="47625"/>
            </a:xfrm>
            <a:prstGeom prst="ellipse">
              <a:avLst/>
            </a:prstGeom>
            <a:solidFill>
              <a:srgbClr val="FF8F00">
                <a:alpha val="30000"/>
              </a:srgbClr>
            </a:solidFill>
            <a:ln>
              <a:noFill/>
            </a:ln>
          </p:spPr>
        </p:sp>
        <p:sp>
          <p:nvSpPr>
            <p:cNvPr id="11" name="Line 11"/>
            <p:cNvSpPr/>
            <p:nvPr/>
          </p:nvSpPr>
          <p:spPr>
            <a:xfrm>
              <a:off x="5143500" y="2762250"/>
              <a:ext cx="1905000" cy="9525"/>
            </a:xfrm>
            <a:custGeom>
              <a:avLst/>
              <a:gdLst/>
              <a:ahLst/>
              <a:cxnLst/>
              <a:rect l="l" t="t" r="r" b="b"/>
              <a:pathLst>
                <a:path w="1905000" h="9525">
                  <a:moveTo>
                    <a:pt x="0" y="0"/>
                  </a:moveTo>
                  <a:lnTo>
                    <a:pt x="1905000" y="0"/>
                  </a:lnTo>
                </a:path>
              </a:pathLst>
            </a:custGeom>
            <a:noFill/>
            <a:ln w="19050" cap="rnd">
              <a:solidFill>
                <a:srgbClr val="FF8F00">
                  <a:alpha val="85000"/>
                </a:srgbClr>
              </a:solidFill>
            </a:ln>
          </p:spPr>
        </p:sp>
      </p:grpSp>
      <p:grpSp>
        <p:nvGrpSpPr>
          <p:cNvPr id="17" name="Group 17"/>
          <p:cNvGrpSpPr/>
          <p:nvPr/>
        </p:nvGrpSpPr>
        <p:grpSpPr>
          <a:xfrm>
            <a:off x="2281284" y="2013585"/>
            <a:ext cx="7698105" cy="2458698"/>
            <a:chOff x="2281284" y="2013585"/>
            <a:chExt cx="7698105" cy="2458698"/>
          </a:xfrm>
        </p:grpSpPr>
        <p:sp>
          <p:nvSpPr>
            <p:cNvPr id="13" name="TextBox 13"/>
            <p:cNvSpPr txBox="1"/>
            <p:nvPr/>
          </p:nvSpPr>
          <p:spPr>
            <a:xfrm>
              <a:off x="4791199" y="2013585"/>
              <a:ext cx="2609602" cy="243840"/>
            </a:xfrm>
            <a:prstGeom prst="rect">
              <a:avLst/>
            </a:prstGeom>
            <a:noFill/>
            <a:ln>
              <a:noFill/>
            </a:ln>
          </p:spPr>
          <p:txBody>
            <a:bodyPr wrap="none" lIns="0" tIns="0" rIns="0" bIns="0" anchor="t" anchorCtr="0">
              <a:spAutoFit/>
            </a:bodyPr>
            <a:lstStyle/>
            <a:p>
              <a:pPr algn="ctr"/>
              <a:r>
                <a:rPr lang="zh-CN" sz="1200" b="1" dirty="0">
                  <a:solidFill>
                    <a:srgbClr val="FFFFFF">
                      <a:alphaMod val="75000"/>
                    </a:srgbClr>
                  </a:solidFill>
                  <a:latin typeface="Cambria"/>
                  <a:ea typeface="SimSun"/>
                  <a:cs typeface="Cambria"/>
                </a:rPr>
                <a:t>2026 COURSE PROJECT · DEFENSE</a:t>
              </a:r>
            </a:p>
          </p:txBody>
        </p:sp>
        <p:sp>
          <p:nvSpPr>
            <p:cNvPr id="14" name="TextBox 14"/>
            <p:cNvSpPr txBox="1"/>
            <p:nvPr/>
          </p:nvSpPr>
          <p:spPr>
            <a:xfrm>
              <a:off x="2281284" y="2812257"/>
              <a:ext cx="7698105" cy="1097280"/>
            </a:xfrm>
            <a:prstGeom prst="rect">
              <a:avLst/>
            </a:prstGeom>
            <a:noFill/>
            <a:ln>
              <a:noFill/>
            </a:ln>
          </p:spPr>
          <p:txBody>
            <a:bodyPr wrap="none" lIns="0" tIns="0" rIns="0" bIns="0" anchor="t" anchorCtr="0">
              <a:spAutoFit/>
            </a:bodyPr>
            <a:lstStyle/>
            <a:p>
              <a:pPr algn="ctr"/>
              <a:r>
                <a:rPr lang="zh-CN" sz="5400" b="1" dirty="0">
                  <a:gradFill>
                    <a:gsLst>
                      <a:gs pos="0">
                        <a:srgbClr val="FFFFFF"/>
                      </a:gs>
                      <a:gs pos="100000">
                        <a:srgbClr val="FFB300"/>
                      </a:gs>
                    </a:gsLst>
                    <a:lin ang="0" scaled="1"/>
                  </a:gradFill>
                  <a:latin typeface="Cambria"/>
                  <a:ea typeface="SimSun"/>
                  <a:cs typeface="Cambria"/>
                </a:rPr>
                <a:t>智能食物营养分析系统</a:t>
              </a:r>
            </a:p>
          </p:txBody>
        </p:sp>
        <p:sp>
          <p:nvSpPr>
            <p:cNvPr id="15" name="TextBox 15"/>
            <p:cNvSpPr txBox="1"/>
            <p:nvPr/>
          </p:nvSpPr>
          <p:spPr>
            <a:xfrm>
              <a:off x="3792855" y="3742044"/>
              <a:ext cx="4606290" cy="365760"/>
            </a:xfrm>
            <a:prstGeom prst="rect">
              <a:avLst/>
            </a:prstGeom>
            <a:noFill/>
            <a:ln>
              <a:noFill/>
            </a:ln>
          </p:spPr>
          <p:txBody>
            <a:bodyPr wrap="none" lIns="0" tIns="0" rIns="0" bIns="0" anchor="t" anchorCtr="0">
              <a:spAutoFit/>
            </a:bodyPr>
            <a:lstStyle/>
            <a:p>
              <a:pPr algn="ctr"/>
              <a:r>
                <a:rPr lang="zh-CN" sz="1800" dirty="0">
                  <a:solidFill>
                    <a:srgbClr val="FFFFFF">
                      <a:alphaMod val="92000"/>
                    </a:srgbClr>
                  </a:solidFill>
                  <a:latin typeface="Arial"/>
                  <a:ea typeface="Microsoft YaHei"/>
                  <a:cs typeface="Arial"/>
                </a:rPr>
                <a:t>从图像识别到智能问答的端到端方法学研究</a:t>
              </a:r>
            </a:p>
          </p:txBody>
        </p:sp>
        <p:sp>
          <p:nvSpPr>
            <p:cNvPr id="16" name="TextBox 16"/>
            <p:cNvSpPr txBox="1"/>
            <p:nvPr/>
          </p:nvSpPr>
          <p:spPr>
            <a:xfrm>
              <a:off x="3194732" y="4228443"/>
              <a:ext cx="5871210" cy="243840"/>
            </a:xfrm>
            <a:prstGeom prst="rect">
              <a:avLst/>
            </a:prstGeom>
            <a:noFill/>
            <a:ln>
              <a:noFill/>
            </a:ln>
          </p:spPr>
          <p:txBody>
            <a:bodyPr wrap="none" lIns="0" tIns="0" rIns="0" bIns="0" anchor="t" anchorCtr="0">
              <a:spAutoFit/>
            </a:bodyPr>
            <a:lstStyle/>
            <a:p>
              <a:pPr algn="ctr"/>
              <a:r>
                <a:rPr lang="zh-CN" sz="1200" i="1" dirty="0">
                  <a:solidFill>
                    <a:srgbClr val="FFFFFF">
                      <a:alphaMod val="65000"/>
                    </a:srgbClr>
                  </a:solidFill>
                  <a:latin typeface="Cambria"/>
                  <a:ea typeface="SimSun"/>
                  <a:cs typeface="Cambria"/>
                </a:rPr>
                <a:t>End-to-End Methodological Study: From Food Recognition to Intelligent Q&amp;A</a:t>
              </a:r>
            </a:p>
          </p:txBody>
        </p:sp>
      </p:grpSp>
      <p:grpSp>
        <p:nvGrpSpPr>
          <p:cNvPr id="19" name="Group 19"/>
          <p:cNvGrpSpPr/>
          <p:nvPr/>
        </p:nvGrpSpPr>
        <p:grpSpPr>
          <a:xfrm>
            <a:off x="5143500" y="4667250"/>
            <a:ext cx="1905000" cy="28575"/>
            <a:chOff x="5143500" y="4667250"/>
            <a:chExt cx="1905000" cy="28575"/>
          </a:xfrm>
        </p:grpSpPr>
        <p:sp>
          <p:nvSpPr>
            <p:cNvPr id="18" name="Rectangle 18"/>
            <p:cNvSpPr/>
            <p:nvPr/>
          </p:nvSpPr>
          <p:spPr>
            <a:xfrm>
              <a:off x="5143500" y="4667250"/>
              <a:ext cx="1905000" cy="28575"/>
            </a:xfrm>
            <a:prstGeom prst="roundRect">
              <a:avLst>
                <a:gd name="adj" fmla="val 50000"/>
              </a:avLst>
            </a:prstGeom>
            <a:solidFill>
              <a:srgbClr val="FF8F00">
                <a:alpha val="90000"/>
              </a:srgbClr>
            </a:solidFill>
            <a:ln>
              <a:noFill/>
            </a:ln>
          </p:spPr>
        </p:sp>
      </p:grpSp>
      <p:grpSp>
        <p:nvGrpSpPr>
          <p:cNvPr id="25" name="Group 25"/>
          <p:cNvGrpSpPr/>
          <p:nvPr/>
        </p:nvGrpSpPr>
        <p:grpSpPr>
          <a:xfrm>
            <a:off x="4338447" y="4966335"/>
            <a:ext cx="4117192" cy="243840"/>
            <a:chOff x="4338447" y="4966335"/>
            <a:chExt cx="4117192" cy="243840"/>
          </a:xfrm>
        </p:grpSpPr>
        <p:sp>
          <p:nvSpPr>
            <p:cNvPr id="20" name="TextBox 20"/>
            <p:cNvSpPr txBox="1"/>
            <p:nvPr/>
          </p:nvSpPr>
          <p:spPr>
            <a:xfrm>
              <a:off x="4338447" y="4966335"/>
              <a:ext cx="534543" cy="243840"/>
            </a:xfrm>
            <a:prstGeom prst="rect">
              <a:avLst/>
            </a:prstGeom>
            <a:noFill/>
            <a:ln>
              <a:noFill/>
            </a:ln>
          </p:spPr>
          <p:txBody>
            <a:bodyPr wrap="none" lIns="0" tIns="0" rIns="0" bIns="0" anchor="t" anchorCtr="0">
              <a:spAutoFit/>
            </a:bodyPr>
            <a:lstStyle/>
            <a:p>
              <a:pPr algn="r"/>
              <a:r>
                <a:rPr lang="zh-CN" sz="1200" b="1" dirty="0">
                  <a:solidFill>
                    <a:srgbClr val="FFFFFF">
                      <a:alphaMod val="85000"/>
                    </a:srgbClr>
                  </a:solidFill>
                  <a:latin typeface="Arial"/>
                  <a:ea typeface="Microsoft YaHei"/>
                  <a:cs typeface="Arial"/>
                </a:rPr>
                <a:t>答辩人</a:t>
              </a:r>
            </a:p>
          </p:txBody>
        </p:sp>
        <p:sp>
          <p:nvSpPr>
            <p:cNvPr id="21" name="TextBox 21"/>
            <p:cNvSpPr txBox="1"/>
            <p:nvPr/>
          </p:nvSpPr>
          <p:spPr>
            <a:xfrm>
              <a:off x="4985385" y="4966335"/>
              <a:ext cx="461665" cy="184666"/>
            </a:xfrm>
            <a:prstGeom prst="rect">
              <a:avLst/>
            </a:prstGeom>
            <a:noFill/>
            <a:ln>
              <a:noFill/>
            </a:ln>
          </p:spPr>
          <p:txBody>
            <a:bodyPr wrap="none" lIns="0" tIns="0" rIns="0" bIns="0" anchor="t" anchorCtr="0">
              <a:spAutoFit/>
            </a:bodyPr>
            <a:lstStyle/>
            <a:p>
              <a:pPr algn="l"/>
              <a:r>
                <a:rPr lang="zh-CN" altLang="en-US" sz="1200" b="1" dirty="0">
                  <a:solidFill>
                    <a:srgbClr val="FFB300"/>
                  </a:solidFill>
                  <a:latin typeface="Arial"/>
                  <a:ea typeface="Microsoft YaHei"/>
                  <a:cs typeface="Arial"/>
                </a:rPr>
                <a:t>刘思彤</a:t>
              </a:r>
              <a:endParaRPr lang="zh-CN" sz="1200" b="1" dirty="0">
                <a:solidFill>
                  <a:srgbClr val="FFB300"/>
                </a:solidFill>
                <a:latin typeface="Arial"/>
                <a:ea typeface="Microsoft YaHei"/>
                <a:cs typeface="Arial"/>
              </a:endParaRPr>
            </a:p>
          </p:txBody>
        </p:sp>
        <p:sp>
          <p:nvSpPr>
            <p:cNvPr id="22" name="TextBox 22"/>
            <p:cNvSpPr txBox="1"/>
            <p:nvPr/>
          </p:nvSpPr>
          <p:spPr>
            <a:xfrm>
              <a:off x="6061662" y="4982528"/>
              <a:ext cx="68675" cy="213360"/>
            </a:xfrm>
            <a:prstGeom prst="rect">
              <a:avLst/>
            </a:prstGeom>
            <a:noFill/>
            <a:ln>
              <a:noFill/>
            </a:ln>
          </p:spPr>
          <p:txBody>
            <a:bodyPr wrap="none" lIns="0" tIns="0" rIns="0" bIns="0" anchor="t" anchorCtr="0">
              <a:spAutoFit/>
            </a:bodyPr>
            <a:lstStyle/>
            <a:p>
              <a:pPr algn="ctr"/>
              <a:r>
                <a:rPr lang="zh-CN" sz="1050" dirty="0">
                  <a:solidFill>
                    <a:srgbClr val="FFFFFF">
                      <a:alphaMod val="45000"/>
                    </a:srgbClr>
                  </a:solidFill>
                  <a:latin typeface="Cambria"/>
                  <a:ea typeface="SimSun"/>
                  <a:cs typeface="Cambria"/>
                </a:rPr>
                <a:t>|</a:t>
              </a:r>
            </a:p>
          </p:txBody>
        </p:sp>
        <p:sp>
          <p:nvSpPr>
            <p:cNvPr id="23" name="TextBox 23"/>
            <p:cNvSpPr txBox="1"/>
            <p:nvPr/>
          </p:nvSpPr>
          <p:spPr>
            <a:xfrm>
              <a:off x="6223635" y="4966335"/>
              <a:ext cx="458934" cy="243840"/>
            </a:xfrm>
            <a:prstGeom prst="rect">
              <a:avLst/>
            </a:prstGeom>
            <a:noFill/>
            <a:ln>
              <a:noFill/>
            </a:ln>
          </p:spPr>
          <p:txBody>
            <a:bodyPr wrap="none" lIns="0" tIns="0" rIns="0" bIns="0" anchor="t" anchorCtr="0">
              <a:spAutoFit/>
            </a:bodyPr>
            <a:lstStyle/>
            <a:p>
              <a:pPr algn="l"/>
              <a:r>
                <a:rPr lang="zh-CN" sz="1200" b="1" dirty="0">
                  <a:solidFill>
                    <a:srgbClr val="FFFFFF">
                      <a:alphaMod val="85000"/>
                    </a:srgbClr>
                  </a:solidFill>
                  <a:latin typeface="Arial"/>
                  <a:ea typeface="Microsoft YaHei"/>
                  <a:cs typeface="Arial"/>
                </a:rPr>
                <a:t>课程:</a:t>
              </a:r>
            </a:p>
          </p:txBody>
        </p:sp>
        <p:sp>
          <p:nvSpPr>
            <p:cNvPr id="24" name="TextBox 24"/>
            <p:cNvSpPr txBox="1"/>
            <p:nvPr/>
          </p:nvSpPr>
          <p:spPr>
            <a:xfrm>
              <a:off x="6652260" y="4966335"/>
              <a:ext cx="1803379" cy="184666"/>
            </a:xfrm>
            <a:prstGeom prst="rect">
              <a:avLst/>
            </a:prstGeom>
            <a:noFill/>
            <a:ln>
              <a:noFill/>
            </a:ln>
          </p:spPr>
          <p:txBody>
            <a:bodyPr wrap="none" lIns="0" tIns="0" rIns="0" bIns="0" anchor="t" anchorCtr="0">
              <a:spAutoFit/>
            </a:bodyPr>
            <a:lstStyle/>
            <a:p>
              <a:pPr algn="l"/>
              <a:r>
                <a:rPr lang="zh-CN" altLang="en-US" sz="1200" b="1" dirty="0">
                  <a:solidFill>
                    <a:srgbClr val="FFB300"/>
                  </a:solidFill>
                  <a:latin typeface="Arial"/>
                  <a:ea typeface="Microsoft YaHei"/>
                  <a:cs typeface="Arial"/>
                </a:rPr>
                <a:t>基于</a:t>
              </a:r>
              <a:r>
                <a:rPr lang="en-US" altLang="zh-CN" sz="1200" b="1" dirty="0" err="1">
                  <a:solidFill>
                    <a:srgbClr val="FFB300"/>
                  </a:solidFill>
                  <a:latin typeface="Arial"/>
                  <a:ea typeface="Microsoft YaHei"/>
                  <a:cs typeface="Arial"/>
                </a:rPr>
                <a:t>vlm</a:t>
              </a:r>
              <a:r>
                <a:rPr lang="zh-CN" altLang="en-US" sz="1200" b="1" dirty="0">
                  <a:solidFill>
                    <a:srgbClr val="FFB300"/>
                  </a:solidFill>
                  <a:latin typeface="Arial"/>
                  <a:ea typeface="Microsoft YaHei"/>
                  <a:cs typeface="Arial"/>
                </a:rPr>
                <a:t>的中餐卡路里研究</a:t>
              </a:r>
              <a:endParaRPr lang="zh-CN" sz="1200" b="1" dirty="0">
                <a:solidFill>
                  <a:srgbClr val="FFB300"/>
                </a:solidFill>
                <a:latin typeface="Arial"/>
                <a:ea typeface="Microsoft YaHei"/>
                <a:cs typeface="Arial"/>
              </a:endParaRPr>
            </a:p>
          </p:txBody>
        </p:sp>
      </p:grpSp>
      <p:grpSp>
        <p:nvGrpSpPr>
          <p:cNvPr id="29" name="Group 29"/>
          <p:cNvGrpSpPr/>
          <p:nvPr/>
        </p:nvGrpSpPr>
        <p:grpSpPr>
          <a:xfrm>
            <a:off x="4458367" y="5744528"/>
            <a:ext cx="3275266" cy="627697"/>
            <a:chOff x="4458367" y="5744528"/>
            <a:chExt cx="3275266" cy="627697"/>
          </a:xfrm>
        </p:grpSpPr>
        <p:sp>
          <p:nvSpPr>
            <p:cNvPr id="26" name="TextBox 26"/>
            <p:cNvSpPr txBox="1"/>
            <p:nvPr/>
          </p:nvSpPr>
          <p:spPr>
            <a:xfrm>
              <a:off x="5678364" y="5744528"/>
              <a:ext cx="835271" cy="213360"/>
            </a:xfrm>
            <a:prstGeom prst="rect">
              <a:avLst/>
            </a:prstGeom>
            <a:noFill/>
            <a:ln>
              <a:noFill/>
            </a:ln>
          </p:spPr>
          <p:txBody>
            <a:bodyPr wrap="none" lIns="0" tIns="0" rIns="0" bIns="0" anchor="t" anchorCtr="0">
              <a:spAutoFit/>
            </a:bodyPr>
            <a:lstStyle/>
            <a:p>
              <a:pPr algn="ctr"/>
              <a:r>
                <a:rPr lang="zh-CN" sz="1050" b="1" dirty="0">
                  <a:solidFill>
                    <a:srgbClr val="FFFFFF">
                      <a:alphaMod val="70000"/>
                    </a:srgbClr>
                  </a:solidFill>
                  <a:latin typeface="Cambria"/>
                  <a:ea typeface="SimSun"/>
                  <a:cs typeface="Cambria"/>
                </a:rPr>
                <a:t>2026.08.23</a:t>
              </a:r>
            </a:p>
          </p:txBody>
        </p:sp>
        <p:sp>
          <p:nvSpPr>
            <p:cNvPr id="27" name="Line 27"/>
            <p:cNvSpPr/>
            <p:nvPr/>
          </p:nvSpPr>
          <p:spPr>
            <a:xfrm>
              <a:off x="5715000" y="6048375"/>
              <a:ext cx="762000" cy="9525"/>
            </a:xfrm>
            <a:custGeom>
              <a:avLst/>
              <a:gdLst/>
              <a:ahLst/>
              <a:cxnLst/>
              <a:rect l="l" t="t" r="r" b="b"/>
              <a:pathLst>
                <a:path w="762000" h="9525">
                  <a:moveTo>
                    <a:pt x="0" y="0"/>
                  </a:moveTo>
                  <a:lnTo>
                    <a:pt x="762000" y="0"/>
                  </a:lnTo>
                </a:path>
              </a:pathLst>
            </a:custGeom>
            <a:noFill/>
            <a:ln w="9525">
              <a:solidFill>
                <a:srgbClr val="FFFFFF">
                  <a:alpha val="35000"/>
                </a:srgbClr>
              </a:solidFill>
            </a:ln>
          </p:spPr>
        </p:sp>
        <p:sp>
          <p:nvSpPr>
            <p:cNvPr id="28" name="TextBox 28"/>
            <p:cNvSpPr txBox="1"/>
            <p:nvPr/>
          </p:nvSpPr>
          <p:spPr>
            <a:xfrm>
              <a:off x="4458367" y="6189345"/>
              <a:ext cx="3275266" cy="182880"/>
            </a:xfrm>
            <a:prstGeom prst="rect">
              <a:avLst/>
            </a:prstGeom>
            <a:noFill/>
            <a:ln>
              <a:noFill/>
            </a:ln>
          </p:spPr>
          <p:txBody>
            <a:bodyPr wrap="none" lIns="0" tIns="0" rIns="0" bIns="0" anchor="t" anchorCtr="0">
              <a:spAutoFit/>
            </a:bodyPr>
            <a:lstStyle/>
            <a:p>
              <a:pPr algn="ctr"/>
              <a:r>
                <a:rPr lang="zh-CN" sz="900" dirty="0">
                  <a:solidFill>
                    <a:srgbClr val="FFFFFF">
                      <a:alphaMod val="55000"/>
                    </a:srgbClr>
                  </a:solidFill>
                  <a:latin typeface="Arial"/>
                  <a:ea typeface="Microsoft YaHei"/>
                  <a:cs typeface="Arial"/>
                </a:rPr>
                <a:t>SMART FOOD NUTRITION ANALYSIS · DEFENSE PRESENTATION</a:t>
              </a:r>
            </a:p>
          </p:txBody>
        </p:sp>
      </p:grpSp>
      <p:grpSp>
        <p:nvGrpSpPr>
          <p:cNvPr id="35" name="Group 35"/>
          <p:cNvGrpSpPr/>
          <p:nvPr/>
        </p:nvGrpSpPr>
        <p:grpSpPr>
          <a:xfrm>
            <a:off x="838200" y="819150"/>
            <a:ext cx="2173346" cy="369094"/>
            <a:chOff x="838200" y="819150"/>
            <a:chExt cx="2173346" cy="369094"/>
          </a:xfrm>
        </p:grpSpPr>
        <p:grpSp>
          <p:nvGrpSpPr>
            <p:cNvPr id="33" name="Group 33"/>
            <p:cNvGrpSpPr/>
            <p:nvPr/>
          </p:nvGrpSpPr>
          <p:grpSpPr>
            <a:xfrm>
              <a:off x="838200" y="819150"/>
              <a:ext cx="304800" cy="353282"/>
              <a:chOff x="838200" y="819150"/>
              <a:chExt cx="304800" cy="353282"/>
            </a:xfrm>
          </p:grpSpPr>
          <p:sp>
            <p:nvSpPr>
              <p:cNvPr id="30" name="Freeform 30"/>
              <p:cNvSpPr/>
              <p:nvPr/>
            </p:nvSpPr>
            <p:spPr>
              <a:xfrm>
                <a:off x="838200" y="876300"/>
                <a:ext cx="304800" cy="296132"/>
              </a:xfrm>
              <a:custGeom>
                <a:avLst/>
                <a:gdLst/>
                <a:ahLst/>
                <a:cxnLst/>
                <a:rect l="l" t="t" r="r" b="b"/>
                <a:pathLst>
                  <a:path w="304800" h="296132">
                    <a:moveTo>
                      <a:pt x="0" y="101327"/>
                    </a:moveTo>
                    <a:cubicBezTo>
                      <a:pt x="0" y="160420"/>
                      <a:pt x="8458" y="202654"/>
                      <a:pt x="42329" y="253308"/>
                    </a:cubicBezTo>
                    <a:cubicBezTo>
                      <a:pt x="68066" y="287541"/>
                      <a:pt x="102451" y="296113"/>
                      <a:pt x="139103" y="272129"/>
                    </a:cubicBezTo>
                    <a:cubicBezTo>
                      <a:pt x="147218" y="267024"/>
                      <a:pt x="157582" y="267024"/>
                      <a:pt x="165716" y="272129"/>
                    </a:cubicBezTo>
                    <a:cubicBezTo>
                      <a:pt x="202349" y="296132"/>
                      <a:pt x="236734" y="287541"/>
                      <a:pt x="262471" y="253308"/>
                    </a:cubicBezTo>
                    <a:cubicBezTo>
                      <a:pt x="296342" y="202635"/>
                      <a:pt x="304800" y="160420"/>
                      <a:pt x="304800" y="101346"/>
                    </a:cubicBezTo>
                    <a:cubicBezTo>
                      <a:pt x="304800" y="50654"/>
                      <a:pt x="266891" y="0"/>
                      <a:pt x="220142" y="0"/>
                    </a:cubicBezTo>
                    <a:cubicBezTo>
                      <a:pt x="196005" y="0"/>
                      <a:pt x="174231" y="13202"/>
                      <a:pt x="158801" y="27432"/>
                    </a:cubicBezTo>
                    <a:cubicBezTo>
                      <a:pt x="155170" y="30727"/>
                      <a:pt x="149630" y="30727"/>
                      <a:pt x="145999" y="27432"/>
                    </a:cubicBezTo>
                    <a:cubicBezTo>
                      <a:pt x="130588" y="13221"/>
                      <a:pt x="108795" y="0"/>
                      <a:pt x="84658" y="0"/>
                    </a:cubicBezTo>
                    <a:cubicBezTo>
                      <a:pt x="37909" y="0"/>
                      <a:pt x="0" y="50673"/>
                      <a:pt x="0" y="101327"/>
                    </a:cubicBezTo>
                  </a:path>
                </a:pathLst>
              </a:custGeom>
              <a:noFill/>
              <a:ln w="19050">
                <a:solidFill>
                  <a:srgbClr val="FF8F00"/>
                </a:solidFill>
              </a:ln>
            </p:spPr>
          </p:sp>
          <p:sp>
            <p:nvSpPr>
              <p:cNvPr id="31" name="Freeform 31"/>
              <p:cNvSpPr/>
              <p:nvPr/>
            </p:nvSpPr>
            <p:spPr>
              <a:xfrm>
                <a:off x="895350" y="933450"/>
                <a:ext cx="28575" cy="57150"/>
              </a:xfrm>
              <a:custGeom>
                <a:avLst/>
                <a:gdLst/>
                <a:ahLst/>
                <a:cxnLst/>
                <a:rect l="l" t="t" r="r" b="b"/>
                <a:pathLst>
                  <a:path w="28575" h="57150">
                    <a:moveTo>
                      <a:pt x="0" y="57150"/>
                    </a:moveTo>
                    <a:cubicBezTo>
                      <a:pt x="0" y="29147"/>
                      <a:pt x="8649" y="12573"/>
                      <a:pt x="28575" y="0"/>
                    </a:cubicBezTo>
                  </a:path>
                </a:pathLst>
              </a:custGeom>
              <a:noFill/>
              <a:ln w="19050">
                <a:solidFill>
                  <a:srgbClr val="FF8F00"/>
                </a:solidFill>
              </a:ln>
            </p:spPr>
          </p:sp>
          <p:sp>
            <p:nvSpPr>
              <p:cNvPr id="32" name="Freeform 32"/>
              <p:cNvSpPr/>
              <p:nvPr/>
            </p:nvSpPr>
            <p:spPr>
              <a:xfrm>
                <a:off x="990600" y="819150"/>
                <a:ext cx="57150" cy="76200"/>
              </a:xfrm>
              <a:custGeom>
                <a:avLst/>
                <a:gdLst/>
                <a:ahLst/>
                <a:cxnLst/>
                <a:rect l="l" t="t" r="r" b="b"/>
                <a:pathLst>
                  <a:path w="57150" h="76200">
                    <a:moveTo>
                      <a:pt x="0" y="76200"/>
                    </a:moveTo>
                    <a:cubicBezTo>
                      <a:pt x="0" y="53340"/>
                      <a:pt x="16516" y="0"/>
                      <a:pt x="57150" y="0"/>
                    </a:cubicBezTo>
                  </a:path>
                </a:pathLst>
              </a:custGeom>
              <a:noFill/>
              <a:ln w="19050">
                <a:solidFill>
                  <a:srgbClr val="FF8F00"/>
                </a:solidFill>
              </a:ln>
            </p:spPr>
          </p:sp>
        </p:grpSp>
        <p:sp>
          <p:nvSpPr>
            <p:cNvPr id="34" name="TextBox 34"/>
            <p:cNvSpPr txBox="1"/>
            <p:nvPr/>
          </p:nvSpPr>
          <p:spPr>
            <a:xfrm>
              <a:off x="1273492" y="990124"/>
              <a:ext cx="1738054" cy="198120"/>
            </a:xfrm>
            <a:prstGeom prst="rect">
              <a:avLst/>
            </a:prstGeom>
            <a:noFill/>
            <a:ln>
              <a:noFill/>
            </a:ln>
          </p:spPr>
          <p:txBody>
            <a:bodyPr wrap="none" lIns="0" tIns="0" rIns="0" bIns="0" anchor="t" anchorCtr="0">
              <a:spAutoFit/>
            </a:bodyPr>
            <a:lstStyle/>
            <a:p>
              <a:pPr algn="l"/>
              <a:r>
                <a:rPr lang="zh-CN" sz="975" b="1" dirty="0">
                  <a:solidFill>
                    <a:srgbClr val="FFFFFF">
                      <a:alphaMod val="65000"/>
                    </a:srgbClr>
                  </a:solidFill>
                  <a:latin typeface="Cambria"/>
                  <a:ea typeface="SimSun"/>
                  <a:cs typeface="Cambria"/>
                </a:rPr>
                <a:t>FOOD · VISION · NUTRITION</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400"/>
                                        <p:tgtEl>
                                          <p:spTgt spid="19"/>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slide(fromBottom)">
                                      <p:cBhvr>
                                        <p:cTn id="15"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762000" y="476250"/>
            <a:ext cx="10572750" cy="762000"/>
            <a:chOff x="762000" y="476250"/>
            <a:chExt cx="10572750" cy="762000"/>
          </a:xfrm>
        </p:grpSpPr>
        <p:sp>
          <p:nvSpPr>
            <p:cNvPr id="3" name="Rectangle 3"/>
            <p:cNvSpPr/>
            <p:nvPr/>
          </p:nvSpPr>
          <p:spPr>
            <a:xfrm>
              <a:off x="762000" y="533400"/>
              <a:ext cx="38100" cy="647700"/>
            </a:xfrm>
            <a:prstGeom prst="roundRect">
              <a:avLst>
                <a:gd name="adj" fmla="val 50000"/>
              </a:avLst>
            </a:prstGeom>
            <a:solidFill>
              <a:srgbClr val="1565C0"/>
            </a:solidFill>
            <a:ln>
              <a:noFill/>
            </a:ln>
          </p:spPr>
        </p:sp>
        <p:sp>
          <p:nvSpPr>
            <p:cNvPr id="4" name="TextBox 4"/>
            <p:cNvSpPr txBox="1"/>
            <p:nvPr/>
          </p:nvSpPr>
          <p:spPr>
            <a:xfrm>
              <a:off x="920115" y="543878"/>
              <a:ext cx="2760457" cy="518160"/>
            </a:xfrm>
            <a:prstGeom prst="rect">
              <a:avLst/>
            </a:prstGeom>
            <a:noFill/>
            <a:ln>
              <a:noFill/>
            </a:ln>
          </p:spPr>
          <p:txBody>
            <a:bodyPr wrap="none" lIns="0" tIns="0" rIns="0" bIns="0" anchor="t" anchorCtr="0">
              <a:spAutoFit/>
            </a:bodyPr>
            <a:lstStyle/>
            <a:p>
              <a:pPr algn="l"/>
              <a:r>
                <a:rPr lang="zh-CN" sz="2550" b="1" dirty="0">
                  <a:solidFill>
                    <a:srgbClr val="1A1A1A"/>
                  </a:solidFill>
                  <a:latin typeface="Cambria"/>
                  <a:ea typeface="SimSun"/>
                  <a:cs typeface="Cambria"/>
                </a:rPr>
                <a:t>目录 · Contents</a:t>
              </a:r>
            </a:p>
          </p:txBody>
        </p:sp>
        <p:sp>
          <p:nvSpPr>
            <p:cNvPr id="5" name="TextBox 5"/>
            <p:cNvSpPr txBox="1"/>
            <p:nvPr/>
          </p:nvSpPr>
          <p:spPr>
            <a:xfrm>
              <a:off x="940118" y="980599"/>
              <a:ext cx="3376259" cy="198120"/>
            </a:xfrm>
            <a:prstGeom prst="rect">
              <a:avLst/>
            </a:prstGeom>
            <a:noFill/>
            <a:ln>
              <a:noFill/>
            </a:ln>
          </p:spPr>
          <p:txBody>
            <a:bodyPr wrap="none" lIns="0" tIns="0" rIns="0" bIns="0" anchor="t" anchorCtr="0">
              <a:spAutoFit/>
            </a:bodyPr>
            <a:lstStyle/>
            <a:p>
              <a:pPr algn="l"/>
              <a:r>
                <a:rPr lang="zh-CN" sz="975" b="1" dirty="0">
                  <a:solidFill>
                    <a:srgbClr val="5F6368"/>
                  </a:solidFill>
                  <a:latin typeface="Arial"/>
                  <a:ea typeface="Microsoft YaHei"/>
                  <a:cs typeface="Arial"/>
                </a:rPr>
                <a:t>SIX CHAPTERS · END-TO-END METHODOLOGICAL STUDY</a:t>
              </a:r>
            </a:p>
          </p:txBody>
        </p:sp>
        <p:grpSp>
          <p:nvGrpSpPr>
            <p:cNvPr id="9" name="Group 9"/>
            <p:cNvGrpSpPr/>
            <p:nvPr/>
          </p:nvGrpSpPr>
          <p:grpSpPr>
            <a:xfrm>
              <a:off x="9620250" y="476250"/>
              <a:ext cx="1714500" cy="762000"/>
              <a:chOff x="9620250" y="476250"/>
              <a:chExt cx="1714500" cy="762000"/>
            </a:xfrm>
          </p:grpSpPr>
          <p:sp>
            <p:nvSpPr>
              <p:cNvPr id="6" name="Rectangle 6"/>
              <p:cNvSpPr/>
              <p:nvPr/>
            </p:nvSpPr>
            <p:spPr>
              <a:xfrm>
                <a:off x="9620250" y="476250"/>
                <a:ext cx="1714500" cy="762000"/>
              </a:xfrm>
              <a:prstGeom prst="roundRect">
                <a:avLst>
                  <a:gd name="adj" fmla="val 17500"/>
                </a:avLst>
              </a:prstGeom>
              <a:solidFill>
                <a:srgbClr val="F5F7FA"/>
              </a:solidFill>
              <a:ln>
                <a:noFill/>
              </a:ln>
            </p:spPr>
          </p:sp>
          <p:sp>
            <p:nvSpPr>
              <p:cNvPr id="7" name="TextBox 7"/>
              <p:cNvSpPr txBox="1"/>
              <p:nvPr/>
            </p:nvSpPr>
            <p:spPr>
              <a:xfrm>
                <a:off x="10094176" y="598170"/>
                <a:ext cx="766648" cy="487680"/>
              </a:xfrm>
              <a:prstGeom prst="rect">
                <a:avLst/>
              </a:prstGeom>
              <a:noFill/>
              <a:ln>
                <a:noFill/>
              </a:ln>
            </p:spPr>
            <p:txBody>
              <a:bodyPr wrap="none" lIns="0" tIns="0" rIns="0" bIns="0" anchor="t" anchorCtr="0">
                <a:spAutoFit/>
              </a:bodyPr>
              <a:lstStyle/>
              <a:p>
                <a:pPr algn="ctr"/>
                <a:r>
                  <a:rPr lang="zh-CN" sz="2400" b="1" dirty="0">
                    <a:solidFill>
                      <a:srgbClr val="1565C0"/>
                    </a:solidFill>
                    <a:latin typeface="Cambria"/>
                    <a:ea typeface="SimSun"/>
                    <a:cs typeface="Cambria"/>
                  </a:rPr>
                  <a:t>30</a:t>
                </a:r>
                <a:r>
                  <a:rPr lang="zh-CN" sz="1500" b="1" dirty="0">
                    <a:solidFill>
                      <a:srgbClr val="1565C0"/>
                    </a:solidFill>
                    <a:latin typeface="Cambria"/>
                    <a:ea typeface="SimSun"/>
                    <a:cs typeface="Cambria"/>
                  </a:rPr>
                  <a:t>页</a:t>
                </a:r>
              </a:p>
            </p:txBody>
          </p:sp>
          <p:sp>
            <p:nvSpPr>
              <p:cNvPr id="8" name="TextBox 8"/>
              <p:cNvSpPr txBox="1"/>
              <p:nvPr/>
            </p:nvSpPr>
            <p:spPr>
              <a:xfrm>
                <a:off x="10103152" y="996791"/>
                <a:ext cx="748696" cy="167640"/>
              </a:xfrm>
              <a:prstGeom prst="rect">
                <a:avLst/>
              </a:prstGeom>
              <a:noFill/>
              <a:ln>
                <a:noFill/>
              </a:ln>
            </p:spPr>
            <p:txBody>
              <a:bodyPr wrap="none" lIns="0" tIns="0" rIns="0" bIns="0" anchor="t" anchorCtr="0">
                <a:spAutoFit/>
              </a:bodyPr>
              <a:lstStyle/>
              <a:p>
                <a:pPr algn="ctr"/>
                <a:r>
                  <a:rPr lang="zh-CN" sz="825" b="1" dirty="0">
                    <a:solidFill>
                      <a:srgbClr val="1565C0"/>
                    </a:solidFill>
                    <a:latin typeface="Arial"/>
                    <a:ea typeface="Microsoft YaHei"/>
                    <a:cs typeface="Arial"/>
                  </a:rPr>
                  <a:t>TOTAL SLIDES</a:t>
                </a:r>
              </a:p>
            </p:txBody>
          </p:sp>
        </p:grpSp>
      </p:grpSp>
      <p:sp>
        <p:nvSpPr>
          <p:cNvPr id="11" name="Line 11"/>
          <p:cNvSpPr/>
          <p:nvPr/>
        </p:nvSpPr>
        <p:spPr>
          <a:xfrm>
            <a:off x="762000" y="1524000"/>
            <a:ext cx="10668000" cy="9525"/>
          </a:xfrm>
          <a:custGeom>
            <a:avLst/>
            <a:gdLst/>
            <a:ahLst/>
            <a:cxnLst/>
            <a:rect l="l" t="t" r="r" b="b"/>
            <a:pathLst>
              <a:path w="10668000" h="9525">
                <a:moveTo>
                  <a:pt x="0" y="0"/>
                </a:moveTo>
                <a:lnTo>
                  <a:pt x="10668000" y="0"/>
                </a:lnTo>
              </a:path>
            </a:pathLst>
          </a:custGeom>
          <a:noFill/>
          <a:ln w="19050">
            <a:solidFill>
              <a:srgbClr val="E0E0E0"/>
            </a:solidFill>
          </a:ln>
        </p:spPr>
      </p:sp>
      <p:sp>
        <p:nvSpPr>
          <p:cNvPr id="12" name="Line 12"/>
          <p:cNvSpPr/>
          <p:nvPr/>
        </p:nvSpPr>
        <p:spPr>
          <a:xfrm>
            <a:off x="1238250" y="2095500"/>
            <a:ext cx="9525" cy="3905250"/>
          </a:xfrm>
          <a:custGeom>
            <a:avLst/>
            <a:gdLst/>
            <a:ahLst/>
            <a:cxnLst/>
            <a:rect l="l" t="t" r="r" b="b"/>
            <a:pathLst>
              <a:path w="9525" h="3905250">
                <a:moveTo>
                  <a:pt x="0" y="0"/>
                </a:moveTo>
                <a:lnTo>
                  <a:pt x="0" y="3905250"/>
                </a:lnTo>
              </a:path>
            </a:pathLst>
          </a:custGeom>
          <a:noFill/>
          <a:ln w="28575" cap="rnd">
            <a:gradFill>
              <a:gsLst>
                <a:gs pos="0">
                  <a:srgbClr val="1565C0"/>
                </a:gs>
                <a:gs pos="100000">
                  <a:srgbClr val="5C6BC0"/>
                </a:gs>
              </a:gsLst>
              <a:lin ang="5400000" scaled="1"/>
            </a:gradFill>
          </a:ln>
        </p:spPr>
      </p:sp>
      <p:grpSp>
        <p:nvGrpSpPr>
          <p:cNvPr id="20" name="Group 20"/>
          <p:cNvGrpSpPr/>
          <p:nvPr/>
        </p:nvGrpSpPr>
        <p:grpSpPr>
          <a:xfrm>
            <a:off x="990600" y="1800225"/>
            <a:ext cx="10248900" cy="790575"/>
            <a:chOff x="990600" y="1800225"/>
            <a:chExt cx="10248900" cy="790575"/>
          </a:xfrm>
        </p:grpSpPr>
        <p:sp>
          <p:nvSpPr>
            <p:cNvPr id="13" name="Ellipse 13"/>
            <p:cNvSpPr/>
            <p:nvPr/>
          </p:nvSpPr>
          <p:spPr>
            <a:xfrm>
              <a:off x="990600" y="1800225"/>
              <a:ext cx="495300" cy="495300"/>
            </a:xfrm>
            <a:prstGeom prst="ellipse">
              <a:avLst/>
            </a:prstGeom>
            <a:solidFill>
              <a:srgbClr val="FFFFFF"/>
            </a:solidFill>
            <a:ln w="28575">
              <a:solidFill>
                <a:srgbClr val="1565C0"/>
              </a:solidFill>
            </a:ln>
          </p:spPr>
        </p:sp>
        <p:sp>
          <p:nvSpPr>
            <p:cNvPr id="14" name="TextBox 14"/>
            <p:cNvSpPr txBox="1"/>
            <p:nvPr/>
          </p:nvSpPr>
          <p:spPr>
            <a:xfrm>
              <a:off x="1151601" y="1994535"/>
              <a:ext cx="173298"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Cambria"/>
                  <a:ea typeface="SimSun"/>
                  <a:cs typeface="Cambria"/>
                </a:rPr>
                <a:t>01</a:t>
              </a:r>
            </a:p>
          </p:txBody>
        </p:sp>
        <p:sp>
          <p:nvSpPr>
            <p:cNvPr id="15" name="TextBox 15"/>
            <p:cNvSpPr txBox="1"/>
            <p:nvPr/>
          </p:nvSpPr>
          <p:spPr>
            <a:xfrm>
              <a:off x="1788795" y="1812608"/>
              <a:ext cx="2121170" cy="335280"/>
            </a:xfrm>
            <a:prstGeom prst="rect">
              <a:avLst/>
            </a:prstGeom>
            <a:noFill/>
            <a:ln>
              <a:noFill/>
            </a:ln>
          </p:spPr>
          <p:txBody>
            <a:bodyPr wrap="none" lIns="0" tIns="0" rIns="0" bIns="0" anchor="t" anchorCtr="0">
              <a:spAutoFit/>
            </a:bodyPr>
            <a:lstStyle/>
            <a:p>
              <a:pPr algn="l"/>
              <a:r>
                <a:rPr lang="zh-CN" sz="1650" b="1" dirty="0">
                  <a:solidFill>
                    <a:srgbClr val="1A1A1A"/>
                  </a:solidFill>
                  <a:latin typeface="Arial"/>
                  <a:ea typeface="Microsoft YaHei"/>
                  <a:cs typeface="Arial"/>
                </a:rPr>
                <a:t>研究背景与三大挑战</a:t>
              </a:r>
            </a:p>
          </p:txBody>
        </p:sp>
        <p:sp>
          <p:nvSpPr>
            <p:cNvPr id="16" name="TextBox 16"/>
            <p:cNvSpPr txBox="1"/>
            <p:nvPr/>
          </p:nvSpPr>
          <p:spPr>
            <a:xfrm>
              <a:off x="1796415" y="2144078"/>
              <a:ext cx="3688128" cy="213360"/>
            </a:xfrm>
            <a:prstGeom prst="rect">
              <a:avLst/>
            </a:prstGeom>
            <a:noFill/>
            <a:ln>
              <a:noFill/>
            </a:ln>
          </p:spPr>
          <p:txBody>
            <a:bodyPr wrap="none" lIns="0" tIns="0" rIns="0" bIns="0" anchor="t" anchorCtr="0">
              <a:spAutoFit/>
            </a:bodyPr>
            <a:lstStyle/>
            <a:p>
              <a:pPr algn="l"/>
              <a:r>
                <a:rPr lang="zh-CN" sz="1050" dirty="0">
                  <a:solidFill>
                    <a:srgbClr val="5F6368"/>
                  </a:solidFill>
                  <a:latin typeface="Arial"/>
                  <a:ea typeface="Microsoft YaHei"/>
                  <a:cs typeface="Arial"/>
                </a:rPr>
                <a:t>细粒度识别、分量估计、多盘菜集成 — 食物分析的核心难题</a:t>
              </a:r>
            </a:p>
          </p:txBody>
        </p:sp>
        <p:sp>
          <p:nvSpPr>
            <p:cNvPr id="17" name="Rectangle 17"/>
            <p:cNvSpPr/>
            <p:nvPr/>
          </p:nvSpPr>
          <p:spPr>
            <a:xfrm>
              <a:off x="10239375" y="1838325"/>
              <a:ext cx="1000125" cy="342900"/>
            </a:xfrm>
            <a:prstGeom prst="roundRect">
              <a:avLst>
                <a:gd name="adj" fmla="val 50000"/>
              </a:avLst>
            </a:prstGeom>
            <a:solidFill>
              <a:srgbClr val="F5F7FA"/>
            </a:solidFill>
            <a:ln>
              <a:noFill/>
            </a:ln>
          </p:spPr>
        </p:sp>
        <p:sp>
          <p:nvSpPr>
            <p:cNvPr id="18" name="TextBox 18"/>
            <p:cNvSpPr txBox="1"/>
            <p:nvPr/>
          </p:nvSpPr>
          <p:spPr>
            <a:xfrm>
              <a:off x="10379522" y="1953578"/>
              <a:ext cx="710305" cy="213360"/>
            </a:xfrm>
            <a:prstGeom prst="rect">
              <a:avLst/>
            </a:prstGeom>
            <a:noFill/>
            <a:ln>
              <a:noFill/>
            </a:ln>
          </p:spPr>
          <p:txBody>
            <a:bodyPr wrap="none" lIns="0" tIns="0" rIns="0" bIns="0" anchor="t" anchorCtr="0">
              <a:spAutoFit/>
            </a:bodyPr>
            <a:lstStyle/>
            <a:p>
              <a:pPr algn="ctr"/>
              <a:r>
                <a:rPr lang="zh-CN" sz="1050" b="1" dirty="0">
                  <a:solidFill>
                    <a:srgbClr val="1565C0"/>
                  </a:solidFill>
                  <a:latin typeface="Cambria"/>
                  <a:ea typeface="SimSun"/>
                  <a:cs typeface="Cambria"/>
                </a:rPr>
                <a:t>P03 · 3 页</a:t>
              </a:r>
            </a:p>
          </p:txBody>
        </p:sp>
        <p:sp>
          <p:nvSpPr>
            <p:cNvPr id="19" name="TextBox 19"/>
            <p:cNvSpPr txBox="1"/>
            <p:nvPr/>
          </p:nvSpPr>
          <p:spPr>
            <a:xfrm>
              <a:off x="1798320" y="2407920"/>
              <a:ext cx="2209233" cy="182880"/>
            </a:xfrm>
            <a:prstGeom prst="rect">
              <a:avLst/>
            </a:prstGeom>
            <a:noFill/>
            <a:ln>
              <a:noFill/>
            </a:ln>
          </p:spPr>
          <p:txBody>
            <a:bodyPr wrap="none" lIns="0" tIns="0" rIns="0" bIns="0" anchor="t" anchorCtr="0">
              <a:spAutoFit/>
            </a:bodyPr>
            <a:lstStyle/>
            <a:p>
              <a:pPr algn="l"/>
              <a:r>
                <a:rPr lang="zh-CN" sz="900" b="1" dirty="0">
                  <a:solidFill>
                    <a:srgbClr val="9AA0A6"/>
                  </a:solidFill>
                  <a:latin typeface="Arial"/>
                  <a:ea typeface="Microsoft YaHei"/>
                  <a:cs typeface="Arial"/>
                </a:rPr>
                <a:t>CHAPTER · BACKGROUND &amp; CHALLENGES</a:t>
              </a:r>
            </a:p>
          </p:txBody>
        </p:sp>
      </p:grpSp>
      <p:grpSp>
        <p:nvGrpSpPr>
          <p:cNvPr id="28" name="Group 28"/>
          <p:cNvGrpSpPr/>
          <p:nvPr/>
        </p:nvGrpSpPr>
        <p:grpSpPr>
          <a:xfrm>
            <a:off x="990600" y="2562225"/>
            <a:ext cx="10248900" cy="790575"/>
            <a:chOff x="990600" y="2562225"/>
            <a:chExt cx="10248900" cy="790575"/>
          </a:xfrm>
        </p:grpSpPr>
        <p:sp>
          <p:nvSpPr>
            <p:cNvPr id="21" name="Ellipse 21"/>
            <p:cNvSpPr/>
            <p:nvPr/>
          </p:nvSpPr>
          <p:spPr>
            <a:xfrm>
              <a:off x="990600" y="2562225"/>
              <a:ext cx="495300" cy="495300"/>
            </a:xfrm>
            <a:prstGeom prst="ellipse">
              <a:avLst/>
            </a:prstGeom>
            <a:solidFill>
              <a:srgbClr val="FFFFFF"/>
            </a:solidFill>
            <a:ln w="28575">
              <a:solidFill>
                <a:srgbClr val="1565C0"/>
              </a:solidFill>
            </a:ln>
          </p:spPr>
        </p:sp>
        <p:sp>
          <p:nvSpPr>
            <p:cNvPr id="22" name="TextBox 22"/>
            <p:cNvSpPr txBox="1"/>
            <p:nvPr/>
          </p:nvSpPr>
          <p:spPr>
            <a:xfrm>
              <a:off x="1130598" y="2756535"/>
              <a:ext cx="215303"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Cambria"/>
                  <a:ea typeface="SimSun"/>
                  <a:cs typeface="Cambria"/>
                </a:rPr>
                <a:t>02</a:t>
              </a:r>
            </a:p>
          </p:txBody>
        </p:sp>
        <p:sp>
          <p:nvSpPr>
            <p:cNvPr id="23" name="TextBox 23"/>
            <p:cNvSpPr txBox="1"/>
            <p:nvPr/>
          </p:nvSpPr>
          <p:spPr>
            <a:xfrm>
              <a:off x="1788795" y="2574608"/>
              <a:ext cx="2386853" cy="335280"/>
            </a:xfrm>
            <a:prstGeom prst="rect">
              <a:avLst/>
            </a:prstGeom>
            <a:noFill/>
            <a:ln>
              <a:noFill/>
            </a:ln>
          </p:spPr>
          <p:txBody>
            <a:bodyPr wrap="none" lIns="0" tIns="0" rIns="0" bIns="0" anchor="t" anchorCtr="0">
              <a:spAutoFit/>
            </a:bodyPr>
            <a:lstStyle/>
            <a:p>
              <a:pPr algn="l"/>
              <a:r>
                <a:rPr lang="zh-CN" sz="1650" b="1" dirty="0">
                  <a:solidFill>
                    <a:srgbClr val="1A1A1A"/>
                  </a:solidFill>
                  <a:latin typeface="Arial"/>
                  <a:ea typeface="Microsoft YaHei"/>
                  <a:cs typeface="Arial"/>
                </a:rPr>
                <a:t>第一问 · 食物识别实验</a:t>
              </a:r>
            </a:p>
          </p:txBody>
        </p:sp>
        <p:sp>
          <p:nvSpPr>
            <p:cNvPr id="24" name="TextBox 24"/>
            <p:cNvSpPr txBox="1"/>
            <p:nvPr/>
          </p:nvSpPr>
          <p:spPr>
            <a:xfrm>
              <a:off x="1796415" y="2906078"/>
              <a:ext cx="3443097" cy="213360"/>
            </a:xfrm>
            <a:prstGeom prst="rect">
              <a:avLst/>
            </a:prstGeom>
            <a:noFill/>
            <a:ln>
              <a:noFill/>
            </a:ln>
          </p:spPr>
          <p:txBody>
            <a:bodyPr wrap="none" lIns="0" tIns="0" rIns="0" bIns="0" anchor="t" anchorCtr="0">
              <a:spAutoFit/>
            </a:bodyPr>
            <a:lstStyle/>
            <a:p>
              <a:pPr algn="l"/>
              <a:r>
                <a:rPr lang="zh-CN" sz="1050" dirty="0">
                  <a:solidFill>
                    <a:srgbClr val="5F6368"/>
                  </a:solidFill>
                  <a:latin typeface="Arial"/>
                  <a:ea typeface="Microsoft YaHei"/>
                  <a:cs typeface="Arial"/>
                </a:rPr>
                <a:t>视觉语言模型零样本分类对比 + 检测器与 CoT 协同增益</a:t>
              </a:r>
            </a:p>
          </p:txBody>
        </p:sp>
        <p:sp>
          <p:nvSpPr>
            <p:cNvPr id="25" name="Rectangle 25"/>
            <p:cNvSpPr/>
            <p:nvPr/>
          </p:nvSpPr>
          <p:spPr>
            <a:xfrm>
              <a:off x="10239375" y="2600325"/>
              <a:ext cx="1000125" cy="342900"/>
            </a:xfrm>
            <a:prstGeom prst="roundRect">
              <a:avLst>
                <a:gd name="adj" fmla="val 50000"/>
              </a:avLst>
            </a:prstGeom>
            <a:solidFill>
              <a:srgbClr val="F5F7FA"/>
            </a:solidFill>
            <a:ln>
              <a:noFill/>
            </a:ln>
          </p:spPr>
        </p:sp>
        <p:sp>
          <p:nvSpPr>
            <p:cNvPr id="26" name="TextBox 26"/>
            <p:cNvSpPr txBox="1"/>
            <p:nvPr/>
          </p:nvSpPr>
          <p:spPr>
            <a:xfrm>
              <a:off x="10258232" y="2715578"/>
              <a:ext cx="952886" cy="213360"/>
            </a:xfrm>
            <a:prstGeom prst="rect">
              <a:avLst/>
            </a:prstGeom>
            <a:noFill/>
            <a:ln>
              <a:noFill/>
            </a:ln>
          </p:spPr>
          <p:txBody>
            <a:bodyPr wrap="none" lIns="0" tIns="0" rIns="0" bIns="0" anchor="t" anchorCtr="0">
              <a:spAutoFit/>
            </a:bodyPr>
            <a:lstStyle/>
            <a:p>
              <a:pPr algn="ctr"/>
              <a:r>
                <a:rPr lang="zh-CN" sz="1050" b="1" dirty="0">
                  <a:solidFill>
                    <a:srgbClr val="1565C0"/>
                  </a:solidFill>
                  <a:latin typeface="Cambria"/>
                  <a:ea typeface="SimSun"/>
                  <a:cs typeface="Cambria"/>
                </a:rPr>
                <a:t>P04-08 · 6 页</a:t>
              </a:r>
            </a:p>
          </p:txBody>
        </p:sp>
        <p:sp>
          <p:nvSpPr>
            <p:cNvPr id="27" name="TextBox 27"/>
            <p:cNvSpPr txBox="1"/>
            <p:nvPr/>
          </p:nvSpPr>
          <p:spPr>
            <a:xfrm>
              <a:off x="1798320" y="3169920"/>
              <a:ext cx="2562077" cy="182880"/>
            </a:xfrm>
            <a:prstGeom prst="rect">
              <a:avLst/>
            </a:prstGeom>
            <a:noFill/>
            <a:ln>
              <a:noFill/>
            </a:ln>
          </p:spPr>
          <p:txBody>
            <a:bodyPr wrap="none" lIns="0" tIns="0" rIns="0" bIns="0" anchor="t" anchorCtr="0">
              <a:spAutoFit/>
            </a:bodyPr>
            <a:lstStyle/>
            <a:p>
              <a:pPr algn="l"/>
              <a:r>
                <a:rPr lang="zh-CN" sz="900" b="1" dirty="0">
                  <a:solidFill>
                    <a:srgbClr val="9AA0A6"/>
                  </a:solidFill>
                  <a:latin typeface="Arial"/>
                  <a:ea typeface="Microsoft YaHei"/>
                  <a:cs typeface="Arial"/>
                </a:rPr>
                <a:t>CHAPTER · FOOD RECOGNITION EXPERIMENTS</a:t>
              </a:r>
            </a:p>
          </p:txBody>
        </p:sp>
      </p:grpSp>
      <p:grpSp>
        <p:nvGrpSpPr>
          <p:cNvPr id="36" name="Group 36"/>
          <p:cNvGrpSpPr/>
          <p:nvPr/>
        </p:nvGrpSpPr>
        <p:grpSpPr>
          <a:xfrm>
            <a:off x="971550" y="3305175"/>
            <a:ext cx="10267950" cy="809625"/>
            <a:chOff x="971550" y="3305175"/>
            <a:chExt cx="10267950" cy="809625"/>
          </a:xfrm>
        </p:grpSpPr>
        <p:sp>
          <p:nvSpPr>
            <p:cNvPr id="29" name="Ellipse 29"/>
            <p:cNvSpPr/>
            <p:nvPr/>
          </p:nvSpPr>
          <p:spPr>
            <a:xfrm>
              <a:off x="971550" y="3305175"/>
              <a:ext cx="533400" cy="533400"/>
            </a:xfrm>
            <a:prstGeom prst="ellipse">
              <a:avLst/>
            </a:prstGeom>
            <a:solidFill>
              <a:srgbClr val="1565C0"/>
            </a:solidFill>
            <a:ln>
              <a:noFill/>
            </a:ln>
          </p:spPr>
        </p:sp>
        <p:sp>
          <p:nvSpPr>
            <p:cNvPr id="30" name="TextBox 30"/>
            <p:cNvSpPr txBox="1"/>
            <p:nvPr/>
          </p:nvSpPr>
          <p:spPr>
            <a:xfrm>
              <a:off x="1130598" y="3518535"/>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03</a:t>
              </a:r>
            </a:p>
          </p:txBody>
        </p:sp>
        <p:sp>
          <p:nvSpPr>
            <p:cNvPr id="31" name="TextBox 31"/>
            <p:cNvSpPr txBox="1"/>
            <p:nvPr/>
          </p:nvSpPr>
          <p:spPr>
            <a:xfrm>
              <a:off x="1788795" y="3336608"/>
              <a:ext cx="4200430" cy="335280"/>
            </a:xfrm>
            <a:prstGeom prst="rect">
              <a:avLst/>
            </a:prstGeom>
            <a:noFill/>
            <a:ln>
              <a:noFill/>
            </a:ln>
          </p:spPr>
          <p:txBody>
            <a:bodyPr wrap="none" lIns="0" tIns="0" rIns="0" bIns="0" anchor="t" anchorCtr="0">
              <a:spAutoFit/>
            </a:bodyPr>
            <a:lstStyle/>
            <a:p>
              <a:pPr algn="l"/>
              <a:r>
                <a:rPr lang="zh-CN" sz="1650" b="1" dirty="0">
                  <a:solidFill>
                    <a:srgbClr val="1A1A1A"/>
                  </a:solidFill>
                  <a:latin typeface="Arial"/>
                  <a:ea typeface="Microsoft YaHei"/>
                  <a:cs typeface="Arial"/>
                </a:rPr>
                <a:t>第二问 · 分量估计实验</a:t>
              </a:r>
              <a:r>
                <a:rPr lang="zh-CN" sz="825" b="1" dirty="0">
                  <a:solidFill>
                    <a:srgbClr val="FF8F00"/>
                  </a:solidFill>
                  <a:latin typeface="Arial"/>
                  <a:ea typeface="Microsoft YaHei"/>
                  <a:cs typeface="Arial"/>
                </a:rPr>
                <a:t>· 核心方法学转向</a:t>
              </a:r>
            </a:p>
          </p:txBody>
        </p:sp>
        <p:sp>
          <p:nvSpPr>
            <p:cNvPr id="32" name="TextBox 32"/>
            <p:cNvSpPr txBox="1"/>
            <p:nvPr/>
          </p:nvSpPr>
          <p:spPr>
            <a:xfrm>
              <a:off x="1796415" y="3668078"/>
              <a:ext cx="3499104" cy="213360"/>
            </a:xfrm>
            <a:prstGeom prst="rect">
              <a:avLst/>
            </a:prstGeom>
            <a:noFill/>
            <a:ln>
              <a:noFill/>
            </a:ln>
          </p:spPr>
          <p:txBody>
            <a:bodyPr wrap="none" lIns="0" tIns="0" rIns="0" bIns="0" anchor="t" anchorCtr="0">
              <a:spAutoFit/>
            </a:bodyPr>
            <a:lstStyle/>
            <a:p>
              <a:pPr algn="l"/>
              <a:r>
                <a:rPr lang="zh-CN" sz="1050" dirty="0">
                  <a:solidFill>
                    <a:srgbClr val="5F6368"/>
                  </a:solidFill>
                  <a:latin typeface="Arial"/>
                  <a:ea typeface="Microsoft YaHei"/>
                  <a:cs typeface="Arial"/>
                </a:rPr>
                <a:t>通用大模型失败 → 热量反推 + 类别校准达到 MAE 21.34g</a:t>
              </a:r>
            </a:p>
          </p:txBody>
        </p:sp>
        <p:sp>
          <p:nvSpPr>
            <p:cNvPr id="33" name="Rectangle 33"/>
            <p:cNvSpPr/>
            <p:nvPr/>
          </p:nvSpPr>
          <p:spPr>
            <a:xfrm>
              <a:off x="10239375" y="3362325"/>
              <a:ext cx="1000125" cy="342900"/>
            </a:xfrm>
            <a:prstGeom prst="roundRect">
              <a:avLst>
                <a:gd name="adj" fmla="val 50000"/>
              </a:avLst>
            </a:prstGeom>
            <a:solidFill>
              <a:srgbClr val="FF8F00"/>
            </a:solidFill>
            <a:ln>
              <a:noFill/>
            </a:ln>
          </p:spPr>
        </p:sp>
        <p:sp>
          <p:nvSpPr>
            <p:cNvPr id="34" name="TextBox 34"/>
            <p:cNvSpPr txBox="1"/>
            <p:nvPr/>
          </p:nvSpPr>
          <p:spPr>
            <a:xfrm>
              <a:off x="10276609" y="3477578"/>
              <a:ext cx="9161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Cambria"/>
                  <a:ea typeface="SimSun"/>
                  <a:cs typeface="Cambria"/>
                </a:rPr>
                <a:t>P09-16 · 8 页</a:t>
              </a:r>
            </a:p>
          </p:txBody>
        </p:sp>
        <p:sp>
          <p:nvSpPr>
            <p:cNvPr id="35" name="TextBox 35"/>
            <p:cNvSpPr txBox="1"/>
            <p:nvPr/>
          </p:nvSpPr>
          <p:spPr>
            <a:xfrm>
              <a:off x="1798320" y="3931920"/>
              <a:ext cx="3437887" cy="182880"/>
            </a:xfrm>
            <a:prstGeom prst="rect">
              <a:avLst/>
            </a:prstGeom>
            <a:noFill/>
            <a:ln>
              <a:noFill/>
            </a:ln>
          </p:spPr>
          <p:txBody>
            <a:bodyPr wrap="none" lIns="0" tIns="0" rIns="0" bIns="0" anchor="t" anchorCtr="0">
              <a:spAutoFit/>
            </a:bodyPr>
            <a:lstStyle/>
            <a:p>
              <a:pPr algn="l"/>
              <a:r>
                <a:rPr lang="zh-CN" sz="900" b="1" dirty="0">
                  <a:solidFill>
                    <a:srgbClr val="9AA0A6"/>
                  </a:solidFill>
                  <a:latin typeface="Arial"/>
                  <a:ea typeface="Microsoft YaHei"/>
                  <a:cs typeface="Arial"/>
                </a:rPr>
                <a:t>CHAPTER · PORTION ESTIMATION &amp; METHODOLOGICAL PIVOT</a:t>
              </a:r>
            </a:p>
          </p:txBody>
        </p:sp>
      </p:grpSp>
      <p:grpSp>
        <p:nvGrpSpPr>
          <p:cNvPr id="44" name="Group 44"/>
          <p:cNvGrpSpPr/>
          <p:nvPr/>
        </p:nvGrpSpPr>
        <p:grpSpPr>
          <a:xfrm>
            <a:off x="990600" y="4086225"/>
            <a:ext cx="10248900" cy="790575"/>
            <a:chOff x="990600" y="4086225"/>
            <a:chExt cx="10248900" cy="790575"/>
          </a:xfrm>
        </p:grpSpPr>
        <p:sp>
          <p:nvSpPr>
            <p:cNvPr id="37" name="Ellipse 37"/>
            <p:cNvSpPr/>
            <p:nvPr/>
          </p:nvSpPr>
          <p:spPr>
            <a:xfrm>
              <a:off x="990600" y="4086225"/>
              <a:ext cx="495300" cy="495300"/>
            </a:xfrm>
            <a:prstGeom prst="ellipse">
              <a:avLst/>
            </a:prstGeom>
            <a:solidFill>
              <a:srgbClr val="FFFFFF"/>
            </a:solidFill>
            <a:ln w="28575">
              <a:solidFill>
                <a:srgbClr val="5C6BC0"/>
              </a:solidFill>
            </a:ln>
          </p:spPr>
        </p:sp>
        <p:sp>
          <p:nvSpPr>
            <p:cNvPr id="38" name="TextBox 38"/>
            <p:cNvSpPr txBox="1"/>
            <p:nvPr/>
          </p:nvSpPr>
          <p:spPr>
            <a:xfrm>
              <a:off x="1130598" y="4280535"/>
              <a:ext cx="215303" cy="243840"/>
            </a:xfrm>
            <a:prstGeom prst="rect">
              <a:avLst/>
            </a:prstGeom>
            <a:noFill/>
            <a:ln>
              <a:noFill/>
            </a:ln>
          </p:spPr>
          <p:txBody>
            <a:bodyPr wrap="none" lIns="0" tIns="0" rIns="0" bIns="0" anchor="t" anchorCtr="0">
              <a:spAutoFit/>
            </a:bodyPr>
            <a:lstStyle/>
            <a:p>
              <a:pPr algn="ctr"/>
              <a:r>
                <a:rPr lang="zh-CN" sz="1200" b="1" dirty="0">
                  <a:solidFill>
                    <a:srgbClr val="5C6BC0"/>
                  </a:solidFill>
                  <a:latin typeface="Cambria"/>
                  <a:ea typeface="SimSun"/>
                  <a:cs typeface="Cambria"/>
                </a:rPr>
                <a:t>04</a:t>
              </a:r>
            </a:p>
          </p:txBody>
        </p:sp>
        <p:sp>
          <p:nvSpPr>
            <p:cNvPr id="39" name="TextBox 39"/>
            <p:cNvSpPr txBox="1"/>
            <p:nvPr/>
          </p:nvSpPr>
          <p:spPr>
            <a:xfrm>
              <a:off x="1788795" y="4098608"/>
              <a:ext cx="3541997" cy="335280"/>
            </a:xfrm>
            <a:prstGeom prst="rect">
              <a:avLst/>
            </a:prstGeom>
            <a:noFill/>
            <a:ln>
              <a:noFill/>
            </a:ln>
          </p:spPr>
          <p:txBody>
            <a:bodyPr wrap="none" lIns="0" tIns="0" rIns="0" bIns="0" anchor="t" anchorCtr="0">
              <a:spAutoFit/>
            </a:bodyPr>
            <a:lstStyle/>
            <a:p>
              <a:pPr algn="l"/>
              <a:r>
                <a:rPr lang="zh-CN" sz="1650" b="1" dirty="0">
                  <a:solidFill>
                    <a:srgbClr val="1A1A1A"/>
                  </a:solidFill>
                  <a:latin typeface="Arial"/>
                  <a:ea typeface="Microsoft YaHei"/>
                  <a:cs typeface="Arial"/>
                </a:rPr>
                <a:t>第三、四问 · 多盘菜营养分析系统</a:t>
              </a:r>
            </a:p>
          </p:txBody>
        </p:sp>
        <p:sp>
          <p:nvSpPr>
            <p:cNvPr id="40" name="TextBox 40"/>
            <p:cNvSpPr txBox="1"/>
            <p:nvPr/>
          </p:nvSpPr>
          <p:spPr>
            <a:xfrm>
              <a:off x="1796415" y="4430078"/>
              <a:ext cx="2729008" cy="213360"/>
            </a:xfrm>
            <a:prstGeom prst="rect">
              <a:avLst/>
            </a:prstGeom>
            <a:noFill/>
            <a:ln>
              <a:noFill/>
            </a:ln>
          </p:spPr>
          <p:txBody>
            <a:bodyPr wrap="none" lIns="0" tIns="0" rIns="0" bIns="0" anchor="t" anchorCtr="0">
              <a:spAutoFit/>
            </a:bodyPr>
            <a:lstStyle/>
            <a:p>
              <a:pPr algn="l"/>
              <a:r>
                <a:rPr lang="zh-CN" sz="1050" dirty="0">
                  <a:solidFill>
                    <a:srgbClr val="5F6368"/>
                  </a:solidFill>
                  <a:latin typeface="Arial"/>
                  <a:ea typeface="Microsoft YaHei"/>
                  <a:cs typeface="Arial"/>
                </a:rPr>
                <a:t>四层架构 + 多盘分割 + 智能问答一体化设计</a:t>
              </a:r>
            </a:p>
          </p:txBody>
        </p:sp>
        <p:sp>
          <p:nvSpPr>
            <p:cNvPr id="41" name="Rectangle 41"/>
            <p:cNvSpPr/>
            <p:nvPr/>
          </p:nvSpPr>
          <p:spPr>
            <a:xfrm>
              <a:off x="10239375" y="4124325"/>
              <a:ext cx="1000125" cy="342900"/>
            </a:xfrm>
            <a:prstGeom prst="roundRect">
              <a:avLst>
                <a:gd name="adj" fmla="val 50000"/>
              </a:avLst>
            </a:prstGeom>
            <a:solidFill>
              <a:srgbClr val="F5F7FA"/>
            </a:solidFill>
            <a:ln>
              <a:noFill/>
            </a:ln>
          </p:spPr>
        </p:sp>
        <p:sp>
          <p:nvSpPr>
            <p:cNvPr id="42" name="TextBox 42"/>
            <p:cNvSpPr txBox="1"/>
            <p:nvPr/>
          </p:nvSpPr>
          <p:spPr>
            <a:xfrm>
              <a:off x="10276609" y="4239578"/>
              <a:ext cx="916131" cy="213360"/>
            </a:xfrm>
            <a:prstGeom prst="rect">
              <a:avLst/>
            </a:prstGeom>
            <a:noFill/>
            <a:ln>
              <a:noFill/>
            </a:ln>
          </p:spPr>
          <p:txBody>
            <a:bodyPr wrap="none" lIns="0" tIns="0" rIns="0" bIns="0" anchor="t" anchorCtr="0">
              <a:spAutoFit/>
            </a:bodyPr>
            <a:lstStyle/>
            <a:p>
              <a:pPr algn="ctr"/>
              <a:r>
                <a:rPr lang="zh-CN" sz="1050" b="1" dirty="0">
                  <a:solidFill>
                    <a:srgbClr val="5C6BC0"/>
                  </a:solidFill>
                  <a:latin typeface="Cambria"/>
                  <a:ea typeface="SimSun"/>
                  <a:cs typeface="Cambria"/>
                </a:rPr>
                <a:t>P17-22 · 6 页</a:t>
              </a:r>
            </a:p>
          </p:txBody>
        </p:sp>
        <p:sp>
          <p:nvSpPr>
            <p:cNvPr id="43" name="TextBox 43"/>
            <p:cNvSpPr txBox="1"/>
            <p:nvPr/>
          </p:nvSpPr>
          <p:spPr>
            <a:xfrm>
              <a:off x="1798320" y="4693920"/>
              <a:ext cx="2410858" cy="182880"/>
            </a:xfrm>
            <a:prstGeom prst="rect">
              <a:avLst/>
            </a:prstGeom>
            <a:noFill/>
            <a:ln>
              <a:noFill/>
            </a:ln>
          </p:spPr>
          <p:txBody>
            <a:bodyPr wrap="none" lIns="0" tIns="0" rIns="0" bIns="0" anchor="t" anchorCtr="0">
              <a:spAutoFit/>
            </a:bodyPr>
            <a:lstStyle/>
            <a:p>
              <a:pPr algn="l"/>
              <a:r>
                <a:rPr lang="zh-CN" sz="900" b="1" dirty="0">
                  <a:solidFill>
                    <a:srgbClr val="9AA0A6"/>
                  </a:solidFill>
                  <a:latin typeface="Arial"/>
                  <a:ea typeface="Microsoft YaHei"/>
                  <a:cs typeface="Arial"/>
                </a:rPr>
                <a:t>CHAPTER · MULTI-DISH NUTRITION SYSTEM</a:t>
              </a:r>
            </a:p>
          </p:txBody>
        </p:sp>
      </p:grpSp>
      <p:grpSp>
        <p:nvGrpSpPr>
          <p:cNvPr id="52" name="Group 52"/>
          <p:cNvGrpSpPr/>
          <p:nvPr/>
        </p:nvGrpSpPr>
        <p:grpSpPr>
          <a:xfrm>
            <a:off x="990600" y="4848225"/>
            <a:ext cx="10248900" cy="790575"/>
            <a:chOff x="990600" y="4848225"/>
            <a:chExt cx="10248900" cy="790575"/>
          </a:xfrm>
        </p:grpSpPr>
        <p:sp>
          <p:nvSpPr>
            <p:cNvPr id="45" name="Ellipse 45"/>
            <p:cNvSpPr/>
            <p:nvPr/>
          </p:nvSpPr>
          <p:spPr>
            <a:xfrm>
              <a:off x="990600" y="4848225"/>
              <a:ext cx="495300" cy="495300"/>
            </a:xfrm>
            <a:prstGeom prst="ellipse">
              <a:avLst/>
            </a:prstGeom>
            <a:solidFill>
              <a:srgbClr val="FFFFFF"/>
            </a:solidFill>
            <a:ln w="28575">
              <a:solidFill>
                <a:srgbClr val="C62828"/>
              </a:solidFill>
            </a:ln>
          </p:spPr>
        </p:sp>
        <p:sp>
          <p:nvSpPr>
            <p:cNvPr id="46" name="TextBox 46"/>
            <p:cNvSpPr txBox="1"/>
            <p:nvPr/>
          </p:nvSpPr>
          <p:spPr>
            <a:xfrm>
              <a:off x="1130598" y="5042535"/>
              <a:ext cx="215303"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05</a:t>
              </a:r>
            </a:p>
          </p:txBody>
        </p:sp>
        <p:sp>
          <p:nvSpPr>
            <p:cNvPr id="47" name="TextBox 47"/>
            <p:cNvSpPr txBox="1"/>
            <p:nvPr/>
          </p:nvSpPr>
          <p:spPr>
            <a:xfrm>
              <a:off x="1788795" y="4860608"/>
              <a:ext cx="1428083" cy="335280"/>
            </a:xfrm>
            <a:prstGeom prst="rect">
              <a:avLst/>
            </a:prstGeom>
            <a:noFill/>
            <a:ln>
              <a:noFill/>
            </a:ln>
          </p:spPr>
          <p:txBody>
            <a:bodyPr wrap="none" lIns="0" tIns="0" rIns="0" bIns="0" anchor="t" anchorCtr="0">
              <a:spAutoFit/>
            </a:bodyPr>
            <a:lstStyle/>
            <a:p>
              <a:pPr algn="l"/>
              <a:r>
                <a:rPr lang="zh-CN" sz="1650" b="1" dirty="0">
                  <a:solidFill>
                    <a:srgbClr val="1A1A1A"/>
                  </a:solidFill>
                  <a:latin typeface="Arial"/>
                  <a:ea typeface="Microsoft YaHei"/>
                  <a:cs typeface="Arial"/>
                </a:rPr>
                <a:t>失败案例分析</a:t>
              </a:r>
            </a:p>
          </p:txBody>
        </p:sp>
        <p:sp>
          <p:nvSpPr>
            <p:cNvPr id="48" name="TextBox 48"/>
            <p:cNvSpPr txBox="1"/>
            <p:nvPr/>
          </p:nvSpPr>
          <p:spPr>
            <a:xfrm>
              <a:off x="1796415" y="5192078"/>
              <a:ext cx="2848023" cy="213360"/>
            </a:xfrm>
            <a:prstGeom prst="rect">
              <a:avLst/>
            </a:prstGeom>
            <a:noFill/>
            <a:ln>
              <a:noFill/>
            </a:ln>
          </p:spPr>
          <p:txBody>
            <a:bodyPr wrap="none" lIns="0" tIns="0" rIns="0" bIns="0" anchor="t" anchorCtr="0">
              <a:spAutoFit/>
            </a:bodyPr>
            <a:lstStyle/>
            <a:p>
              <a:pPr algn="l"/>
              <a:r>
                <a:rPr lang="zh-CN" sz="1050" dirty="0">
                  <a:solidFill>
                    <a:srgbClr val="5F6368"/>
                  </a:solidFill>
                  <a:latin typeface="Arial"/>
                  <a:ea typeface="Microsoft YaHei"/>
                  <a:cs typeface="Arial"/>
                </a:rPr>
                <a:t>三个问题中四种典型失败模式 + 关键洞察提炼</a:t>
              </a:r>
            </a:p>
          </p:txBody>
        </p:sp>
        <p:sp>
          <p:nvSpPr>
            <p:cNvPr id="49" name="Rectangle 49"/>
            <p:cNvSpPr/>
            <p:nvPr/>
          </p:nvSpPr>
          <p:spPr>
            <a:xfrm>
              <a:off x="10239375" y="4886325"/>
              <a:ext cx="1000125" cy="342900"/>
            </a:xfrm>
            <a:prstGeom prst="roundRect">
              <a:avLst>
                <a:gd name="adj" fmla="val 50000"/>
              </a:avLst>
            </a:prstGeom>
            <a:solidFill>
              <a:srgbClr val="F5F7FA"/>
            </a:solidFill>
            <a:ln>
              <a:noFill/>
            </a:ln>
          </p:spPr>
        </p:sp>
        <p:sp>
          <p:nvSpPr>
            <p:cNvPr id="50" name="TextBox 50"/>
            <p:cNvSpPr txBox="1"/>
            <p:nvPr/>
          </p:nvSpPr>
          <p:spPr>
            <a:xfrm>
              <a:off x="10258232" y="5001578"/>
              <a:ext cx="952886" cy="213360"/>
            </a:xfrm>
            <a:prstGeom prst="rect">
              <a:avLst/>
            </a:prstGeom>
            <a:noFill/>
            <a:ln>
              <a:noFill/>
            </a:ln>
          </p:spPr>
          <p:txBody>
            <a:bodyPr wrap="none" lIns="0" tIns="0" rIns="0" bIns="0" anchor="t" anchorCtr="0">
              <a:spAutoFit/>
            </a:bodyPr>
            <a:lstStyle/>
            <a:p>
              <a:pPr algn="ctr"/>
              <a:r>
                <a:rPr lang="zh-CN" sz="1050" b="1" dirty="0">
                  <a:solidFill>
                    <a:srgbClr val="C62828"/>
                  </a:solidFill>
                  <a:latin typeface="Cambria"/>
                  <a:ea typeface="SimSun"/>
                  <a:cs typeface="Cambria"/>
                </a:rPr>
                <a:t>P23-26 · 4 页</a:t>
              </a:r>
            </a:p>
          </p:txBody>
        </p:sp>
        <p:sp>
          <p:nvSpPr>
            <p:cNvPr id="51" name="TextBox 51"/>
            <p:cNvSpPr txBox="1"/>
            <p:nvPr/>
          </p:nvSpPr>
          <p:spPr>
            <a:xfrm>
              <a:off x="1798320" y="5455920"/>
              <a:ext cx="1982405" cy="182880"/>
            </a:xfrm>
            <a:prstGeom prst="rect">
              <a:avLst/>
            </a:prstGeom>
            <a:noFill/>
            <a:ln>
              <a:noFill/>
            </a:ln>
          </p:spPr>
          <p:txBody>
            <a:bodyPr wrap="none" lIns="0" tIns="0" rIns="0" bIns="0" anchor="t" anchorCtr="0">
              <a:spAutoFit/>
            </a:bodyPr>
            <a:lstStyle/>
            <a:p>
              <a:pPr algn="l"/>
              <a:r>
                <a:rPr lang="zh-CN" sz="900" b="1" dirty="0">
                  <a:solidFill>
                    <a:srgbClr val="9AA0A6"/>
                  </a:solidFill>
                  <a:latin typeface="Arial"/>
                  <a:ea typeface="Microsoft YaHei"/>
                  <a:cs typeface="Arial"/>
                </a:rPr>
                <a:t>CHAPTER · FAILURE CASE ANALYSIS</a:t>
              </a:r>
            </a:p>
          </p:txBody>
        </p:sp>
      </p:grpSp>
      <p:grpSp>
        <p:nvGrpSpPr>
          <p:cNvPr id="60" name="Group 60"/>
          <p:cNvGrpSpPr/>
          <p:nvPr/>
        </p:nvGrpSpPr>
        <p:grpSpPr>
          <a:xfrm>
            <a:off x="990600" y="5610225"/>
            <a:ext cx="10248900" cy="790575"/>
            <a:chOff x="990600" y="5610225"/>
            <a:chExt cx="10248900" cy="790575"/>
          </a:xfrm>
        </p:grpSpPr>
        <p:sp>
          <p:nvSpPr>
            <p:cNvPr id="53" name="Ellipse 53"/>
            <p:cNvSpPr/>
            <p:nvPr/>
          </p:nvSpPr>
          <p:spPr>
            <a:xfrm>
              <a:off x="990600" y="5610225"/>
              <a:ext cx="495300" cy="495300"/>
            </a:xfrm>
            <a:prstGeom prst="ellipse">
              <a:avLst/>
            </a:prstGeom>
            <a:solidFill>
              <a:srgbClr val="FFFFFF"/>
            </a:solidFill>
            <a:ln w="28575">
              <a:solidFill>
                <a:srgbClr val="2E7D32"/>
              </a:solidFill>
            </a:ln>
          </p:spPr>
        </p:sp>
        <p:sp>
          <p:nvSpPr>
            <p:cNvPr id="54" name="TextBox 54"/>
            <p:cNvSpPr txBox="1"/>
            <p:nvPr/>
          </p:nvSpPr>
          <p:spPr>
            <a:xfrm>
              <a:off x="1130598" y="5804535"/>
              <a:ext cx="215303"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Cambria"/>
                  <a:ea typeface="SimSun"/>
                  <a:cs typeface="Cambria"/>
                </a:rPr>
                <a:t>06</a:t>
              </a:r>
            </a:p>
          </p:txBody>
        </p:sp>
        <p:sp>
          <p:nvSpPr>
            <p:cNvPr id="55" name="TextBox 55"/>
            <p:cNvSpPr txBox="1"/>
            <p:nvPr/>
          </p:nvSpPr>
          <p:spPr>
            <a:xfrm>
              <a:off x="1788795" y="5622608"/>
              <a:ext cx="1659112" cy="335280"/>
            </a:xfrm>
            <a:prstGeom prst="rect">
              <a:avLst/>
            </a:prstGeom>
            <a:noFill/>
            <a:ln>
              <a:noFill/>
            </a:ln>
          </p:spPr>
          <p:txBody>
            <a:bodyPr wrap="none" lIns="0" tIns="0" rIns="0" bIns="0" anchor="t" anchorCtr="0">
              <a:spAutoFit/>
            </a:bodyPr>
            <a:lstStyle/>
            <a:p>
              <a:pPr algn="l"/>
              <a:r>
                <a:rPr lang="zh-CN" sz="1650" b="1" dirty="0">
                  <a:solidFill>
                    <a:srgbClr val="1A1A1A"/>
                  </a:solidFill>
                  <a:latin typeface="Arial"/>
                  <a:ea typeface="Microsoft YaHei"/>
                  <a:cs typeface="Arial"/>
                </a:rPr>
                <a:t>实验总结与展望</a:t>
              </a:r>
            </a:p>
          </p:txBody>
        </p:sp>
        <p:sp>
          <p:nvSpPr>
            <p:cNvPr id="56" name="TextBox 56"/>
            <p:cNvSpPr txBox="1"/>
            <p:nvPr/>
          </p:nvSpPr>
          <p:spPr>
            <a:xfrm>
              <a:off x="1796415" y="5954078"/>
              <a:ext cx="2266950" cy="213360"/>
            </a:xfrm>
            <a:prstGeom prst="rect">
              <a:avLst/>
            </a:prstGeom>
            <a:noFill/>
            <a:ln>
              <a:noFill/>
            </a:ln>
          </p:spPr>
          <p:txBody>
            <a:bodyPr wrap="none" lIns="0" tIns="0" rIns="0" bIns="0" anchor="t" anchorCtr="0">
              <a:spAutoFit/>
            </a:bodyPr>
            <a:lstStyle/>
            <a:p>
              <a:pPr algn="l"/>
              <a:r>
                <a:rPr lang="zh-CN" sz="1050" dirty="0">
                  <a:solidFill>
                    <a:srgbClr val="5F6368"/>
                  </a:solidFill>
                  <a:latin typeface="Arial"/>
                  <a:ea typeface="Microsoft YaHei"/>
                  <a:cs typeface="Arial"/>
                </a:rPr>
                <a:t>7 条核心结论 + 研究启示与未来工作</a:t>
              </a:r>
            </a:p>
          </p:txBody>
        </p:sp>
        <p:sp>
          <p:nvSpPr>
            <p:cNvPr id="57" name="Rectangle 57"/>
            <p:cNvSpPr/>
            <p:nvPr/>
          </p:nvSpPr>
          <p:spPr>
            <a:xfrm>
              <a:off x="10239375" y="5648325"/>
              <a:ext cx="1000125" cy="342900"/>
            </a:xfrm>
            <a:prstGeom prst="roundRect">
              <a:avLst>
                <a:gd name="adj" fmla="val 50000"/>
              </a:avLst>
            </a:prstGeom>
            <a:solidFill>
              <a:srgbClr val="F5F7FA"/>
            </a:solidFill>
            <a:ln>
              <a:noFill/>
            </a:ln>
          </p:spPr>
        </p:sp>
        <p:sp>
          <p:nvSpPr>
            <p:cNvPr id="58" name="TextBox 58"/>
            <p:cNvSpPr txBox="1"/>
            <p:nvPr/>
          </p:nvSpPr>
          <p:spPr>
            <a:xfrm>
              <a:off x="10258232" y="5763578"/>
              <a:ext cx="952886"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Cambria"/>
                  <a:ea typeface="SimSun"/>
                  <a:cs typeface="Cambria"/>
                </a:rPr>
                <a:t>P27-30 · 4 页</a:t>
              </a:r>
            </a:p>
          </p:txBody>
        </p:sp>
        <p:sp>
          <p:nvSpPr>
            <p:cNvPr id="59" name="TextBox 59"/>
            <p:cNvSpPr txBox="1"/>
            <p:nvPr/>
          </p:nvSpPr>
          <p:spPr>
            <a:xfrm>
              <a:off x="1798320" y="6217920"/>
              <a:ext cx="2139925" cy="182880"/>
            </a:xfrm>
            <a:prstGeom prst="rect">
              <a:avLst/>
            </a:prstGeom>
            <a:noFill/>
            <a:ln>
              <a:noFill/>
            </a:ln>
          </p:spPr>
          <p:txBody>
            <a:bodyPr wrap="none" lIns="0" tIns="0" rIns="0" bIns="0" anchor="t" anchorCtr="0">
              <a:spAutoFit/>
            </a:bodyPr>
            <a:lstStyle/>
            <a:p>
              <a:pPr algn="l"/>
              <a:r>
                <a:rPr lang="zh-CN" sz="900" b="1" dirty="0">
                  <a:solidFill>
                    <a:srgbClr val="9AA0A6"/>
                  </a:solidFill>
                  <a:latin typeface="Arial"/>
                  <a:ea typeface="Microsoft YaHei"/>
                  <a:cs typeface="Arial"/>
                </a:rPr>
                <a:t>CHAPTER · CONCLUSIONS &amp; OUTLOOK</a:t>
              </a:r>
            </a:p>
          </p:txBody>
        </p:sp>
      </p:grpSp>
      <p:sp>
        <p:nvSpPr>
          <p:cNvPr id="61" name="TextBox 61"/>
          <p:cNvSpPr txBox="1"/>
          <p:nvPr/>
        </p:nvSpPr>
        <p:spPr>
          <a:xfrm>
            <a:off x="750570" y="6522720"/>
            <a:ext cx="2826710" cy="182880"/>
          </a:xfrm>
          <a:prstGeom prst="rect">
            <a:avLst/>
          </a:prstGeom>
          <a:noFill/>
          <a:ln>
            <a:noFill/>
          </a:ln>
        </p:spPr>
        <p:txBody>
          <a:bodyPr wrap="none" lIns="0" tIns="0" rIns="0" bIns="0" anchor="t" anchorCtr="0">
            <a:spAutoFit/>
          </a:bodyPr>
          <a:lstStyle/>
          <a:p>
            <a:pPr algn="l"/>
            <a:r>
              <a:rPr lang="zh-CN" sz="900" b="1" dirty="0">
                <a:solidFill>
                  <a:srgbClr val="9AA0A6"/>
                </a:solidFill>
                <a:latin typeface="Arial"/>
                <a:ea typeface="Microsoft YaHei"/>
                <a:cs typeface="Arial"/>
              </a:rPr>
              <a:t>Presenter: XXX · 智能系统大作业 · 2026-08-23</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lide(fromBottom)">
                                      <p:cBhvr>
                                        <p:cTn id="7" dur="400"/>
                                        <p:tgtEl>
                                          <p:spTgt spid="2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slide(fromBottom)">
                                      <p:cBhvr>
                                        <p:cTn id="11" dur="400"/>
                                        <p:tgtEl>
                                          <p:spTgt spid="2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slide(fromBottom)">
                                      <p:cBhvr>
                                        <p:cTn id="15" dur="400"/>
                                        <p:tgtEl>
                                          <p:spTgt spid="3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slide(fromBottom)">
                                      <p:cBhvr>
                                        <p:cTn id="19" dur="400"/>
                                        <p:tgtEl>
                                          <p:spTgt spid="44"/>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slide(fromBottom)">
                                      <p:cBhvr>
                                        <p:cTn id="23" dur="400"/>
                                        <p:tgtEl>
                                          <p:spTgt spid="52"/>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slide(fromBottom)">
                                      <p:cBhvr>
                                        <p:cTn id="27"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8" grpId="0"/>
      <p:bldP spid="36" grpId="0"/>
      <p:bldP spid="44" grpId="0"/>
      <p:bldP spid="52" grpId="0"/>
      <p:bldP spid="6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gradFill>
            <a:gsLst>
              <a:gs pos="0">
                <a:srgbClr val="1565C0">
                  <a:alpha val="8000"/>
                </a:srgbClr>
              </a:gs>
              <a:gs pos="100000">
                <a:srgbClr val="1565C0">
                  <a:alpha val="0"/>
                </a:srgbClr>
              </a:gs>
            </a:gsLst>
            <a:path path="circle">
              <a:fillToRect l="50000" t="50000" r="50000" b="50000"/>
            </a:path>
          </a:gradFill>
          <a:ln>
            <a:noFill/>
          </a:ln>
        </p:spPr>
      </p:sp>
      <p:grpSp>
        <p:nvGrpSpPr>
          <p:cNvPr id="11" name="Group 11"/>
          <p:cNvGrpSpPr/>
          <p:nvPr/>
        </p:nvGrpSpPr>
        <p:grpSpPr>
          <a:xfrm>
            <a:off x="571500" y="457200"/>
            <a:ext cx="11049000" cy="685800"/>
            <a:chOff x="571500" y="457200"/>
            <a:chExt cx="11049000" cy="685800"/>
          </a:xfrm>
        </p:grpSpPr>
        <p:sp>
          <p:nvSpPr>
            <p:cNvPr id="4" name="Rectangle 4"/>
            <p:cNvSpPr/>
            <p:nvPr/>
          </p:nvSpPr>
          <p:spPr>
            <a:xfrm>
              <a:off x="571500" y="457200"/>
              <a:ext cx="57150" cy="381000"/>
            </a:xfrm>
            <a:prstGeom prst="roundRect">
              <a:avLst>
                <a:gd name="adj" fmla="val 50000"/>
              </a:avLst>
            </a:prstGeom>
            <a:solidFill>
              <a:srgbClr val="1565C0"/>
            </a:solidFill>
            <a:ln>
              <a:noFill/>
            </a:ln>
          </p:spPr>
        </p:sp>
        <p:sp>
          <p:nvSpPr>
            <p:cNvPr id="5" name="TextBox 5"/>
            <p:cNvSpPr txBox="1"/>
            <p:nvPr/>
          </p:nvSpPr>
          <p:spPr>
            <a:xfrm>
              <a:off x="733425" y="500062"/>
              <a:ext cx="4829997"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研究背景 · 食物分析三大核心挑战</a:t>
              </a:r>
            </a:p>
          </p:txBody>
        </p:sp>
        <p:sp>
          <p:nvSpPr>
            <p:cNvPr id="6" name="TextBox 6"/>
            <p:cNvSpPr txBox="1"/>
            <p:nvPr/>
          </p:nvSpPr>
          <p:spPr>
            <a:xfrm>
              <a:off x="748665" y="896302"/>
              <a:ext cx="3937359"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BACKGROUND · THREE CORE CHALLENGES IN FOOD ANALYSIS</a:t>
              </a:r>
            </a:p>
          </p:txBody>
        </p:sp>
        <p:grpSp>
          <p:nvGrpSpPr>
            <p:cNvPr id="10" name="Group 10"/>
            <p:cNvGrpSpPr/>
            <p:nvPr/>
          </p:nvGrpSpPr>
          <p:grpSpPr>
            <a:xfrm>
              <a:off x="10001250" y="571500"/>
              <a:ext cx="1619250" cy="571500"/>
              <a:chOff x="10001250" y="571500"/>
              <a:chExt cx="1619250" cy="571500"/>
            </a:xfrm>
          </p:grpSpPr>
          <p:sp>
            <p:nvSpPr>
              <p:cNvPr id="7" name="Rectangle 7"/>
              <p:cNvSpPr/>
              <p:nvPr/>
            </p:nvSpPr>
            <p:spPr>
              <a:xfrm>
                <a:off x="10001250" y="571500"/>
                <a:ext cx="1619250" cy="571500"/>
              </a:xfrm>
              <a:prstGeom prst="roundRect">
                <a:avLst>
                  <a:gd name="adj" fmla="val 16667"/>
                </a:avLst>
              </a:prstGeom>
              <a:solidFill>
                <a:srgbClr val="F5F7FA"/>
              </a:solidFill>
              <a:ln>
                <a:noFill/>
              </a:ln>
            </p:spPr>
          </p:sp>
          <p:sp>
            <p:nvSpPr>
              <p:cNvPr id="8" name="TextBox 8"/>
              <p:cNvSpPr txBox="1"/>
              <p:nvPr/>
            </p:nvSpPr>
            <p:spPr>
              <a:xfrm>
                <a:off x="10324517" y="676275"/>
                <a:ext cx="972717"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Cambria"/>
                    <a:ea typeface="SimSun"/>
                    <a:cs typeface="Cambria"/>
                  </a:rPr>
                  <a:t>Chapter 1</a:t>
                </a:r>
              </a:p>
            </p:txBody>
          </p:sp>
          <p:sp>
            <p:nvSpPr>
              <p:cNvPr id="9" name="TextBox 9"/>
              <p:cNvSpPr txBox="1"/>
              <p:nvPr/>
            </p:nvSpPr>
            <p:spPr>
              <a:xfrm>
                <a:off x="10309461" y="958691"/>
                <a:ext cx="1002828"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P03 · BACKGROUND</a:t>
                </a:r>
              </a:p>
            </p:txBody>
          </p:sp>
        </p:grpSp>
      </p:grpSp>
      <p:sp>
        <p:nvSpPr>
          <p:cNvPr id="12" name="Line 12"/>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3" name="TextBox 13"/>
          <p:cNvSpPr txBox="1"/>
          <p:nvPr/>
        </p:nvSpPr>
        <p:spPr>
          <a:xfrm>
            <a:off x="3077024" y="1497806"/>
            <a:ext cx="6037951" cy="228600"/>
          </a:xfrm>
          <a:prstGeom prst="rect">
            <a:avLst/>
          </a:prstGeom>
          <a:noFill/>
          <a:ln>
            <a:noFill/>
          </a:ln>
        </p:spPr>
        <p:txBody>
          <a:bodyPr wrap="none" lIns="0" tIns="0" rIns="0" bIns="0" anchor="t" anchorCtr="0">
            <a:spAutoFit/>
          </a:bodyPr>
          <a:lstStyle/>
          <a:p>
            <a:pPr algn="ctr"/>
            <a:r>
              <a:rPr lang="zh-CN" sz="1125" b="1" dirty="0">
                <a:solidFill>
                  <a:srgbClr val="5F6368"/>
                </a:solidFill>
                <a:latin typeface="Arial"/>
                <a:ea typeface="Microsoft YaHei"/>
                <a:cs typeface="Arial"/>
              </a:rPr>
              <a:t>健康意识提升与慢性病管理需求驱动智能化饮食分析 — 但现实场景中存在三大核心挑战</a:t>
            </a:r>
          </a:p>
        </p:txBody>
      </p:sp>
      <p:grpSp>
        <p:nvGrpSpPr>
          <p:cNvPr id="39" name="Group 39"/>
          <p:cNvGrpSpPr/>
          <p:nvPr/>
        </p:nvGrpSpPr>
        <p:grpSpPr>
          <a:xfrm>
            <a:off x="571500" y="1857375"/>
            <a:ext cx="3429000" cy="4524375"/>
            <a:chOff x="571500" y="1857375"/>
            <a:chExt cx="3429000" cy="4524375"/>
          </a:xfrm>
        </p:grpSpPr>
        <p:sp>
          <p:nvSpPr>
            <p:cNvPr id="14" name="Rectangle 14"/>
            <p:cNvSpPr/>
            <p:nvPr/>
          </p:nvSpPr>
          <p:spPr>
            <a:xfrm>
              <a:off x="571500" y="1857375"/>
              <a:ext cx="3429000" cy="4524375"/>
            </a:xfrm>
            <a:prstGeom prst="roundRect">
              <a:avLst>
                <a:gd name="adj" fmla="val 3333"/>
              </a:avLst>
            </a:prstGeom>
            <a:solidFill>
              <a:srgbClr val="FFFFFF"/>
            </a:solidFill>
            <a:ln w="14288">
              <a:solidFill>
                <a:srgbClr val="E0E0E0"/>
              </a:solidFill>
            </a:ln>
            <a:effectLst>
              <a:outerShdw blurRad="114300" dist="38100" dir="5400000" algn="ctr" rotWithShape="0">
                <a:srgbClr val="0F172A">
                  <a:alpha val="7500"/>
                </a:srgbClr>
              </a:outerShdw>
            </a:effectLst>
          </p:spPr>
        </p:sp>
        <p:sp>
          <p:nvSpPr>
            <p:cNvPr id="15" name="Freeform 15"/>
            <p:cNvSpPr/>
            <p:nvPr/>
          </p:nvSpPr>
          <p:spPr>
            <a:xfrm>
              <a:off x="571500" y="1857375"/>
              <a:ext cx="3429000" cy="1047750"/>
            </a:xfrm>
            <a:custGeom>
              <a:avLst/>
              <a:gdLst/>
              <a:ahLst/>
              <a:cxnLst/>
              <a:rect l="l" t="t" r="r" b="b"/>
              <a:pathLst>
                <a:path w="3429000" h="1047750">
                  <a:moveTo>
                    <a:pt x="0" y="114300"/>
                  </a:moveTo>
                  <a:cubicBezTo>
                    <a:pt x="0" y="51174"/>
                    <a:pt x="51174" y="0"/>
                    <a:pt x="114300" y="0"/>
                  </a:cubicBezTo>
                  <a:lnTo>
                    <a:pt x="3314700" y="0"/>
                  </a:lnTo>
                  <a:cubicBezTo>
                    <a:pt x="3377826" y="0"/>
                    <a:pt x="3429000" y="51174"/>
                    <a:pt x="3429000" y="114300"/>
                  </a:cubicBezTo>
                  <a:lnTo>
                    <a:pt x="3429000" y="1047750"/>
                  </a:lnTo>
                  <a:lnTo>
                    <a:pt x="0" y="1047750"/>
                  </a:lnTo>
                  <a:close/>
                </a:path>
              </a:pathLst>
            </a:custGeom>
            <a:gradFill>
              <a:gsLst>
                <a:gs pos="0">
                  <a:srgbClr val="1565C0"/>
                </a:gs>
                <a:gs pos="100000">
                  <a:srgbClr val="5C6BC0"/>
                </a:gs>
              </a:gsLst>
              <a:lin ang="2700000" scaled="1"/>
            </a:gradFill>
            <a:ln>
              <a:noFill/>
            </a:ln>
          </p:spPr>
        </p:sp>
        <p:sp>
          <p:nvSpPr>
            <p:cNvPr id="16" name="Rectangle 16"/>
            <p:cNvSpPr/>
            <p:nvPr/>
          </p:nvSpPr>
          <p:spPr>
            <a:xfrm>
              <a:off x="762000" y="2066925"/>
              <a:ext cx="419100" cy="419100"/>
            </a:xfrm>
            <a:prstGeom prst="roundRect">
              <a:avLst>
                <a:gd name="adj" fmla="val 22727"/>
              </a:avLst>
            </a:prstGeom>
            <a:solidFill>
              <a:srgbClr val="FFFFFF">
                <a:alpha val="18000"/>
              </a:srgbClr>
            </a:solidFill>
            <a:ln>
              <a:noFill/>
            </a:ln>
          </p:spPr>
        </p:sp>
        <p:sp>
          <p:nvSpPr>
            <p:cNvPr id="17" name="TextBox 17"/>
            <p:cNvSpPr txBox="1"/>
            <p:nvPr/>
          </p:nvSpPr>
          <p:spPr>
            <a:xfrm>
              <a:off x="852408" y="2174558"/>
              <a:ext cx="238285"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ambria"/>
                  <a:ea typeface="SimSun"/>
                  <a:cs typeface="Cambria"/>
                </a:rPr>
                <a:t>01</a:t>
              </a:r>
            </a:p>
          </p:txBody>
        </p:sp>
        <p:grpSp>
          <p:nvGrpSpPr>
            <p:cNvPr id="20" name="Group 20"/>
            <p:cNvGrpSpPr/>
            <p:nvPr/>
          </p:nvGrpSpPr>
          <p:grpSpPr>
            <a:xfrm>
              <a:off x="3383756" y="2185988"/>
              <a:ext cx="300038" cy="200025"/>
              <a:chOff x="3383756" y="2185988"/>
              <a:chExt cx="300038" cy="200025"/>
            </a:xfrm>
          </p:grpSpPr>
          <p:sp>
            <p:nvSpPr>
              <p:cNvPr id="18" name="Freeform 18"/>
              <p:cNvSpPr/>
              <p:nvPr/>
            </p:nvSpPr>
            <p:spPr>
              <a:xfrm>
                <a:off x="3500438" y="2252662"/>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19050">
                <a:solidFill>
                  <a:srgbClr val="FFFFFF"/>
                </a:solidFill>
              </a:ln>
            </p:spPr>
          </p:sp>
          <p:sp>
            <p:nvSpPr>
              <p:cNvPr id="19" name="Freeform 19"/>
              <p:cNvSpPr/>
              <p:nvPr/>
            </p:nvSpPr>
            <p:spPr>
              <a:xfrm>
                <a:off x="3383756" y="2185988"/>
                <a:ext cx="300038" cy="200025"/>
              </a:xfrm>
              <a:custGeom>
                <a:avLst/>
                <a:gdLst/>
                <a:ahLst/>
                <a:cxnLst/>
                <a:rect l="l" t="t" r="r" b="b"/>
                <a:pathLst>
                  <a:path w="300038" h="200025">
                    <a:moveTo>
                      <a:pt x="300038" y="100012"/>
                    </a:moveTo>
                    <a:cubicBezTo>
                      <a:pt x="260033" y="166688"/>
                      <a:pt x="210026" y="200025"/>
                      <a:pt x="150019" y="200025"/>
                    </a:cubicBezTo>
                    <a:cubicBezTo>
                      <a:pt x="90011" y="200025"/>
                      <a:pt x="40005" y="166688"/>
                      <a:pt x="0" y="100012"/>
                    </a:cubicBezTo>
                    <a:cubicBezTo>
                      <a:pt x="40005" y="33338"/>
                      <a:pt x="90011" y="0"/>
                      <a:pt x="150019" y="0"/>
                    </a:cubicBezTo>
                    <a:cubicBezTo>
                      <a:pt x="210026" y="0"/>
                      <a:pt x="260033" y="33338"/>
                      <a:pt x="300038" y="100012"/>
                    </a:cubicBezTo>
                  </a:path>
                </a:pathLst>
              </a:custGeom>
              <a:noFill/>
              <a:ln w="19050">
                <a:solidFill>
                  <a:srgbClr val="FFFFFF"/>
                </a:solidFill>
              </a:ln>
            </p:spPr>
          </p:sp>
        </p:grpSp>
        <p:sp>
          <p:nvSpPr>
            <p:cNvPr id="21" name="TextBox 21"/>
            <p:cNvSpPr txBox="1"/>
            <p:nvPr/>
          </p:nvSpPr>
          <p:spPr>
            <a:xfrm>
              <a:off x="1456444" y="2441258"/>
              <a:ext cx="165911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ambria"/>
                  <a:ea typeface="SimSun"/>
                  <a:cs typeface="Cambria"/>
                </a:rPr>
                <a:t>细粒度食物识别</a:t>
              </a:r>
            </a:p>
          </p:txBody>
        </p:sp>
        <p:sp>
          <p:nvSpPr>
            <p:cNvPr id="22" name="TextBox 22"/>
            <p:cNvSpPr txBox="1"/>
            <p:nvPr/>
          </p:nvSpPr>
          <p:spPr>
            <a:xfrm>
              <a:off x="1562221" y="2720816"/>
              <a:ext cx="1447558" cy="167640"/>
            </a:xfrm>
            <a:prstGeom prst="rect">
              <a:avLst/>
            </a:prstGeom>
            <a:noFill/>
            <a:ln>
              <a:noFill/>
            </a:ln>
          </p:spPr>
          <p:txBody>
            <a:bodyPr wrap="none" lIns="0" tIns="0" rIns="0" bIns="0" anchor="t" anchorCtr="0">
              <a:spAutoFit/>
            </a:bodyPr>
            <a:lstStyle/>
            <a:p>
              <a:pPr algn="ctr"/>
              <a:r>
                <a:rPr lang="zh-CN" sz="825" b="1" dirty="0">
                  <a:solidFill>
                    <a:srgbClr val="FFFFFF">
                      <a:alphaMod val="85000"/>
                    </a:srgbClr>
                  </a:solidFill>
                  <a:latin typeface="Arial"/>
                  <a:ea typeface="Microsoft YaHei"/>
                  <a:cs typeface="Arial"/>
                </a:rPr>
                <a:t>FINE-GRAINED RECOGNITION</a:t>
              </a:r>
            </a:p>
          </p:txBody>
        </p:sp>
        <p:sp>
          <p:nvSpPr>
            <p:cNvPr id="23" name="TextBox 23"/>
            <p:cNvSpPr txBox="1"/>
            <p:nvPr/>
          </p:nvSpPr>
          <p:spPr>
            <a:xfrm>
              <a:off x="785812" y="3145631"/>
              <a:ext cx="343614"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Arial"/>
                  <a:ea typeface="Microsoft YaHei"/>
                  <a:cs typeface="Arial"/>
                </a:rPr>
                <a:t>定义</a:t>
              </a:r>
            </a:p>
          </p:txBody>
        </p:sp>
        <p:sp>
          <p:nvSpPr>
            <p:cNvPr id="24" name="TextBox 24"/>
            <p:cNvSpPr txBox="1"/>
            <p:nvPr/>
          </p:nvSpPr>
          <p:spPr>
            <a:xfrm>
              <a:off x="786765" y="3382328"/>
              <a:ext cx="1923907"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从图像中识别食物的具体类别,</a:t>
              </a:r>
            </a:p>
          </p:txBody>
        </p:sp>
        <p:sp>
          <p:nvSpPr>
            <p:cNvPr id="25" name="TextBox 25"/>
            <p:cNvSpPr txBox="1"/>
            <p:nvPr/>
          </p:nvSpPr>
          <p:spPr>
            <a:xfrm>
              <a:off x="786765" y="3591878"/>
              <a:ext cx="1426845"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类别间视觉差异极细微</a:t>
              </a:r>
            </a:p>
          </p:txBody>
        </p:sp>
        <p:sp>
          <p:nvSpPr>
            <p:cNvPr id="26" name="Line 26"/>
            <p:cNvSpPr/>
            <p:nvPr/>
          </p:nvSpPr>
          <p:spPr>
            <a:xfrm>
              <a:off x="800100" y="3971925"/>
              <a:ext cx="2971800" cy="9525"/>
            </a:xfrm>
            <a:custGeom>
              <a:avLst/>
              <a:gdLst/>
              <a:ahLst/>
              <a:cxnLst/>
              <a:rect l="l" t="t" r="r" b="b"/>
              <a:pathLst>
                <a:path w="2971800" h="9525">
                  <a:moveTo>
                    <a:pt x="0" y="0"/>
                  </a:moveTo>
                  <a:lnTo>
                    <a:pt x="2971800" y="0"/>
                  </a:lnTo>
                </a:path>
              </a:pathLst>
            </a:custGeom>
            <a:noFill/>
            <a:ln w="9525">
              <a:solidFill>
                <a:srgbClr val="E0E0E0"/>
              </a:solidFill>
            </a:ln>
          </p:spPr>
        </p:sp>
        <p:sp>
          <p:nvSpPr>
            <p:cNvPr id="27" name="TextBox 27"/>
            <p:cNvSpPr txBox="1"/>
            <p:nvPr/>
          </p:nvSpPr>
          <p:spPr>
            <a:xfrm>
              <a:off x="785812" y="4098131"/>
              <a:ext cx="658654"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Arial"/>
                  <a:ea typeface="Microsoft YaHei"/>
                  <a:cs typeface="Arial"/>
                </a:rPr>
                <a:t>技术难点</a:t>
              </a:r>
            </a:p>
          </p:txBody>
        </p:sp>
        <p:sp>
          <p:nvSpPr>
            <p:cNvPr id="28" name="Ellipse 28"/>
            <p:cNvSpPr/>
            <p:nvPr/>
          </p:nvSpPr>
          <p:spPr>
            <a:xfrm>
              <a:off x="847725" y="4457700"/>
              <a:ext cx="57150" cy="57150"/>
            </a:xfrm>
            <a:prstGeom prst="ellipse">
              <a:avLst/>
            </a:prstGeom>
            <a:solidFill>
              <a:srgbClr val="FF8F00"/>
            </a:solidFill>
            <a:ln>
              <a:noFill/>
            </a:ln>
          </p:spPr>
        </p:sp>
        <p:sp>
          <p:nvSpPr>
            <p:cNvPr id="29" name="TextBox 29"/>
            <p:cNvSpPr txBox="1"/>
            <p:nvPr/>
          </p:nvSpPr>
          <p:spPr>
            <a:xfrm>
              <a:off x="978218" y="4428649"/>
              <a:ext cx="1786485"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中餐数万种菜品,类别空间巨大</a:t>
              </a:r>
            </a:p>
          </p:txBody>
        </p:sp>
        <p:sp>
          <p:nvSpPr>
            <p:cNvPr id="30" name="Ellipse 30"/>
            <p:cNvSpPr/>
            <p:nvPr/>
          </p:nvSpPr>
          <p:spPr>
            <a:xfrm>
              <a:off x="847725" y="4724400"/>
              <a:ext cx="57150" cy="57150"/>
            </a:xfrm>
            <a:prstGeom prst="ellipse">
              <a:avLst/>
            </a:prstGeom>
            <a:solidFill>
              <a:srgbClr val="FF8F00"/>
            </a:solidFill>
            <a:ln>
              <a:noFill/>
            </a:ln>
          </p:spPr>
        </p:sp>
        <p:sp>
          <p:nvSpPr>
            <p:cNvPr id="31" name="TextBox 31"/>
            <p:cNvSpPr txBox="1"/>
            <p:nvPr/>
          </p:nvSpPr>
          <p:spPr>
            <a:xfrm>
              <a:off x="978218" y="4695349"/>
              <a:ext cx="1753981"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"宫保鸡丁"vs"辣子鸡丁"难辨</a:t>
              </a:r>
            </a:p>
          </p:txBody>
        </p:sp>
        <p:sp>
          <p:nvSpPr>
            <p:cNvPr id="32" name="Ellipse 32"/>
            <p:cNvSpPr/>
            <p:nvPr/>
          </p:nvSpPr>
          <p:spPr>
            <a:xfrm>
              <a:off x="847725" y="4991100"/>
              <a:ext cx="57150" cy="57150"/>
            </a:xfrm>
            <a:prstGeom prst="ellipse">
              <a:avLst/>
            </a:prstGeom>
            <a:solidFill>
              <a:srgbClr val="FF8F00"/>
            </a:solidFill>
            <a:ln>
              <a:noFill/>
            </a:ln>
          </p:spPr>
        </p:sp>
        <p:sp>
          <p:nvSpPr>
            <p:cNvPr id="33" name="TextBox 33"/>
            <p:cNvSpPr txBox="1"/>
            <p:nvPr/>
          </p:nvSpPr>
          <p:spPr>
            <a:xfrm>
              <a:off x="978218" y="4962049"/>
              <a:ext cx="1597962"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混合菜系易成"垃圾桶"类别</a:t>
              </a:r>
            </a:p>
          </p:txBody>
        </p:sp>
        <p:sp>
          <p:nvSpPr>
            <p:cNvPr id="34" name="Line 34"/>
            <p:cNvSpPr/>
            <p:nvPr/>
          </p:nvSpPr>
          <p:spPr>
            <a:xfrm>
              <a:off x="800100" y="5324475"/>
              <a:ext cx="2971800" cy="9525"/>
            </a:xfrm>
            <a:custGeom>
              <a:avLst/>
              <a:gdLst/>
              <a:ahLst/>
              <a:cxnLst/>
              <a:rect l="l" t="t" r="r" b="b"/>
              <a:pathLst>
                <a:path w="2971800" h="9525">
                  <a:moveTo>
                    <a:pt x="0" y="0"/>
                  </a:moveTo>
                  <a:lnTo>
                    <a:pt x="2971800" y="0"/>
                  </a:lnTo>
                </a:path>
              </a:pathLst>
            </a:custGeom>
            <a:noFill/>
            <a:ln w="9525">
              <a:solidFill>
                <a:srgbClr val="E0E0E0"/>
              </a:solidFill>
            </a:ln>
          </p:spPr>
        </p:sp>
        <p:sp>
          <p:nvSpPr>
            <p:cNvPr id="35" name="TextBox 35"/>
            <p:cNvSpPr txBox="1"/>
            <p:nvPr/>
          </p:nvSpPr>
          <p:spPr>
            <a:xfrm>
              <a:off x="785812" y="5450681"/>
              <a:ext cx="816173"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Arial"/>
                  <a:ea typeface="Microsoft YaHei"/>
                  <a:cs typeface="Arial"/>
                </a:rPr>
                <a:t>研究切入点</a:t>
              </a:r>
            </a:p>
          </p:txBody>
        </p:sp>
        <p:sp>
          <p:nvSpPr>
            <p:cNvPr id="36" name="Rectangle 36"/>
            <p:cNvSpPr/>
            <p:nvPr/>
          </p:nvSpPr>
          <p:spPr>
            <a:xfrm>
              <a:off x="800100" y="5705475"/>
              <a:ext cx="2971800" cy="533400"/>
            </a:xfrm>
            <a:prstGeom prst="roundRect">
              <a:avLst>
                <a:gd name="adj" fmla="val 14286"/>
              </a:avLst>
            </a:prstGeom>
            <a:solidFill>
              <a:srgbClr val="F5F7FA"/>
            </a:solidFill>
            <a:ln>
              <a:noFill/>
            </a:ln>
          </p:spPr>
        </p:sp>
        <p:sp>
          <p:nvSpPr>
            <p:cNvPr id="37" name="TextBox 37"/>
            <p:cNvSpPr txBox="1"/>
            <p:nvPr/>
          </p:nvSpPr>
          <p:spPr>
            <a:xfrm>
              <a:off x="1522774" y="5819299"/>
              <a:ext cx="1526453" cy="198120"/>
            </a:xfrm>
            <a:prstGeom prst="rect">
              <a:avLst/>
            </a:prstGeom>
            <a:noFill/>
            <a:ln>
              <a:noFill/>
            </a:ln>
          </p:spPr>
          <p:txBody>
            <a:bodyPr wrap="none" lIns="0" tIns="0" rIns="0" bIns="0" anchor="t" anchorCtr="0">
              <a:spAutoFit/>
            </a:bodyPr>
            <a:lstStyle/>
            <a:p>
              <a:pPr algn="ctr"/>
              <a:r>
                <a:rPr lang="zh-CN" sz="975" b="1" dirty="0">
                  <a:solidFill>
                    <a:srgbClr val="1565C0"/>
                  </a:solidFill>
                  <a:latin typeface="Arial"/>
                  <a:ea typeface="Microsoft YaHei"/>
                  <a:cs typeface="Arial"/>
                </a:rPr>
                <a:t>视觉语言模型零样本分类</a:t>
              </a:r>
            </a:p>
          </p:txBody>
        </p:sp>
        <p:sp>
          <p:nvSpPr>
            <p:cNvPr id="38" name="TextBox 38"/>
            <p:cNvSpPr txBox="1"/>
            <p:nvPr/>
          </p:nvSpPr>
          <p:spPr>
            <a:xfrm>
              <a:off x="1347454" y="6027420"/>
              <a:ext cx="1877092" cy="182880"/>
            </a:xfrm>
            <a:prstGeom prst="rect">
              <a:avLst/>
            </a:prstGeom>
            <a:noFill/>
            <a:ln>
              <a:noFill/>
            </a:ln>
          </p:spPr>
          <p:txBody>
            <a:bodyPr wrap="none" lIns="0" tIns="0" rIns="0" bIns="0" anchor="t" anchorCtr="0">
              <a:spAutoFit/>
            </a:bodyPr>
            <a:lstStyle/>
            <a:p>
              <a:pPr algn="ctr"/>
              <a:r>
                <a:rPr lang="zh-CN" sz="900" i="1" dirty="0">
                  <a:solidFill>
                    <a:srgbClr val="5F6368"/>
                  </a:solidFill>
                  <a:latin typeface="Cambria"/>
                  <a:ea typeface="SimSun"/>
                  <a:cs typeface="Cambria"/>
                </a:rPr>
                <a:t>CLIP · Qwen2-VL · 55 类高频食物</a:t>
              </a:r>
            </a:p>
          </p:txBody>
        </p:sp>
      </p:grpSp>
      <p:grpSp>
        <p:nvGrpSpPr>
          <p:cNvPr id="68" name="Group 68"/>
          <p:cNvGrpSpPr/>
          <p:nvPr/>
        </p:nvGrpSpPr>
        <p:grpSpPr>
          <a:xfrm>
            <a:off x="4381500" y="1857375"/>
            <a:ext cx="3429000" cy="4524375"/>
            <a:chOff x="4381500" y="1857375"/>
            <a:chExt cx="3429000" cy="4524375"/>
          </a:xfrm>
        </p:grpSpPr>
        <p:sp>
          <p:nvSpPr>
            <p:cNvPr id="40" name="Rectangle 40"/>
            <p:cNvSpPr/>
            <p:nvPr/>
          </p:nvSpPr>
          <p:spPr>
            <a:xfrm>
              <a:off x="4381500" y="1857375"/>
              <a:ext cx="3429000" cy="4524375"/>
            </a:xfrm>
            <a:prstGeom prst="roundRect">
              <a:avLst>
                <a:gd name="adj" fmla="val 3333"/>
              </a:avLst>
            </a:prstGeom>
            <a:solidFill>
              <a:srgbClr val="FFFFFF"/>
            </a:solidFill>
            <a:ln w="14288">
              <a:solidFill>
                <a:srgbClr val="E0E0E0"/>
              </a:solidFill>
            </a:ln>
            <a:effectLst>
              <a:outerShdw blurRad="114300" dist="38100" dir="5400000" algn="ctr" rotWithShape="0">
                <a:srgbClr val="0F172A">
                  <a:alpha val="7500"/>
                </a:srgbClr>
              </a:outerShdw>
            </a:effectLst>
          </p:spPr>
        </p:sp>
        <p:sp>
          <p:nvSpPr>
            <p:cNvPr id="41" name="Freeform 41"/>
            <p:cNvSpPr/>
            <p:nvPr/>
          </p:nvSpPr>
          <p:spPr>
            <a:xfrm>
              <a:off x="4381500" y="1857375"/>
              <a:ext cx="3429000" cy="1047750"/>
            </a:xfrm>
            <a:custGeom>
              <a:avLst/>
              <a:gdLst/>
              <a:ahLst/>
              <a:cxnLst/>
              <a:rect l="l" t="t" r="r" b="b"/>
              <a:pathLst>
                <a:path w="3429000" h="1047750">
                  <a:moveTo>
                    <a:pt x="0" y="114300"/>
                  </a:moveTo>
                  <a:cubicBezTo>
                    <a:pt x="0" y="51174"/>
                    <a:pt x="51174" y="0"/>
                    <a:pt x="114300" y="0"/>
                  </a:cubicBezTo>
                  <a:lnTo>
                    <a:pt x="3314700" y="0"/>
                  </a:lnTo>
                  <a:cubicBezTo>
                    <a:pt x="3377826" y="0"/>
                    <a:pt x="3429000" y="51174"/>
                    <a:pt x="3429000" y="114300"/>
                  </a:cubicBezTo>
                  <a:lnTo>
                    <a:pt x="3429000" y="1047750"/>
                  </a:lnTo>
                  <a:lnTo>
                    <a:pt x="0" y="1047750"/>
                  </a:lnTo>
                  <a:close/>
                </a:path>
              </a:pathLst>
            </a:custGeom>
            <a:gradFill>
              <a:gsLst>
                <a:gs pos="0">
                  <a:srgbClr val="5C6BC0"/>
                </a:gs>
                <a:gs pos="100000">
                  <a:srgbClr val="1565C0"/>
                </a:gs>
              </a:gsLst>
              <a:lin ang="2700000" scaled="1"/>
            </a:gradFill>
            <a:ln>
              <a:noFill/>
            </a:ln>
          </p:spPr>
        </p:sp>
        <p:sp>
          <p:nvSpPr>
            <p:cNvPr id="42" name="Rectangle 42"/>
            <p:cNvSpPr/>
            <p:nvPr/>
          </p:nvSpPr>
          <p:spPr>
            <a:xfrm>
              <a:off x="4572000" y="2066925"/>
              <a:ext cx="419100" cy="419100"/>
            </a:xfrm>
            <a:prstGeom prst="roundRect">
              <a:avLst>
                <a:gd name="adj" fmla="val 22727"/>
              </a:avLst>
            </a:prstGeom>
            <a:solidFill>
              <a:srgbClr val="FFFFFF">
                <a:alpha val="18000"/>
              </a:srgbClr>
            </a:solidFill>
            <a:ln>
              <a:noFill/>
            </a:ln>
          </p:spPr>
        </p:sp>
        <p:sp>
          <p:nvSpPr>
            <p:cNvPr id="43" name="TextBox 43"/>
            <p:cNvSpPr txBox="1"/>
            <p:nvPr/>
          </p:nvSpPr>
          <p:spPr>
            <a:xfrm>
              <a:off x="4633529" y="2174558"/>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ambria"/>
                  <a:ea typeface="SimSun"/>
                  <a:cs typeface="Cambria"/>
                </a:rPr>
                <a:t>02</a:t>
              </a:r>
            </a:p>
          </p:txBody>
        </p:sp>
        <p:grpSp>
          <p:nvGrpSpPr>
            <p:cNvPr id="49" name="Group 49"/>
            <p:cNvGrpSpPr/>
            <p:nvPr/>
          </p:nvGrpSpPr>
          <p:grpSpPr>
            <a:xfrm>
              <a:off x="7193756" y="2135981"/>
              <a:ext cx="300037" cy="292894"/>
              <a:chOff x="7193756" y="2135981"/>
              <a:chExt cx="300037" cy="292894"/>
            </a:xfrm>
          </p:grpSpPr>
          <p:sp>
            <p:nvSpPr>
              <p:cNvPr id="44" name="Freeform 44"/>
              <p:cNvSpPr/>
              <p:nvPr/>
            </p:nvSpPr>
            <p:spPr>
              <a:xfrm>
                <a:off x="7260431" y="2419350"/>
                <a:ext cx="166688" cy="9525"/>
              </a:xfrm>
              <a:custGeom>
                <a:avLst/>
                <a:gdLst/>
                <a:ahLst/>
                <a:cxnLst/>
                <a:rect l="l" t="t" r="r" b="b"/>
                <a:pathLst>
                  <a:path w="166688" h="9525">
                    <a:moveTo>
                      <a:pt x="0" y="0"/>
                    </a:moveTo>
                    <a:lnTo>
                      <a:pt x="166688" y="0"/>
                    </a:lnTo>
                  </a:path>
                </a:pathLst>
              </a:custGeom>
              <a:noFill/>
              <a:ln w="19050">
                <a:solidFill>
                  <a:srgbClr val="FFFFFF"/>
                </a:solidFill>
              </a:ln>
            </p:spPr>
          </p:sp>
          <p:sp>
            <p:nvSpPr>
              <p:cNvPr id="45" name="Freeform 45"/>
              <p:cNvSpPr/>
              <p:nvPr/>
            </p:nvSpPr>
            <p:spPr>
              <a:xfrm>
                <a:off x="7243762" y="2169319"/>
                <a:ext cx="200025" cy="16669"/>
              </a:xfrm>
              <a:custGeom>
                <a:avLst/>
                <a:gdLst/>
                <a:ahLst/>
                <a:cxnLst/>
                <a:rect l="l" t="t" r="r" b="b"/>
                <a:pathLst>
                  <a:path w="200025" h="16669">
                    <a:moveTo>
                      <a:pt x="0" y="16669"/>
                    </a:moveTo>
                    <a:lnTo>
                      <a:pt x="100012" y="0"/>
                    </a:lnTo>
                    <a:lnTo>
                      <a:pt x="200025" y="16669"/>
                    </a:lnTo>
                  </a:path>
                </a:pathLst>
              </a:custGeom>
              <a:noFill/>
              <a:ln w="19050">
                <a:solidFill>
                  <a:srgbClr val="FFFFFF"/>
                </a:solidFill>
              </a:ln>
            </p:spPr>
          </p:sp>
          <p:sp>
            <p:nvSpPr>
              <p:cNvPr id="46" name="Freeform 46"/>
              <p:cNvSpPr/>
              <p:nvPr/>
            </p:nvSpPr>
            <p:spPr>
              <a:xfrm>
                <a:off x="7343775" y="2135981"/>
                <a:ext cx="9525" cy="283369"/>
              </a:xfrm>
              <a:custGeom>
                <a:avLst/>
                <a:gdLst/>
                <a:ahLst/>
                <a:cxnLst/>
                <a:rect l="l" t="t" r="r" b="b"/>
                <a:pathLst>
                  <a:path w="9525" h="283369">
                    <a:moveTo>
                      <a:pt x="0" y="0"/>
                    </a:moveTo>
                    <a:lnTo>
                      <a:pt x="0" y="283369"/>
                    </a:lnTo>
                  </a:path>
                </a:pathLst>
              </a:custGeom>
              <a:noFill/>
              <a:ln w="19050">
                <a:solidFill>
                  <a:srgbClr val="FFFFFF"/>
                </a:solidFill>
              </a:ln>
            </p:spPr>
          </p:sp>
          <p:sp>
            <p:nvSpPr>
              <p:cNvPr id="47" name="Freeform 47"/>
              <p:cNvSpPr/>
              <p:nvPr/>
            </p:nvSpPr>
            <p:spPr>
              <a:xfrm>
                <a:off x="7193756" y="2185988"/>
                <a:ext cx="100012" cy="150019"/>
              </a:xfrm>
              <a:custGeom>
                <a:avLst/>
                <a:gdLst/>
                <a:ahLst/>
                <a:cxnLst/>
                <a:rect l="l" t="t" r="r" b="b"/>
                <a:pathLst>
                  <a:path w="100012" h="150019">
                    <a:moveTo>
                      <a:pt x="100012" y="100012"/>
                    </a:moveTo>
                    <a:lnTo>
                      <a:pt x="50006" y="0"/>
                    </a:lnTo>
                    <a:lnTo>
                      <a:pt x="0" y="100012"/>
                    </a:lnTo>
                    <a:cubicBezTo>
                      <a:pt x="0" y="127630"/>
                      <a:pt x="22389" y="150019"/>
                      <a:pt x="50006" y="150019"/>
                    </a:cubicBezTo>
                    <a:cubicBezTo>
                      <a:pt x="77624" y="150019"/>
                      <a:pt x="100012" y="127630"/>
                      <a:pt x="100012" y="100012"/>
                    </a:cubicBezTo>
                  </a:path>
                </a:pathLst>
              </a:custGeom>
              <a:noFill/>
              <a:ln w="19050">
                <a:solidFill>
                  <a:srgbClr val="FFFFFF"/>
                </a:solidFill>
              </a:ln>
            </p:spPr>
          </p:sp>
          <p:sp>
            <p:nvSpPr>
              <p:cNvPr id="48" name="Freeform 48"/>
              <p:cNvSpPr/>
              <p:nvPr/>
            </p:nvSpPr>
            <p:spPr>
              <a:xfrm>
                <a:off x="7393781" y="2185988"/>
                <a:ext cx="100012" cy="150019"/>
              </a:xfrm>
              <a:custGeom>
                <a:avLst/>
                <a:gdLst/>
                <a:ahLst/>
                <a:cxnLst/>
                <a:rect l="l" t="t" r="r" b="b"/>
                <a:pathLst>
                  <a:path w="100012" h="150019">
                    <a:moveTo>
                      <a:pt x="100012" y="100012"/>
                    </a:moveTo>
                    <a:lnTo>
                      <a:pt x="50006" y="0"/>
                    </a:lnTo>
                    <a:lnTo>
                      <a:pt x="0" y="100012"/>
                    </a:lnTo>
                    <a:cubicBezTo>
                      <a:pt x="0" y="127630"/>
                      <a:pt x="22389" y="150019"/>
                      <a:pt x="50006" y="150019"/>
                    </a:cubicBezTo>
                    <a:cubicBezTo>
                      <a:pt x="77624" y="150019"/>
                      <a:pt x="100012" y="127630"/>
                      <a:pt x="100012" y="100012"/>
                    </a:cubicBezTo>
                  </a:path>
                </a:pathLst>
              </a:custGeom>
              <a:noFill/>
              <a:ln w="19050">
                <a:solidFill>
                  <a:srgbClr val="FFFFFF"/>
                </a:solidFill>
              </a:ln>
            </p:spPr>
          </p:sp>
        </p:grpSp>
        <p:sp>
          <p:nvSpPr>
            <p:cNvPr id="50" name="TextBox 50"/>
            <p:cNvSpPr txBox="1"/>
            <p:nvPr/>
          </p:nvSpPr>
          <p:spPr>
            <a:xfrm>
              <a:off x="5381958" y="2441258"/>
              <a:ext cx="1428083"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ambria"/>
                  <a:ea typeface="SimSun"/>
                  <a:cs typeface="Cambria"/>
                </a:rPr>
                <a:t>食物分量估计</a:t>
              </a:r>
            </a:p>
          </p:txBody>
        </p:sp>
        <p:sp>
          <p:nvSpPr>
            <p:cNvPr id="51" name="TextBox 51"/>
            <p:cNvSpPr txBox="1"/>
            <p:nvPr/>
          </p:nvSpPr>
          <p:spPr>
            <a:xfrm>
              <a:off x="5525277" y="2720816"/>
              <a:ext cx="1141445" cy="167640"/>
            </a:xfrm>
            <a:prstGeom prst="rect">
              <a:avLst/>
            </a:prstGeom>
            <a:noFill/>
            <a:ln>
              <a:noFill/>
            </a:ln>
          </p:spPr>
          <p:txBody>
            <a:bodyPr wrap="none" lIns="0" tIns="0" rIns="0" bIns="0" anchor="t" anchorCtr="0">
              <a:spAutoFit/>
            </a:bodyPr>
            <a:lstStyle/>
            <a:p>
              <a:pPr algn="ctr"/>
              <a:r>
                <a:rPr lang="zh-CN" sz="825" b="1" dirty="0">
                  <a:solidFill>
                    <a:srgbClr val="FFFFFF">
                      <a:alphaMod val="85000"/>
                    </a:srgbClr>
                  </a:solidFill>
                  <a:latin typeface="Arial"/>
                  <a:ea typeface="Microsoft YaHei"/>
                  <a:cs typeface="Arial"/>
                </a:rPr>
                <a:t>PORTION ESTIMATION</a:t>
              </a:r>
            </a:p>
          </p:txBody>
        </p:sp>
        <p:sp>
          <p:nvSpPr>
            <p:cNvPr id="52" name="TextBox 52"/>
            <p:cNvSpPr txBox="1"/>
            <p:nvPr/>
          </p:nvSpPr>
          <p:spPr>
            <a:xfrm>
              <a:off x="4595812" y="3145631"/>
              <a:ext cx="343614" cy="228600"/>
            </a:xfrm>
            <a:prstGeom prst="rect">
              <a:avLst/>
            </a:prstGeom>
            <a:noFill/>
            <a:ln>
              <a:noFill/>
            </a:ln>
          </p:spPr>
          <p:txBody>
            <a:bodyPr wrap="none" lIns="0" tIns="0" rIns="0" bIns="0" anchor="t" anchorCtr="0">
              <a:spAutoFit/>
            </a:bodyPr>
            <a:lstStyle/>
            <a:p>
              <a:pPr algn="l"/>
              <a:r>
                <a:rPr lang="zh-CN" sz="1125" b="1" dirty="0">
                  <a:solidFill>
                    <a:srgbClr val="5C6BC0"/>
                  </a:solidFill>
                  <a:latin typeface="Arial"/>
                  <a:ea typeface="Microsoft YaHei"/>
                  <a:cs typeface="Arial"/>
                </a:rPr>
                <a:t>定义</a:t>
              </a:r>
            </a:p>
          </p:txBody>
        </p:sp>
        <p:sp>
          <p:nvSpPr>
            <p:cNvPr id="53" name="TextBox 53"/>
            <p:cNvSpPr txBox="1"/>
            <p:nvPr/>
          </p:nvSpPr>
          <p:spPr>
            <a:xfrm>
              <a:off x="4596765" y="3382328"/>
              <a:ext cx="1741884"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从单张 RGB 图像估计食物的</a:t>
              </a:r>
            </a:p>
          </p:txBody>
        </p:sp>
        <p:sp>
          <p:nvSpPr>
            <p:cNvPr id="54" name="TextBox 54"/>
            <p:cNvSpPr txBox="1"/>
            <p:nvPr/>
          </p:nvSpPr>
          <p:spPr>
            <a:xfrm>
              <a:off x="4596765" y="3591878"/>
              <a:ext cx="1958912"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绝对重量(克) — 视觉-物理映射</a:t>
              </a:r>
            </a:p>
          </p:txBody>
        </p:sp>
        <p:sp>
          <p:nvSpPr>
            <p:cNvPr id="55" name="Line 55"/>
            <p:cNvSpPr/>
            <p:nvPr/>
          </p:nvSpPr>
          <p:spPr>
            <a:xfrm>
              <a:off x="4610100" y="3971925"/>
              <a:ext cx="2971800" cy="9525"/>
            </a:xfrm>
            <a:custGeom>
              <a:avLst/>
              <a:gdLst/>
              <a:ahLst/>
              <a:cxnLst/>
              <a:rect l="l" t="t" r="r" b="b"/>
              <a:pathLst>
                <a:path w="2971800" h="9525">
                  <a:moveTo>
                    <a:pt x="0" y="0"/>
                  </a:moveTo>
                  <a:lnTo>
                    <a:pt x="2971800" y="0"/>
                  </a:lnTo>
                </a:path>
              </a:pathLst>
            </a:custGeom>
            <a:noFill/>
            <a:ln w="9525">
              <a:solidFill>
                <a:srgbClr val="E0E0E0"/>
              </a:solidFill>
            </a:ln>
          </p:spPr>
        </p:sp>
        <p:sp>
          <p:nvSpPr>
            <p:cNvPr id="56" name="TextBox 56"/>
            <p:cNvSpPr txBox="1"/>
            <p:nvPr/>
          </p:nvSpPr>
          <p:spPr>
            <a:xfrm>
              <a:off x="4595812" y="4098131"/>
              <a:ext cx="658654" cy="228600"/>
            </a:xfrm>
            <a:prstGeom prst="rect">
              <a:avLst/>
            </a:prstGeom>
            <a:noFill/>
            <a:ln>
              <a:noFill/>
            </a:ln>
          </p:spPr>
          <p:txBody>
            <a:bodyPr wrap="none" lIns="0" tIns="0" rIns="0" bIns="0" anchor="t" anchorCtr="0">
              <a:spAutoFit/>
            </a:bodyPr>
            <a:lstStyle/>
            <a:p>
              <a:pPr algn="l"/>
              <a:r>
                <a:rPr lang="zh-CN" sz="1125" b="1" dirty="0">
                  <a:solidFill>
                    <a:srgbClr val="5C6BC0"/>
                  </a:solidFill>
                  <a:latin typeface="Arial"/>
                  <a:ea typeface="Microsoft YaHei"/>
                  <a:cs typeface="Arial"/>
                </a:rPr>
                <a:t>技术难点</a:t>
              </a:r>
            </a:p>
          </p:txBody>
        </p:sp>
        <p:sp>
          <p:nvSpPr>
            <p:cNvPr id="57" name="Ellipse 57"/>
            <p:cNvSpPr/>
            <p:nvPr/>
          </p:nvSpPr>
          <p:spPr>
            <a:xfrm>
              <a:off x="4657725" y="4457700"/>
              <a:ext cx="57150" cy="57150"/>
            </a:xfrm>
            <a:prstGeom prst="ellipse">
              <a:avLst/>
            </a:prstGeom>
            <a:solidFill>
              <a:srgbClr val="FF8F00"/>
            </a:solidFill>
            <a:ln>
              <a:noFill/>
            </a:ln>
          </p:spPr>
        </p:sp>
        <p:sp>
          <p:nvSpPr>
            <p:cNvPr id="58" name="TextBox 58"/>
            <p:cNvSpPr txBox="1"/>
            <p:nvPr/>
          </p:nvSpPr>
          <p:spPr>
            <a:xfrm>
              <a:off x="4788218" y="4428649"/>
              <a:ext cx="1526453"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形状不规则,缺乏几何结构</a:t>
              </a:r>
            </a:p>
          </p:txBody>
        </p:sp>
        <p:sp>
          <p:nvSpPr>
            <p:cNvPr id="59" name="Ellipse 59"/>
            <p:cNvSpPr/>
            <p:nvPr/>
          </p:nvSpPr>
          <p:spPr>
            <a:xfrm>
              <a:off x="4657725" y="4724400"/>
              <a:ext cx="57150" cy="57150"/>
            </a:xfrm>
            <a:prstGeom prst="ellipse">
              <a:avLst/>
            </a:prstGeom>
            <a:solidFill>
              <a:srgbClr val="FF8F00"/>
            </a:solidFill>
            <a:ln>
              <a:noFill/>
            </a:ln>
          </p:spPr>
        </p:sp>
        <p:sp>
          <p:nvSpPr>
            <p:cNvPr id="60" name="TextBox 60"/>
            <p:cNvSpPr txBox="1"/>
            <p:nvPr/>
          </p:nvSpPr>
          <p:spPr>
            <a:xfrm>
              <a:off x="4788218" y="4695349"/>
              <a:ext cx="1487448"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单目 RGB 缺绝对尺度信息</a:t>
              </a:r>
            </a:p>
          </p:txBody>
        </p:sp>
        <p:sp>
          <p:nvSpPr>
            <p:cNvPr id="61" name="Ellipse 61"/>
            <p:cNvSpPr/>
            <p:nvPr/>
          </p:nvSpPr>
          <p:spPr>
            <a:xfrm>
              <a:off x="4657725" y="4991100"/>
              <a:ext cx="57150" cy="57150"/>
            </a:xfrm>
            <a:prstGeom prst="ellipse">
              <a:avLst/>
            </a:prstGeom>
            <a:solidFill>
              <a:srgbClr val="FF8F00"/>
            </a:solidFill>
            <a:ln>
              <a:noFill/>
            </a:ln>
          </p:spPr>
        </p:sp>
        <p:sp>
          <p:nvSpPr>
            <p:cNvPr id="62" name="TextBox 62"/>
            <p:cNvSpPr txBox="1"/>
            <p:nvPr/>
          </p:nvSpPr>
          <p:spPr>
            <a:xfrm>
              <a:off x="4788218" y="4962049"/>
              <a:ext cx="1194911"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不同类别密度跨度大</a:t>
              </a:r>
            </a:p>
          </p:txBody>
        </p:sp>
        <p:sp>
          <p:nvSpPr>
            <p:cNvPr id="63" name="Line 63"/>
            <p:cNvSpPr/>
            <p:nvPr/>
          </p:nvSpPr>
          <p:spPr>
            <a:xfrm>
              <a:off x="4610100" y="5324475"/>
              <a:ext cx="2971800" cy="9525"/>
            </a:xfrm>
            <a:custGeom>
              <a:avLst/>
              <a:gdLst/>
              <a:ahLst/>
              <a:cxnLst/>
              <a:rect l="l" t="t" r="r" b="b"/>
              <a:pathLst>
                <a:path w="2971800" h="9525">
                  <a:moveTo>
                    <a:pt x="0" y="0"/>
                  </a:moveTo>
                  <a:lnTo>
                    <a:pt x="2971800" y="0"/>
                  </a:lnTo>
                </a:path>
              </a:pathLst>
            </a:custGeom>
            <a:noFill/>
            <a:ln w="9525">
              <a:solidFill>
                <a:srgbClr val="E0E0E0"/>
              </a:solidFill>
            </a:ln>
          </p:spPr>
        </p:sp>
        <p:sp>
          <p:nvSpPr>
            <p:cNvPr id="64" name="TextBox 64"/>
            <p:cNvSpPr txBox="1"/>
            <p:nvPr/>
          </p:nvSpPr>
          <p:spPr>
            <a:xfrm>
              <a:off x="4595812" y="5450681"/>
              <a:ext cx="816173" cy="228600"/>
            </a:xfrm>
            <a:prstGeom prst="rect">
              <a:avLst/>
            </a:prstGeom>
            <a:noFill/>
            <a:ln>
              <a:noFill/>
            </a:ln>
          </p:spPr>
          <p:txBody>
            <a:bodyPr wrap="none" lIns="0" tIns="0" rIns="0" bIns="0" anchor="t" anchorCtr="0">
              <a:spAutoFit/>
            </a:bodyPr>
            <a:lstStyle/>
            <a:p>
              <a:pPr algn="l"/>
              <a:r>
                <a:rPr lang="zh-CN" sz="1125" b="1" dirty="0">
                  <a:solidFill>
                    <a:srgbClr val="5C6BC0"/>
                  </a:solidFill>
                  <a:latin typeface="Arial"/>
                  <a:ea typeface="Microsoft YaHei"/>
                  <a:cs typeface="Arial"/>
                </a:rPr>
                <a:t>研究切入点</a:t>
              </a:r>
            </a:p>
          </p:txBody>
        </p:sp>
        <p:sp>
          <p:nvSpPr>
            <p:cNvPr id="65" name="Rectangle 65"/>
            <p:cNvSpPr/>
            <p:nvPr/>
          </p:nvSpPr>
          <p:spPr>
            <a:xfrm>
              <a:off x="4610100" y="5705475"/>
              <a:ext cx="2971800" cy="533400"/>
            </a:xfrm>
            <a:prstGeom prst="roundRect">
              <a:avLst>
                <a:gd name="adj" fmla="val 14286"/>
              </a:avLst>
            </a:prstGeom>
            <a:solidFill>
              <a:srgbClr val="FFF8E1"/>
            </a:solidFill>
            <a:ln>
              <a:noFill/>
            </a:ln>
          </p:spPr>
        </p:sp>
        <p:sp>
          <p:nvSpPr>
            <p:cNvPr id="66" name="TextBox 66"/>
            <p:cNvSpPr txBox="1"/>
            <p:nvPr/>
          </p:nvSpPr>
          <p:spPr>
            <a:xfrm>
              <a:off x="5459052" y="5819299"/>
              <a:ext cx="1273896" cy="198120"/>
            </a:xfrm>
            <a:prstGeom prst="rect">
              <a:avLst/>
            </a:prstGeom>
            <a:noFill/>
            <a:ln>
              <a:noFill/>
            </a:ln>
          </p:spPr>
          <p:txBody>
            <a:bodyPr wrap="none" lIns="0" tIns="0" rIns="0" bIns="0" anchor="t" anchorCtr="0">
              <a:spAutoFit/>
            </a:bodyPr>
            <a:lstStyle/>
            <a:p>
              <a:pPr algn="ctr"/>
              <a:r>
                <a:rPr lang="zh-CN" sz="975" b="1" dirty="0">
                  <a:solidFill>
                    <a:srgbClr val="FF8F00"/>
                  </a:solidFill>
                  <a:latin typeface="Arial"/>
                  <a:ea typeface="Microsoft YaHei"/>
                  <a:cs typeface="Arial"/>
                </a:rPr>
                <a:t>热量反推 + 类别校准</a:t>
              </a:r>
            </a:p>
          </p:txBody>
        </p:sp>
        <p:sp>
          <p:nvSpPr>
            <p:cNvPr id="67" name="TextBox 67"/>
            <p:cNvSpPr txBox="1"/>
            <p:nvPr/>
          </p:nvSpPr>
          <p:spPr>
            <a:xfrm>
              <a:off x="5385483" y="6027420"/>
              <a:ext cx="1421035" cy="182880"/>
            </a:xfrm>
            <a:prstGeom prst="rect">
              <a:avLst/>
            </a:prstGeom>
            <a:noFill/>
            <a:ln>
              <a:noFill/>
            </a:ln>
          </p:spPr>
          <p:txBody>
            <a:bodyPr wrap="none" lIns="0" tIns="0" rIns="0" bIns="0" anchor="t" anchorCtr="0">
              <a:spAutoFit/>
            </a:bodyPr>
            <a:lstStyle/>
            <a:p>
              <a:pPr algn="ctr"/>
              <a:r>
                <a:rPr lang="zh-CN" sz="900" i="1" dirty="0">
                  <a:solidFill>
                    <a:srgbClr val="5F6368"/>
                  </a:solidFill>
                  <a:latin typeface="Cambria"/>
                  <a:ea typeface="SimSun"/>
                  <a:cs typeface="Cambria"/>
                </a:rPr>
                <a:t>CalorieCLIP · MAE 21.34g</a:t>
              </a:r>
            </a:p>
          </p:txBody>
        </p:sp>
      </p:grpSp>
      <p:grpSp>
        <p:nvGrpSpPr>
          <p:cNvPr id="96" name="Group 96"/>
          <p:cNvGrpSpPr/>
          <p:nvPr/>
        </p:nvGrpSpPr>
        <p:grpSpPr>
          <a:xfrm>
            <a:off x="8191500" y="1857375"/>
            <a:ext cx="3429000" cy="4524375"/>
            <a:chOff x="8191500" y="1857375"/>
            <a:chExt cx="3429000" cy="4524375"/>
          </a:xfrm>
        </p:grpSpPr>
        <p:sp>
          <p:nvSpPr>
            <p:cNvPr id="69" name="Rectangle 69"/>
            <p:cNvSpPr/>
            <p:nvPr/>
          </p:nvSpPr>
          <p:spPr>
            <a:xfrm>
              <a:off x="8191500" y="1857375"/>
              <a:ext cx="3429000" cy="4524375"/>
            </a:xfrm>
            <a:prstGeom prst="roundRect">
              <a:avLst>
                <a:gd name="adj" fmla="val 3333"/>
              </a:avLst>
            </a:prstGeom>
            <a:solidFill>
              <a:srgbClr val="FFFFFF"/>
            </a:solidFill>
            <a:ln w="14288">
              <a:solidFill>
                <a:srgbClr val="E0E0E0"/>
              </a:solidFill>
            </a:ln>
            <a:effectLst>
              <a:outerShdw blurRad="114300" dist="38100" dir="5400000" algn="ctr" rotWithShape="0">
                <a:srgbClr val="0F172A">
                  <a:alpha val="7500"/>
                </a:srgbClr>
              </a:outerShdw>
            </a:effectLst>
          </p:spPr>
        </p:sp>
        <p:sp>
          <p:nvSpPr>
            <p:cNvPr id="70" name="Freeform 70"/>
            <p:cNvSpPr/>
            <p:nvPr/>
          </p:nvSpPr>
          <p:spPr>
            <a:xfrm>
              <a:off x="8191500" y="1857375"/>
              <a:ext cx="3429000" cy="1047750"/>
            </a:xfrm>
            <a:custGeom>
              <a:avLst/>
              <a:gdLst/>
              <a:ahLst/>
              <a:cxnLst/>
              <a:rect l="l" t="t" r="r" b="b"/>
              <a:pathLst>
                <a:path w="3429000" h="1047750">
                  <a:moveTo>
                    <a:pt x="0" y="114300"/>
                  </a:moveTo>
                  <a:cubicBezTo>
                    <a:pt x="0" y="51174"/>
                    <a:pt x="51174" y="0"/>
                    <a:pt x="114300" y="0"/>
                  </a:cubicBezTo>
                  <a:lnTo>
                    <a:pt x="3314700" y="0"/>
                  </a:lnTo>
                  <a:cubicBezTo>
                    <a:pt x="3377826" y="0"/>
                    <a:pt x="3429000" y="51174"/>
                    <a:pt x="3429000" y="114300"/>
                  </a:cubicBezTo>
                  <a:lnTo>
                    <a:pt x="3429000" y="1047750"/>
                  </a:lnTo>
                  <a:lnTo>
                    <a:pt x="0" y="1047750"/>
                  </a:lnTo>
                  <a:close/>
                </a:path>
              </a:pathLst>
            </a:custGeom>
            <a:gradFill>
              <a:gsLst>
                <a:gs pos="0">
                  <a:srgbClr val="1565C0"/>
                </a:gs>
                <a:gs pos="100000">
                  <a:srgbClr val="5C6BC0"/>
                </a:gs>
              </a:gsLst>
              <a:lin ang="2700000" scaled="1"/>
            </a:gradFill>
            <a:ln>
              <a:noFill/>
            </a:ln>
          </p:spPr>
        </p:sp>
        <p:sp>
          <p:nvSpPr>
            <p:cNvPr id="71" name="Rectangle 71"/>
            <p:cNvSpPr/>
            <p:nvPr/>
          </p:nvSpPr>
          <p:spPr>
            <a:xfrm>
              <a:off x="8382000" y="2066925"/>
              <a:ext cx="419100" cy="419100"/>
            </a:xfrm>
            <a:prstGeom prst="roundRect">
              <a:avLst>
                <a:gd name="adj" fmla="val 22727"/>
              </a:avLst>
            </a:prstGeom>
            <a:solidFill>
              <a:srgbClr val="FFFFFF">
                <a:alpha val="18000"/>
              </a:srgbClr>
            </a:solidFill>
            <a:ln>
              <a:noFill/>
            </a:ln>
          </p:spPr>
        </p:sp>
        <p:sp>
          <p:nvSpPr>
            <p:cNvPr id="72" name="TextBox 72"/>
            <p:cNvSpPr txBox="1"/>
            <p:nvPr/>
          </p:nvSpPr>
          <p:spPr>
            <a:xfrm>
              <a:off x="8443529" y="2174558"/>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ambria"/>
                  <a:ea typeface="SimSun"/>
                  <a:cs typeface="Cambria"/>
                </a:rPr>
                <a:t>03</a:t>
              </a:r>
            </a:p>
          </p:txBody>
        </p:sp>
        <p:grpSp>
          <p:nvGrpSpPr>
            <p:cNvPr id="77" name="Group 77"/>
            <p:cNvGrpSpPr/>
            <p:nvPr/>
          </p:nvGrpSpPr>
          <p:grpSpPr>
            <a:xfrm>
              <a:off x="11020425" y="2119312"/>
              <a:ext cx="266700" cy="333375"/>
              <a:chOff x="11020425" y="2119312"/>
              <a:chExt cx="266700" cy="333375"/>
            </a:xfrm>
          </p:grpSpPr>
          <p:sp>
            <p:nvSpPr>
              <p:cNvPr id="73" name="Freeform 73"/>
              <p:cNvSpPr/>
              <p:nvPr/>
            </p:nvSpPr>
            <p:spPr>
              <a:xfrm>
                <a:off x="11020425" y="2119312"/>
                <a:ext cx="266700" cy="133350"/>
              </a:xfrm>
              <a:custGeom>
                <a:avLst/>
                <a:gdLst/>
                <a:ahLst/>
                <a:cxnLst/>
                <a:rect l="l" t="t" r="r" b="b"/>
                <a:pathLst>
                  <a:path w="266700" h="133350">
                    <a:moveTo>
                      <a:pt x="133350" y="0"/>
                    </a:moveTo>
                    <a:lnTo>
                      <a:pt x="0" y="66675"/>
                    </a:lnTo>
                    <a:lnTo>
                      <a:pt x="133350" y="133350"/>
                    </a:lnTo>
                    <a:lnTo>
                      <a:pt x="266700" y="66675"/>
                    </a:lnTo>
                    <a:lnTo>
                      <a:pt x="133350" y="0"/>
                    </a:lnTo>
                  </a:path>
                </a:pathLst>
              </a:custGeom>
              <a:noFill/>
              <a:ln w="19050">
                <a:solidFill>
                  <a:srgbClr val="FFFFFF"/>
                </a:solidFill>
              </a:ln>
            </p:spPr>
          </p:sp>
          <p:sp>
            <p:nvSpPr>
              <p:cNvPr id="74" name="Freeform 74"/>
              <p:cNvSpPr/>
              <p:nvPr/>
            </p:nvSpPr>
            <p:spPr>
              <a:xfrm>
                <a:off x="11020425" y="2252662"/>
                <a:ext cx="266700" cy="66675"/>
              </a:xfrm>
              <a:custGeom>
                <a:avLst/>
                <a:gdLst/>
                <a:ahLst/>
                <a:cxnLst/>
                <a:rect l="l" t="t" r="r" b="b"/>
                <a:pathLst>
                  <a:path w="266700" h="66675">
                    <a:moveTo>
                      <a:pt x="0" y="0"/>
                    </a:moveTo>
                    <a:lnTo>
                      <a:pt x="133350" y="66675"/>
                    </a:lnTo>
                    <a:lnTo>
                      <a:pt x="266700" y="0"/>
                    </a:lnTo>
                  </a:path>
                </a:pathLst>
              </a:custGeom>
              <a:noFill/>
              <a:ln w="19050">
                <a:solidFill>
                  <a:srgbClr val="FFFFFF"/>
                </a:solidFill>
              </a:ln>
            </p:spPr>
          </p:sp>
          <p:sp>
            <p:nvSpPr>
              <p:cNvPr id="75" name="Freeform 75"/>
              <p:cNvSpPr/>
              <p:nvPr/>
            </p:nvSpPr>
            <p:spPr>
              <a:xfrm>
                <a:off x="11020425" y="2386012"/>
                <a:ext cx="266700" cy="66675"/>
              </a:xfrm>
              <a:custGeom>
                <a:avLst/>
                <a:gdLst/>
                <a:ahLst/>
                <a:cxnLst/>
                <a:rect l="l" t="t" r="r" b="b"/>
                <a:pathLst>
                  <a:path w="266700" h="66675">
                    <a:moveTo>
                      <a:pt x="0" y="0"/>
                    </a:moveTo>
                    <a:lnTo>
                      <a:pt x="133350" y="66675"/>
                    </a:lnTo>
                    <a:lnTo>
                      <a:pt x="266700" y="0"/>
                    </a:lnTo>
                  </a:path>
                </a:pathLst>
              </a:custGeom>
              <a:noFill/>
              <a:ln w="19050">
                <a:solidFill>
                  <a:srgbClr val="FFFFFF"/>
                </a:solidFill>
              </a:ln>
            </p:spPr>
          </p:sp>
          <p:sp>
            <p:nvSpPr>
              <p:cNvPr id="76" name="Freeform 76"/>
              <p:cNvSpPr/>
              <p:nvPr/>
            </p:nvSpPr>
            <p:spPr>
              <a:xfrm>
                <a:off x="11020425" y="2319338"/>
                <a:ext cx="266700" cy="66675"/>
              </a:xfrm>
              <a:custGeom>
                <a:avLst/>
                <a:gdLst/>
                <a:ahLst/>
                <a:cxnLst/>
                <a:rect l="l" t="t" r="r" b="b"/>
                <a:pathLst>
                  <a:path w="266700" h="66675">
                    <a:moveTo>
                      <a:pt x="0" y="0"/>
                    </a:moveTo>
                    <a:lnTo>
                      <a:pt x="133350" y="66675"/>
                    </a:lnTo>
                    <a:lnTo>
                      <a:pt x="266700" y="0"/>
                    </a:lnTo>
                  </a:path>
                </a:pathLst>
              </a:custGeom>
              <a:noFill/>
              <a:ln w="19050">
                <a:solidFill>
                  <a:srgbClr val="FFFFFF"/>
                </a:solidFill>
              </a:ln>
            </p:spPr>
          </p:sp>
        </p:grpSp>
        <p:sp>
          <p:nvSpPr>
            <p:cNvPr id="78" name="TextBox 78"/>
            <p:cNvSpPr txBox="1"/>
            <p:nvPr/>
          </p:nvSpPr>
          <p:spPr>
            <a:xfrm>
              <a:off x="9076444" y="2441258"/>
              <a:ext cx="165911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ambria"/>
                  <a:ea typeface="SimSun"/>
                  <a:cs typeface="Cambria"/>
                </a:rPr>
                <a:t>多盘菜系统集成</a:t>
              </a:r>
            </a:p>
          </p:txBody>
        </p:sp>
        <p:sp>
          <p:nvSpPr>
            <p:cNvPr id="79" name="TextBox 79"/>
            <p:cNvSpPr txBox="1"/>
            <p:nvPr/>
          </p:nvSpPr>
          <p:spPr>
            <a:xfrm>
              <a:off x="9245754" y="2720816"/>
              <a:ext cx="1320492" cy="167640"/>
            </a:xfrm>
            <a:prstGeom prst="rect">
              <a:avLst/>
            </a:prstGeom>
            <a:noFill/>
            <a:ln>
              <a:noFill/>
            </a:ln>
          </p:spPr>
          <p:txBody>
            <a:bodyPr wrap="none" lIns="0" tIns="0" rIns="0" bIns="0" anchor="t" anchorCtr="0">
              <a:spAutoFit/>
            </a:bodyPr>
            <a:lstStyle/>
            <a:p>
              <a:pPr algn="ctr"/>
              <a:r>
                <a:rPr lang="zh-CN" sz="825" b="1" dirty="0">
                  <a:solidFill>
                    <a:srgbClr val="FFFFFF">
                      <a:alphaMod val="85000"/>
                    </a:srgbClr>
                  </a:solidFill>
                  <a:latin typeface="Arial"/>
                  <a:ea typeface="Microsoft YaHei"/>
                  <a:cs typeface="Arial"/>
                </a:rPr>
                <a:t>MULTI-DISH INTEGRATION</a:t>
              </a:r>
            </a:p>
          </p:txBody>
        </p:sp>
        <p:sp>
          <p:nvSpPr>
            <p:cNvPr id="80" name="TextBox 80"/>
            <p:cNvSpPr txBox="1"/>
            <p:nvPr/>
          </p:nvSpPr>
          <p:spPr>
            <a:xfrm>
              <a:off x="8405812" y="3145631"/>
              <a:ext cx="343614"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Arial"/>
                  <a:ea typeface="Microsoft YaHei"/>
                  <a:cs typeface="Arial"/>
                </a:rPr>
                <a:t>定义</a:t>
              </a:r>
            </a:p>
          </p:txBody>
        </p:sp>
        <p:sp>
          <p:nvSpPr>
            <p:cNvPr id="81" name="TextBox 81"/>
            <p:cNvSpPr txBox="1"/>
            <p:nvPr/>
          </p:nvSpPr>
          <p:spPr>
            <a:xfrm>
              <a:off x="8406765" y="3382328"/>
              <a:ext cx="1986915"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真实餐桌多盘菜检测、独立分析</a:t>
              </a:r>
            </a:p>
          </p:txBody>
        </p:sp>
        <p:sp>
          <p:nvSpPr>
            <p:cNvPr id="82" name="TextBox 82"/>
            <p:cNvSpPr txBox="1"/>
            <p:nvPr/>
          </p:nvSpPr>
          <p:spPr>
            <a:xfrm>
              <a:off x="8406765" y="3591878"/>
              <a:ext cx="1426845"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 营养汇总 + 自然交互</a:t>
              </a:r>
            </a:p>
          </p:txBody>
        </p:sp>
        <p:sp>
          <p:nvSpPr>
            <p:cNvPr id="83" name="Line 83"/>
            <p:cNvSpPr/>
            <p:nvPr/>
          </p:nvSpPr>
          <p:spPr>
            <a:xfrm>
              <a:off x="8420100" y="3971925"/>
              <a:ext cx="2971800" cy="9525"/>
            </a:xfrm>
            <a:custGeom>
              <a:avLst/>
              <a:gdLst/>
              <a:ahLst/>
              <a:cxnLst/>
              <a:rect l="l" t="t" r="r" b="b"/>
              <a:pathLst>
                <a:path w="2971800" h="9525">
                  <a:moveTo>
                    <a:pt x="0" y="0"/>
                  </a:moveTo>
                  <a:lnTo>
                    <a:pt x="2971800" y="0"/>
                  </a:lnTo>
                </a:path>
              </a:pathLst>
            </a:custGeom>
            <a:noFill/>
            <a:ln w="9525">
              <a:solidFill>
                <a:srgbClr val="E0E0E0"/>
              </a:solidFill>
            </a:ln>
          </p:spPr>
        </p:sp>
        <p:sp>
          <p:nvSpPr>
            <p:cNvPr id="84" name="TextBox 84"/>
            <p:cNvSpPr txBox="1"/>
            <p:nvPr/>
          </p:nvSpPr>
          <p:spPr>
            <a:xfrm>
              <a:off x="8405812" y="4098131"/>
              <a:ext cx="658654"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Arial"/>
                  <a:ea typeface="Microsoft YaHei"/>
                  <a:cs typeface="Arial"/>
                </a:rPr>
                <a:t>技术难点</a:t>
              </a:r>
            </a:p>
          </p:txBody>
        </p:sp>
        <p:sp>
          <p:nvSpPr>
            <p:cNvPr id="85" name="Ellipse 85"/>
            <p:cNvSpPr/>
            <p:nvPr/>
          </p:nvSpPr>
          <p:spPr>
            <a:xfrm>
              <a:off x="8467725" y="4457700"/>
              <a:ext cx="57150" cy="57150"/>
            </a:xfrm>
            <a:prstGeom prst="ellipse">
              <a:avLst/>
            </a:prstGeom>
            <a:solidFill>
              <a:srgbClr val="FF8F00"/>
            </a:solidFill>
            <a:ln>
              <a:noFill/>
            </a:ln>
          </p:spPr>
        </p:sp>
        <p:sp>
          <p:nvSpPr>
            <p:cNvPr id="86" name="TextBox 86"/>
            <p:cNvSpPr txBox="1"/>
            <p:nvPr/>
          </p:nvSpPr>
          <p:spPr>
            <a:xfrm>
              <a:off x="8598218" y="4428649"/>
              <a:ext cx="1214414"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多盘检测 + 区域分割</a:t>
              </a:r>
            </a:p>
          </p:txBody>
        </p:sp>
        <p:sp>
          <p:nvSpPr>
            <p:cNvPr id="87" name="Ellipse 87"/>
            <p:cNvSpPr/>
            <p:nvPr/>
          </p:nvSpPr>
          <p:spPr>
            <a:xfrm>
              <a:off x="8467725" y="4724400"/>
              <a:ext cx="57150" cy="57150"/>
            </a:xfrm>
            <a:prstGeom prst="ellipse">
              <a:avLst/>
            </a:prstGeom>
            <a:solidFill>
              <a:srgbClr val="FF8F00"/>
            </a:solidFill>
            <a:ln>
              <a:noFill/>
            </a:ln>
          </p:spPr>
        </p:sp>
        <p:sp>
          <p:nvSpPr>
            <p:cNvPr id="88" name="TextBox 88"/>
            <p:cNvSpPr txBox="1"/>
            <p:nvPr/>
          </p:nvSpPr>
          <p:spPr>
            <a:xfrm>
              <a:off x="8598218" y="4695349"/>
              <a:ext cx="1064895"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每盘独立营养查询</a:t>
              </a:r>
            </a:p>
          </p:txBody>
        </p:sp>
        <p:sp>
          <p:nvSpPr>
            <p:cNvPr id="89" name="Ellipse 89"/>
            <p:cNvSpPr/>
            <p:nvPr/>
          </p:nvSpPr>
          <p:spPr>
            <a:xfrm>
              <a:off x="8467725" y="4991100"/>
              <a:ext cx="57150" cy="57150"/>
            </a:xfrm>
            <a:prstGeom prst="ellipse">
              <a:avLst/>
            </a:prstGeom>
            <a:solidFill>
              <a:srgbClr val="FF8F00"/>
            </a:solidFill>
            <a:ln>
              <a:noFill/>
            </a:ln>
          </p:spPr>
        </p:sp>
        <p:sp>
          <p:nvSpPr>
            <p:cNvPr id="90" name="TextBox 90"/>
            <p:cNvSpPr txBox="1"/>
            <p:nvPr/>
          </p:nvSpPr>
          <p:spPr>
            <a:xfrm>
              <a:off x="8598218" y="4962049"/>
              <a:ext cx="1194911"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多轮对话上下文记忆</a:t>
              </a:r>
            </a:p>
          </p:txBody>
        </p:sp>
        <p:sp>
          <p:nvSpPr>
            <p:cNvPr id="91" name="Line 91"/>
            <p:cNvSpPr/>
            <p:nvPr/>
          </p:nvSpPr>
          <p:spPr>
            <a:xfrm>
              <a:off x="8420100" y="5324475"/>
              <a:ext cx="2971800" cy="9525"/>
            </a:xfrm>
            <a:custGeom>
              <a:avLst/>
              <a:gdLst/>
              <a:ahLst/>
              <a:cxnLst/>
              <a:rect l="l" t="t" r="r" b="b"/>
              <a:pathLst>
                <a:path w="2971800" h="9525">
                  <a:moveTo>
                    <a:pt x="0" y="0"/>
                  </a:moveTo>
                  <a:lnTo>
                    <a:pt x="2971800" y="0"/>
                  </a:lnTo>
                </a:path>
              </a:pathLst>
            </a:custGeom>
            <a:noFill/>
            <a:ln w="9525">
              <a:solidFill>
                <a:srgbClr val="E0E0E0"/>
              </a:solidFill>
            </a:ln>
          </p:spPr>
        </p:sp>
        <p:sp>
          <p:nvSpPr>
            <p:cNvPr id="92" name="TextBox 92"/>
            <p:cNvSpPr txBox="1"/>
            <p:nvPr/>
          </p:nvSpPr>
          <p:spPr>
            <a:xfrm>
              <a:off x="8405812" y="5450681"/>
              <a:ext cx="816173"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Arial"/>
                  <a:ea typeface="Microsoft YaHei"/>
                  <a:cs typeface="Arial"/>
                </a:rPr>
                <a:t>研究切入点</a:t>
              </a:r>
            </a:p>
          </p:txBody>
        </p:sp>
        <p:sp>
          <p:nvSpPr>
            <p:cNvPr id="93" name="Rectangle 93"/>
            <p:cNvSpPr/>
            <p:nvPr/>
          </p:nvSpPr>
          <p:spPr>
            <a:xfrm>
              <a:off x="8420100" y="5705475"/>
              <a:ext cx="2971800" cy="533400"/>
            </a:xfrm>
            <a:prstGeom prst="roundRect">
              <a:avLst>
                <a:gd name="adj" fmla="val 14286"/>
              </a:avLst>
            </a:prstGeom>
            <a:solidFill>
              <a:srgbClr val="F5F7FA"/>
            </a:solidFill>
            <a:ln>
              <a:noFill/>
            </a:ln>
          </p:spPr>
        </p:sp>
        <p:sp>
          <p:nvSpPr>
            <p:cNvPr id="94" name="TextBox 94"/>
            <p:cNvSpPr txBox="1"/>
            <p:nvPr/>
          </p:nvSpPr>
          <p:spPr>
            <a:xfrm>
              <a:off x="9415808" y="5819299"/>
              <a:ext cx="980384" cy="198120"/>
            </a:xfrm>
            <a:prstGeom prst="rect">
              <a:avLst/>
            </a:prstGeom>
            <a:noFill/>
            <a:ln>
              <a:noFill/>
            </a:ln>
          </p:spPr>
          <p:txBody>
            <a:bodyPr wrap="none" lIns="0" tIns="0" rIns="0" bIns="0" anchor="t" anchorCtr="0">
              <a:spAutoFit/>
            </a:bodyPr>
            <a:lstStyle/>
            <a:p>
              <a:pPr algn="ctr"/>
              <a:r>
                <a:rPr lang="zh-CN" sz="975" b="1" dirty="0">
                  <a:solidFill>
                    <a:srgbClr val="1565C0"/>
                  </a:solidFill>
                  <a:latin typeface="Arial"/>
                  <a:ea typeface="Microsoft YaHei"/>
                  <a:cs typeface="Arial"/>
                </a:rPr>
                <a:t>四层端到端架构</a:t>
              </a:r>
            </a:p>
          </p:txBody>
        </p:sp>
        <p:sp>
          <p:nvSpPr>
            <p:cNvPr id="95" name="TextBox 95"/>
            <p:cNvSpPr txBox="1"/>
            <p:nvPr/>
          </p:nvSpPr>
          <p:spPr>
            <a:xfrm>
              <a:off x="9231487" y="6027420"/>
              <a:ext cx="1349026" cy="182880"/>
            </a:xfrm>
            <a:prstGeom prst="rect">
              <a:avLst/>
            </a:prstGeom>
            <a:noFill/>
            <a:ln>
              <a:noFill/>
            </a:ln>
          </p:spPr>
          <p:txBody>
            <a:bodyPr wrap="none" lIns="0" tIns="0" rIns="0" bIns="0" anchor="t" anchorCtr="0">
              <a:spAutoFit/>
            </a:bodyPr>
            <a:lstStyle/>
            <a:p>
              <a:pPr algn="ctr"/>
              <a:r>
                <a:rPr lang="zh-CN" sz="900" i="1" dirty="0">
                  <a:solidFill>
                    <a:srgbClr val="5F6368"/>
                  </a:solidFill>
                  <a:latin typeface="Cambria"/>
                  <a:ea typeface="SimSun"/>
                  <a:cs typeface="Cambria"/>
                </a:rPr>
                <a:t>YOLOv8 · SAM · Ollama</a:t>
              </a:r>
            </a:p>
          </p:txBody>
        </p:sp>
      </p:grpSp>
      <p:sp>
        <p:nvSpPr>
          <p:cNvPr id="97" name="TextBox 97"/>
          <p:cNvSpPr txBox="1"/>
          <p:nvPr/>
        </p:nvSpPr>
        <p:spPr>
          <a:xfrm>
            <a:off x="561022" y="6578441"/>
            <a:ext cx="2723993"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1 Background</a:t>
            </a:r>
          </a:p>
        </p:txBody>
      </p:sp>
      <p:sp>
        <p:nvSpPr>
          <p:cNvPr id="98" name="TextBox 98"/>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03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slide(fromBottom)">
                                      <p:cBhvr>
                                        <p:cTn id="7" dur="400"/>
                                        <p:tgtEl>
                                          <p:spTgt spid="39"/>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68"/>
                                        </p:tgtEl>
                                        <p:attrNameLst>
                                          <p:attrName>style.visibility</p:attrName>
                                        </p:attrNameLst>
                                      </p:cBhvr>
                                      <p:to>
                                        <p:strVal val="visible"/>
                                      </p:to>
                                    </p:set>
                                    <p:animEffect transition="in" filter="slide(fromBottom)">
                                      <p:cBhvr>
                                        <p:cTn id="11" dur="400"/>
                                        <p:tgtEl>
                                          <p:spTgt spid="6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96"/>
                                        </p:tgtEl>
                                        <p:attrNameLst>
                                          <p:attrName>style.visibility</p:attrName>
                                        </p:attrNameLst>
                                      </p:cBhvr>
                                      <p:to>
                                        <p:strVal val="visible"/>
                                      </p:to>
                                    </p:set>
                                    <p:animEffect transition="in" filter="slide(fromBottom)">
                                      <p:cBhvr>
                                        <p:cTn id="15" dur="4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68" grpId="0"/>
      <p:bldP spid="9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D2A4F"/>
              </a:gs>
              <a:gs pos="55000">
                <a:srgbClr val="1565C0"/>
              </a:gs>
              <a:gs pos="100000">
                <a:srgbClr val="5C6BC0"/>
              </a:gs>
            </a:gsLst>
            <a:lin ang="2700000" scaled="1"/>
          </a:gradFill>
          <a:ln>
            <a:noFill/>
          </a:ln>
        </p:spPr>
      </p:sp>
      <p:sp>
        <p:nvSpPr>
          <p:cNvPr id="3" name="Rectangle 3"/>
          <p:cNvSpPr/>
          <p:nvPr/>
        </p:nvSpPr>
        <p:spPr>
          <a:xfrm>
            <a:off x="0" y="0"/>
            <a:ext cx="12192000" cy="6858000"/>
          </a:xfrm>
          <a:prstGeom prst="rect">
            <a:avLst/>
          </a:prstGeom>
          <a:gradFill>
            <a:gsLst>
              <a:gs pos="0">
                <a:srgbClr val="FF8F00">
                  <a:alpha val="16000"/>
                </a:srgbClr>
              </a:gs>
              <a:gs pos="100000">
                <a:srgbClr val="FF8F00">
                  <a:alpha val="0"/>
                </a:srgbClr>
              </a:gs>
            </a:gsLst>
            <a:path path="circle">
              <a:fillToRect l="50000" t="50000" r="50000" b="50000"/>
            </a:path>
          </a:gradFill>
          <a:ln>
            <a:noFill/>
          </a:ln>
        </p:spPr>
      </p:sp>
      <p:sp>
        <p:nvSpPr>
          <p:cNvPr id="4" name="Ellipse 4"/>
          <p:cNvSpPr/>
          <p:nvPr/>
        </p:nvSpPr>
        <p:spPr>
          <a:xfrm>
            <a:off x="10258425" y="1685925"/>
            <a:ext cx="57150" cy="57150"/>
          </a:xfrm>
          <a:prstGeom prst="ellipse">
            <a:avLst/>
          </a:prstGeom>
          <a:solidFill>
            <a:srgbClr val="FFFFFF">
              <a:alpha val="20000"/>
            </a:srgbClr>
          </a:solidFill>
          <a:ln>
            <a:noFill/>
          </a:ln>
        </p:spPr>
      </p:sp>
      <p:sp>
        <p:nvSpPr>
          <p:cNvPr id="5" name="Ellipse 5"/>
          <p:cNvSpPr/>
          <p:nvPr/>
        </p:nvSpPr>
        <p:spPr>
          <a:xfrm>
            <a:off x="10648950" y="1981200"/>
            <a:ext cx="38100" cy="38100"/>
          </a:xfrm>
          <a:prstGeom prst="ellipse">
            <a:avLst/>
          </a:prstGeom>
          <a:solidFill>
            <a:srgbClr val="FFFFFF">
              <a:alpha val="16000"/>
            </a:srgbClr>
          </a:solidFill>
          <a:ln>
            <a:noFill/>
          </a:ln>
        </p:spPr>
      </p:sp>
      <p:sp>
        <p:nvSpPr>
          <p:cNvPr id="6" name="Ellipse 6"/>
          <p:cNvSpPr/>
          <p:nvPr/>
        </p:nvSpPr>
        <p:spPr>
          <a:xfrm>
            <a:off x="10929938" y="1500188"/>
            <a:ext cx="47625" cy="47625"/>
          </a:xfrm>
          <a:prstGeom prst="ellipse">
            <a:avLst/>
          </a:prstGeom>
          <a:solidFill>
            <a:srgbClr val="FF8F00">
              <a:alpha val="30000"/>
            </a:srgbClr>
          </a:solidFill>
          <a:ln>
            <a:noFill/>
          </a:ln>
        </p:spPr>
      </p:sp>
      <p:sp>
        <p:nvSpPr>
          <p:cNvPr id="7" name="Ellipse 7"/>
          <p:cNvSpPr/>
          <p:nvPr/>
        </p:nvSpPr>
        <p:spPr>
          <a:xfrm>
            <a:off x="1685925" y="5114925"/>
            <a:ext cx="57150" cy="57150"/>
          </a:xfrm>
          <a:prstGeom prst="ellipse">
            <a:avLst/>
          </a:prstGeom>
          <a:solidFill>
            <a:srgbClr val="FFFFFF">
              <a:alpha val="18000"/>
            </a:srgbClr>
          </a:solidFill>
          <a:ln>
            <a:noFill/>
          </a:ln>
        </p:spPr>
      </p:sp>
      <p:sp>
        <p:nvSpPr>
          <p:cNvPr id="8" name="Ellipse 8"/>
          <p:cNvSpPr/>
          <p:nvPr/>
        </p:nvSpPr>
        <p:spPr>
          <a:xfrm>
            <a:off x="1314450" y="5410200"/>
            <a:ext cx="38100" cy="38100"/>
          </a:xfrm>
          <a:prstGeom prst="ellipse">
            <a:avLst/>
          </a:prstGeom>
          <a:solidFill>
            <a:srgbClr val="FF8F00">
              <a:alpha val="25000"/>
            </a:srgbClr>
          </a:solidFill>
          <a:ln>
            <a:noFill/>
          </a:ln>
        </p:spPr>
      </p:sp>
      <p:sp>
        <p:nvSpPr>
          <p:cNvPr id="9" name="TextBox 9"/>
          <p:cNvSpPr txBox="1"/>
          <p:nvPr/>
        </p:nvSpPr>
        <p:spPr>
          <a:xfrm>
            <a:off x="4579644" y="781050"/>
            <a:ext cx="3032712" cy="4267200"/>
          </a:xfrm>
          <a:prstGeom prst="rect">
            <a:avLst/>
          </a:prstGeom>
          <a:noFill/>
          <a:ln>
            <a:noFill/>
          </a:ln>
        </p:spPr>
        <p:txBody>
          <a:bodyPr wrap="none" lIns="0" tIns="0" rIns="0" bIns="0" anchor="t" anchorCtr="0">
            <a:spAutoFit/>
          </a:bodyPr>
          <a:lstStyle/>
          <a:p>
            <a:pPr algn="ctr"/>
            <a:r>
              <a:rPr lang="zh-CN" sz="21000" b="1" dirty="0">
                <a:solidFill>
                  <a:srgbClr val="FFFFFF">
                    <a:alphaMod val="7000"/>
                  </a:srgbClr>
                </a:solidFill>
                <a:latin typeface="Cambria"/>
                <a:ea typeface="SimSun"/>
                <a:cs typeface="Cambria"/>
              </a:rPr>
              <a:t>01</a:t>
            </a:r>
          </a:p>
        </p:txBody>
      </p:sp>
      <p:sp>
        <p:nvSpPr>
          <p:cNvPr id="10" name="TextBox 10"/>
          <p:cNvSpPr txBox="1"/>
          <p:nvPr/>
        </p:nvSpPr>
        <p:spPr>
          <a:xfrm>
            <a:off x="4631579" y="2204085"/>
            <a:ext cx="2928842" cy="243840"/>
          </a:xfrm>
          <a:prstGeom prst="rect">
            <a:avLst/>
          </a:prstGeom>
          <a:noFill/>
          <a:ln>
            <a:noFill/>
          </a:ln>
        </p:spPr>
        <p:txBody>
          <a:bodyPr wrap="none" lIns="0" tIns="0" rIns="0" bIns="0" anchor="t" anchorCtr="0">
            <a:spAutoFit/>
          </a:bodyPr>
          <a:lstStyle/>
          <a:p>
            <a:pPr algn="ctr"/>
            <a:r>
              <a:rPr lang="zh-CN" sz="1200" b="1" dirty="0">
                <a:solidFill>
                  <a:srgbClr val="FFFFFF">
                    <a:alphaMod val="70000"/>
                  </a:srgbClr>
                </a:solidFill>
                <a:latin typeface="Cambria"/>
                <a:ea typeface="SimSun"/>
                <a:cs typeface="Cambria"/>
              </a:rPr>
              <a:t>CHAPTER 01 / 06 · FOOD RECOGNITION</a:t>
            </a:r>
          </a:p>
        </p:txBody>
      </p:sp>
      <p:sp>
        <p:nvSpPr>
          <p:cNvPr id="11" name="Line 11"/>
          <p:cNvSpPr/>
          <p:nvPr/>
        </p:nvSpPr>
        <p:spPr>
          <a:xfrm>
            <a:off x="5143500" y="2571750"/>
            <a:ext cx="1905000" cy="9525"/>
          </a:xfrm>
          <a:custGeom>
            <a:avLst/>
            <a:gdLst/>
            <a:ahLst/>
            <a:cxnLst/>
            <a:rect l="l" t="t" r="r" b="b"/>
            <a:pathLst>
              <a:path w="1905000" h="9525">
                <a:moveTo>
                  <a:pt x="0" y="0"/>
                </a:moveTo>
                <a:lnTo>
                  <a:pt x="1905000" y="0"/>
                </a:lnTo>
              </a:path>
            </a:pathLst>
          </a:custGeom>
          <a:noFill/>
          <a:ln w="19050" cap="rnd">
            <a:solidFill>
              <a:srgbClr val="FF8F00"/>
            </a:solidFill>
          </a:ln>
        </p:spPr>
      </p:sp>
      <p:sp>
        <p:nvSpPr>
          <p:cNvPr id="12" name="TextBox 12"/>
          <p:cNvSpPr txBox="1"/>
          <p:nvPr/>
        </p:nvSpPr>
        <p:spPr>
          <a:xfrm>
            <a:off x="4492371" y="2985135"/>
            <a:ext cx="3207258" cy="1463040"/>
          </a:xfrm>
          <a:prstGeom prst="rect">
            <a:avLst/>
          </a:prstGeom>
          <a:noFill/>
          <a:ln>
            <a:noFill/>
          </a:ln>
        </p:spPr>
        <p:txBody>
          <a:bodyPr wrap="none" lIns="0" tIns="0" rIns="0" bIns="0" anchor="t" anchorCtr="0">
            <a:spAutoFit/>
          </a:bodyPr>
          <a:lstStyle/>
          <a:p>
            <a:pPr algn="ctr"/>
            <a:r>
              <a:rPr lang="zh-CN" sz="7200" b="1" dirty="0">
                <a:gradFill>
                  <a:gsLst>
                    <a:gs pos="0">
                      <a:srgbClr val="FFFFFF"/>
                    </a:gs>
                    <a:gs pos="100000">
                      <a:srgbClr val="FFB300"/>
                    </a:gs>
                  </a:gsLst>
                  <a:lin ang="0" scaled="1"/>
                </a:gradFill>
                <a:latin typeface="Cambria"/>
                <a:ea typeface="SimSun"/>
                <a:cs typeface="Cambria"/>
              </a:rPr>
              <a:t>第一问</a:t>
            </a:r>
          </a:p>
        </p:txBody>
      </p:sp>
      <p:sp>
        <p:nvSpPr>
          <p:cNvPr id="13" name="TextBox 13"/>
          <p:cNvSpPr txBox="1"/>
          <p:nvPr/>
        </p:nvSpPr>
        <p:spPr>
          <a:xfrm>
            <a:off x="3581424" y="4075748"/>
            <a:ext cx="5029152" cy="396240"/>
          </a:xfrm>
          <a:prstGeom prst="rect">
            <a:avLst/>
          </a:prstGeom>
          <a:noFill/>
          <a:ln>
            <a:noFill/>
          </a:ln>
        </p:spPr>
        <p:txBody>
          <a:bodyPr wrap="none" lIns="0" tIns="0" rIns="0" bIns="0" anchor="t" anchorCtr="0">
            <a:spAutoFit/>
          </a:bodyPr>
          <a:lstStyle/>
          <a:p>
            <a:pPr algn="ctr"/>
            <a:r>
              <a:rPr lang="zh-CN" sz="1950" dirty="0">
                <a:solidFill>
                  <a:srgbClr val="FFFFFF">
                    <a:alphaMod val="92000"/>
                  </a:srgbClr>
                </a:solidFill>
                <a:latin typeface="Arial"/>
                <a:ea typeface="Microsoft YaHei"/>
                <a:cs typeface="Arial"/>
              </a:rPr>
              <a:t>食物识别 · 零样本分类的视觉语言模型对比</a:t>
            </a:r>
          </a:p>
        </p:txBody>
      </p:sp>
      <p:sp>
        <p:nvSpPr>
          <p:cNvPr id="14" name="TextBox 14"/>
          <p:cNvSpPr txBox="1"/>
          <p:nvPr/>
        </p:nvSpPr>
        <p:spPr>
          <a:xfrm>
            <a:off x="3782675" y="4498181"/>
            <a:ext cx="4626650" cy="228600"/>
          </a:xfrm>
          <a:prstGeom prst="rect">
            <a:avLst/>
          </a:prstGeom>
          <a:noFill/>
          <a:ln>
            <a:noFill/>
          </a:ln>
        </p:spPr>
        <p:txBody>
          <a:bodyPr wrap="none" lIns="0" tIns="0" rIns="0" bIns="0" anchor="t" anchorCtr="0">
            <a:spAutoFit/>
          </a:bodyPr>
          <a:lstStyle/>
          <a:p>
            <a:pPr algn="ctr"/>
            <a:r>
              <a:rPr lang="zh-CN" sz="1125" i="1" dirty="0">
                <a:solidFill>
                  <a:srgbClr val="FFFFFF">
                    <a:alphaMod val="65000"/>
                  </a:srgbClr>
                </a:solidFill>
                <a:latin typeface="Cambria"/>
                <a:ea typeface="SimSun"/>
                <a:cs typeface="Cambria"/>
              </a:rPr>
              <a:t>Zero-Shot Food Recognition · Vision-Language Model Benchmark</a:t>
            </a:r>
          </a:p>
        </p:txBody>
      </p:sp>
      <p:sp>
        <p:nvSpPr>
          <p:cNvPr id="15" name="Line 15"/>
          <p:cNvSpPr/>
          <p:nvPr/>
        </p:nvSpPr>
        <p:spPr>
          <a:xfrm>
            <a:off x="5715000" y="5286375"/>
            <a:ext cx="762000" cy="9525"/>
          </a:xfrm>
          <a:custGeom>
            <a:avLst/>
            <a:gdLst/>
            <a:ahLst/>
            <a:cxnLst/>
            <a:rect l="l" t="t" r="r" b="b"/>
            <a:pathLst>
              <a:path w="762000" h="9525">
                <a:moveTo>
                  <a:pt x="0" y="0"/>
                </a:moveTo>
                <a:lnTo>
                  <a:pt x="762000" y="0"/>
                </a:lnTo>
              </a:path>
            </a:pathLst>
          </a:custGeom>
          <a:noFill/>
          <a:ln w="9525">
            <a:solidFill>
              <a:srgbClr val="FFFFFF">
                <a:alpha val="35000"/>
              </a:srgbClr>
            </a:solidFill>
          </a:ln>
        </p:spPr>
      </p:sp>
      <p:grpSp>
        <p:nvGrpSpPr>
          <p:cNvPr id="21" name="Group 21"/>
          <p:cNvGrpSpPr/>
          <p:nvPr/>
        </p:nvGrpSpPr>
        <p:grpSpPr>
          <a:xfrm>
            <a:off x="4065842" y="5593556"/>
            <a:ext cx="4415032" cy="228600"/>
            <a:chOff x="4065842" y="5593556"/>
            <a:chExt cx="4415032" cy="228600"/>
          </a:xfrm>
        </p:grpSpPr>
        <p:sp>
          <p:nvSpPr>
            <p:cNvPr id="16" name="TextBox 16"/>
            <p:cNvSpPr txBox="1"/>
            <p:nvPr/>
          </p:nvSpPr>
          <p:spPr>
            <a:xfrm>
              <a:off x="4065842" y="5601652"/>
              <a:ext cx="614744" cy="213360"/>
            </a:xfrm>
            <a:prstGeom prst="rect">
              <a:avLst/>
            </a:prstGeom>
            <a:noFill/>
            <a:ln>
              <a:noFill/>
            </a:ln>
          </p:spPr>
          <p:txBody>
            <a:bodyPr wrap="none" lIns="0" tIns="0" rIns="0" bIns="0" anchor="t" anchorCtr="0">
              <a:spAutoFit/>
            </a:bodyPr>
            <a:lstStyle/>
            <a:p>
              <a:pPr algn="r"/>
              <a:r>
                <a:rPr lang="zh-CN" sz="1050" b="1" dirty="0">
                  <a:solidFill>
                    <a:srgbClr val="FFFFFF">
                      <a:alphaMod val="75000"/>
                    </a:srgbClr>
                  </a:solidFill>
                  <a:latin typeface="Arial"/>
                  <a:ea typeface="Microsoft YaHei"/>
                  <a:cs typeface="Arial"/>
                </a:rPr>
                <a:t>章节范围</a:t>
              </a:r>
            </a:p>
          </p:txBody>
        </p:sp>
        <p:sp>
          <p:nvSpPr>
            <p:cNvPr id="17" name="TextBox 17"/>
            <p:cNvSpPr txBox="1"/>
            <p:nvPr/>
          </p:nvSpPr>
          <p:spPr>
            <a:xfrm>
              <a:off x="4843462" y="5593556"/>
              <a:ext cx="729538" cy="228600"/>
            </a:xfrm>
            <a:prstGeom prst="rect">
              <a:avLst/>
            </a:prstGeom>
            <a:noFill/>
            <a:ln>
              <a:noFill/>
            </a:ln>
          </p:spPr>
          <p:txBody>
            <a:bodyPr wrap="none" lIns="0" tIns="0" rIns="0" bIns="0" anchor="t" anchorCtr="0">
              <a:spAutoFit/>
            </a:bodyPr>
            <a:lstStyle/>
            <a:p>
              <a:pPr algn="l"/>
              <a:r>
                <a:rPr lang="zh-CN" sz="1125" b="1" dirty="0">
                  <a:solidFill>
                    <a:srgbClr val="FFB300"/>
                  </a:solidFill>
                  <a:latin typeface="Cambria"/>
                  <a:ea typeface="SimSun"/>
                  <a:cs typeface="Cambria"/>
                </a:rPr>
                <a:t>P04 — P08</a:t>
              </a:r>
            </a:p>
          </p:txBody>
        </p:sp>
        <p:sp>
          <p:nvSpPr>
            <p:cNvPr id="18" name="TextBox 18"/>
            <p:cNvSpPr txBox="1"/>
            <p:nvPr/>
          </p:nvSpPr>
          <p:spPr>
            <a:xfrm>
              <a:off x="6061662" y="5601652"/>
              <a:ext cx="68675" cy="213360"/>
            </a:xfrm>
            <a:prstGeom prst="rect">
              <a:avLst/>
            </a:prstGeom>
            <a:noFill/>
            <a:ln>
              <a:noFill/>
            </a:ln>
          </p:spPr>
          <p:txBody>
            <a:bodyPr wrap="none" lIns="0" tIns="0" rIns="0" bIns="0" anchor="t" anchorCtr="0">
              <a:spAutoFit/>
            </a:bodyPr>
            <a:lstStyle/>
            <a:p>
              <a:pPr algn="ctr"/>
              <a:r>
                <a:rPr lang="zh-CN" sz="1050" dirty="0">
                  <a:solidFill>
                    <a:srgbClr val="FFFFFF">
                      <a:alphaMod val="45000"/>
                    </a:srgbClr>
                  </a:solidFill>
                  <a:latin typeface="Cambria"/>
                  <a:ea typeface="SimSun"/>
                  <a:cs typeface="Cambria"/>
                </a:rPr>
                <a:t>|</a:t>
              </a:r>
            </a:p>
          </p:txBody>
        </p:sp>
        <p:sp>
          <p:nvSpPr>
            <p:cNvPr id="19" name="TextBox 19"/>
            <p:cNvSpPr txBox="1"/>
            <p:nvPr/>
          </p:nvSpPr>
          <p:spPr>
            <a:xfrm>
              <a:off x="6225540" y="5601652"/>
              <a:ext cx="489778" cy="213360"/>
            </a:xfrm>
            <a:prstGeom prst="rect">
              <a:avLst/>
            </a:prstGeom>
            <a:noFill/>
            <a:ln>
              <a:noFill/>
            </a:ln>
          </p:spPr>
          <p:txBody>
            <a:bodyPr wrap="none" lIns="0" tIns="0" rIns="0" bIns="0" anchor="t" anchorCtr="0">
              <a:spAutoFit/>
            </a:bodyPr>
            <a:lstStyle/>
            <a:p>
              <a:pPr algn="l"/>
              <a:r>
                <a:rPr lang="zh-CN" sz="1050" b="1" dirty="0">
                  <a:solidFill>
                    <a:srgbClr val="FFFFFF">
                      <a:alphaMod val="75000"/>
                    </a:srgbClr>
                  </a:solidFill>
                  <a:latin typeface="Arial"/>
                  <a:ea typeface="Microsoft YaHei"/>
                  <a:cs typeface="Arial"/>
                </a:rPr>
                <a:t>共 6 页</a:t>
              </a:r>
            </a:p>
          </p:txBody>
        </p:sp>
        <p:sp>
          <p:nvSpPr>
            <p:cNvPr id="20" name="TextBox 20"/>
            <p:cNvSpPr txBox="1"/>
            <p:nvPr/>
          </p:nvSpPr>
          <p:spPr>
            <a:xfrm>
              <a:off x="6939915" y="5601652"/>
              <a:ext cx="1540959" cy="213360"/>
            </a:xfrm>
            <a:prstGeom prst="rect">
              <a:avLst/>
            </a:prstGeom>
            <a:noFill/>
            <a:ln>
              <a:noFill/>
            </a:ln>
          </p:spPr>
          <p:txBody>
            <a:bodyPr wrap="none" lIns="0" tIns="0" rIns="0" bIns="0" anchor="t" anchorCtr="0">
              <a:spAutoFit/>
            </a:bodyPr>
            <a:lstStyle/>
            <a:p>
              <a:pPr algn="l"/>
              <a:r>
                <a:rPr lang="zh-CN" sz="1050" b="1" dirty="0">
                  <a:solidFill>
                    <a:srgbClr val="FFB300"/>
                  </a:solidFill>
                  <a:latin typeface="Cambria"/>
                  <a:ea typeface="SimSun"/>
                  <a:cs typeface="Cambria"/>
                </a:rPr>
                <a:t>· English-CLIP 68.64%</a:t>
              </a:r>
            </a:p>
          </p:txBody>
        </p:sp>
      </p:grpSp>
      <p:grpSp>
        <p:nvGrpSpPr>
          <p:cNvPr id="24" name="Group 24"/>
          <p:cNvGrpSpPr/>
          <p:nvPr/>
        </p:nvGrpSpPr>
        <p:grpSpPr>
          <a:xfrm>
            <a:off x="819150" y="876300"/>
            <a:ext cx="342900" cy="228600"/>
            <a:chOff x="819150" y="876300"/>
            <a:chExt cx="342900" cy="228600"/>
          </a:xfrm>
        </p:grpSpPr>
        <p:sp>
          <p:nvSpPr>
            <p:cNvPr id="22" name="Freeform 22"/>
            <p:cNvSpPr/>
            <p:nvPr/>
          </p:nvSpPr>
          <p:spPr>
            <a:xfrm>
              <a:off x="952500" y="95250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FF8F00"/>
              </a:solidFill>
            </a:ln>
          </p:spPr>
        </p:sp>
        <p:sp>
          <p:nvSpPr>
            <p:cNvPr id="23" name="Freeform 23"/>
            <p:cNvSpPr/>
            <p:nvPr/>
          </p:nvSpPr>
          <p:spPr>
            <a:xfrm>
              <a:off x="819150" y="876300"/>
              <a:ext cx="342900" cy="228600"/>
            </a:xfrm>
            <a:custGeom>
              <a:avLst/>
              <a:gdLst/>
              <a:ahLst/>
              <a:cxnLst/>
              <a:rect l="l" t="t" r="r" b="b"/>
              <a:pathLst>
                <a:path w="342900" h="228600">
                  <a:moveTo>
                    <a:pt x="342900" y="114300"/>
                  </a:moveTo>
                  <a:cubicBezTo>
                    <a:pt x="297180" y="190500"/>
                    <a:pt x="240030" y="228600"/>
                    <a:pt x="171450" y="228600"/>
                  </a:cubicBezTo>
                  <a:cubicBezTo>
                    <a:pt x="102870" y="228600"/>
                    <a:pt x="45720" y="190500"/>
                    <a:pt x="0" y="114300"/>
                  </a:cubicBezTo>
                  <a:cubicBezTo>
                    <a:pt x="45720" y="38100"/>
                    <a:pt x="102870" y="0"/>
                    <a:pt x="171450" y="0"/>
                  </a:cubicBezTo>
                  <a:cubicBezTo>
                    <a:pt x="240030" y="0"/>
                    <a:pt x="297180" y="38100"/>
                    <a:pt x="342900" y="114300"/>
                  </a:cubicBezTo>
                </a:path>
              </a:pathLst>
            </a:custGeom>
            <a:noFill/>
            <a:ln w="19050">
              <a:solidFill>
                <a:srgbClr val="FF8F00"/>
              </a:solidFill>
            </a:ln>
          </p:spPr>
        </p:sp>
      </p:grpSp>
      <p:sp>
        <p:nvSpPr>
          <p:cNvPr id="25" name="TextBox 25"/>
          <p:cNvSpPr txBox="1"/>
          <p:nvPr/>
        </p:nvSpPr>
        <p:spPr>
          <a:xfrm>
            <a:off x="1321118" y="990124"/>
            <a:ext cx="1232941" cy="198120"/>
          </a:xfrm>
          <a:prstGeom prst="rect">
            <a:avLst/>
          </a:prstGeom>
          <a:noFill/>
          <a:ln>
            <a:noFill/>
          </a:ln>
        </p:spPr>
        <p:txBody>
          <a:bodyPr wrap="none" lIns="0" tIns="0" rIns="0" bIns="0" anchor="t" anchorCtr="0">
            <a:spAutoFit/>
          </a:bodyPr>
          <a:lstStyle/>
          <a:p>
            <a:pPr algn="l"/>
            <a:r>
              <a:rPr lang="zh-CN" sz="975" b="1" dirty="0">
                <a:solidFill>
                  <a:srgbClr val="FFFFFF">
                    <a:alphaMod val="65000"/>
                  </a:srgbClr>
                </a:solidFill>
                <a:latin typeface="Cambria"/>
                <a:ea typeface="SimSun"/>
                <a:cs typeface="Cambria"/>
              </a:rPr>
              <a:t>FOOD RECOGNITION</a:t>
            </a:r>
          </a:p>
        </p:txBody>
      </p:sp>
      <p:sp>
        <p:nvSpPr>
          <p:cNvPr id="26" name="TextBox 26"/>
          <p:cNvSpPr txBox="1"/>
          <p:nvPr/>
        </p:nvSpPr>
        <p:spPr>
          <a:xfrm>
            <a:off x="4594836" y="6197441"/>
            <a:ext cx="3002328" cy="167640"/>
          </a:xfrm>
          <a:prstGeom prst="rect">
            <a:avLst/>
          </a:prstGeom>
          <a:noFill/>
          <a:ln>
            <a:noFill/>
          </a:ln>
        </p:spPr>
        <p:txBody>
          <a:bodyPr wrap="none" lIns="0" tIns="0" rIns="0" bIns="0" anchor="t" anchorCtr="0">
            <a:spAutoFit/>
          </a:bodyPr>
          <a:lstStyle/>
          <a:p>
            <a:pPr algn="ctr"/>
            <a:r>
              <a:rPr lang="zh-CN" sz="825" dirty="0">
                <a:solidFill>
                  <a:srgbClr val="FFFFFF">
                    <a:alphaMod val="55000"/>
                  </a:srgbClr>
                </a:solidFill>
                <a:latin typeface="Arial"/>
                <a:ea typeface="Microsoft YaHei"/>
                <a:cs typeface="Arial"/>
              </a:rPr>
              <a:t>SMART FOOD NUTRITION ANALYSIS · DEFENSE PRESENTATION</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1056525" cy="685800"/>
            <a:chOff x="571500" y="457200"/>
            <a:chExt cx="11056525" cy="685800"/>
          </a:xfrm>
        </p:grpSpPr>
        <p:sp>
          <p:nvSpPr>
            <p:cNvPr id="3" name="Rectangle 3"/>
            <p:cNvSpPr/>
            <p:nvPr/>
          </p:nvSpPr>
          <p:spPr>
            <a:xfrm>
              <a:off x="571500" y="457200"/>
              <a:ext cx="57150" cy="381000"/>
            </a:xfrm>
            <a:prstGeom prst="roundRect">
              <a:avLst>
                <a:gd name="adj" fmla="val 50000"/>
              </a:avLst>
            </a:prstGeom>
            <a:solidFill>
              <a:srgbClr val="1565C0"/>
            </a:solidFill>
            <a:ln>
              <a:noFill/>
            </a:ln>
          </p:spPr>
        </p:sp>
        <p:sp>
          <p:nvSpPr>
            <p:cNvPr id="4" name="TextBox 4"/>
            <p:cNvSpPr txBox="1"/>
            <p:nvPr/>
          </p:nvSpPr>
          <p:spPr>
            <a:xfrm>
              <a:off x="733425" y="500062"/>
              <a:ext cx="2892504"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问题定义与实验设置</a:t>
              </a:r>
            </a:p>
          </p:txBody>
        </p:sp>
        <p:sp>
          <p:nvSpPr>
            <p:cNvPr id="5" name="TextBox 5"/>
            <p:cNvSpPr txBox="1"/>
            <p:nvPr/>
          </p:nvSpPr>
          <p:spPr>
            <a:xfrm>
              <a:off x="748665" y="896302"/>
              <a:ext cx="3327233"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Q1 · PROBLEM DEFINITION &amp; EXPERIMENTAL SETUP</a:t>
              </a:r>
            </a:p>
          </p:txBody>
        </p:sp>
        <p:grpSp>
          <p:nvGrpSpPr>
            <p:cNvPr id="9" name="Group 9"/>
            <p:cNvGrpSpPr/>
            <p:nvPr/>
          </p:nvGrpSpPr>
          <p:grpSpPr>
            <a:xfrm>
              <a:off x="9993725" y="571500"/>
              <a:ext cx="1634300" cy="571500"/>
              <a:chOff x="9993725" y="571500"/>
              <a:chExt cx="1634300" cy="571500"/>
            </a:xfrm>
          </p:grpSpPr>
          <p:sp>
            <p:nvSpPr>
              <p:cNvPr id="6" name="Rectangle 6"/>
              <p:cNvSpPr/>
              <p:nvPr/>
            </p:nvSpPr>
            <p:spPr>
              <a:xfrm>
                <a:off x="10001250" y="571500"/>
                <a:ext cx="1619250" cy="571500"/>
              </a:xfrm>
              <a:prstGeom prst="roundRect">
                <a:avLst>
                  <a:gd name="adj" fmla="val 16667"/>
                </a:avLst>
              </a:prstGeom>
              <a:solidFill>
                <a:srgbClr val="F5F7FA"/>
              </a:solidFill>
              <a:ln>
                <a:noFill/>
              </a:ln>
            </p:spPr>
          </p:sp>
          <p:sp>
            <p:nvSpPr>
              <p:cNvPr id="7" name="TextBox 7"/>
              <p:cNvSpPr txBox="1"/>
              <p:nvPr/>
            </p:nvSpPr>
            <p:spPr>
              <a:xfrm>
                <a:off x="9993725" y="676275"/>
                <a:ext cx="1634300"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Cambria"/>
                    <a:ea typeface="SimSun"/>
                    <a:cs typeface="Cambria"/>
                  </a:rPr>
                  <a:t>55 类 · 6,749 张</a:t>
                </a:r>
              </a:p>
            </p:txBody>
          </p:sp>
          <p:sp>
            <p:nvSpPr>
              <p:cNvPr id="8" name="TextBox 8"/>
              <p:cNvSpPr txBox="1"/>
              <p:nvPr/>
            </p:nvSpPr>
            <p:spPr>
              <a:xfrm>
                <a:off x="10401873" y="958691"/>
                <a:ext cx="818005"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DATASET SCALE</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2" name="TextBox 12"/>
          <p:cNvSpPr txBox="1"/>
          <p:nvPr/>
        </p:nvSpPr>
        <p:spPr>
          <a:xfrm>
            <a:off x="3016282" y="1505902"/>
            <a:ext cx="6159437"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给定食物图像,从候选类别列表中识别正确类别 — 聚焦零样本分类场景(训练阶段未见目标类别样本)</a:t>
            </a:r>
          </a:p>
        </p:txBody>
      </p:sp>
      <p:grpSp>
        <p:nvGrpSpPr>
          <p:cNvPr id="28" name="Group 28"/>
          <p:cNvGrpSpPr/>
          <p:nvPr/>
        </p:nvGrpSpPr>
        <p:grpSpPr>
          <a:xfrm>
            <a:off x="571500" y="1905000"/>
            <a:ext cx="5334000" cy="2095500"/>
            <a:chOff x="571500" y="1905000"/>
            <a:chExt cx="5334000" cy="2095500"/>
          </a:xfrm>
        </p:grpSpPr>
        <p:sp>
          <p:nvSpPr>
            <p:cNvPr id="13" name="Rectangle 13"/>
            <p:cNvSpPr/>
            <p:nvPr/>
          </p:nvSpPr>
          <p:spPr>
            <a:xfrm>
              <a:off x="571500" y="1905000"/>
              <a:ext cx="5334000" cy="2095500"/>
            </a:xfrm>
            <a:prstGeom prst="roundRect">
              <a:avLst>
                <a:gd name="adj" fmla="val 5455"/>
              </a:avLst>
            </a:prstGeom>
            <a:solidFill>
              <a:srgbClr val="FFFFFF"/>
            </a:solidFill>
            <a:ln w="14288">
              <a:solidFill>
                <a:srgbClr val="E0E0E0"/>
              </a:solidFill>
            </a:ln>
            <a:effectLst>
              <a:outerShdw blurRad="95250" dist="28575" dir="5400000" algn="ctr" rotWithShape="0">
                <a:srgbClr val="0F172A">
                  <a:alpha val="7500"/>
                </a:srgbClr>
              </a:outerShdw>
            </a:effectLst>
          </p:spPr>
        </p:sp>
        <p:sp>
          <p:nvSpPr>
            <p:cNvPr id="14" name="Freeform 14"/>
            <p:cNvSpPr/>
            <p:nvPr/>
          </p:nvSpPr>
          <p:spPr>
            <a:xfrm>
              <a:off x="571500" y="1905000"/>
              <a:ext cx="5334000" cy="571500"/>
            </a:xfrm>
            <a:custGeom>
              <a:avLst/>
              <a:gdLst/>
              <a:ahLst/>
              <a:cxnLst/>
              <a:rect l="l" t="t" r="r" b="b"/>
              <a:pathLst>
                <a:path w="5334000" h="571500">
                  <a:moveTo>
                    <a:pt x="0" y="114300"/>
                  </a:moveTo>
                  <a:cubicBezTo>
                    <a:pt x="0" y="51174"/>
                    <a:pt x="51174" y="0"/>
                    <a:pt x="114300" y="0"/>
                  </a:cubicBezTo>
                  <a:lnTo>
                    <a:pt x="5219700" y="0"/>
                  </a:lnTo>
                  <a:cubicBezTo>
                    <a:pt x="5282826" y="0"/>
                    <a:pt x="5334000" y="51174"/>
                    <a:pt x="5334000" y="114300"/>
                  </a:cubicBezTo>
                  <a:lnTo>
                    <a:pt x="5334000" y="571500"/>
                  </a:lnTo>
                  <a:lnTo>
                    <a:pt x="0" y="571500"/>
                  </a:lnTo>
                  <a:close/>
                </a:path>
              </a:pathLst>
            </a:custGeom>
            <a:gradFill>
              <a:gsLst>
                <a:gs pos="0">
                  <a:srgbClr val="1565C0"/>
                </a:gs>
                <a:gs pos="100000">
                  <a:srgbClr val="5C6BC0"/>
                </a:gs>
              </a:gsLst>
              <a:lin ang="0" scaled="1"/>
            </a:gradFill>
            <a:ln>
              <a:noFill/>
            </a:ln>
          </p:spPr>
        </p:sp>
        <p:sp>
          <p:nvSpPr>
            <p:cNvPr id="15" name="Rectangle 15"/>
            <p:cNvSpPr/>
            <p:nvPr/>
          </p:nvSpPr>
          <p:spPr>
            <a:xfrm>
              <a:off x="762000" y="2038350"/>
              <a:ext cx="304800" cy="304800"/>
            </a:xfrm>
            <a:prstGeom prst="roundRect">
              <a:avLst>
                <a:gd name="adj" fmla="val 18750"/>
              </a:avLst>
            </a:prstGeom>
            <a:solidFill>
              <a:srgbClr val="FFFFFF">
                <a:alpha val="20000"/>
              </a:srgbClr>
            </a:solidFill>
            <a:ln>
              <a:noFill/>
            </a:ln>
          </p:spPr>
        </p:sp>
        <p:grpSp>
          <p:nvGrpSpPr>
            <p:cNvPr id="19" name="Group 19"/>
            <p:cNvGrpSpPr/>
            <p:nvPr/>
          </p:nvGrpSpPr>
          <p:grpSpPr>
            <a:xfrm>
              <a:off x="812800" y="2076450"/>
              <a:ext cx="203200" cy="228600"/>
              <a:chOff x="812800" y="2076450"/>
              <a:chExt cx="203200" cy="228600"/>
            </a:xfrm>
          </p:grpSpPr>
          <p:sp>
            <p:nvSpPr>
              <p:cNvPr id="16" name="Freeform 16"/>
              <p:cNvSpPr/>
              <p:nvPr/>
            </p:nvSpPr>
            <p:spPr>
              <a:xfrm>
                <a:off x="812800" y="2076450"/>
                <a:ext cx="203200" cy="76200"/>
              </a:xfrm>
              <a:custGeom>
                <a:avLst/>
                <a:gdLst/>
                <a:ahLst/>
                <a:cxnLst/>
                <a:rect l="l" t="t" r="r" b="b"/>
                <a:pathLst>
                  <a:path w="203200" h="76200">
                    <a:moveTo>
                      <a:pt x="0" y="38100"/>
                    </a:moveTo>
                    <a:cubicBezTo>
                      <a:pt x="0" y="59142"/>
                      <a:pt x="45488" y="76200"/>
                      <a:pt x="101600" y="76200"/>
                    </a:cubicBezTo>
                    <a:cubicBezTo>
                      <a:pt x="157712" y="76200"/>
                      <a:pt x="203200" y="59142"/>
                      <a:pt x="203200" y="38100"/>
                    </a:cubicBezTo>
                    <a:cubicBezTo>
                      <a:pt x="203200" y="17058"/>
                      <a:pt x="157712" y="0"/>
                      <a:pt x="101600" y="0"/>
                    </a:cubicBezTo>
                    <a:cubicBezTo>
                      <a:pt x="45488" y="0"/>
                      <a:pt x="0" y="17058"/>
                      <a:pt x="0" y="38100"/>
                    </a:cubicBezTo>
                  </a:path>
                </a:pathLst>
              </a:custGeom>
              <a:noFill/>
              <a:ln w="19050">
                <a:solidFill>
                  <a:srgbClr val="FFFFFF"/>
                </a:solidFill>
              </a:ln>
            </p:spPr>
          </p:sp>
          <p:sp>
            <p:nvSpPr>
              <p:cNvPr id="17" name="Freeform 17"/>
              <p:cNvSpPr/>
              <p:nvPr/>
            </p:nvSpPr>
            <p:spPr>
              <a:xfrm>
                <a:off x="812800" y="2114550"/>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FFFFFF"/>
                </a:solidFill>
              </a:ln>
            </p:spPr>
          </p:sp>
          <p:sp>
            <p:nvSpPr>
              <p:cNvPr id="18" name="Freeform 18"/>
              <p:cNvSpPr/>
              <p:nvPr/>
            </p:nvSpPr>
            <p:spPr>
              <a:xfrm>
                <a:off x="812800" y="2190750"/>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FFFFFF"/>
                </a:solidFill>
              </a:ln>
            </p:spPr>
          </p:sp>
        </p:grpSp>
        <p:sp>
          <p:nvSpPr>
            <p:cNvPr id="20" name="TextBox 20"/>
            <p:cNvSpPr txBox="1"/>
            <p:nvPr/>
          </p:nvSpPr>
          <p:spPr>
            <a:xfrm>
              <a:off x="1162050" y="2105025"/>
              <a:ext cx="1718310"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ambria"/>
                  <a:ea typeface="SimSun"/>
                  <a:cs typeface="Cambria"/>
                </a:rPr>
                <a:t>数据集 · Dataset</a:t>
              </a:r>
            </a:p>
          </p:txBody>
        </p:sp>
        <p:sp>
          <p:nvSpPr>
            <p:cNvPr id="21" name="TextBox 21"/>
            <p:cNvSpPr txBox="1"/>
            <p:nvPr/>
          </p:nvSpPr>
          <p:spPr>
            <a:xfrm>
              <a:off x="4714117" y="2161699"/>
              <a:ext cx="632266" cy="198120"/>
            </a:xfrm>
            <a:prstGeom prst="rect">
              <a:avLst/>
            </a:prstGeom>
            <a:noFill/>
            <a:ln>
              <a:noFill/>
            </a:ln>
          </p:spPr>
          <p:txBody>
            <a:bodyPr wrap="none" lIns="0" tIns="0" rIns="0" bIns="0" anchor="t" anchorCtr="0">
              <a:spAutoFit/>
            </a:bodyPr>
            <a:lstStyle/>
            <a:p>
              <a:pPr algn="r"/>
              <a:r>
                <a:rPr lang="zh-CN" sz="975" b="1" dirty="0">
                  <a:solidFill>
                    <a:srgbClr val="FFFFFF">
                      <a:alphaMod val="75000"/>
                    </a:srgbClr>
                  </a:solidFill>
                  <a:latin typeface="Cambria"/>
                  <a:ea typeface="SimSun"/>
                  <a:cs typeface="Cambria"/>
                </a:rPr>
                <a:t>ASPECT 01</a:t>
              </a:r>
            </a:p>
          </p:txBody>
        </p:sp>
        <p:sp>
          <p:nvSpPr>
            <p:cNvPr id="22" name="TextBox 22"/>
            <p:cNvSpPr txBox="1"/>
            <p:nvPr/>
          </p:nvSpPr>
          <p:spPr>
            <a:xfrm>
              <a:off x="747712" y="2659856"/>
              <a:ext cx="1091833"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Arial"/>
                  <a:ea typeface="Microsoft YaHei"/>
                  <a:cs typeface="Arial"/>
                </a:rPr>
                <a:t>MM-Food-100K</a:t>
              </a:r>
            </a:p>
          </p:txBody>
        </p:sp>
        <p:sp>
          <p:nvSpPr>
            <p:cNvPr id="23" name="TextBox 23"/>
            <p:cNvSpPr txBox="1"/>
            <p:nvPr/>
          </p:nvSpPr>
          <p:spPr>
            <a:xfrm>
              <a:off x="748665" y="2915602"/>
              <a:ext cx="2862024"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约 10 万张食物图片 · 涵盖 19,288 种食物类别</a:t>
              </a:r>
            </a:p>
          </p:txBody>
        </p:sp>
        <p:sp>
          <p:nvSpPr>
            <p:cNvPr id="24" name="TextBox 24"/>
            <p:cNvSpPr txBox="1"/>
            <p:nvPr/>
          </p:nvSpPr>
          <p:spPr>
            <a:xfrm>
              <a:off x="748665" y="3144202"/>
              <a:ext cx="2532983"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聚焦前 55 类高频食物 → 6,749 张测试图</a:t>
              </a:r>
            </a:p>
          </p:txBody>
        </p:sp>
        <p:sp>
          <p:nvSpPr>
            <p:cNvPr id="25" name="Rectangle 25"/>
            <p:cNvSpPr/>
            <p:nvPr/>
          </p:nvSpPr>
          <p:spPr>
            <a:xfrm>
              <a:off x="762000" y="3429000"/>
              <a:ext cx="4953000" cy="381000"/>
            </a:xfrm>
            <a:prstGeom prst="roundRect">
              <a:avLst>
                <a:gd name="adj" fmla="val 15000"/>
              </a:avLst>
            </a:prstGeom>
            <a:solidFill>
              <a:srgbClr val="F5F7FA"/>
            </a:solidFill>
            <a:ln>
              <a:noFill/>
            </a:ln>
          </p:spPr>
        </p:sp>
        <p:sp>
          <p:nvSpPr>
            <p:cNvPr id="26" name="TextBox 26"/>
            <p:cNvSpPr txBox="1"/>
            <p:nvPr/>
          </p:nvSpPr>
          <p:spPr>
            <a:xfrm>
              <a:off x="902018" y="3561874"/>
              <a:ext cx="570833" cy="198120"/>
            </a:xfrm>
            <a:prstGeom prst="rect">
              <a:avLst/>
            </a:prstGeom>
            <a:noFill/>
            <a:ln>
              <a:noFill/>
            </a:ln>
          </p:spPr>
          <p:txBody>
            <a:bodyPr wrap="none" lIns="0" tIns="0" rIns="0" bIns="0" anchor="t" anchorCtr="0">
              <a:spAutoFit/>
            </a:bodyPr>
            <a:lstStyle/>
            <a:p>
              <a:pPr algn="l"/>
              <a:r>
                <a:rPr lang="zh-CN" sz="975" b="1" dirty="0">
                  <a:solidFill>
                    <a:srgbClr val="1565C0"/>
                  </a:solidFill>
                  <a:latin typeface="Arial"/>
                  <a:ea typeface="Microsoft YaHei"/>
                  <a:cs typeface="Arial"/>
                </a:rPr>
                <a:t>选取理由</a:t>
              </a:r>
            </a:p>
          </p:txBody>
        </p:sp>
        <p:sp>
          <p:nvSpPr>
            <p:cNvPr id="27" name="TextBox 27"/>
            <p:cNvSpPr txBox="1"/>
            <p:nvPr/>
          </p:nvSpPr>
          <p:spPr>
            <a:xfrm>
              <a:off x="1702118" y="3561874"/>
              <a:ext cx="2566583"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覆盖日常饮食最常见食物,贴近真实应用场景</a:t>
              </a:r>
            </a:p>
          </p:txBody>
        </p:sp>
      </p:grpSp>
      <p:grpSp>
        <p:nvGrpSpPr>
          <p:cNvPr id="49" name="Group 49"/>
          <p:cNvGrpSpPr/>
          <p:nvPr/>
        </p:nvGrpSpPr>
        <p:grpSpPr>
          <a:xfrm>
            <a:off x="6286500" y="1905000"/>
            <a:ext cx="5334000" cy="2095500"/>
            <a:chOff x="6286500" y="1905000"/>
            <a:chExt cx="5334000" cy="2095500"/>
          </a:xfrm>
        </p:grpSpPr>
        <p:sp>
          <p:nvSpPr>
            <p:cNvPr id="29" name="Rectangle 29"/>
            <p:cNvSpPr/>
            <p:nvPr/>
          </p:nvSpPr>
          <p:spPr>
            <a:xfrm>
              <a:off x="6286500" y="1905000"/>
              <a:ext cx="5334000" cy="2095500"/>
            </a:xfrm>
            <a:prstGeom prst="roundRect">
              <a:avLst>
                <a:gd name="adj" fmla="val 5455"/>
              </a:avLst>
            </a:prstGeom>
            <a:solidFill>
              <a:srgbClr val="FFFFFF"/>
            </a:solidFill>
            <a:ln w="14288">
              <a:solidFill>
                <a:srgbClr val="E0E0E0"/>
              </a:solidFill>
            </a:ln>
            <a:effectLst>
              <a:outerShdw blurRad="95250" dist="28575" dir="5400000" algn="ctr" rotWithShape="0">
                <a:srgbClr val="0F172A">
                  <a:alpha val="7500"/>
                </a:srgbClr>
              </a:outerShdw>
            </a:effectLst>
          </p:spPr>
        </p:sp>
        <p:sp>
          <p:nvSpPr>
            <p:cNvPr id="30" name="Freeform 30"/>
            <p:cNvSpPr/>
            <p:nvPr/>
          </p:nvSpPr>
          <p:spPr>
            <a:xfrm>
              <a:off x="6286500" y="1905000"/>
              <a:ext cx="5334000" cy="571500"/>
            </a:xfrm>
            <a:custGeom>
              <a:avLst/>
              <a:gdLst/>
              <a:ahLst/>
              <a:cxnLst/>
              <a:rect l="l" t="t" r="r" b="b"/>
              <a:pathLst>
                <a:path w="5334000" h="571500">
                  <a:moveTo>
                    <a:pt x="0" y="114300"/>
                  </a:moveTo>
                  <a:cubicBezTo>
                    <a:pt x="0" y="51174"/>
                    <a:pt x="51174" y="0"/>
                    <a:pt x="114300" y="0"/>
                  </a:cubicBezTo>
                  <a:lnTo>
                    <a:pt x="5219700" y="0"/>
                  </a:lnTo>
                  <a:cubicBezTo>
                    <a:pt x="5282826" y="0"/>
                    <a:pt x="5334000" y="51174"/>
                    <a:pt x="5334000" y="114300"/>
                  </a:cubicBezTo>
                  <a:lnTo>
                    <a:pt x="5334000" y="571500"/>
                  </a:lnTo>
                  <a:lnTo>
                    <a:pt x="0" y="571500"/>
                  </a:lnTo>
                  <a:close/>
                </a:path>
              </a:pathLst>
            </a:custGeom>
            <a:gradFill>
              <a:gsLst>
                <a:gs pos="0">
                  <a:srgbClr val="1565C0"/>
                </a:gs>
                <a:gs pos="100000">
                  <a:srgbClr val="5C6BC0"/>
                </a:gs>
              </a:gsLst>
              <a:lin ang="0" scaled="1"/>
            </a:gradFill>
            <a:ln>
              <a:noFill/>
            </a:ln>
          </p:spPr>
        </p:sp>
        <p:sp>
          <p:nvSpPr>
            <p:cNvPr id="31" name="Rectangle 31"/>
            <p:cNvSpPr/>
            <p:nvPr/>
          </p:nvSpPr>
          <p:spPr>
            <a:xfrm>
              <a:off x="6477000" y="2038350"/>
              <a:ext cx="304800" cy="304800"/>
            </a:xfrm>
            <a:prstGeom prst="roundRect">
              <a:avLst>
                <a:gd name="adj" fmla="val 18750"/>
              </a:avLst>
            </a:prstGeom>
            <a:solidFill>
              <a:srgbClr val="FFFFFF">
                <a:alpha val="20000"/>
              </a:srgbClr>
            </a:solidFill>
            <a:ln>
              <a:noFill/>
            </a:ln>
          </p:spPr>
        </p:sp>
        <p:grpSp>
          <p:nvGrpSpPr>
            <p:cNvPr id="38" name="Group 38"/>
            <p:cNvGrpSpPr/>
            <p:nvPr/>
          </p:nvGrpSpPr>
          <p:grpSpPr>
            <a:xfrm>
              <a:off x="6515100" y="2076450"/>
              <a:ext cx="228600" cy="228600"/>
              <a:chOff x="6515100" y="2076450"/>
              <a:chExt cx="228600" cy="228600"/>
            </a:xfrm>
          </p:grpSpPr>
          <p:sp>
            <p:nvSpPr>
              <p:cNvPr id="32" name="Freeform 32"/>
              <p:cNvSpPr/>
              <p:nvPr/>
            </p:nvSpPr>
            <p:spPr>
              <a:xfrm>
                <a:off x="6629400" y="2203450"/>
                <a:ext cx="88900" cy="101600"/>
              </a:xfrm>
              <a:custGeom>
                <a:avLst/>
                <a:gdLst/>
                <a:ahLst/>
                <a:cxnLst/>
                <a:rect l="l" t="t" r="r" b="b"/>
                <a:pathLst>
                  <a:path w="88900" h="101600">
                    <a:moveTo>
                      <a:pt x="44450" y="0"/>
                    </a:moveTo>
                    <a:cubicBezTo>
                      <a:pt x="19901" y="0"/>
                      <a:pt x="0" y="19901"/>
                      <a:pt x="0" y="44450"/>
                    </a:cubicBezTo>
                    <a:lnTo>
                      <a:pt x="0" y="57150"/>
                    </a:lnTo>
                    <a:cubicBezTo>
                      <a:pt x="0" y="81699"/>
                      <a:pt x="19901" y="101600"/>
                      <a:pt x="44450" y="101600"/>
                    </a:cubicBezTo>
                    <a:cubicBezTo>
                      <a:pt x="68999" y="101600"/>
                      <a:pt x="88900" y="81699"/>
                      <a:pt x="88900" y="57150"/>
                    </a:cubicBezTo>
                    <a:lnTo>
                      <a:pt x="88900" y="34290"/>
                    </a:lnTo>
                  </a:path>
                </a:pathLst>
              </a:custGeom>
              <a:noFill/>
              <a:ln w="19050">
                <a:solidFill>
                  <a:srgbClr val="FFFFFF"/>
                </a:solidFill>
              </a:ln>
            </p:spPr>
          </p:sp>
          <p:sp>
            <p:nvSpPr>
              <p:cNvPr id="33" name="Freeform 33"/>
              <p:cNvSpPr/>
              <p:nvPr/>
            </p:nvSpPr>
            <p:spPr>
              <a:xfrm>
                <a:off x="6540500" y="2203450"/>
                <a:ext cx="88900" cy="101600"/>
              </a:xfrm>
              <a:custGeom>
                <a:avLst/>
                <a:gdLst/>
                <a:ahLst/>
                <a:cxnLst/>
                <a:rect l="l" t="t" r="r" b="b"/>
                <a:pathLst>
                  <a:path w="88900" h="101600">
                    <a:moveTo>
                      <a:pt x="44450" y="0"/>
                    </a:moveTo>
                    <a:cubicBezTo>
                      <a:pt x="68999" y="0"/>
                      <a:pt x="88900" y="19901"/>
                      <a:pt x="88900" y="44450"/>
                    </a:cubicBezTo>
                    <a:lnTo>
                      <a:pt x="88900" y="57150"/>
                    </a:lnTo>
                    <a:cubicBezTo>
                      <a:pt x="88900" y="81699"/>
                      <a:pt x="68999" y="101600"/>
                      <a:pt x="44450" y="101600"/>
                    </a:cubicBezTo>
                    <a:cubicBezTo>
                      <a:pt x="19901" y="101600"/>
                      <a:pt x="0" y="81699"/>
                      <a:pt x="0" y="57150"/>
                    </a:cubicBezTo>
                    <a:lnTo>
                      <a:pt x="0" y="34290"/>
                    </a:lnTo>
                  </a:path>
                </a:pathLst>
              </a:custGeom>
              <a:noFill/>
              <a:ln w="19050">
                <a:solidFill>
                  <a:srgbClr val="FFFFFF"/>
                </a:solidFill>
              </a:ln>
            </p:spPr>
          </p:sp>
          <p:sp>
            <p:nvSpPr>
              <p:cNvPr id="34" name="Freeform 34"/>
              <p:cNvSpPr/>
              <p:nvPr/>
            </p:nvSpPr>
            <p:spPr>
              <a:xfrm>
                <a:off x="6692900" y="2152650"/>
                <a:ext cx="50800" cy="88900"/>
              </a:xfrm>
              <a:custGeom>
                <a:avLst/>
                <a:gdLst/>
                <a:ahLst/>
                <a:cxnLst/>
                <a:rect l="l" t="t" r="r" b="b"/>
                <a:pathLst>
                  <a:path w="50800" h="88900">
                    <a:moveTo>
                      <a:pt x="6350" y="88900"/>
                    </a:moveTo>
                    <a:cubicBezTo>
                      <a:pt x="30899" y="88900"/>
                      <a:pt x="50800" y="68999"/>
                      <a:pt x="50800" y="44450"/>
                    </a:cubicBezTo>
                    <a:cubicBezTo>
                      <a:pt x="50800" y="19901"/>
                      <a:pt x="30899" y="0"/>
                      <a:pt x="6350" y="0"/>
                    </a:cubicBezTo>
                    <a:lnTo>
                      <a:pt x="0" y="0"/>
                    </a:lnTo>
                  </a:path>
                </a:pathLst>
              </a:custGeom>
              <a:noFill/>
              <a:ln w="19050">
                <a:solidFill>
                  <a:srgbClr val="FFFFFF"/>
                </a:solidFill>
              </a:ln>
            </p:spPr>
          </p:sp>
          <p:sp>
            <p:nvSpPr>
              <p:cNvPr id="35" name="Freeform 35"/>
              <p:cNvSpPr/>
              <p:nvPr/>
            </p:nvSpPr>
            <p:spPr>
              <a:xfrm>
                <a:off x="6629400" y="2076450"/>
                <a:ext cx="88900" cy="80010"/>
              </a:xfrm>
              <a:custGeom>
                <a:avLst/>
                <a:gdLst/>
                <a:ahLst/>
                <a:cxnLst/>
                <a:rect l="l" t="t" r="r" b="b"/>
                <a:pathLst>
                  <a:path w="88900" h="80010">
                    <a:moveTo>
                      <a:pt x="88900" y="80010"/>
                    </a:moveTo>
                    <a:lnTo>
                      <a:pt x="88900" y="44450"/>
                    </a:lnTo>
                    <a:cubicBezTo>
                      <a:pt x="88900" y="19901"/>
                      <a:pt x="68999" y="0"/>
                      <a:pt x="44450" y="0"/>
                    </a:cubicBezTo>
                    <a:cubicBezTo>
                      <a:pt x="19901" y="0"/>
                      <a:pt x="0" y="19901"/>
                      <a:pt x="0" y="44450"/>
                    </a:cubicBezTo>
                  </a:path>
                </a:pathLst>
              </a:custGeom>
              <a:noFill/>
              <a:ln w="19050">
                <a:solidFill>
                  <a:srgbClr val="FFFFFF"/>
                </a:solidFill>
              </a:ln>
            </p:spPr>
          </p:sp>
          <p:sp>
            <p:nvSpPr>
              <p:cNvPr id="36" name="Freeform 36"/>
              <p:cNvSpPr/>
              <p:nvPr/>
            </p:nvSpPr>
            <p:spPr>
              <a:xfrm>
                <a:off x="6515100" y="2152650"/>
                <a:ext cx="50800" cy="88900"/>
              </a:xfrm>
              <a:custGeom>
                <a:avLst/>
                <a:gdLst/>
                <a:ahLst/>
                <a:cxnLst/>
                <a:rect l="l" t="t" r="r" b="b"/>
                <a:pathLst>
                  <a:path w="50800" h="88900">
                    <a:moveTo>
                      <a:pt x="44450" y="88900"/>
                    </a:moveTo>
                    <a:cubicBezTo>
                      <a:pt x="19901" y="88900"/>
                      <a:pt x="0" y="68999"/>
                      <a:pt x="0" y="44450"/>
                    </a:cubicBezTo>
                    <a:cubicBezTo>
                      <a:pt x="0" y="19901"/>
                      <a:pt x="19901" y="0"/>
                      <a:pt x="44450" y="0"/>
                    </a:cubicBezTo>
                    <a:lnTo>
                      <a:pt x="50800" y="0"/>
                    </a:lnTo>
                  </a:path>
                </a:pathLst>
              </a:custGeom>
              <a:noFill/>
              <a:ln w="19050">
                <a:solidFill>
                  <a:srgbClr val="FFFFFF"/>
                </a:solidFill>
              </a:ln>
            </p:spPr>
          </p:sp>
          <p:sp>
            <p:nvSpPr>
              <p:cNvPr id="37" name="Freeform 37"/>
              <p:cNvSpPr/>
              <p:nvPr/>
            </p:nvSpPr>
            <p:spPr>
              <a:xfrm>
                <a:off x="6540500" y="2076450"/>
                <a:ext cx="88900" cy="171450"/>
              </a:xfrm>
              <a:custGeom>
                <a:avLst/>
                <a:gdLst/>
                <a:ahLst/>
                <a:cxnLst/>
                <a:rect l="l" t="t" r="r" b="b"/>
                <a:pathLst>
                  <a:path w="88900" h="171450">
                    <a:moveTo>
                      <a:pt x="0" y="80010"/>
                    </a:moveTo>
                    <a:lnTo>
                      <a:pt x="0" y="44450"/>
                    </a:lnTo>
                    <a:cubicBezTo>
                      <a:pt x="0" y="19901"/>
                      <a:pt x="19901" y="0"/>
                      <a:pt x="44450" y="0"/>
                    </a:cubicBezTo>
                    <a:cubicBezTo>
                      <a:pt x="68999" y="0"/>
                      <a:pt x="88900" y="19901"/>
                      <a:pt x="88900" y="44450"/>
                    </a:cubicBezTo>
                    <a:lnTo>
                      <a:pt x="88900" y="171450"/>
                    </a:lnTo>
                  </a:path>
                </a:pathLst>
              </a:custGeom>
              <a:noFill/>
              <a:ln w="19050">
                <a:solidFill>
                  <a:srgbClr val="FFFFFF"/>
                </a:solidFill>
              </a:ln>
            </p:spPr>
          </p:sp>
        </p:grpSp>
        <p:sp>
          <p:nvSpPr>
            <p:cNvPr id="39" name="TextBox 39"/>
            <p:cNvSpPr txBox="1"/>
            <p:nvPr/>
          </p:nvSpPr>
          <p:spPr>
            <a:xfrm>
              <a:off x="6877050" y="2105025"/>
              <a:ext cx="1802321"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ambria"/>
                  <a:ea typeface="SimSun"/>
                  <a:cs typeface="Cambria"/>
                </a:rPr>
                <a:t>模型选择 · Models</a:t>
              </a:r>
            </a:p>
          </p:txBody>
        </p:sp>
        <p:sp>
          <p:nvSpPr>
            <p:cNvPr id="40" name="TextBox 40"/>
            <p:cNvSpPr txBox="1"/>
            <p:nvPr/>
          </p:nvSpPr>
          <p:spPr>
            <a:xfrm>
              <a:off x="10394987" y="2161699"/>
              <a:ext cx="666395" cy="198120"/>
            </a:xfrm>
            <a:prstGeom prst="rect">
              <a:avLst/>
            </a:prstGeom>
            <a:noFill/>
            <a:ln>
              <a:noFill/>
            </a:ln>
          </p:spPr>
          <p:txBody>
            <a:bodyPr wrap="none" lIns="0" tIns="0" rIns="0" bIns="0" anchor="t" anchorCtr="0">
              <a:spAutoFit/>
            </a:bodyPr>
            <a:lstStyle/>
            <a:p>
              <a:pPr algn="r"/>
              <a:r>
                <a:rPr lang="zh-CN" sz="975" b="1" dirty="0">
                  <a:solidFill>
                    <a:srgbClr val="FFFFFF">
                      <a:alphaMod val="75000"/>
                    </a:srgbClr>
                  </a:solidFill>
                  <a:latin typeface="Cambria"/>
                  <a:ea typeface="SimSun"/>
                  <a:cs typeface="Cambria"/>
                </a:rPr>
                <a:t>ASPECT 02</a:t>
              </a:r>
            </a:p>
          </p:txBody>
        </p:sp>
        <p:sp>
          <p:nvSpPr>
            <p:cNvPr id="41" name="TextBox 41"/>
            <p:cNvSpPr txBox="1"/>
            <p:nvPr/>
          </p:nvSpPr>
          <p:spPr>
            <a:xfrm>
              <a:off x="6463665" y="2667952"/>
              <a:ext cx="2187840"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Chinese-CLIP (ViT-B/16) · 150M</a:t>
              </a:r>
            </a:p>
          </p:txBody>
        </p:sp>
        <p:sp>
          <p:nvSpPr>
            <p:cNvPr id="42" name="TextBox 42"/>
            <p:cNvSpPr txBox="1"/>
            <p:nvPr/>
          </p:nvSpPr>
          <p:spPr>
            <a:xfrm>
              <a:off x="10458450" y="2684145"/>
              <a:ext cx="982980" cy="182880"/>
            </a:xfrm>
            <a:prstGeom prst="rect">
              <a:avLst/>
            </a:prstGeom>
            <a:noFill/>
            <a:ln>
              <a:noFill/>
            </a:ln>
          </p:spPr>
          <p:txBody>
            <a:bodyPr wrap="none" lIns="0" tIns="0" rIns="0" bIns="0" anchor="t" anchorCtr="0">
              <a:spAutoFit/>
            </a:bodyPr>
            <a:lstStyle/>
            <a:p>
              <a:pPr algn="r"/>
              <a:r>
                <a:rPr lang="zh-CN" sz="900" dirty="0">
                  <a:solidFill>
                    <a:srgbClr val="5F6368"/>
                  </a:solidFill>
                  <a:latin typeface="Arial"/>
                  <a:ea typeface="Microsoft YaHei"/>
                  <a:cs typeface="Arial"/>
                </a:rPr>
                <a:t>中英双语图文对齐</a:t>
              </a:r>
            </a:p>
          </p:txBody>
        </p:sp>
        <p:sp>
          <p:nvSpPr>
            <p:cNvPr id="43" name="TextBox 43"/>
            <p:cNvSpPr txBox="1"/>
            <p:nvPr/>
          </p:nvSpPr>
          <p:spPr>
            <a:xfrm>
              <a:off x="6463665" y="2934652"/>
              <a:ext cx="2151086"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English-CLIP (ViT-B/16) · 150M</a:t>
              </a:r>
            </a:p>
          </p:txBody>
        </p:sp>
        <p:sp>
          <p:nvSpPr>
            <p:cNvPr id="44" name="TextBox 44"/>
            <p:cNvSpPr txBox="1"/>
            <p:nvPr/>
          </p:nvSpPr>
          <p:spPr>
            <a:xfrm>
              <a:off x="10458450" y="2950845"/>
              <a:ext cx="982980" cy="182880"/>
            </a:xfrm>
            <a:prstGeom prst="rect">
              <a:avLst/>
            </a:prstGeom>
            <a:noFill/>
            <a:ln>
              <a:noFill/>
            </a:ln>
          </p:spPr>
          <p:txBody>
            <a:bodyPr wrap="none" lIns="0" tIns="0" rIns="0" bIns="0" anchor="t" anchorCtr="0">
              <a:spAutoFit/>
            </a:bodyPr>
            <a:lstStyle/>
            <a:p>
              <a:pPr algn="r"/>
              <a:r>
                <a:rPr lang="zh-CN" sz="900" dirty="0">
                  <a:solidFill>
                    <a:srgbClr val="5F6368"/>
                  </a:solidFill>
                  <a:latin typeface="Arial"/>
                  <a:ea typeface="Microsoft YaHei"/>
                  <a:cs typeface="Arial"/>
                </a:rPr>
                <a:t>大规模英文预训练</a:t>
              </a:r>
            </a:p>
          </p:txBody>
        </p:sp>
        <p:sp>
          <p:nvSpPr>
            <p:cNvPr id="45" name="TextBox 45"/>
            <p:cNvSpPr txBox="1"/>
            <p:nvPr/>
          </p:nvSpPr>
          <p:spPr>
            <a:xfrm>
              <a:off x="6463665" y="3201352"/>
              <a:ext cx="1643872"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Qwen2-VL-2B · 2B 参数</a:t>
              </a:r>
            </a:p>
          </p:txBody>
        </p:sp>
        <p:sp>
          <p:nvSpPr>
            <p:cNvPr id="46" name="TextBox 46"/>
            <p:cNvSpPr txBox="1"/>
            <p:nvPr/>
          </p:nvSpPr>
          <p:spPr>
            <a:xfrm>
              <a:off x="10338435" y="3217545"/>
              <a:ext cx="1102995" cy="182880"/>
            </a:xfrm>
            <a:prstGeom prst="rect">
              <a:avLst/>
            </a:prstGeom>
            <a:noFill/>
            <a:ln>
              <a:noFill/>
            </a:ln>
          </p:spPr>
          <p:txBody>
            <a:bodyPr wrap="none" lIns="0" tIns="0" rIns="0" bIns="0" anchor="t" anchorCtr="0">
              <a:spAutoFit/>
            </a:bodyPr>
            <a:lstStyle/>
            <a:p>
              <a:pPr algn="r"/>
              <a:r>
                <a:rPr lang="zh-CN" sz="900" dirty="0">
                  <a:solidFill>
                    <a:srgbClr val="5F6368"/>
                  </a:solidFill>
                  <a:latin typeface="Arial"/>
                  <a:ea typeface="Microsoft YaHei"/>
                  <a:cs typeface="Arial"/>
                </a:rPr>
                <a:t>对话式多模态大模型</a:t>
              </a:r>
            </a:p>
          </p:txBody>
        </p:sp>
        <p:sp>
          <p:nvSpPr>
            <p:cNvPr id="47" name="Rectangle 47"/>
            <p:cNvSpPr/>
            <p:nvPr/>
          </p:nvSpPr>
          <p:spPr>
            <a:xfrm>
              <a:off x="6477000" y="3486150"/>
              <a:ext cx="4953000" cy="323850"/>
            </a:xfrm>
            <a:prstGeom prst="roundRect">
              <a:avLst>
                <a:gd name="adj" fmla="val 17647"/>
              </a:avLst>
            </a:prstGeom>
            <a:solidFill>
              <a:srgbClr val="F5F7FA"/>
            </a:solidFill>
            <a:ln>
              <a:noFill/>
            </a:ln>
          </p:spPr>
        </p:sp>
        <p:sp>
          <p:nvSpPr>
            <p:cNvPr id="48" name="TextBox 48"/>
            <p:cNvSpPr txBox="1"/>
            <p:nvPr/>
          </p:nvSpPr>
          <p:spPr>
            <a:xfrm>
              <a:off x="7553194" y="3590449"/>
              <a:ext cx="2800612" cy="198120"/>
            </a:xfrm>
            <a:prstGeom prst="rect">
              <a:avLst/>
            </a:prstGeom>
            <a:noFill/>
            <a:ln>
              <a:noFill/>
            </a:ln>
          </p:spPr>
          <p:txBody>
            <a:bodyPr wrap="none" lIns="0" tIns="0" rIns="0" bIns="0" anchor="t" anchorCtr="0">
              <a:spAutoFit/>
            </a:bodyPr>
            <a:lstStyle/>
            <a:p>
              <a:pPr algn="ctr"/>
              <a:r>
                <a:rPr lang="zh-CN" sz="975" dirty="0">
                  <a:solidFill>
                    <a:srgbClr val="5F6368"/>
                  </a:solidFill>
                  <a:latin typeface="Arial"/>
                  <a:ea typeface="Microsoft YaHei"/>
                  <a:cs typeface="Arial"/>
                </a:rPr>
                <a:t>对比度量学习(CLIP)vs 生成式推理(Qwen2-VL)</a:t>
              </a:r>
            </a:p>
          </p:txBody>
        </p:sp>
      </p:grpSp>
      <p:grpSp>
        <p:nvGrpSpPr>
          <p:cNvPr id="69" name="Group 69"/>
          <p:cNvGrpSpPr/>
          <p:nvPr/>
        </p:nvGrpSpPr>
        <p:grpSpPr>
          <a:xfrm>
            <a:off x="571500" y="4191000"/>
            <a:ext cx="5334000" cy="2095500"/>
            <a:chOff x="571500" y="4191000"/>
            <a:chExt cx="5334000" cy="2095500"/>
          </a:xfrm>
        </p:grpSpPr>
        <p:sp>
          <p:nvSpPr>
            <p:cNvPr id="50" name="Rectangle 50"/>
            <p:cNvSpPr/>
            <p:nvPr/>
          </p:nvSpPr>
          <p:spPr>
            <a:xfrm>
              <a:off x="571500" y="4191000"/>
              <a:ext cx="5334000" cy="2095500"/>
            </a:xfrm>
            <a:prstGeom prst="roundRect">
              <a:avLst>
                <a:gd name="adj" fmla="val 5455"/>
              </a:avLst>
            </a:prstGeom>
            <a:solidFill>
              <a:srgbClr val="FFFFFF"/>
            </a:solidFill>
            <a:ln w="14288">
              <a:solidFill>
                <a:srgbClr val="E0E0E0"/>
              </a:solidFill>
            </a:ln>
            <a:effectLst>
              <a:outerShdw blurRad="95250" dist="28575" dir="5400000" algn="ctr" rotWithShape="0">
                <a:srgbClr val="0F172A">
                  <a:alpha val="7500"/>
                </a:srgbClr>
              </a:outerShdw>
            </a:effectLst>
          </p:spPr>
        </p:sp>
        <p:sp>
          <p:nvSpPr>
            <p:cNvPr id="51" name="Freeform 51"/>
            <p:cNvSpPr/>
            <p:nvPr/>
          </p:nvSpPr>
          <p:spPr>
            <a:xfrm>
              <a:off x="571500" y="4191000"/>
              <a:ext cx="5334000" cy="571500"/>
            </a:xfrm>
            <a:custGeom>
              <a:avLst/>
              <a:gdLst/>
              <a:ahLst/>
              <a:cxnLst/>
              <a:rect l="l" t="t" r="r" b="b"/>
              <a:pathLst>
                <a:path w="5334000" h="571500">
                  <a:moveTo>
                    <a:pt x="0" y="114300"/>
                  </a:moveTo>
                  <a:cubicBezTo>
                    <a:pt x="0" y="51174"/>
                    <a:pt x="51174" y="0"/>
                    <a:pt x="114300" y="0"/>
                  </a:cubicBezTo>
                  <a:lnTo>
                    <a:pt x="5219700" y="0"/>
                  </a:lnTo>
                  <a:cubicBezTo>
                    <a:pt x="5282826" y="0"/>
                    <a:pt x="5334000" y="51174"/>
                    <a:pt x="5334000" y="114300"/>
                  </a:cubicBezTo>
                  <a:lnTo>
                    <a:pt x="5334000" y="571500"/>
                  </a:lnTo>
                  <a:lnTo>
                    <a:pt x="0" y="571500"/>
                  </a:lnTo>
                  <a:close/>
                </a:path>
              </a:pathLst>
            </a:custGeom>
            <a:gradFill>
              <a:gsLst>
                <a:gs pos="0">
                  <a:srgbClr val="FF8F00"/>
                </a:gs>
                <a:gs pos="100000">
                  <a:srgbClr val="FFB300"/>
                </a:gs>
              </a:gsLst>
              <a:lin ang="0" scaled="1"/>
            </a:gradFill>
            <a:ln>
              <a:noFill/>
            </a:ln>
          </p:spPr>
        </p:sp>
        <p:sp>
          <p:nvSpPr>
            <p:cNvPr id="52" name="Rectangle 52"/>
            <p:cNvSpPr/>
            <p:nvPr/>
          </p:nvSpPr>
          <p:spPr>
            <a:xfrm>
              <a:off x="762000" y="4324350"/>
              <a:ext cx="304800" cy="304800"/>
            </a:xfrm>
            <a:prstGeom prst="roundRect">
              <a:avLst>
                <a:gd name="adj" fmla="val 18750"/>
              </a:avLst>
            </a:prstGeom>
            <a:solidFill>
              <a:srgbClr val="FFFFFF">
                <a:alpha val="25000"/>
              </a:srgbClr>
            </a:solidFill>
            <a:ln>
              <a:noFill/>
            </a:ln>
          </p:spPr>
        </p:sp>
        <p:grpSp>
          <p:nvGrpSpPr>
            <p:cNvPr id="56" name="Group 56"/>
            <p:cNvGrpSpPr/>
            <p:nvPr/>
          </p:nvGrpSpPr>
          <p:grpSpPr>
            <a:xfrm>
              <a:off x="800100" y="4362450"/>
              <a:ext cx="228600" cy="228600"/>
              <a:chOff x="800100" y="4362450"/>
              <a:chExt cx="228600" cy="228600"/>
            </a:xfrm>
          </p:grpSpPr>
          <p:sp>
            <p:nvSpPr>
              <p:cNvPr id="53" name="Freeform 53"/>
              <p:cNvSpPr/>
              <p:nvPr/>
            </p:nvSpPr>
            <p:spPr>
              <a:xfrm>
                <a:off x="901700" y="446405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19050">
                <a:solidFill>
                  <a:srgbClr val="FFFFFF"/>
                </a:solidFill>
              </a:ln>
            </p:spPr>
          </p:sp>
          <p:sp>
            <p:nvSpPr>
              <p:cNvPr id="54" name="Freeform 54"/>
              <p:cNvSpPr/>
              <p:nvPr/>
            </p:nvSpPr>
            <p:spPr>
              <a:xfrm>
                <a:off x="850900" y="4413250"/>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19050">
                <a:solidFill>
                  <a:srgbClr val="FFFFFF"/>
                </a:solidFill>
              </a:ln>
            </p:spPr>
          </p:sp>
          <p:sp>
            <p:nvSpPr>
              <p:cNvPr id="55" name="Freeform 55"/>
              <p:cNvSpPr/>
              <p:nvPr/>
            </p:nvSpPr>
            <p:spPr>
              <a:xfrm>
                <a:off x="800100" y="4362450"/>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FFFFFF"/>
                </a:solidFill>
              </a:ln>
            </p:spPr>
          </p:sp>
        </p:grpSp>
        <p:sp>
          <p:nvSpPr>
            <p:cNvPr id="57" name="TextBox 57"/>
            <p:cNvSpPr txBox="1"/>
            <p:nvPr/>
          </p:nvSpPr>
          <p:spPr>
            <a:xfrm>
              <a:off x="1162050" y="4391025"/>
              <a:ext cx="1917835"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ambria"/>
                  <a:ea typeface="SimSun"/>
                  <a:cs typeface="Cambria"/>
                </a:rPr>
                <a:t>评估指标 · Metrics</a:t>
              </a:r>
            </a:p>
          </p:txBody>
        </p:sp>
        <p:sp>
          <p:nvSpPr>
            <p:cNvPr id="58" name="TextBox 58"/>
            <p:cNvSpPr txBox="1"/>
            <p:nvPr/>
          </p:nvSpPr>
          <p:spPr>
            <a:xfrm>
              <a:off x="4679987" y="4447699"/>
              <a:ext cx="666395" cy="198120"/>
            </a:xfrm>
            <a:prstGeom prst="rect">
              <a:avLst/>
            </a:prstGeom>
            <a:noFill/>
            <a:ln>
              <a:noFill/>
            </a:ln>
          </p:spPr>
          <p:txBody>
            <a:bodyPr wrap="none" lIns="0" tIns="0" rIns="0" bIns="0" anchor="t" anchorCtr="0">
              <a:spAutoFit/>
            </a:bodyPr>
            <a:lstStyle/>
            <a:p>
              <a:pPr algn="r"/>
              <a:r>
                <a:rPr lang="zh-CN" sz="975" b="1" dirty="0">
                  <a:solidFill>
                    <a:srgbClr val="FFFFFF">
                      <a:alphaMod val="85000"/>
                    </a:srgbClr>
                  </a:solidFill>
                  <a:latin typeface="Cambria"/>
                  <a:ea typeface="SimSun"/>
                  <a:cs typeface="Cambria"/>
                </a:rPr>
                <a:t>ASPECT 03</a:t>
              </a:r>
            </a:p>
          </p:txBody>
        </p:sp>
        <p:sp>
          <p:nvSpPr>
            <p:cNvPr id="59" name="TextBox 59"/>
            <p:cNvSpPr txBox="1"/>
            <p:nvPr/>
          </p:nvSpPr>
          <p:spPr>
            <a:xfrm>
              <a:off x="748665" y="4953952"/>
              <a:ext cx="879377"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Top-1 准确率</a:t>
              </a:r>
            </a:p>
          </p:txBody>
        </p:sp>
        <p:sp>
          <p:nvSpPr>
            <p:cNvPr id="60" name="TextBox 60"/>
            <p:cNvSpPr txBox="1"/>
            <p:nvPr/>
          </p:nvSpPr>
          <p:spPr>
            <a:xfrm>
              <a:off x="2273618" y="4962049"/>
              <a:ext cx="1194911"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预测第一名是否正确</a:t>
              </a:r>
            </a:p>
          </p:txBody>
        </p:sp>
        <p:sp>
          <p:nvSpPr>
            <p:cNvPr id="61" name="Rectangle 61"/>
            <p:cNvSpPr/>
            <p:nvPr/>
          </p:nvSpPr>
          <p:spPr>
            <a:xfrm>
              <a:off x="4667250" y="4914900"/>
              <a:ext cx="1047750" cy="247650"/>
            </a:xfrm>
            <a:prstGeom prst="roundRect">
              <a:avLst>
                <a:gd name="adj" fmla="val 50000"/>
              </a:avLst>
            </a:prstGeom>
            <a:solidFill>
              <a:srgbClr val="FFF3E0"/>
            </a:solidFill>
            <a:ln>
              <a:noFill/>
            </a:ln>
          </p:spPr>
        </p:sp>
        <p:sp>
          <p:nvSpPr>
            <p:cNvPr id="62" name="TextBox 62"/>
            <p:cNvSpPr txBox="1"/>
            <p:nvPr/>
          </p:nvSpPr>
          <p:spPr>
            <a:xfrm>
              <a:off x="5008096" y="4981099"/>
              <a:ext cx="366058" cy="198120"/>
            </a:xfrm>
            <a:prstGeom prst="rect">
              <a:avLst/>
            </a:prstGeom>
            <a:noFill/>
            <a:ln>
              <a:noFill/>
            </a:ln>
          </p:spPr>
          <p:txBody>
            <a:bodyPr wrap="none" lIns="0" tIns="0" rIns="0" bIns="0" anchor="t" anchorCtr="0">
              <a:spAutoFit/>
            </a:bodyPr>
            <a:lstStyle/>
            <a:p>
              <a:pPr algn="ctr"/>
              <a:r>
                <a:rPr lang="zh-CN" sz="975" b="1" dirty="0">
                  <a:solidFill>
                    <a:srgbClr val="FF8F00"/>
                  </a:solidFill>
                  <a:latin typeface="Cambria"/>
                  <a:ea typeface="SimSun"/>
                  <a:cs typeface="Cambria"/>
                </a:rPr>
                <a:t>≥ 60%</a:t>
              </a:r>
            </a:p>
          </p:txBody>
        </p:sp>
        <p:sp>
          <p:nvSpPr>
            <p:cNvPr id="63" name="TextBox 63"/>
            <p:cNvSpPr txBox="1"/>
            <p:nvPr/>
          </p:nvSpPr>
          <p:spPr>
            <a:xfrm>
              <a:off x="748665" y="5392102"/>
              <a:ext cx="916131"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Top-5 准确率</a:t>
              </a:r>
            </a:p>
          </p:txBody>
        </p:sp>
        <p:sp>
          <p:nvSpPr>
            <p:cNvPr id="64" name="TextBox 64"/>
            <p:cNvSpPr txBox="1"/>
            <p:nvPr/>
          </p:nvSpPr>
          <p:spPr>
            <a:xfrm>
              <a:off x="2273618" y="5400199"/>
              <a:ext cx="1344430"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正确答案是否在前 5 名</a:t>
              </a:r>
            </a:p>
          </p:txBody>
        </p:sp>
        <p:sp>
          <p:nvSpPr>
            <p:cNvPr id="65" name="Rectangle 65"/>
            <p:cNvSpPr/>
            <p:nvPr/>
          </p:nvSpPr>
          <p:spPr>
            <a:xfrm>
              <a:off x="4667250" y="5353050"/>
              <a:ext cx="1047750" cy="247650"/>
            </a:xfrm>
            <a:prstGeom prst="roundRect">
              <a:avLst>
                <a:gd name="adj" fmla="val 50000"/>
              </a:avLst>
            </a:prstGeom>
            <a:solidFill>
              <a:srgbClr val="FFF3E0"/>
            </a:solidFill>
            <a:ln>
              <a:noFill/>
            </a:ln>
          </p:spPr>
        </p:sp>
        <p:sp>
          <p:nvSpPr>
            <p:cNvPr id="66" name="TextBox 66"/>
            <p:cNvSpPr txBox="1"/>
            <p:nvPr/>
          </p:nvSpPr>
          <p:spPr>
            <a:xfrm>
              <a:off x="5008096" y="5419249"/>
              <a:ext cx="366058" cy="198120"/>
            </a:xfrm>
            <a:prstGeom prst="rect">
              <a:avLst/>
            </a:prstGeom>
            <a:noFill/>
            <a:ln>
              <a:noFill/>
            </a:ln>
          </p:spPr>
          <p:txBody>
            <a:bodyPr wrap="none" lIns="0" tIns="0" rIns="0" bIns="0" anchor="t" anchorCtr="0">
              <a:spAutoFit/>
            </a:bodyPr>
            <a:lstStyle/>
            <a:p>
              <a:pPr algn="ctr"/>
              <a:r>
                <a:rPr lang="zh-CN" sz="975" b="1" dirty="0">
                  <a:solidFill>
                    <a:srgbClr val="FF8F00"/>
                  </a:solidFill>
                  <a:latin typeface="Cambria"/>
                  <a:ea typeface="SimSun"/>
                  <a:cs typeface="Cambria"/>
                </a:rPr>
                <a:t>≥ 85%</a:t>
              </a:r>
            </a:p>
          </p:txBody>
        </p:sp>
        <p:sp>
          <p:nvSpPr>
            <p:cNvPr id="67" name="Rectangle 67"/>
            <p:cNvSpPr/>
            <p:nvPr/>
          </p:nvSpPr>
          <p:spPr>
            <a:xfrm>
              <a:off x="762000" y="5772150"/>
              <a:ext cx="4953000" cy="323850"/>
            </a:xfrm>
            <a:prstGeom prst="roundRect">
              <a:avLst>
                <a:gd name="adj" fmla="val 17647"/>
              </a:avLst>
            </a:prstGeom>
            <a:solidFill>
              <a:srgbClr val="FFF8E1"/>
            </a:solidFill>
            <a:ln>
              <a:noFill/>
            </a:ln>
          </p:spPr>
        </p:sp>
        <p:sp>
          <p:nvSpPr>
            <p:cNvPr id="68" name="TextBox 68"/>
            <p:cNvSpPr txBox="1"/>
            <p:nvPr/>
          </p:nvSpPr>
          <p:spPr>
            <a:xfrm>
              <a:off x="2113503" y="5876449"/>
              <a:ext cx="2249993" cy="198120"/>
            </a:xfrm>
            <a:prstGeom prst="rect">
              <a:avLst/>
            </a:prstGeom>
            <a:noFill/>
            <a:ln>
              <a:noFill/>
            </a:ln>
          </p:spPr>
          <p:txBody>
            <a:bodyPr wrap="none" lIns="0" tIns="0" rIns="0" bIns="0" anchor="t" anchorCtr="0">
              <a:spAutoFit/>
            </a:bodyPr>
            <a:lstStyle/>
            <a:p>
              <a:pPr algn="ctr"/>
              <a:r>
                <a:rPr lang="zh-CN" sz="975" b="1" dirty="0">
                  <a:solidFill>
                    <a:srgbClr val="FF8F00"/>
                  </a:solidFill>
                  <a:latin typeface="Arial"/>
                  <a:ea typeface="Microsoft YaHei"/>
                  <a:cs typeface="Arial"/>
                </a:rPr>
                <a:t>双达标: Top-1 ≥ 60% 且 Top-5 ≥ 85%</a:t>
              </a:r>
            </a:p>
          </p:txBody>
        </p:sp>
      </p:grpSp>
      <p:grpSp>
        <p:nvGrpSpPr>
          <p:cNvPr id="102" name="Group 102"/>
          <p:cNvGrpSpPr/>
          <p:nvPr/>
        </p:nvGrpSpPr>
        <p:grpSpPr>
          <a:xfrm>
            <a:off x="6286500" y="4191000"/>
            <a:ext cx="5334000" cy="2095500"/>
            <a:chOff x="6286500" y="4191000"/>
            <a:chExt cx="5334000" cy="2095500"/>
          </a:xfrm>
        </p:grpSpPr>
        <p:sp>
          <p:nvSpPr>
            <p:cNvPr id="70" name="Rectangle 70"/>
            <p:cNvSpPr/>
            <p:nvPr/>
          </p:nvSpPr>
          <p:spPr>
            <a:xfrm>
              <a:off x="6286500" y="4191000"/>
              <a:ext cx="5334000" cy="2095500"/>
            </a:xfrm>
            <a:prstGeom prst="roundRect">
              <a:avLst>
                <a:gd name="adj" fmla="val 5455"/>
              </a:avLst>
            </a:prstGeom>
            <a:solidFill>
              <a:srgbClr val="FFFFFF"/>
            </a:solidFill>
            <a:ln w="14288">
              <a:solidFill>
                <a:srgbClr val="E0E0E0"/>
              </a:solidFill>
            </a:ln>
            <a:effectLst>
              <a:outerShdw blurRad="95250" dist="28575" dir="5400000" algn="ctr" rotWithShape="0">
                <a:srgbClr val="0F172A">
                  <a:alpha val="7500"/>
                </a:srgbClr>
              </a:outerShdw>
            </a:effectLst>
          </p:spPr>
        </p:sp>
        <p:sp>
          <p:nvSpPr>
            <p:cNvPr id="71" name="Freeform 71"/>
            <p:cNvSpPr/>
            <p:nvPr/>
          </p:nvSpPr>
          <p:spPr>
            <a:xfrm>
              <a:off x="6286500" y="4191000"/>
              <a:ext cx="5334000" cy="571500"/>
            </a:xfrm>
            <a:custGeom>
              <a:avLst/>
              <a:gdLst/>
              <a:ahLst/>
              <a:cxnLst/>
              <a:rect l="l" t="t" r="r" b="b"/>
              <a:pathLst>
                <a:path w="5334000" h="571500">
                  <a:moveTo>
                    <a:pt x="0" y="114300"/>
                  </a:moveTo>
                  <a:cubicBezTo>
                    <a:pt x="0" y="51174"/>
                    <a:pt x="51174" y="0"/>
                    <a:pt x="114300" y="0"/>
                  </a:cubicBezTo>
                  <a:lnTo>
                    <a:pt x="5219700" y="0"/>
                  </a:lnTo>
                  <a:cubicBezTo>
                    <a:pt x="5282826" y="0"/>
                    <a:pt x="5334000" y="51174"/>
                    <a:pt x="5334000" y="114300"/>
                  </a:cubicBezTo>
                  <a:lnTo>
                    <a:pt x="5334000" y="571500"/>
                  </a:lnTo>
                  <a:lnTo>
                    <a:pt x="0" y="571500"/>
                  </a:lnTo>
                  <a:close/>
                </a:path>
              </a:pathLst>
            </a:custGeom>
            <a:gradFill>
              <a:gsLst>
                <a:gs pos="0">
                  <a:srgbClr val="FF8F00"/>
                </a:gs>
                <a:gs pos="100000">
                  <a:srgbClr val="FFB300"/>
                </a:gs>
              </a:gsLst>
              <a:lin ang="0" scaled="1"/>
            </a:gradFill>
            <a:ln>
              <a:noFill/>
            </a:ln>
          </p:spPr>
        </p:sp>
        <p:sp>
          <p:nvSpPr>
            <p:cNvPr id="72" name="Rectangle 72"/>
            <p:cNvSpPr/>
            <p:nvPr/>
          </p:nvSpPr>
          <p:spPr>
            <a:xfrm>
              <a:off x="6477000" y="4324350"/>
              <a:ext cx="304800" cy="304800"/>
            </a:xfrm>
            <a:prstGeom prst="roundRect">
              <a:avLst>
                <a:gd name="adj" fmla="val 18750"/>
              </a:avLst>
            </a:prstGeom>
            <a:solidFill>
              <a:srgbClr val="FFFFFF">
                <a:alpha val="25000"/>
              </a:srgbClr>
            </a:solidFill>
            <a:ln>
              <a:noFill/>
            </a:ln>
          </p:spPr>
        </p:sp>
        <p:grpSp>
          <p:nvGrpSpPr>
            <p:cNvPr id="82" name="Group 82"/>
            <p:cNvGrpSpPr/>
            <p:nvPr/>
          </p:nvGrpSpPr>
          <p:grpSpPr>
            <a:xfrm>
              <a:off x="6527800" y="4375150"/>
              <a:ext cx="203200" cy="203200"/>
              <a:chOff x="6527800" y="4375150"/>
              <a:chExt cx="203200" cy="203200"/>
            </a:xfrm>
          </p:grpSpPr>
          <p:sp>
            <p:nvSpPr>
              <p:cNvPr id="73" name="Freeform 73"/>
              <p:cNvSpPr/>
              <p:nvPr/>
            </p:nvSpPr>
            <p:spPr>
              <a:xfrm>
                <a:off x="6527800" y="442595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FFFFFF"/>
                </a:solidFill>
              </a:ln>
            </p:spPr>
          </p:sp>
          <p:sp>
            <p:nvSpPr>
              <p:cNvPr id="74" name="Freeform 74"/>
              <p:cNvSpPr/>
              <p:nvPr/>
            </p:nvSpPr>
            <p:spPr>
              <a:xfrm>
                <a:off x="6553200" y="4375150"/>
                <a:ext cx="9525" cy="50800"/>
              </a:xfrm>
              <a:custGeom>
                <a:avLst/>
                <a:gdLst/>
                <a:ahLst/>
                <a:cxnLst/>
                <a:rect l="l" t="t" r="r" b="b"/>
                <a:pathLst>
                  <a:path w="9525" h="50800">
                    <a:moveTo>
                      <a:pt x="0" y="0"/>
                    </a:moveTo>
                    <a:lnTo>
                      <a:pt x="0" y="50800"/>
                    </a:lnTo>
                  </a:path>
                </a:pathLst>
              </a:custGeom>
              <a:noFill/>
              <a:ln w="19050">
                <a:solidFill>
                  <a:srgbClr val="FFFFFF"/>
                </a:solidFill>
              </a:ln>
            </p:spPr>
          </p:sp>
          <p:sp>
            <p:nvSpPr>
              <p:cNvPr id="75" name="Freeform 75"/>
              <p:cNvSpPr/>
              <p:nvPr/>
            </p:nvSpPr>
            <p:spPr>
              <a:xfrm>
                <a:off x="6553200" y="4476750"/>
                <a:ext cx="9525" cy="101600"/>
              </a:xfrm>
              <a:custGeom>
                <a:avLst/>
                <a:gdLst/>
                <a:ahLst/>
                <a:cxnLst/>
                <a:rect l="l" t="t" r="r" b="b"/>
                <a:pathLst>
                  <a:path w="9525" h="101600">
                    <a:moveTo>
                      <a:pt x="0" y="0"/>
                    </a:moveTo>
                    <a:lnTo>
                      <a:pt x="0" y="101600"/>
                    </a:lnTo>
                  </a:path>
                </a:pathLst>
              </a:custGeom>
              <a:noFill/>
              <a:ln w="19050">
                <a:solidFill>
                  <a:srgbClr val="FFFFFF"/>
                </a:solidFill>
              </a:ln>
            </p:spPr>
          </p:sp>
          <p:sp>
            <p:nvSpPr>
              <p:cNvPr id="76" name="Freeform 76"/>
              <p:cNvSpPr/>
              <p:nvPr/>
            </p:nvSpPr>
            <p:spPr>
              <a:xfrm>
                <a:off x="6604000" y="450215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FFFFFF"/>
                </a:solidFill>
              </a:ln>
            </p:spPr>
          </p:sp>
          <p:sp>
            <p:nvSpPr>
              <p:cNvPr id="77" name="Freeform 77"/>
              <p:cNvSpPr/>
              <p:nvPr/>
            </p:nvSpPr>
            <p:spPr>
              <a:xfrm>
                <a:off x="6629400" y="4375150"/>
                <a:ext cx="9525" cy="127000"/>
              </a:xfrm>
              <a:custGeom>
                <a:avLst/>
                <a:gdLst/>
                <a:ahLst/>
                <a:cxnLst/>
                <a:rect l="l" t="t" r="r" b="b"/>
                <a:pathLst>
                  <a:path w="9525" h="127000">
                    <a:moveTo>
                      <a:pt x="0" y="0"/>
                    </a:moveTo>
                    <a:lnTo>
                      <a:pt x="0" y="127000"/>
                    </a:lnTo>
                  </a:path>
                </a:pathLst>
              </a:custGeom>
              <a:noFill/>
              <a:ln w="19050">
                <a:solidFill>
                  <a:srgbClr val="FFFFFF"/>
                </a:solidFill>
              </a:ln>
            </p:spPr>
          </p:sp>
          <p:sp>
            <p:nvSpPr>
              <p:cNvPr id="78" name="Freeform 78"/>
              <p:cNvSpPr/>
              <p:nvPr/>
            </p:nvSpPr>
            <p:spPr>
              <a:xfrm>
                <a:off x="6629400" y="4552950"/>
                <a:ext cx="9525" cy="25400"/>
              </a:xfrm>
              <a:custGeom>
                <a:avLst/>
                <a:gdLst/>
                <a:ahLst/>
                <a:cxnLst/>
                <a:rect l="l" t="t" r="r" b="b"/>
                <a:pathLst>
                  <a:path w="9525" h="25400">
                    <a:moveTo>
                      <a:pt x="0" y="0"/>
                    </a:moveTo>
                    <a:lnTo>
                      <a:pt x="0" y="25400"/>
                    </a:lnTo>
                  </a:path>
                </a:pathLst>
              </a:custGeom>
              <a:noFill/>
              <a:ln w="19050">
                <a:solidFill>
                  <a:srgbClr val="FFFFFF"/>
                </a:solidFill>
              </a:ln>
            </p:spPr>
          </p:sp>
          <p:sp>
            <p:nvSpPr>
              <p:cNvPr id="79" name="Freeform 79"/>
              <p:cNvSpPr/>
              <p:nvPr/>
            </p:nvSpPr>
            <p:spPr>
              <a:xfrm>
                <a:off x="6680200" y="438785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FFFFFF"/>
                </a:solidFill>
              </a:ln>
            </p:spPr>
          </p:sp>
          <p:sp>
            <p:nvSpPr>
              <p:cNvPr id="80" name="Freeform 80"/>
              <p:cNvSpPr/>
              <p:nvPr/>
            </p:nvSpPr>
            <p:spPr>
              <a:xfrm>
                <a:off x="6705600" y="4375150"/>
                <a:ext cx="9525" cy="12700"/>
              </a:xfrm>
              <a:custGeom>
                <a:avLst/>
                <a:gdLst/>
                <a:ahLst/>
                <a:cxnLst/>
                <a:rect l="l" t="t" r="r" b="b"/>
                <a:pathLst>
                  <a:path w="9525" h="12700">
                    <a:moveTo>
                      <a:pt x="0" y="0"/>
                    </a:moveTo>
                    <a:lnTo>
                      <a:pt x="0" y="12700"/>
                    </a:lnTo>
                  </a:path>
                </a:pathLst>
              </a:custGeom>
              <a:noFill/>
              <a:ln w="19050">
                <a:solidFill>
                  <a:srgbClr val="FFFFFF"/>
                </a:solidFill>
              </a:ln>
            </p:spPr>
          </p:sp>
          <p:sp>
            <p:nvSpPr>
              <p:cNvPr id="81" name="Freeform 81"/>
              <p:cNvSpPr/>
              <p:nvPr/>
            </p:nvSpPr>
            <p:spPr>
              <a:xfrm>
                <a:off x="6705600" y="4438650"/>
                <a:ext cx="9525" cy="139700"/>
              </a:xfrm>
              <a:custGeom>
                <a:avLst/>
                <a:gdLst/>
                <a:ahLst/>
                <a:cxnLst/>
                <a:rect l="l" t="t" r="r" b="b"/>
                <a:pathLst>
                  <a:path w="9525" h="139700">
                    <a:moveTo>
                      <a:pt x="0" y="0"/>
                    </a:moveTo>
                    <a:lnTo>
                      <a:pt x="0" y="139700"/>
                    </a:lnTo>
                  </a:path>
                </a:pathLst>
              </a:custGeom>
              <a:noFill/>
              <a:ln w="19050">
                <a:solidFill>
                  <a:srgbClr val="FFFFFF"/>
                </a:solidFill>
              </a:ln>
            </p:spPr>
          </p:sp>
        </p:grpSp>
        <p:sp>
          <p:nvSpPr>
            <p:cNvPr id="83" name="TextBox 83"/>
            <p:cNvSpPr txBox="1"/>
            <p:nvPr/>
          </p:nvSpPr>
          <p:spPr>
            <a:xfrm>
              <a:off x="6877050" y="4391025"/>
              <a:ext cx="1938838"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ambria"/>
                  <a:ea typeface="SimSun"/>
                  <a:cs typeface="Cambria"/>
                </a:rPr>
                <a:t>消融设计 · Ablation</a:t>
              </a:r>
            </a:p>
          </p:txBody>
        </p:sp>
        <p:sp>
          <p:nvSpPr>
            <p:cNvPr id="84" name="TextBox 84"/>
            <p:cNvSpPr txBox="1"/>
            <p:nvPr/>
          </p:nvSpPr>
          <p:spPr>
            <a:xfrm>
              <a:off x="10394987" y="4447699"/>
              <a:ext cx="666395" cy="198120"/>
            </a:xfrm>
            <a:prstGeom prst="rect">
              <a:avLst/>
            </a:prstGeom>
            <a:noFill/>
            <a:ln>
              <a:noFill/>
            </a:ln>
          </p:spPr>
          <p:txBody>
            <a:bodyPr wrap="none" lIns="0" tIns="0" rIns="0" bIns="0" anchor="t" anchorCtr="0">
              <a:spAutoFit/>
            </a:bodyPr>
            <a:lstStyle/>
            <a:p>
              <a:pPr algn="r"/>
              <a:r>
                <a:rPr lang="zh-CN" sz="975" b="1" dirty="0">
                  <a:solidFill>
                    <a:srgbClr val="FFFFFF">
                      <a:alphaMod val="85000"/>
                    </a:srgbClr>
                  </a:solidFill>
                  <a:latin typeface="Cambria"/>
                  <a:ea typeface="SimSun"/>
                  <a:cs typeface="Cambria"/>
                </a:rPr>
                <a:t>ASPECT 04</a:t>
              </a:r>
            </a:p>
          </p:txBody>
        </p:sp>
        <p:sp>
          <p:nvSpPr>
            <p:cNvPr id="85" name="TextBox 85"/>
            <p:cNvSpPr txBox="1"/>
            <p:nvPr/>
          </p:nvSpPr>
          <p:spPr>
            <a:xfrm>
              <a:off x="6465570" y="4932045"/>
              <a:ext cx="274892" cy="182880"/>
            </a:xfrm>
            <a:prstGeom prst="rect">
              <a:avLst/>
            </a:prstGeom>
            <a:noFill/>
            <a:ln>
              <a:noFill/>
            </a:ln>
          </p:spPr>
          <p:txBody>
            <a:bodyPr wrap="none" lIns="0" tIns="0" rIns="0" bIns="0" anchor="t" anchorCtr="0">
              <a:spAutoFit/>
            </a:bodyPr>
            <a:lstStyle/>
            <a:p>
              <a:pPr algn="l"/>
              <a:r>
                <a:rPr lang="zh-CN" sz="900" b="1" dirty="0">
                  <a:solidFill>
                    <a:srgbClr val="5F6368"/>
                  </a:solidFill>
                  <a:latin typeface="Arial"/>
                  <a:ea typeface="Microsoft YaHei"/>
                  <a:cs typeface="Arial"/>
                </a:rPr>
                <a:t>配置</a:t>
              </a:r>
            </a:p>
          </p:txBody>
        </p:sp>
        <p:sp>
          <p:nvSpPr>
            <p:cNvPr id="86" name="TextBox 86"/>
            <p:cNvSpPr txBox="1"/>
            <p:nvPr/>
          </p:nvSpPr>
          <p:spPr>
            <a:xfrm>
              <a:off x="8180070" y="4932045"/>
              <a:ext cx="1081392" cy="182880"/>
            </a:xfrm>
            <a:prstGeom prst="rect">
              <a:avLst/>
            </a:prstGeom>
            <a:noFill/>
            <a:ln>
              <a:noFill/>
            </a:ln>
          </p:spPr>
          <p:txBody>
            <a:bodyPr wrap="none" lIns="0" tIns="0" rIns="0" bIns="0" anchor="t" anchorCtr="0">
              <a:spAutoFit/>
            </a:bodyPr>
            <a:lstStyle/>
            <a:p>
              <a:pPr algn="l"/>
              <a:r>
                <a:rPr lang="zh-CN" sz="900" b="1" dirty="0">
                  <a:solidFill>
                    <a:srgbClr val="5F6368"/>
                  </a:solidFill>
                  <a:latin typeface="Arial"/>
                  <a:ea typeface="Microsoft YaHei"/>
                  <a:cs typeface="Arial"/>
                </a:rPr>
                <a:t>检测器 (OWL-ViT)</a:t>
              </a:r>
            </a:p>
          </p:txBody>
        </p:sp>
        <p:sp>
          <p:nvSpPr>
            <p:cNvPr id="87" name="TextBox 87"/>
            <p:cNvSpPr txBox="1"/>
            <p:nvPr/>
          </p:nvSpPr>
          <p:spPr>
            <a:xfrm>
              <a:off x="9894570" y="4932045"/>
              <a:ext cx="520622" cy="182880"/>
            </a:xfrm>
            <a:prstGeom prst="rect">
              <a:avLst/>
            </a:prstGeom>
            <a:noFill/>
            <a:ln>
              <a:noFill/>
            </a:ln>
          </p:spPr>
          <p:txBody>
            <a:bodyPr wrap="none" lIns="0" tIns="0" rIns="0" bIns="0" anchor="t" anchorCtr="0">
              <a:spAutoFit/>
            </a:bodyPr>
            <a:lstStyle/>
            <a:p>
              <a:pPr algn="l"/>
              <a:r>
                <a:rPr lang="zh-CN" sz="900" b="1" dirty="0">
                  <a:solidFill>
                    <a:srgbClr val="5F6368"/>
                  </a:solidFill>
                  <a:latin typeface="Arial"/>
                  <a:ea typeface="Microsoft YaHei"/>
                  <a:cs typeface="Arial"/>
                </a:rPr>
                <a:t>CoT 推理</a:t>
              </a:r>
            </a:p>
          </p:txBody>
        </p:sp>
        <p:sp>
          <p:nvSpPr>
            <p:cNvPr id="88" name="Line 88"/>
            <p:cNvSpPr/>
            <p:nvPr/>
          </p:nvSpPr>
          <p:spPr>
            <a:xfrm>
              <a:off x="6477000" y="5105400"/>
              <a:ext cx="4953000" cy="9525"/>
            </a:xfrm>
            <a:custGeom>
              <a:avLst/>
              <a:gdLst/>
              <a:ahLst/>
              <a:cxnLst/>
              <a:rect l="l" t="t" r="r" b="b"/>
              <a:pathLst>
                <a:path w="4953000" h="9525">
                  <a:moveTo>
                    <a:pt x="0" y="0"/>
                  </a:moveTo>
                  <a:lnTo>
                    <a:pt x="4953000" y="0"/>
                  </a:lnTo>
                </a:path>
              </a:pathLst>
            </a:custGeom>
            <a:noFill/>
            <a:ln w="9525">
              <a:solidFill>
                <a:srgbClr val="E0E0E0"/>
              </a:solidFill>
            </a:ln>
          </p:spPr>
        </p:sp>
        <p:sp>
          <p:nvSpPr>
            <p:cNvPr id="89" name="TextBox 89"/>
            <p:cNvSpPr txBox="1"/>
            <p:nvPr/>
          </p:nvSpPr>
          <p:spPr>
            <a:xfrm>
              <a:off x="6464618" y="5209699"/>
              <a:ext cx="284798"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基线</a:t>
              </a:r>
            </a:p>
          </p:txBody>
        </p:sp>
        <p:sp>
          <p:nvSpPr>
            <p:cNvPr id="90" name="TextBox 90"/>
            <p:cNvSpPr txBox="1"/>
            <p:nvPr/>
          </p:nvSpPr>
          <p:spPr>
            <a:xfrm>
              <a:off x="8899735" y="5201602"/>
              <a:ext cx="107530" cy="213360"/>
            </a:xfrm>
            <a:prstGeom prst="rect">
              <a:avLst/>
            </a:prstGeom>
            <a:noFill/>
            <a:ln>
              <a:noFill/>
            </a:ln>
          </p:spPr>
          <p:txBody>
            <a:bodyPr wrap="none" lIns="0" tIns="0" rIns="0" bIns="0" anchor="t" anchorCtr="0">
              <a:spAutoFit/>
            </a:bodyPr>
            <a:lstStyle/>
            <a:p>
              <a:pPr algn="ctr"/>
              <a:r>
                <a:rPr lang="zh-CN" sz="1050" b="1" dirty="0">
                  <a:solidFill>
                    <a:srgbClr val="C62828"/>
                  </a:solidFill>
                  <a:latin typeface="Cambria"/>
                  <a:ea typeface="SimSun"/>
                  <a:cs typeface="Cambria"/>
                </a:rPr>
                <a:t>✗</a:t>
              </a:r>
            </a:p>
          </p:txBody>
        </p:sp>
        <p:sp>
          <p:nvSpPr>
            <p:cNvPr id="91" name="TextBox 91"/>
            <p:cNvSpPr txBox="1"/>
            <p:nvPr/>
          </p:nvSpPr>
          <p:spPr>
            <a:xfrm>
              <a:off x="10614235" y="5201602"/>
              <a:ext cx="107530" cy="213360"/>
            </a:xfrm>
            <a:prstGeom prst="rect">
              <a:avLst/>
            </a:prstGeom>
            <a:noFill/>
            <a:ln>
              <a:noFill/>
            </a:ln>
          </p:spPr>
          <p:txBody>
            <a:bodyPr wrap="none" lIns="0" tIns="0" rIns="0" bIns="0" anchor="t" anchorCtr="0">
              <a:spAutoFit/>
            </a:bodyPr>
            <a:lstStyle/>
            <a:p>
              <a:pPr algn="ctr"/>
              <a:r>
                <a:rPr lang="zh-CN" sz="1050" b="1" dirty="0">
                  <a:solidFill>
                    <a:srgbClr val="C62828"/>
                  </a:solidFill>
                  <a:latin typeface="Cambria"/>
                  <a:ea typeface="SimSun"/>
                  <a:cs typeface="Cambria"/>
                </a:rPr>
                <a:t>✗</a:t>
              </a:r>
            </a:p>
          </p:txBody>
        </p:sp>
        <p:sp>
          <p:nvSpPr>
            <p:cNvPr id="92" name="TextBox 92"/>
            <p:cNvSpPr txBox="1"/>
            <p:nvPr/>
          </p:nvSpPr>
          <p:spPr>
            <a:xfrm>
              <a:off x="6464618" y="5438299"/>
              <a:ext cx="414814"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有检测</a:t>
              </a:r>
            </a:p>
          </p:txBody>
        </p:sp>
        <p:sp>
          <p:nvSpPr>
            <p:cNvPr id="93" name="TextBox 93"/>
            <p:cNvSpPr txBox="1"/>
            <p:nvPr/>
          </p:nvSpPr>
          <p:spPr>
            <a:xfrm>
              <a:off x="8899735" y="5430202"/>
              <a:ext cx="107530"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Cambria"/>
                  <a:ea typeface="SimSun"/>
                  <a:cs typeface="Cambria"/>
                </a:rPr>
                <a:t>✓</a:t>
              </a:r>
            </a:p>
          </p:txBody>
        </p:sp>
        <p:sp>
          <p:nvSpPr>
            <p:cNvPr id="94" name="TextBox 94"/>
            <p:cNvSpPr txBox="1"/>
            <p:nvPr/>
          </p:nvSpPr>
          <p:spPr>
            <a:xfrm>
              <a:off x="10614235" y="5430202"/>
              <a:ext cx="107530" cy="213360"/>
            </a:xfrm>
            <a:prstGeom prst="rect">
              <a:avLst/>
            </a:prstGeom>
            <a:noFill/>
            <a:ln>
              <a:noFill/>
            </a:ln>
          </p:spPr>
          <p:txBody>
            <a:bodyPr wrap="none" lIns="0" tIns="0" rIns="0" bIns="0" anchor="t" anchorCtr="0">
              <a:spAutoFit/>
            </a:bodyPr>
            <a:lstStyle/>
            <a:p>
              <a:pPr algn="ctr"/>
              <a:r>
                <a:rPr lang="zh-CN" sz="1050" b="1" dirty="0">
                  <a:solidFill>
                    <a:srgbClr val="C62828"/>
                  </a:solidFill>
                  <a:latin typeface="Cambria"/>
                  <a:ea typeface="SimSun"/>
                  <a:cs typeface="Cambria"/>
                </a:rPr>
                <a:t>✗</a:t>
              </a:r>
            </a:p>
          </p:txBody>
        </p:sp>
        <p:sp>
          <p:nvSpPr>
            <p:cNvPr id="95" name="TextBox 95"/>
            <p:cNvSpPr txBox="1"/>
            <p:nvPr/>
          </p:nvSpPr>
          <p:spPr>
            <a:xfrm>
              <a:off x="6464618" y="5666899"/>
              <a:ext cx="408313"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有 CoT</a:t>
              </a:r>
            </a:p>
          </p:txBody>
        </p:sp>
        <p:sp>
          <p:nvSpPr>
            <p:cNvPr id="96" name="TextBox 96"/>
            <p:cNvSpPr txBox="1"/>
            <p:nvPr/>
          </p:nvSpPr>
          <p:spPr>
            <a:xfrm>
              <a:off x="8899735" y="5658802"/>
              <a:ext cx="107530" cy="213360"/>
            </a:xfrm>
            <a:prstGeom prst="rect">
              <a:avLst/>
            </a:prstGeom>
            <a:noFill/>
            <a:ln>
              <a:noFill/>
            </a:ln>
          </p:spPr>
          <p:txBody>
            <a:bodyPr wrap="none" lIns="0" tIns="0" rIns="0" bIns="0" anchor="t" anchorCtr="0">
              <a:spAutoFit/>
            </a:bodyPr>
            <a:lstStyle/>
            <a:p>
              <a:pPr algn="ctr"/>
              <a:r>
                <a:rPr lang="zh-CN" sz="1050" b="1" dirty="0">
                  <a:solidFill>
                    <a:srgbClr val="C62828"/>
                  </a:solidFill>
                  <a:latin typeface="Cambria"/>
                  <a:ea typeface="SimSun"/>
                  <a:cs typeface="Cambria"/>
                </a:rPr>
                <a:t>✗</a:t>
              </a:r>
            </a:p>
          </p:txBody>
        </p:sp>
        <p:sp>
          <p:nvSpPr>
            <p:cNvPr id="97" name="TextBox 97"/>
            <p:cNvSpPr txBox="1"/>
            <p:nvPr/>
          </p:nvSpPr>
          <p:spPr>
            <a:xfrm>
              <a:off x="10614235" y="5658802"/>
              <a:ext cx="107530"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Cambria"/>
                  <a:ea typeface="SimSun"/>
                  <a:cs typeface="Cambria"/>
                </a:rPr>
                <a:t>✓</a:t>
              </a:r>
            </a:p>
          </p:txBody>
        </p:sp>
        <p:sp>
          <p:nvSpPr>
            <p:cNvPr id="98" name="TextBox 98"/>
            <p:cNvSpPr txBox="1"/>
            <p:nvPr/>
          </p:nvSpPr>
          <p:spPr>
            <a:xfrm>
              <a:off x="6464618" y="5895499"/>
              <a:ext cx="570833" cy="198120"/>
            </a:xfrm>
            <a:prstGeom prst="rect">
              <a:avLst/>
            </a:prstGeom>
            <a:noFill/>
            <a:ln>
              <a:noFill/>
            </a:ln>
          </p:spPr>
          <p:txBody>
            <a:bodyPr wrap="none" lIns="0" tIns="0" rIns="0" bIns="0" anchor="t" anchorCtr="0">
              <a:spAutoFit/>
            </a:bodyPr>
            <a:lstStyle/>
            <a:p>
              <a:pPr algn="l"/>
              <a:r>
                <a:rPr lang="zh-CN" sz="975" b="1" dirty="0">
                  <a:solidFill>
                    <a:srgbClr val="1565C0"/>
                  </a:solidFill>
                  <a:latin typeface="Arial"/>
                  <a:ea typeface="Microsoft YaHei"/>
                  <a:cs typeface="Arial"/>
                </a:rPr>
                <a:t>完整方案</a:t>
              </a:r>
            </a:p>
          </p:txBody>
        </p:sp>
        <p:sp>
          <p:nvSpPr>
            <p:cNvPr id="99" name="TextBox 99"/>
            <p:cNvSpPr txBox="1"/>
            <p:nvPr/>
          </p:nvSpPr>
          <p:spPr>
            <a:xfrm>
              <a:off x="8899735" y="5887402"/>
              <a:ext cx="107530"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Cambria"/>
                  <a:ea typeface="SimSun"/>
                  <a:cs typeface="Cambria"/>
                </a:rPr>
                <a:t>✓</a:t>
              </a:r>
            </a:p>
          </p:txBody>
        </p:sp>
        <p:sp>
          <p:nvSpPr>
            <p:cNvPr id="100" name="TextBox 100"/>
            <p:cNvSpPr txBox="1"/>
            <p:nvPr/>
          </p:nvSpPr>
          <p:spPr>
            <a:xfrm>
              <a:off x="10614235" y="5887402"/>
              <a:ext cx="107530"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Cambria"/>
                  <a:ea typeface="SimSun"/>
                  <a:cs typeface="Cambria"/>
                </a:rPr>
                <a:t>✓</a:t>
              </a:r>
            </a:p>
          </p:txBody>
        </p:sp>
        <p:sp>
          <p:nvSpPr>
            <p:cNvPr id="101" name="Line 101"/>
            <p:cNvSpPr/>
            <p:nvPr/>
          </p:nvSpPr>
          <p:spPr>
            <a:xfrm>
              <a:off x="6477000" y="6076950"/>
              <a:ext cx="4953000" cy="9525"/>
            </a:xfrm>
            <a:custGeom>
              <a:avLst/>
              <a:gdLst/>
              <a:ahLst/>
              <a:cxnLst/>
              <a:rect l="l" t="t" r="r" b="b"/>
              <a:pathLst>
                <a:path w="4953000" h="9525">
                  <a:moveTo>
                    <a:pt x="0" y="0"/>
                  </a:moveTo>
                  <a:lnTo>
                    <a:pt x="4953000" y="0"/>
                  </a:lnTo>
                </a:path>
              </a:pathLst>
            </a:custGeom>
            <a:noFill/>
            <a:ln w="9525">
              <a:solidFill>
                <a:srgbClr val="E0E0E0"/>
              </a:solidFill>
            </a:ln>
          </p:spPr>
        </p:sp>
      </p:grpSp>
      <p:sp>
        <p:nvSpPr>
          <p:cNvPr id="103" name="TextBox 103"/>
          <p:cNvSpPr txBox="1"/>
          <p:nvPr/>
        </p:nvSpPr>
        <p:spPr>
          <a:xfrm>
            <a:off x="561022" y="6578441"/>
            <a:ext cx="2660460"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1 · Q1 Setup</a:t>
            </a:r>
          </a:p>
        </p:txBody>
      </p:sp>
      <p:sp>
        <p:nvSpPr>
          <p:cNvPr id="104" name="TextBox 104"/>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05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slide(fromBottom)">
                                      <p:cBhvr>
                                        <p:cTn id="11" dur="400"/>
                                        <p:tgtEl>
                                          <p:spTgt spid="2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slide(fromBottom)">
                                      <p:cBhvr>
                                        <p:cTn id="15" dur="400"/>
                                        <p:tgtEl>
                                          <p:spTgt spid="49"/>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slide(fromBottom)">
                                      <p:cBhvr>
                                        <p:cTn id="19" dur="400"/>
                                        <p:tgtEl>
                                          <p:spTgt spid="69"/>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102"/>
                                        </p:tgtEl>
                                        <p:attrNameLst>
                                          <p:attrName>style.visibility</p:attrName>
                                        </p:attrNameLst>
                                      </p:cBhvr>
                                      <p:to>
                                        <p:strVal val="visible"/>
                                      </p:to>
                                    </p:set>
                                    <p:animEffect transition="in" filter="slide(fromBottom)">
                                      <p:cBhvr>
                                        <p:cTn id="23" dur="4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8" grpId="0"/>
      <p:bldP spid="49" grpId="0"/>
      <p:bldP spid="69" grpId="0"/>
      <p:bldP spid="10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71500" y="457200"/>
            <a:ext cx="5354217" cy="652462"/>
            <a:chOff x="571500" y="457200"/>
            <a:chExt cx="5354217" cy="652462"/>
          </a:xfrm>
        </p:grpSpPr>
        <p:sp>
          <p:nvSpPr>
            <p:cNvPr id="3" name="Rectangle 3"/>
            <p:cNvSpPr/>
            <p:nvPr/>
          </p:nvSpPr>
          <p:spPr>
            <a:xfrm>
              <a:off x="571500" y="457200"/>
              <a:ext cx="57150" cy="381000"/>
            </a:xfrm>
            <a:prstGeom prst="roundRect">
              <a:avLst>
                <a:gd name="adj" fmla="val 50000"/>
              </a:avLst>
            </a:prstGeom>
            <a:solidFill>
              <a:srgbClr val="1565C0"/>
            </a:solidFill>
            <a:ln>
              <a:noFill/>
            </a:ln>
          </p:spPr>
        </p:sp>
        <p:sp>
          <p:nvSpPr>
            <p:cNvPr id="4" name="TextBox 4"/>
            <p:cNvSpPr txBox="1"/>
            <p:nvPr/>
          </p:nvSpPr>
          <p:spPr>
            <a:xfrm>
              <a:off x="733425" y="500062"/>
              <a:ext cx="5192292"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基线模型对比 · English-CLIP 双达标</a:t>
              </a:r>
            </a:p>
          </p:txBody>
        </p:sp>
        <p:sp>
          <p:nvSpPr>
            <p:cNvPr id="5" name="TextBox 5"/>
            <p:cNvSpPr txBox="1"/>
            <p:nvPr/>
          </p:nvSpPr>
          <p:spPr>
            <a:xfrm>
              <a:off x="748665" y="896302"/>
              <a:ext cx="3724182"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Q1 · BASELINE COMPARISON · TOP-1 &amp; TOP-5 ACCURACY</a:t>
              </a:r>
            </a:p>
          </p:txBody>
        </p:sp>
      </p:grpSp>
      <p:sp>
        <p:nvSpPr>
          <p:cNvPr id="7" name="Line 7"/>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grpSp>
        <p:nvGrpSpPr>
          <p:cNvPr id="51" name="Group 51"/>
          <p:cNvGrpSpPr/>
          <p:nvPr/>
        </p:nvGrpSpPr>
        <p:grpSpPr>
          <a:xfrm>
            <a:off x="432966" y="1628775"/>
            <a:ext cx="7958559" cy="4362450"/>
            <a:chOff x="432966" y="1628775"/>
            <a:chExt cx="7958559" cy="4362450"/>
          </a:xfrm>
        </p:grpSpPr>
        <p:sp>
          <p:nvSpPr>
            <p:cNvPr id="8" name="TextBox 8"/>
            <p:cNvSpPr txBox="1"/>
            <p:nvPr/>
          </p:nvSpPr>
          <p:spPr>
            <a:xfrm>
              <a:off x="556260" y="1632585"/>
              <a:ext cx="2878436"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三模型 Top-1 / Top-5 准确率对比 (%)</a:t>
              </a:r>
            </a:p>
          </p:txBody>
        </p:sp>
        <p:sp>
          <p:nvSpPr>
            <p:cNvPr id="9" name="Rectangle 9"/>
            <p:cNvSpPr/>
            <p:nvPr/>
          </p:nvSpPr>
          <p:spPr>
            <a:xfrm>
              <a:off x="5715000" y="1628775"/>
              <a:ext cx="133350" cy="133350"/>
            </a:xfrm>
            <a:prstGeom prst="roundRect">
              <a:avLst>
                <a:gd name="adj" fmla="val 14286"/>
              </a:avLst>
            </a:prstGeom>
            <a:gradFill>
              <a:gsLst>
                <a:gs pos="0">
                  <a:srgbClr val="1565C0"/>
                </a:gs>
                <a:gs pos="100000">
                  <a:srgbClr val="5C6BC0"/>
                </a:gs>
              </a:gsLst>
              <a:lin ang="5400000" scaled="1"/>
            </a:gradFill>
            <a:ln>
              <a:noFill/>
            </a:ln>
          </p:spPr>
        </p:sp>
        <p:sp>
          <p:nvSpPr>
            <p:cNvPr id="10" name="TextBox 10"/>
            <p:cNvSpPr txBox="1"/>
            <p:nvPr/>
          </p:nvSpPr>
          <p:spPr>
            <a:xfrm>
              <a:off x="5894070" y="1645920"/>
              <a:ext cx="337899" cy="182880"/>
            </a:xfrm>
            <a:prstGeom prst="rect">
              <a:avLst/>
            </a:prstGeom>
            <a:noFill/>
            <a:ln>
              <a:noFill/>
            </a:ln>
          </p:spPr>
          <p:txBody>
            <a:bodyPr wrap="none" lIns="0" tIns="0" rIns="0" bIns="0" anchor="t" anchorCtr="0">
              <a:spAutoFit/>
            </a:bodyPr>
            <a:lstStyle/>
            <a:p>
              <a:pPr algn="l"/>
              <a:r>
                <a:rPr lang="zh-CN" sz="900" b="1" dirty="0">
                  <a:solidFill>
                    <a:srgbClr val="1A1A1A"/>
                  </a:solidFill>
                  <a:latin typeface="Arial"/>
                  <a:ea typeface="Microsoft YaHei"/>
                  <a:cs typeface="Arial"/>
                </a:rPr>
                <a:t>Top-1</a:t>
              </a:r>
            </a:p>
          </p:txBody>
        </p:sp>
        <p:sp>
          <p:nvSpPr>
            <p:cNvPr id="11" name="Rectangle 11"/>
            <p:cNvSpPr/>
            <p:nvPr/>
          </p:nvSpPr>
          <p:spPr>
            <a:xfrm>
              <a:off x="6381750" y="1628775"/>
              <a:ext cx="133350" cy="133350"/>
            </a:xfrm>
            <a:prstGeom prst="roundRect">
              <a:avLst>
                <a:gd name="adj" fmla="val 14286"/>
              </a:avLst>
            </a:prstGeom>
            <a:gradFill>
              <a:gsLst>
                <a:gs pos="0">
                  <a:srgbClr val="FF8F00"/>
                </a:gs>
                <a:gs pos="100000">
                  <a:srgbClr val="FFB300"/>
                </a:gs>
              </a:gsLst>
              <a:lin ang="5400000" scaled="1"/>
            </a:gradFill>
            <a:ln>
              <a:noFill/>
            </a:ln>
          </p:spPr>
        </p:sp>
        <p:sp>
          <p:nvSpPr>
            <p:cNvPr id="12" name="TextBox 12"/>
            <p:cNvSpPr txBox="1"/>
            <p:nvPr/>
          </p:nvSpPr>
          <p:spPr>
            <a:xfrm>
              <a:off x="6560820" y="1645920"/>
              <a:ext cx="369403" cy="182880"/>
            </a:xfrm>
            <a:prstGeom prst="rect">
              <a:avLst/>
            </a:prstGeom>
            <a:noFill/>
            <a:ln>
              <a:noFill/>
            </a:ln>
          </p:spPr>
          <p:txBody>
            <a:bodyPr wrap="none" lIns="0" tIns="0" rIns="0" bIns="0" anchor="t" anchorCtr="0">
              <a:spAutoFit/>
            </a:bodyPr>
            <a:lstStyle/>
            <a:p>
              <a:pPr algn="l"/>
              <a:r>
                <a:rPr lang="zh-CN" sz="900" b="1" dirty="0">
                  <a:solidFill>
                    <a:srgbClr val="1A1A1A"/>
                  </a:solidFill>
                  <a:latin typeface="Arial"/>
                  <a:ea typeface="Microsoft YaHei"/>
                  <a:cs typeface="Arial"/>
                </a:rPr>
                <a:t>Top-5</a:t>
              </a:r>
            </a:p>
          </p:txBody>
        </p:sp>
        <p:sp>
          <p:nvSpPr>
            <p:cNvPr id="13" name="Line 13"/>
            <p:cNvSpPr/>
            <p:nvPr/>
          </p:nvSpPr>
          <p:spPr>
            <a:xfrm>
              <a:off x="1143000" y="1952625"/>
              <a:ext cx="9525" cy="3619500"/>
            </a:xfrm>
            <a:custGeom>
              <a:avLst/>
              <a:gdLst/>
              <a:ahLst/>
              <a:cxnLst/>
              <a:rect l="l" t="t" r="r" b="b"/>
              <a:pathLst>
                <a:path w="9525" h="3619500">
                  <a:moveTo>
                    <a:pt x="0" y="0"/>
                  </a:moveTo>
                  <a:lnTo>
                    <a:pt x="0" y="3619500"/>
                  </a:lnTo>
                </a:path>
              </a:pathLst>
            </a:custGeom>
            <a:noFill/>
            <a:ln w="14288">
              <a:solidFill>
                <a:srgbClr val="9AA0A6"/>
              </a:solidFill>
            </a:ln>
          </p:spPr>
        </p:sp>
        <p:sp>
          <p:nvSpPr>
            <p:cNvPr id="14" name="Line 14"/>
            <p:cNvSpPr/>
            <p:nvPr/>
          </p:nvSpPr>
          <p:spPr>
            <a:xfrm>
              <a:off x="1143000" y="5572125"/>
              <a:ext cx="7239000" cy="9525"/>
            </a:xfrm>
            <a:custGeom>
              <a:avLst/>
              <a:gdLst/>
              <a:ahLst/>
              <a:cxnLst/>
              <a:rect l="l" t="t" r="r" b="b"/>
              <a:pathLst>
                <a:path w="7239000" h="9525">
                  <a:moveTo>
                    <a:pt x="0" y="0"/>
                  </a:moveTo>
                  <a:lnTo>
                    <a:pt x="7239000" y="0"/>
                  </a:lnTo>
                </a:path>
              </a:pathLst>
            </a:custGeom>
            <a:noFill/>
            <a:ln w="14288">
              <a:solidFill>
                <a:srgbClr val="9AA0A6"/>
              </a:solidFill>
            </a:ln>
          </p:spPr>
        </p:sp>
        <p:sp>
          <p:nvSpPr>
            <p:cNvPr id="15" name="Line 15"/>
            <p:cNvSpPr/>
            <p:nvPr/>
          </p:nvSpPr>
          <p:spPr>
            <a:xfrm>
              <a:off x="1143000" y="5572125"/>
              <a:ext cx="7239000" cy="9525"/>
            </a:xfrm>
            <a:custGeom>
              <a:avLst/>
              <a:gdLst/>
              <a:ahLst/>
              <a:cxnLst/>
              <a:rect l="l" t="t" r="r" b="b"/>
              <a:pathLst>
                <a:path w="7239000" h="9525">
                  <a:moveTo>
                    <a:pt x="0" y="0"/>
                  </a:moveTo>
                  <a:lnTo>
                    <a:pt x="7239000" y="0"/>
                  </a:lnTo>
                </a:path>
              </a:pathLst>
            </a:custGeom>
            <a:noFill/>
            <a:ln w="9525">
              <a:solidFill>
                <a:srgbClr val="E0E0E0"/>
              </a:solidFill>
            </a:ln>
          </p:spPr>
        </p:sp>
        <p:sp>
          <p:nvSpPr>
            <p:cNvPr id="16" name="Line 16"/>
            <p:cNvSpPr/>
            <p:nvPr/>
          </p:nvSpPr>
          <p:spPr>
            <a:xfrm>
              <a:off x="1143000" y="4667250"/>
              <a:ext cx="7239000" cy="9525"/>
            </a:xfrm>
            <a:custGeom>
              <a:avLst/>
              <a:gdLst/>
              <a:ahLst/>
              <a:cxnLst/>
              <a:rect l="l" t="t" r="r" b="b"/>
              <a:pathLst>
                <a:path w="7239000" h="9525">
                  <a:moveTo>
                    <a:pt x="0" y="0"/>
                  </a:moveTo>
                  <a:lnTo>
                    <a:pt x="7239000" y="0"/>
                  </a:lnTo>
                </a:path>
              </a:pathLst>
            </a:custGeom>
            <a:noFill/>
            <a:ln w="9525">
              <a:solidFill>
                <a:srgbClr val="E0E0E0"/>
              </a:solidFill>
              <a:prstDash val="dash"/>
            </a:ln>
          </p:spPr>
        </p:sp>
        <p:sp>
          <p:nvSpPr>
            <p:cNvPr id="17" name="Line 17"/>
            <p:cNvSpPr/>
            <p:nvPr/>
          </p:nvSpPr>
          <p:spPr>
            <a:xfrm>
              <a:off x="1143000" y="3762375"/>
              <a:ext cx="7239000" cy="9525"/>
            </a:xfrm>
            <a:custGeom>
              <a:avLst/>
              <a:gdLst/>
              <a:ahLst/>
              <a:cxnLst/>
              <a:rect l="l" t="t" r="r" b="b"/>
              <a:pathLst>
                <a:path w="7239000" h="9525">
                  <a:moveTo>
                    <a:pt x="0" y="0"/>
                  </a:moveTo>
                  <a:lnTo>
                    <a:pt x="7239000" y="0"/>
                  </a:lnTo>
                </a:path>
              </a:pathLst>
            </a:custGeom>
            <a:noFill/>
            <a:ln w="9525">
              <a:solidFill>
                <a:srgbClr val="E0E0E0"/>
              </a:solidFill>
              <a:prstDash val="dash"/>
            </a:ln>
          </p:spPr>
        </p:sp>
        <p:sp>
          <p:nvSpPr>
            <p:cNvPr id="18" name="Line 18"/>
            <p:cNvSpPr/>
            <p:nvPr/>
          </p:nvSpPr>
          <p:spPr>
            <a:xfrm>
              <a:off x="1143000" y="2857500"/>
              <a:ext cx="7239000" cy="9525"/>
            </a:xfrm>
            <a:custGeom>
              <a:avLst/>
              <a:gdLst/>
              <a:ahLst/>
              <a:cxnLst/>
              <a:rect l="l" t="t" r="r" b="b"/>
              <a:pathLst>
                <a:path w="7239000" h="9525">
                  <a:moveTo>
                    <a:pt x="0" y="0"/>
                  </a:moveTo>
                  <a:lnTo>
                    <a:pt x="7239000" y="0"/>
                  </a:lnTo>
                </a:path>
              </a:pathLst>
            </a:custGeom>
            <a:noFill/>
            <a:ln w="9525">
              <a:solidFill>
                <a:srgbClr val="E0E0E0"/>
              </a:solidFill>
              <a:prstDash val="dash"/>
            </a:ln>
          </p:spPr>
        </p:sp>
        <p:sp>
          <p:nvSpPr>
            <p:cNvPr id="19" name="Line 19"/>
            <p:cNvSpPr/>
            <p:nvPr/>
          </p:nvSpPr>
          <p:spPr>
            <a:xfrm>
              <a:off x="1143000" y="1952625"/>
              <a:ext cx="7239000" cy="9525"/>
            </a:xfrm>
            <a:custGeom>
              <a:avLst/>
              <a:gdLst/>
              <a:ahLst/>
              <a:cxnLst/>
              <a:rect l="l" t="t" r="r" b="b"/>
              <a:pathLst>
                <a:path w="7239000" h="9525">
                  <a:moveTo>
                    <a:pt x="0" y="0"/>
                  </a:moveTo>
                  <a:lnTo>
                    <a:pt x="7239000" y="0"/>
                  </a:lnTo>
                </a:path>
              </a:pathLst>
            </a:custGeom>
            <a:noFill/>
            <a:ln w="9525">
              <a:solidFill>
                <a:srgbClr val="E0E0E0"/>
              </a:solidFill>
              <a:prstDash val="dash"/>
            </a:ln>
          </p:spPr>
        </p:sp>
        <p:sp>
          <p:nvSpPr>
            <p:cNvPr id="20" name="TextBox 20"/>
            <p:cNvSpPr txBox="1"/>
            <p:nvPr/>
          </p:nvSpPr>
          <p:spPr>
            <a:xfrm>
              <a:off x="995815" y="5521166"/>
              <a:ext cx="81463"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0</a:t>
              </a:r>
            </a:p>
          </p:txBody>
        </p:sp>
        <p:sp>
          <p:nvSpPr>
            <p:cNvPr id="21" name="TextBox 21"/>
            <p:cNvSpPr txBox="1"/>
            <p:nvPr/>
          </p:nvSpPr>
          <p:spPr>
            <a:xfrm>
              <a:off x="935307" y="4616291"/>
              <a:ext cx="141970"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25</a:t>
              </a:r>
            </a:p>
          </p:txBody>
        </p:sp>
        <p:sp>
          <p:nvSpPr>
            <p:cNvPr id="22" name="TextBox 22"/>
            <p:cNvSpPr txBox="1"/>
            <p:nvPr/>
          </p:nvSpPr>
          <p:spPr>
            <a:xfrm>
              <a:off x="935307" y="3711416"/>
              <a:ext cx="141970"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50</a:t>
              </a:r>
            </a:p>
          </p:txBody>
        </p:sp>
        <p:sp>
          <p:nvSpPr>
            <p:cNvPr id="23" name="TextBox 23"/>
            <p:cNvSpPr txBox="1"/>
            <p:nvPr/>
          </p:nvSpPr>
          <p:spPr>
            <a:xfrm>
              <a:off x="935307" y="2806541"/>
              <a:ext cx="141970"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75</a:t>
              </a:r>
            </a:p>
          </p:txBody>
        </p:sp>
        <p:sp>
          <p:nvSpPr>
            <p:cNvPr id="24" name="TextBox 24"/>
            <p:cNvSpPr txBox="1"/>
            <p:nvPr/>
          </p:nvSpPr>
          <p:spPr>
            <a:xfrm>
              <a:off x="902303" y="1901666"/>
              <a:ext cx="174974"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100</a:t>
              </a:r>
            </a:p>
          </p:txBody>
        </p:sp>
        <p:sp>
          <p:nvSpPr>
            <p:cNvPr id="25" name="Line 25"/>
            <p:cNvSpPr/>
            <p:nvPr/>
          </p:nvSpPr>
          <p:spPr>
            <a:xfrm>
              <a:off x="1143000" y="3400425"/>
              <a:ext cx="7239000" cy="9525"/>
            </a:xfrm>
            <a:custGeom>
              <a:avLst/>
              <a:gdLst/>
              <a:ahLst/>
              <a:cxnLst/>
              <a:rect l="l" t="t" r="r" b="b"/>
              <a:pathLst>
                <a:path w="7239000" h="9525">
                  <a:moveTo>
                    <a:pt x="0" y="0"/>
                  </a:moveTo>
                  <a:lnTo>
                    <a:pt x="7239000" y="0"/>
                  </a:lnTo>
                </a:path>
              </a:pathLst>
            </a:custGeom>
            <a:noFill/>
            <a:ln w="14288">
              <a:solidFill>
                <a:srgbClr val="FF8F00"/>
              </a:solidFill>
              <a:prstDash val="dash"/>
            </a:ln>
          </p:spPr>
        </p:sp>
        <p:sp>
          <p:nvSpPr>
            <p:cNvPr id="26" name="TextBox 26"/>
            <p:cNvSpPr txBox="1"/>
            <p:nvPr/>
          </p:nvSpPr>
          <p:spPr>
            <a:xfrm>
              <a:off x="7663636" y="3281362"/>
              <a:ext cx="727889" cy="152400"/>
            </a:xfrm>
            <a:prstGeom prst="rect">
              <a:avLst/>
            </a:prstGeom>
            <a:noFill/>
            <a:ln>
              <a:noFill/>
            </a:ln>
          </p:spPr>
          <p:txBody>
            <a:bodyPr wrap="none" lIns="0" tIns="0" rIns="0" bIns="0" anchor="t" anchorCtr="0">
              <a:spAutoFit/>
            </a:bodyPr>
            <a:lstStyle/>
            <a:p>
              <a:pPr algn="r"/>
              <a:r>
                <a:rPr lang="zh-CN" sz="750" b="1" dirty="0">
                  <a:solidFill>
                    <a:srgbClr val="FF8F00"/>
                  </a:solidFill>
                  <a:latin typeface="Arial"/>
                  <a:ea typeface="Microsoft YaHei"/>
                  <a:cs typeface="Arial"/>
                </a:rPr>
                <a:t>Top-1 目标 60%</a:t>
              </a:r>
            </a:p>
          </p:txBody>
        </p:sp>
        <p:sp>
          <p:nvSpPr>
            <p:cNvPr id="27" name="Line 27"/>
            <p:cNvSpPr/>
            <p:nvPr/>
          </p:nvSpPr>
          <p:spPr>
            <a:xfrm>
              <a:off x="1143000" y="2505075"/>
              <a:ext cx="7239000" cy="9525"/>
            </a:xfrm>
            <a:custGeom>
              <a:avLst/>
              <a:gdLst/>
              <a:ahLst/>
              <a:cxnLst/>
              <a:rect l="l" t="t" r="r" b="b"/>
              <a:pathLst>
                <a:path w="7239000" h="9525">
                  <a:moveTo>
                    <a:pt x="0" y="0"/>
                  </a:moveTo>
                  <a:lnTo>
                    <a:pt x="7239000" y="0"/>
                  </a:lnTo>
                </a:path>
              </a:pathLst>
            </a:custGeom>
            <a:noFill/>
            <a:ln w="14288">
              <a:solidFill>
                <a:srgbClr val="2E7D32"/>
              </a:solidFill>
              <a:prstDash val="dash"/>
            </a:ln>
          </p:spPr>
        </p:sp>
        <p:sp>
          <p:nvSpPr>
            <p:cNvPr id="28" name="TextBox 28"/>
            <p:cNvSpPr txBox="1"/>
            <p:nvPr/>
          </p:nvSpPr>
          <p:spPr>
            <a:xfrm>
              <a:off x="7637383" y="2386012"/>
              <a:ext cx="754142" cy="152400"/>
            </a:xfrm>
            <a:prstGeom prst="rect">
              <a:avLst/>
            </a:prstGeom>
            <a:noFill/>
            <a:ln>
              <a:noFill/>
            </a:ln>
          </p:spPr>
          <p:txBody>
            <a:bodyPr wrap="none" lIns="0" tIns="0" rIns="0" bIns="0" anchor="t" anchorCtr="0">
              <a:spAutoFit/>
            </a:bodyPr>
            <a:lstStyle/>
            <a:p>
              <a:pPr algn="r"/>
              <a:r>
                <a:rPr lang="zh-CN" sz="750" b="1" dirty="0">
                  <a:solidFill>
                    <a:srgbClr val="2E7D32"/>
                  </a:solidFill>
                  <a:latin typeface="Arial"/>
                  <a:ea typeface="Microsoft YaHei"/>
                  <a:cs typeface="Arial"/>
                </a:rPr>
                <a:t>Top-5 目标 85%</a:t>
              </a:r>
            </a:p>
          </p:txBody>
        </p:sp>
        <p:sp>
          <p:nvSpPr>
            <p:cNvPr id="29" name="Rectangle 29"/>
            <p:cNvSpPr/>
            <p:nvPr/>
          </p:nvSpPr>
          <p:spPr>
            <a:xfrm>
              <a:off x="1714500" y="3952875"/>
              <a:ext cx="762000" cy="1619250"/>
            </a:xfrm>
            <a:prstGeom prst="roundRect">
              <a:avLst>
                <a:gd name="adj" fmla="val 3750"/>
              </a:avLst>
            </a:prstGeom>
            <a:gradFill>
              <a:gsLst>
                <a:gs pos="0">
                  <a:srgbClr val="1565C0"/>
                </a:gs>
                <a:gs pos="100000">
                  <a:srgbClr val="5C6BC0"/>
                </a:gs>
              </a:gsLst>
              <a:lin ang="5400000" scaled="1"/>
            </a:gradFill>
            <a:ln>
              <a:noFill/>
            </a:ln>
          </p:spPr>
        </p:sp>
        <p:sp>
          <p:nvSpPr>
            <p:cNvPr id="30" name="TextBox 30"/>
            <p:cNvSpPr txBox="1"/>
            <p:nvPr/>
          </p:nvSpPr>
          <p:spPr>
            <a:xfrm>
              <a:off x="1857864" y="3790474"/>
              <a:ext cx="475271" cy="198120"/>
            </a:xfrm>
            <a:prstGeom prst="rect">
              <a:avLst/>
            </a:prstGeom>
            <a:noFill/>
            <a:ln>
              <a:noFill/>
            </a:ln>
          </p:spPr>
          <p:txBody>
            <a:bodyPr wrap="none" lIns="0" tIns="0" rIns="0" bIns="0" anchor="t" anchorCtr="0">
              <a:spAutoFit/>
            </a:bodyPr>
            <a:lstStyle/>
            <a:p>
              <a:pPr algn="ctr"/>
              <a:r>
                <a:rPr lang="zh-CN" sz="975" b="1" dirty="0">
                  <a:solidFill>
                    <a:srgbClr val="1565C0"/>
                  </a:solidFill>
                  <a:latin typeface="Cambria"/>
                  <a:ea typeface="SimSun"/>
                  <a:cs typeface="Cambria"/>
                </a:rPr>
                <a:t>44.65%</a:t>
              </a:r>
            </a:p>
          </p:txBody>
        </p:sp>
        <p:sp>
          <p:nvSpPr>
            <p:cNvPr id="31" name="Rectangle 31"/>
            <p:cNvSpPr/>
            <p:nvPr/>
          </p:nvSpPr>
          <p:spPr>
            <a:xfrm>
              <a:off x="2571750" y="2762250"/>
              <a:ext cx="762000" cy="2809875"/>
            </a:xfrm>
            <a:prstGeom prst="roundRect">
              <a:avLst>
                <a:gd name="adj" fmla="val 3750"/>
              </a:avLst>
            </a:prstGeom>
            <a:gradFill>
              <a:gsLst>
                <a:gs pos="0">
                  <a:srgbClr val="FF8F00"/>
                </a:gs>
                <a:gs pos="100000">
                  <a:srgbClr val="FFB300"/>
                </a:gs>
              </a:gsLst>
              <a:lin ang="5400000" scaled="1"/>
            </a:gradFill>
            <a:ln>
              <a:noFill/>
            </a:ln>
          </p:spPr>
        </p:sp>
        <p:sp>
          <p:nvSpPr>
            <p:cNvPr id="32" name="TextBox 32"/>
            <p:cNvSpPr txBox="1"/>
            <p:nvPr/>
          </p:nvSpPr>
          <p:spPr>
            <a:xfrm>
              <a:off x="2715114" y="2599849"/>
              <a:ext cx="475271" cy="198120"/>
            </a:xfrm>
            <a:prstGeom prst="rect">
              <a:avLst/>
            </a:prstGeom>
            <a:noFill/>
            <a:ln>
              <a:noFill/>
            </a:ln>
          </p:spPr>
          <p:txBody>
            <a:bodyPr wrap="none" lIns="0" tIns="0" rIns="0" bIns="0" anchor="t" anchorCtr="0">
              <a:spAutoFit/>
            </a:bodyPr>
            <a:lstStyle/>
            <a:p>
              <a:pPr algn="ctr"/>
              <a:r>
                <a:rPr lang="zh-CN" sz="975" b="1" dirty="0">
                  <a:solidFill>
                    <a:srgbClr val="FF8F00"/>
                  </a:solidFill>
                  <a:latin typeface="Cambria"/>
                  <a:ea typeface="SimSun"/>
                  <a:cs typeface="Cambria"/>
                </a:rPr>
                <a:t>77.68%</a:t>
              </a:r>
            </a:p>
          </p:txBody>
        </p:sp>
        <p:sp>
          <p:nvSpPr>
            <p:cNvPr id="33" name="Ellipse 33"/>
            <p:cNvSpPr/>
            <p:nvPr/>
          </p:nvSpPr>
          <p:spPr>
            <a:xfrm>
              <a:off x="2419350" y="5562600"/>
              <a:ext cx="209550" cy="209550"/>
            </a:xfrm>
            <a:prstGeom prst="ellipse">
              <a:avLst/>
            </a:prstGeom>
            <a:solidFill>
              <a:srgbClr val="C62828"/>
            </a:solidFill>
            <a:ln>
              <a:noFill/>
            </a:ln>
          </p:spPr>
        </p:sp>
        <p:sp>
          <p:nvSpPr>
            <p:cNvPr id="34" name="TextBox 34"/>
            <p:cNvSpPr txBox="1"/>
            <p:nvPr/>
          </p:nvSpPr>
          <p:spPr>
            <a:xfrm>
              <a:off x="2474200" y="5600224"/>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ambria"/>
                  <a:ea typeface="SimSun"/>
                  <a:cs typeface="Cambria"/>
                </a:rPr>
                <a:t>✗</a:t>
              </a:r>
            </a:p>
          </p:txBody>
        </p:sp>
        <p:sp>
          <p:nvSpPr>
            <p:cNvPr id="35" name="TextBox 35"/>
            <p:cNvSpPr txBox="1"/>
            <p:nvPr/>
          </p:nvSpPr>
          <p:spPr>
            <a:xfrm>
              <a:off x="2128347" y="5808345"/>
              <a:ext cx="791556" cy="182880"/>
            </a:xfrm>
            <a:prstGeom prst="rect">
              <a:avLst/>
            </a:prstGeom>
            <a:noFill/>
            <a:ln>
              <a:noFill/>
            </a:ln>
          </p:spPr>
          <p:txBody>
            <a:bodyPr wrap="none" lIns="0" tIns="0" rIns="0" bIns="0" anchor="t" anchorCtr="0">
              <a:spAutoFit/>
            </a:bodyPr>
            <a:lstStyle/>
            <a:p>
              <a:pPr algn="ctr"/>
              <a:r>
                <a:rPr lang="zh-CN" sz="900" b="1" dirty="0">
                  <a:solidFill>
                    <a:srgbClr val="1A1A1A"/>
                  </a:solidFill>
                  <a:latin typeface="Arial"/>
                  <a:ea typeface="Microsoft YaHei"/>
                  <a:cs typeface="Arial"/>
                </a:rPr>
                <a:t>Chinese-CLIP</a:t>
              </a:r>
            </a:p>
          </p:txBody>
        </p:sp>
        <p:sp>
          <p:nvSpPr>
            <p:cNvPr id="36" name="Rectangle 36"/>
            <p:cNvSpPr/>
            <p:nvPr/>
          </p:nvSpPr>
          <p:spPr>
            <a:xfrm>
              <a:off x="4095750" y="4200525"/>
              <a:ext cx="762000" cy="1371600"/>
            </a:xfrm>
            <a:prstGeom prst="roundRect">
              <a:avLst>
                <a:gd name="adj" fmla="val 3750"/>
              </a:avLst>
            </a:prstGeom>
            <a:gradFill>
              <a:gsLst>
                <a:gs pos="0">
                  <a:srgbClr val="1565C0"/>
                </a:gs>
                <a:gs pos="100000">
                  <a:srgbClr val="5C6BC0"/>
                </a:gs>
              </a:gsLst>
              <a:lin ang="5400000" scaled="1"/>
            </a:gradFill>
            <a:ln>
              <a:noFill/>
            </a:ln>
          </p:spPr>
        </p:sp>
        <p:sp>
          <p:nvSpPr>
            <p:cNvPr id="37" name="TextBox 37"/>
            <p:cNvSpPr txBox="1"/>
            <p:nvPr/>
          </p:nvSpPr>
          <p:spPr>
            <a:xfrm>
              <a:off x="4239114" y="4038124"/>
              <a:ext cx="475271" cy="198120"/>
            </a:xfrm>
            <a:prstGeom prst="rect">
              <a:avLst/>
            </a:prstGeom>
            <a:noFill/>
            <a:ln>
              <a:noFill/>
            </a:ln>
          </p:spPr>
          <p:txBody>
            <a:bodyPr wrap="none" lIns="0" tIns="0" rIns="0" bIns="0" anchor="t" anchorCtr="0">
              <a:spAutoFit/>
            </a:bodyPr>
            <a:lstStyle/>
            <a:p>
              <a:pPr algn="ctr"/>
              <a:r>
                <a:rPr lang="zh-CN" sz="975" b="1" dirty="0">
                  <a:solidFill>
                    <a:srgbClr val="1565C0"/>
                  </a:solidFill>
                  <a:latin typeface="Cambria"/>
                  <a:ea typeface="SimSun"/>
                  <a:cs typeface="Cambria"/>
                </a:rPr>
                <a:t>38.00%</a:t>
              </a:r>
            </a:p>
          </p:txBody>
        </p:sp>
        <p:sp>
          <p:nvSpPr>
            <p:cNvPr id="38" name="Rectangle 38"/>
            <p:cNvSpPr/>
            <p:nvPr/>
          </p:nvSpPr>
          <p:spPr>
            <a:xfrm>
              <a:off x="4953000" y="4629150"/>
              <a:ext cx="762000" cy="942975"/>
            </a:xfrm>
            <a:prstGeom prst="roundRect">
              <a:avLst>
                <a:gd name="adj" fmla="val 3750"/>
              </a:avLst>
            </a:prstGeom>
            <a:gradFill>
              <a:gsLst>
                <a:gs pos="0">
                  <a:srgbClr val="FF8F00"/>
                </a:gs>
                <a:gs pos="100000">
                  <a:srgbClr val="FFB300"/>
                </a:gs>
              </a:gsLst>
              <a:lin ang="5400000" scaled="1"/>
            </a:gradFill>
            <a:ln>
              <a:noFill/>
            </a:ln>
          </p:spPr>
        </p:sp>
        <p:sp>
          <p:nvSpPr>
            <p:cNvPr id="39" name="TextBox 39"/>
            <p:cNvSpPr txBox="1"/>
            <p:nvPr/>
          </p:nvSpPr>
          <p:spPr>
            <a:xfrm>
              <a:off x="5096364" y="4466749"/>
              <a:ext cx="475271" cy="198120"/>
            </a:xfrm>
            <a:prstGeom prst="rect">
              <a:avLst/>
            </a:prstGeom>
            <a:noFill/>
            <a:ln>
              <a:noFill/>
            </a:ln>
          </p:spPr>
          <p:txBody>
            <a:bodyPr wrap="none" lIns="0" tIns="0" rIns="0" bIns="0" anchor="t" anchorCtr="0">
              <a:spAutoFit/>
            </a:bodyPr>
            <a:lstStyle/>
            <a:p>
              <a:pPr algn="ctr"/>
              <a:r>
                <a:rPr lang="zh-CN" sz="975" b="1" dirty="0">
                  <a:solidFill>
                    <a:srgbClr val="FF8F00"/>
                  </a:solidFill>
                  <a:latin typeface="Cambria"/>
                  <a:ea typeface="SimSun"/>
                  <a:cs typeface="Cambria"/>
                </a:rPr>
                <a:t>26.00%</a:t>
              </a:r>
            </a:p>
          </p:txBody>
        </p:sp>
        <p:sp>
          <p:nvSpPr>
            <p:cNvPr id="40" name="Ellipse 40"/>
            <p:cNvSpPr/>
            <p:nvPr/>
          </p:nvSpPr>
          <p:spPr>
            <a:xfrm>
              <a:off x="4800600" y="5562600"/>
              <a:ext cx="209550" cy="209550"/>
            </a:xfrm>
            <a:prstGeom prst="ellipse">
              <a:avLst/>
            </a:prstGeom>
            <a:solidFill>
              <a:srgbClr val="C62828"/>
            </a:solidFill>
            <a:ln>
              <a:noFill/>
            </a:ln>
          </p:spPr>
        </p:sp>
        <p:sp>
          <p:nvSpPr>
            <p:cNvPr id="41" name="TextBox 41"/>
            <p:cNvSpPr txBox="1"/>
            <p:nvPr/>
          </p:nvSpPr>
          <p:spPr>
            <a:xfrm>
              <a:off x="4855450" y="5600224"/>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ambria"/>
                  <a:ea typeface="SimSun"/>
                  <a:cs typeface="Cambria"/>
                </a:rPr>
                <a:t>✗</a:t>
              </a:r>
            </a:p>
          </p:txBody>
        </p:sp>
        <p:sp>
          <p:nvSpPr>
            <p:cNvPr id="42" name="TextBox 42"/>
            <p:cNvSpPr txBox="1"/>
            <p:nvPr/>
          </p:nvSpPr>
          <p:spPr>
            <a:xfrm>
              <a:off x="4487544" y="5808345"/>
              <a:ext cx="835662" cy="182880"/>
            </a:xfrm>
            <a:prstGeom prst="rect">
              <a:avLst/>
            </a:prstGeom>
            <a:noFill/>
            <a:ln>
              <a:noFill/>
            </a:ln>
          </p:spPr>
          <p:txBody>
            <a:bodyPr wrap="none" lIns="0" tIns="0" rIns="0" bIns="0" anchor="t" anchorCtr="0">
              <a:spAutoFit/>
            </a:bodyPr>
            <a:lstStyle/>
            <a:p>
              <a:pPr algn="ctr"/>
              <a:r>
                <a:rPr lang="zh-CN" sz="900" b="1" dirty="0">
                  <a:solidFill>
                    <a:srgbClr val="1A1A1A"/>
                  </a:solidFill>
                  <a:latin typeface="Arial"/>
                  <a:ea typeface="Microsoft YaHei"/>
                  <a:cs typeface="Arial"/>
                </a:rPr>
                <a:t>Qwen2-VL-2B</a:t>
              </a:r>
            </a:p>
          </p:txBody>
        </p:sp>
        <p:sp>
          <p:nvSpPr>
            <p:cNvPr id="43" name="Rectangle 43"/>
            <p:cNvSpPr/>
            <p:nvPr/>
          </p:nvSpPr>
          <p:spPr>
            <a:xfrm>
              <a:off x="6477000" y="3324225"/>
              <a:ext cx="762000" cy="2247900"/>
            </a:xfrm>
            <a:prstGeom prst="roundRect">
              <a:avLst>
                <a:gd name="adj" fmla="val 3750"/>
              </a:avLst>
            </a:prstGeom>
            <a:gradFill>
              <a:gsLst>
                <a:gs pos="0">
                  <a:srgbClr val="1565C0"/>
                </a:gs>
                <a:gs pos="100000">
                  <a:srgbClr val="5C6BC0"/>
                </a:gs>
              </a:gsLst>
              <a:lin ang="5400000" scaled="1"/>
            </a:gradFill>
            <a:ln>
              <a:noFill/>
            </a:ln>
          </p:spPr>
        </p:sp>
        <p:sp>
          <p:nvSpPr>
            <p:cNvPr id="44" name="TextBox 44"/>
            <p:cNvSpPr txBox="1"/>
            <p:nvPr/>
          </p:nvSpPr>
          <p:spPr>
            <a:xfrm>
              <a:off x="6637429" y="3161824"/>
              <a:ext cx="441142" cy="198120"/>
            </a:xfrm>
            <a:prstGeom prst="rect">
              <a:avLst/>
            </a:prstGeom>
            <a:noFill/>
            <a:ln>
              <a:noFill/>
            </a:ln>
          </p:spPr>
          <p:txBody>
            <a:bodyPr wrap="none" lIns="0" tIns="0" rIns="0" bIns="0" anchor="t" anchorCtr="0">
              <a:spAutoFit/>
            </a:bodyPr>
            <a:lstStyle/>
            <a:p>
              <a:pPr algn="ctr"/>
              <a:r>
                <a:rPr lang="zh-CN" sz="975" b="1" dirty="0">
                  <a:solidFill>
                    <a:srgbClr val="1565C0"/>
                  </a:solidFill>
                  <a:latin typeface="Cambria"/>
                  <a:ea typeface="SimSun"/>
                  <a:cs typeface="Cambria"/>
                </a:rPr>
                <a:t>62.14%</a:t>
              </a:r>
            </a:p>
          </p:txBody>
        </p:sp>
        <p:sp>
          <p:nvSpPr>
            <p:cNvPr id="45" name="Rectangle 45"/>
            <p:cNvSpPr/>
            <p:nvPr/>
          </p:nvSpPr>
          <p:spPr>
            <a:xfrm>
              <a:off x="7334250" y="2143125"/>
              <a:ext cx="762000" cy="3429000"/>
            </a:xfrm>
            <a:prstGeom prst="roundRect">
              <a:avLst>
                <a:gd name="adj" fmla="val 3750"/>
              </a:avLst>
            </a:prstGeom>
            <a:gradFill>
              <a:gsLst>
                <a:gs pos="0">
                  <a:srgbClr val="FF8F00"/>
                </a:gs>
                <a:gs pos="100000">
                  <a:srgbClr val="FFB300"/>
                </a:gs>
              </a:gsLst>
              <a:lin ang="5400000" scaled="1"/>
            </a:gradFill>
            <a:ln>
              <a:noFill/>
            </a:ln>
          </p:spPr>
        </p:sp>
        <p:sp>
          <p:nvSpPr>
            <p:cNvPr id="46" name="TextBox 46"/>
            <p:cNvSpPr txBox="1"/>
            <p:nvPr/>
          </p:nvSpPr>
          <p:spPr>
            <a:xfrm>
              <a:off x="7477614" y="1980724"/>
              <a:ext cx="475271" cy="198120"/>
            </a:xfrm>
            <a:prstGeom prst="rect">
              <a:avLst/>
            </a:prstGeom>
            <a:noFill/>
            <a:ln>
              <a:noFill/>
            </a:ln>
          </p:spPr>
          <p:txBody>
            <a:bodyPr wrap="none" lIns="0" tIns="0" rIns="0" bIns="0" anchor="t" anchorCtr="0">
              <a:spAutoFit/>
            </a:bodyPr>
            <a:lstStyle/>
            <a:p>
              <a:pPr algn="ctr"/>
              <a:r>
                <a:rPr lang="zh-CN" sz="975" b="1" dirty="0">
                  <a:solidFill>
                    <a:srgbClr val="FF8F00"/>
                  </a:solidFill>
                  <a:latin typeface="Cambria"/>
                  <a:ea typeface="SimSun"/>
                  <a:cs typeface="Cambria"/>
                </a:rPr>
                <a:t>94.74%</a:t>
              </a:r>
            </a:p>
          </p:txBody>
        </p:sp>
        <p:sp>
          <p:nvSpPr>
            <p:cNvPr id="47" name="Ellipse 47"/>
            <p:cNvSpPr/>
            <p:nvPr/>
          </p:nvSpPr>
          <p:spPr>
            <a:xfrm>
              <a:off x="7162800" y="5543550"/>
              <a:ext cx="247650" cy="247650"/>
            </a:xfrm>
            <a:prstGeom prst="ellipse">
              <a:avLst/>
            </a:prstGeom>
            <a:solidFill>
              <a:srgbClr val="2E7D32"/>
            </a:solidFill>
            <a:ln>
              <a:noFill/>
            </a:ln>
          </p:spPr>
        </p:sp>
        <p:sp>
          <p:nvSpPr>
            <p:cNvPr id="48" name="TextBox 48"/>
            <p:cNvSpPr txBox="1"/>
            <p:nvPr/>
          </p:nvSpPr>
          <p:spPr>
            <a:xfrm>
              <a:off x="7229020" y="5593556"/>
              <a:ext cx="11521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Cambria"/>
                  <a:ea typeface="SimSun"/>
                  <a:cs typeface="Cambria"/>
                </a:rPr>
                <a:t>✓</a:t>
              </a:r>
            </a:p>
          </p:txBody>
        </p:sp>
        <p:sp>
          <p:nvSpPr>
            <p:cNvPr id="49" name="TextBox 49"/>
            <p:cNvSpPr txBox="1"/>
            <p:nvPr/>
          </p:nvSpPr>
          <p:spPr>
            <a:xfrm>
              <a:off x="6906599" y="5808345"/>
              <a:ext cx="760052" cy="182880"/>
            </a:xfrm>
            <a:prstGeom prst="rect">
              <a:avLst/>
            </a:prstGeom>
            <a:noFill/>
            <a:ln>
              <a:noFill/>
            </a:ln>
          </p:spPr>
          <p:txBody>
            <a:bodyPr wrap="none" lIns="0" tIns="0" rIns="0" bIns="0" anchor="t" anchorCtr="0">
              <a:spAutoFit/>
            </a:bodyPr>
            <a:lstStyle/>
            <a:p>
              <a:pPr algn="ctr"/>
              <a:r>
                <a:rPr lang="zh-CN" sz="900" b="1" dirty="0">
                  <a:solidFill>
                    <a:srgbClr val="2E7D32"/>
                  </a:solidFill>
                  <a:latin typeface="Arial"/>
                  <a:ea typeface="Microsoft YaHei"/>
                  <a:cs typeface="Arial"/>
                </a:rPr>
                <a:t>English-CLIP</a:t>
              </a:r>
            </a:p>
          </p:txBody>
        </p:sp>
        <p:sp>
          <p:nvSpPr>
            <p:cNvPr id="50" name="TextBox 50"/>
            <p:cNvSpPr txBox="1"/>
            <p:nvPr/>
          </p:nvSpPr>
          <p:spPr>
            <a:xfrm rot="-5400000">
              <a:off x="432966" y="3670935"/>
              <a:ext cx="646638" cy="182880"/>
            </a:xfrm>
            <a:prstGeom prst="rect">
              <a:avLst/>
            </a:prstGeom>
            <a:noFill/>
            <a:ln>
              <a:noFill/>
            </a:ln>
          </p:spPr>
          <p:txBody>
            <a:bodyPr wrap="none" lIns="0" tIns="0" rIns="0" bIns="0" anchor="t" anchorCtr="0">
              <a:spAutoFit/>
            </a:bodyPr>
            <a:lstStyle/>
            <a:p>
              <a:pPr algn="ctr"/>
              <a:r>
                <a:rPr lang="zh-CN" sz="900" b="1" dirty="0">
                  <a:solidFill>
                    <a:srgbClr val="5F6368"/>
                  </a:solidFill>
                  <a:latin typeface="Arial"/>
                  <a:ea typeface="Microsoft YaHei"/>
                  <a:cs typeface="Arial"/>
                </a:rPr>
                <a:t>准确率 (%)</a:t>
              </a:r>
            </a:p>
          </p:txBody>
        </p:sp>
      </p:grpSp>
      <p:grpSp>
        <p:nvGrpSpPr>
          <p:cNvPr id="80" name="Group 80"/>
          <p:cNvGrpSpPr/>
          <p:nvPr/>
        </p:nvGrpSpPr>
        <p:grpSpPr>
          <a:xfrm>
            <a:off x="8572500" y="1571625"/>
            <a:ext cx="3048000" cy="4667250"/>
            <a:chOff x="8572500" y="1571625"/>
            <a:chExt cx="3048000" cy="4667250"/>
          </a:xfrm>
        </p:grpSpPr>
        <p:sp>
          <p:nvSpPr>
            <p:cNvPr id="52" name="Rectangle 52"/>
            <p:cNvSpPr/>
            <p:nvPr/>
          </p:nvSpPr>
          <p:spPr>
            <a:xfrm>
              <a:off x="8572500" y="1571625"/>
              <a:ext cx="3048000" cy="4667250"/>
            </a:xfrm>
            <a:prstGeom prst="roundRect">
              <a:avLst>
                <a:gd name="adj" fmla="val 3750"/>
              </a:avLst>
            </a:prstGeom>
            <a:solidFill>
              <a:srgbClr val="F5F7FA"/>
            </a:solidFill>
            <a:ln w="9525">
              <a:solidFill>
                <a:srgbClr val="E0E0E0"/>
              </a:solidFill>
            </a:ln>
            <a:effectLst>
              <a:outerShdw blurRad="114300" dist="38100" dir="5400000" algn="ctr" rotWithShape="0">
                <a:srgbClr val="0F172A">
                  <a:alpha val="7500"/>
                </a:srgbClr>
              </a:outerShdw>
            </a:effectLst>
          </p:spPr>
        </p:sp>
        <p:sp>
          <p:nvSpPr>
            <p:cNvPr id="53" name="Rectangle 53"/>
            <p:cNvSpPr/>
            <p:nvPr/>
          </p:nvSpPr>
          <p:spPr>
            <a:xfrm>
              <a:off x="8572500" y="1571625"/>
              <a:ext cx="3048000" cy="476250"/>
            </a:xfrm>
            <a:prstGeom prst="roundRect">
              <a:avLst>
                <a:gd name="adj" fmla="val 24000"/>
              </a:avLst>
            </a:prstGeom>
            <a:solidFill>
              <a:srgbClr val="1565C0"/>
            </a:solidFill>
            <a:ln>
              <a:noFill/>
            </a:ln>
          </p:spPr>
        </p:sp>
        <p:sp>
          <p:nvSpPr>
            <p:cNvPr id="54" name="Rectangle 54"/>
            <p:cNvSpPr/>
            <p:nvPr/>
          </p:nvSpPr>
          <p:spPr>
            <a:xfrm>
              <a:off x="8572500" y="1933575"/>
              <a:ext cx="3048000" cy="114300"/>
            </a:xfrm>
            <a:prstGeom prst="rect">
              <a:avLst/>
            </a:prstGeom>
            <a:solidFill>
              <a:srgbClr val="1565C0"/>
            </a:solidFill>
            <a:ln>
              <a:noFill/>
            </a:ln>
          </p:spPr>
        </p:sp>
        <p:sp>
          <p:nvSpPr>
            <p:cNvPr id="55" name="TextBox 55"/>
            <p:cNvSpPr txBox="1"/>
            <p:nvPr/>
          </p:nvSpPr>
          <p:spPr>
            <a:xfrm>
              <a:off x="9098435" y="1738789"/>
              <a:ext cx="199613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Cambria"/>
                  <a:ea typeface="SimSun"/>
                  <a:cs typeface="Cambria"/>
                </a:rPr>
                <a:t>关键发现 · Key Findings</a:t>
              </a:r>
            </a:p>
          </p:txBody>
        </p:sp>
        <p:sp>
          <p:nvSpPr>
            <p:cNvPr id="56" name="Rectangle 56"/>
            <p:cNvSpPr/>
            <p:nvPr/>
          </p:nvSpPr>
          <p:spPr>
            <a:xfrm>
              <a:off x="8763000" y="2238375"/>
              <a:ext cx="2667000" cy="952500"/>
            </a:xfrm>
            <a:prstGeom prst="roundRect">
              <a:avLst>
                <a:gd name="adj" fmla="val 8000"/>
              </a:avLst>
            </a:prstGeom>
            <a:solidFill>
              <a:srgbClr val="FFFFFF"/>
            </a:solidFill>
            <a:ln>
              <a:noFill/>
            </a:ln>
          </p:spPr>
        </p:sp>
        <p:sp>
          <p:nvSpPr>
            <p:cNvPr id="57" name="Ellipse 57"/>
            <p:cNvSpPr/>
            <p:nvPr/>
          </p:nvSpPr>
          <p:spPr>
            <a:xfrm>
              <a:off x="8820150" y="2343150"/>
              <a:ext cx="266700" cy="266700"/>
            </a:xfrm>
            <a:prstGeom prst="ellipse">
              <a:avLst/>
            </a:prstGeom>
            <a:solidFill>
              <a:srgbClr val="2E7D32"/>
            </a:solidFill>
            <a:ln>
              <a:noFill/>
            </a:ln>
          </p:spPr>
        </p:sp>
        <p:sp>
          <p:nvSpPr>
            <p:cNvPr id="58" name="TextBox 58"/>
            <p:cNvSpPr txBox="1"/>
            <p:nvPr/>
          </p:nvSpPr>
          <p:spPr>
            <a:xfrm>
              <a:off x="8918112" y="2410778"/>
              <a:ext cx="7077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Cambria"/>
                  <a:ea typeface="SimSun"/>
                  <a:cs typeface="Cambria"/>
                </a:rPr>
                <a:t>1</a:t>
              </a:r>
            </a:p>
          </p:txBody>
        </p:sp>
        <p:sp>
          <p:nvSpPr>
            <p:cNvPr id="59" name="TextBox 59"/>
            <p:cNvSpPr txBox="1"/>
            <p:nvPr/>
          </p:nvSpPr>
          <p:spPr>
            <a:xfrm>
              <a:off x="9169718" y="2342674"/>
              <a:ext cx="1273896"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English-CLIP 双达标</a:t>
              </a:r>
            </a:p>
          </p:txBody>
        </p:sp>
        <p:sp>
          <p:nvSpPr>
            <p:cNvPr id="60" name="TextBox 60"/>
            <p:cNvSpPr txBox="1"/>
            <p:nvPr/>
          </p:nvSpPr>
          <p:spPr>
            <a:xfrm>
              <a:off x="9171622" y="2549366"/>
              <a:ext cx="1060585"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Top-1 62.14% (≥60%)</a:t>
              </a:r>
            </a:p>
          </p:txBody>
        </p:sp>
        <p:sp>
          <p:nvSpPr>
            <p:cNvPr id="61" name="TextBox 61"/>
            <p:cNvSpPr txBox="1"/>
            <p:nvPr/>
          </p:nvSpPr>
          <p:spPr>
            <a:xfrm>
              <a:off x="9171622" y="2720816"/>
              <a:ext cx="1115592"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Top-5 94.74% (≥85%)</a:t>
              </a:r>
            </a:p>
          </p:txBody>
        </p:sp>
        <p:sp>
          <p:nvSpPr>
            <p:cNvPr id="62" name="TextBox 62"/>
            <p:cNvSpPr txBox="1"/>
            <p:nvPr/>
          </p:nvSpPr>
          <p:spPr>
            <a:xfrm>
              <a:off x="9171622" y="2968466"/>
              <a:ext cx="774549" cy="167640"/>
            </a:xfrm>
            <a:prstGeom prst="rect">
              <a:avLst/>
            </a:prstGeom>
            <a:noFill/>
            <a:ln>
              <a:noFill/>
            </a:ln>
          </p:spPr>
          <p:txBody>
            <a:bodyPr wrap="none" lIns="0" tIns="0" rIns="0" bIns="0" anchor="t" anchorCtr="0">
              <a:spAutoFit/>
            </a:bodyPr>
            <a:lstStyle/>
            <a:p>
              <a:pPr algn="l"/>
              <a:r>
                <a:rPr lang="zh-CN" sz="825" i="1" dirty="0">
                  <a:solidFill>
                    <a:srgbClr val="2E7D32"/>
                  </a:solidFill>
                  <a:latin typeface="Cambria"/>
                  <a:ea typeface="SimSun"/>
                  <a:cs typeface="Cambria"/>
                </a:rPr>
                <a:t>✓ 唯一达标模型</a:t>
              </a:r>
            </a:p>
          </p:txBody>
        </p:sp>
        <p:sp>
          <p:nvSpPr>
            <p:cNvPr id="63" name="Rectangle 63"/>
            <p:cNvSpPr/>
            <p:nvPr/>
          </p:nvSpPr>
          <p:spPr>
            <a:xfrm>
              <a:off x="8763000" y="3324225"/>
              <a:ext cx="2667000" cy="952500"/>
            </a:xfrm>
            <a:prstGeom prst="roundRect">
              <a:avLst>
                <a:gd name="adj" fmla="val 8000"/>
              </a:avLst>
            </a:prstGeom>
            <a:solidFill>
              <a:srgbClr val="FFFFFF"/>
            </a:solidFill>
            <a:ln>
              <a:noFill/>
            </a:ln>
          </p:spPr>
        </p:sp>
        <p:sp>
          <p:nvSpPr>
            <p:cNvPr id="64" name="Ellipse 64"/>
            <p:cNvSpPr/>
            <p:nvPr/>
          </p:nvSpPr>
          <p:spPr>
            <a:xfrm>
              <a:off x="8820150" y="3429000"/>
              <a:ext cx="266700" cy="266700"/>
            </a:xfrm>
            <a:prstGeom prst="ellipse">
              <a:avLst/>
            </a:prstGeom>
            <a:solidFill>
              <a:srgbClr val="1565C0"/>
            </a:solidFill>
            <a:ln>
              <a:noFill/>
            </a:ln>
          </p:spPr>
        </p:sp>
        <p:sp>
          <p:nvSpPr>
            <p:cNvPr id="65" name="TextBox 65"/>
            <p:cNvSpPr txBox="1"/>
            <p:nvPr/>
          </p:nvSpPr>
          <p:spPr>
            <a:xfrm>
              <a:off x="8899735" y="34966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Cambria"/>
                  <a:ea typeface="SimSun"/>
                  <a:cs typeface="Cambria"/>
                </a:rPr>
                <a:t>2</a:t>
              </a:r>
            </a:p>
          </p:txBody>
        </p:sp>
        <p:sp>
          <p:nvSpPr>
            <p:cNvPr id="66" name="TextBox 66"/>
            <p:cNvSpPr txBox="1"/>
            <p:nvPr/>
          </p:nvSpPr>
          <p:spPr>
            <a:xfrm>
              <a:off x="9169718" y="3428524"/>
              <a:ext cx="1116902"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语言对齐至关重要</a:t>
              </a:r>
            </a:p>
          </p:txBody>
        </p:sp>
        <p:sp>
          <p:nvSpPr>
            <p:cNvPr id="67" name="TextBox 67"/>
            <p:cNvSpPr txBox="1"/>
            <p:nvPr/>
          </p:nvSpPr>
          <p:spPr>
            <a:xfrm>
              <a:off x="9171622" y="3635216"/>
              <a:ext cx="1055084"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英文类别 + 英文 CLIP</a:t>
              </a:r>
            </a:p>
          </p:txBody>
        </p:sp>
        <p:sp>
          <p:nvSpPr>
            <p:cNvPr id="68" name="TextBox 68"/>
            <p:cNvSpPr txBox="1"/>
            <p:nvPr/>
          </p:nvSpPr>
          <p:spPr>
            <a:xfrm>
              <a:off x="9171622" y="3806666"/>
              <a:ext cx="1335619"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vs Chinese-CLIP +17.49pp</a:t>
              </a:r>
            </a:p>
          </p:txBody>
        </p:sp>
        <p:sp>
          <p:nvSpPr>
            <p:cNvPr id="69" name="TextBox 69"/>
            <p:cNvSpPr txBox="1"/>
            <p:nvPr/>
          </p:nvSpPr>
          <p:spPr>
            <a:xfrm>
              <a:off x="9171622" y="4054316"/>
              <a:ext cx="901065" cy="167640"/>
            </a:xfrm>
            <a:prstGeom prst="rect">
              <a:avLst/>
            </a:prstGeom>
            <a:noFill/>
            <a:ln>
              <a:noFill/>
            </a:ln>
          </p:spPr>
          <p:txBody>
            <a:bodyPr wrap="none" lIns="0" tIns="0" rIns="0" bIns="0" anchor="t" anchorCtr="0">
              <a:spAutoFit/>
            </a:bodyPr>
            <a:lstStyle/>
            <a:p>
              <a:pPr algn="l"/>
              <a:r>
                <a:rPr lang="zh-CN" sz="825" i="1" dirty="0">
                  <a:solidFill>
                    <a:srgbClr val="1565C0"/>
                  </a:solidFill>
                  <a:latin typeface="Cambria"/>
                  <a:ea typeface="SimSun"/>
                  <a:cs typeface="Cambria"/>
                </a:rPr>
                <a:t>语义对齐决定精度</a:t>
              </a:r>
            </a:p>
          </p:txBody>
        </p:sp>
        <p:sp>
          <p:nvSpPr>
            <p:cNvPr id="70" name="Rectangle 70"/>
            <p:cNvSpPr/>
            <p:nvPr/>
          </p:nvSpPr>
          <p:spPr>
            <a:xfrm>
              <a:off x="8763000" y="4410075"/>
              <a:ext cx="2667000" cy="952500"/>
            </a:xfrm>
            <a:prstGeom prst="roundRect">
              <a:avLst>
                <a:gd name="adj" fmla="val 8000"/>
              </a:avLst>
            </a:prstGeom>
            <a:solidFill>
              <a:srgbClr val="FFFFFF"/>
            </a:solidFill>
            <a:ln>
              <a:noFill/>
            </a:ln>
          </p:spPr>
        </p:sp>
        <p:sp>
          <p:nvSpPr>
            <p:cNvPr id="71" name="Ellipse 71"/>
            <p:cNvSpPr/>
            <p:nvPr/>
          </p:nvSpPr>
          <p:spPr>
            <a:xfrm>
              <a:off x="8820150" y="4514850"/>
              <a:ext cx="266700" cy="266700"/>
            </a:xfrm>
            <a:prstGeom prst="ellipse">
              <a:avLst/>
            </a:prstGeom>
            <a:solidFill>
              <a:srgbClr val="FF8F00"/>
            </a:solidFill>
            <a:ln>
              <a:noFill/>
            </a:ln>
          </p:spPr>
        </p:sp>
        <p:sp>
          <p:nvSpPr>
            <p:cNvPr id="72" name="TextBox 72"/>
            <p:cNvSpPr txBox="1"/>
            <p:nvPr/>
          </p:nvSpPr>
          <p:spPr>
            <a:xfrm>
              <a:off x="8899735" y="458247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Cambria"/>
                  <a:ea typeface="SimSun"/>
                  <a:cs typeface="Cambria"/>
                </a:rPr>
                <a:t>3</a:t>
              </a:r>
            </a:p>
          </p:txBody>
        </p:sp>
        <p:sp>
          <p:nvSpPr>
            <p:cNvPr id="73" name="TextBox 73"/>
            <p:cNvSpPr txBox="1"/>
            <p:nvPr/>
          </p:nvSpPr>
          <p:spPr>
            <a:xfrm>
              <a:off x="9169718" y="4514374"/>
              <a:ext cx="121246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度量 vs 生成式推理</a:t>
              </a:r>
            </a:p>
          </p:txBody>
        </p:sp>
        <p:sp>
          <p:nvSpPr>
            <p:cNvPr id="74" name="TextBox 74"/>
            <p:cNvSpPr txBox="1"/>
            <p:nvPr/>
          </p:nvSpPr>
          <p:spPr>
            <a:xfrm>
              <a:off x="9171622" y="4721066"/>
              <a:ext cx="1418130"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Qwen2-VL 生成式仅 38.00%</a:t>
              </a:r>
            </a:p>
          </p:txBody>
        </p:sp>
        <p:sp>
          <p:nvSpPr>
            <p:cNvPr id="75" name="TextBox 75"/>
            <p:cNvSpPr txBox="1"/>
            <p:nvPr/>
          </p:nvSpPr>
          <p:spPr>
            <a:xfrm>
              <a:off x="9171622" y="4892516"/>
              <a:ext cx="1341120"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固定类别场景不如度量学习</a:t>
              </a:r>
            </a:p>
          </p:txBody>
        </p:sp>
        <p:sp>
          <p:nvSpPr>
            <p:cNvPr id="76" name="TextBox 76"/>
            <p:cNvSpPr txBox="1"/>
            <p:nvPr/>
          </p:nvSpPr>
          <p:spPr>
            <a:xfrm>
              <a:off x="9171622" y="5140166"/>
              <a:ext cx="681038" cy="167640"/>
            </a:xfrm>
            <a:prstGeom prst="rect">
              <a:avLst/>
            </a:prstGeom>
            <a:noFill/>
            <a:ln>
              <a:noFill/>
            </a:ln>
          </p:spPr>
          <p:txBody>
            <a:bodyPr wrap="none" lIns="0" tIns="0" rIns="0" bIns="0" anchor="t" anchorCtr="0">
              <a:spAutoFit/>
            </a:bodyPr>
            <a:lstStyle/>
            <a:p>
              <a:pPr algn="l"/>
              <a:r>
                <a:rPr lang="zh-CN" sz="825" i="1" dirty="0">
                  <a:solidFill>
                    <a:srgbClr val="FF8F00"/>
                  </a:solidFill>
                  <a:latin typeface="Cambria"/>
                  <a:ea typeface="SimSun"/>
                  <a:cs typeface="Cambria"/>
                </a:rPr>
                <a:t>范式决定效果</a:t>
              </a:r>
            </a:p>
          </p:txBody>
        </p:sp>
        <p:sp>
          <p:nvSpPr>
            <p:cNvPr id="77" name="Rectangle 77"/>
            <p:cNvSpPr/>
            <p:nvPr/>
          </p:nvSpPr>
          <p:spPr>
            <a:xfrm>
              <a:off x="8763000" y="5495925"/>
              <a:ext cx="2667000" cy="571500"/>
            </a:xfrm>
            <a:prstGeom prst="roundRect">
              <a:avLst>
                <a:gd name="adj" fmla="val 13333"/>
              </a:avLst>
            </a:prstGeom>
            <a:solidFill>
              <a:srgbClr val="2E7D32"/>
            </a:solidFill>
            <a:ln>
              <a:noFill/>
            </a:ln>
          </p:spPr>
        </p:sp>
        <p:sp>
          <p:nvSpPr>
            <p:cNvPr id="78" name="TextBox 78"/>
            <p:cNvSpPr txBox="1"/>
            <p:nvPr/>
          </p:nvSpPr>
          <p:spPr>
            <a:xfrm>
              <a:off x="9333274" y="5619274"/>
              <a:ext cx="152645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结论: 选定 English-CLIP</a:t>
              </a:r>
            </a:p>
          </p:txBody>
        </p:sp>
        <p:sp>
          <p:nvSpPr>
            <p:cNvPr id="79" name="TextBox 79"/>
            <p:cNvSpPr txBox="1"/>
            <p:nvPr/>
          </p:nvSpPr>
          <p:spPr>
            <a:xfrm>
              <a:off x="9605010" y="5836920"/>
              <a:ext cx="982980" cy="182880"/>
            </a:xfrm>
            <a:prstGeom prst="rect">
              <a:avLst/>
            </a:prstGeom>
            <a:noFill/>
            <a:ln>
              <a:noFill/>
            </a:ln>
          </p:spPr>
          <p:txBody>
            <a:bodyPr wrap="none" lIns="0" tIns="0" rIns="0" bIns="0" anchor="t" anchorCtr="0">
              <a:spAutoFit/>
            </a:bodyPr>
            <a:lstStyle/>
            <a:p>
              <a:pPr algn="ctr"/>
              <a:r>
                <a:rPr lang="zh-CN" sz="900" i="1" dirty="0">
                  <a:solidFill>
                    <a:srgbClr val="FFFFFF">
                      <a:alphaMod val="85000"/>
                    </a:srgbClr>
                  </a:solidFill>
                  <a:latin typeface="Cambria"/>
                  <a:ea typeface="SimSun"/>
                  <a:cs typeface="Cambria"/>
                </a:rPr>
                <a:t>作为后续消融基线</a:t>
              </a:r>
            </a:p>
          </p:txBody>
        </p:sp>
      </p:grpSp>
      <p:sp>
        <p:nvSpPr>
          <p:cNvPr id="81" name="TextBox 81"/>
          <p:cNvSpPr txBox="1"/>
          <p:nvPr/>
        </p:nvSpPr>
        <p:spPr>
          <a:xfrm>
            <a:off x="561022" y="6578441"/>
            <a:ext cx="2793302"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1 · Q1 Baseline</a:t>
            </a:r>
          </a:p>
        </p:txBody>
      </p:sp>
      <p:sp>
        <p:nvSpPr>
          <p:cNvPr id="82" name="TextBox 82"/>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06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400"/>
                                        <p:tgtEl>
                                          <p:spTgt spid="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400"/>
                                        <p:tgtEl>
                                          <p:spTgt spid="51"/>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image">
                                      <p:cBhvr>
                                        <p:cTn id="15" dur="4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1" grpId="0"/>
      <p:bldP spid="8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71500" y="457200"/>
            <a:ext cx="5984296" cy="652462"/>
            <a:chOff x="571500" y="457200"/>
            <a:chExt cx="5984296" cy="652462"/>
          </a:xfrm>
        </p:grpSpPr>
        <p:sp>
          <p:nvSpPr>
            <p:cNvPr id="3" name="Rectangle 3"/>
            <p:cNvSpPr/>
            <p:nvPr/>
          </p:nvSpPr>
          <p:spPr>
            <a:xfrm>
              <a:off x="571500" y="457200"/>
              <a:ext cx="57150" cy="381000"/>
            </a:xfrm>
            <a:prstGeom prst="roundRect">
              <a:avLst>
                <a:gd name="adj" fmla="val 50000"/>
              </a:avLst>
            </a:prstGeom>
            <a:solidFill>
              <a:srgbClr val="1565C0"/>
            </a:solidFill>
            <a:ln>
              <a:noFill/>
            </a:ln>
          </p:spPr>
        </p:sp>
        <p:sp>
          <p:nvSpPr>
            <p:cNvPr id="4" name="TextBox 4"/>
            <p:cNvSpPr txBox="1"/>
            <p:nvPr/>
          </p:nvSpPr>
          <p:spPr>
            <a:xfrm>
              <a:off x="733425" y="500062"/>
              <a:ext cx="5822371"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消融实验 · 检测器 + CoT 协同增益 6.50%</a:t>
              </a:r>
            </a:p>
          </p:txBody>
        </p:sp>
        <p:sp>
          <p:nvSpPr>
            <p:cNvPr id="5" name="TextBox 5"/>
            <p:cNvSpPr txBox="1"/>
            <p:nvPr/>
          </p:nvSpPr>
          <p:spPr>
            <a:xfrm>
              <a:off x="748665" y="896302"/>
              <a:ext cx="2856774"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Q1 · ABLATION · DETECTOR + CoT SYNERGY</a:t>
              </a:r>
            </a:p>
          </p:txBody>
        </p:sp>
      </p:grpSp>
      <p:sp>
        <p:nvSpPr>
          <p:cNvPr id="7" name="Line 7"/>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grpSp>
        <p:nvGrpSpPr>
          <p:cNvPr id="51" name="Group 51"/>
          <p:cNvGrpSpPr/>
          <p:nvPr/>
        </p:nvGrpSpPr>
        <p:grpSpPr>
          <a:xfrm>
            <a:off x="351794" y="1632585"/>
            <a:ext cx="8801731" cy="4237196"/>
            <a:chOff x="351794" y="1632585"/>
            <a:chExt cx="8801731" cy="4237196"/>
          </a:xfrm>
        </p:grpSpPr>
        <p:sp>
          <p:nvSpPr>
            <p:cNvPr id="8" name="TextBox 8"/>
            <p:cNvSpPr txBox="1"/>
            <p:nvPr/>
          </p:nvSpPr>
          <p:spPr>
            <a:xfrm>
              <a:off x="556260" y="1632585"/>
              <a:ext cx="3617728"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English-CLIP 在 4 种配置下的 Top-1 准确率 (%)</a:t>
              </a:r>
            </a:p>
          </p:txBody>
        </p:sp>
        <p:sp>
          <p:nvSpPr>
            <p:cNvPr id="9" name="TextBox 9"/>
            <p:cNvSpPr txBox="1"/>
            <p:nvPr/>
          </p:nvSpPr>
          <p:spPr>
            <a:xfrm>
              <a:off x="560070" y="1874520"/>
              <a:ext cx="2633186"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基线 → +检测器 → +CoT → 完整方案,显示协同增益</a:t>
              </a:r>
            </a:p>
          </p:txBody>
        </p:sp>
        <p:sp>
          <p:nvSpPr>
            <p:cNvPr id="10" name="Line 10"/>
            <p:cNvSpPr/>
            <p:nvPr/>
          </p:nvSpPr>
          <p:spPr>
            <a:xfrm>
              <a:off x="1333500" y="2333625"/>
              <a:ext cx="9525" cy="3048000"/>
            </a:xfrm>
            <a:custGeom>
              <a:avLst/>
              <a:gdLst/>
              <a:ahLst/>
              <a:cxnLst/>
              <a:rect l="l" t="t" r="r" b="b"/>
              <a:pathLst>
                <a:path w="9525" h="3048000">
                  <a:moveTo>
                    <a:pt x="0" y="0"/>
                  </a:moveTo>
                  <a:lnTo>
                    <a:pt x="0" y="3048000"/>
                  </a:lnTo>
                </a:path>
              </a:pathLst>
            </a:custGeom>
            <a:noFill/>
            <a:ln w="14288">
              <a:solidFill>
                <a:srgbClr val="9AA0A6"/>
              </a:solidFill>
            </a:ln>
          </p:spPr>
        </p:sp>
        <p:sp>
          <p:nvSpPr>
            <p:cNvPr id="11" name="Line 11"/>
            <p:cNvSpPr/>
            <p:nvPr/>
          </p:nvSpPr>
          <p:spPr>
            <a:xfrm>
              <a:off x="1333500" y="5381625"/>
              <a:ext cx="7810500" cy="9525"/>
            </a:xfrm>
            <a:custGeom>
              <a:avLst/>
              <a:gdLst/>
              <a:ahLst/>
              <a:cxnLst/>
              <a:rect l="l" t="t" r="r" b="b"/>
              <a:pathLst>
                <a:path w="7810500" h="9525">
                  <a:moveTo>
                    <a:pt x="0" y="0"/>
                  </a:moveTo>
                  <a:lnTo>
                    <a:pt x="7810500" y="0"/>
                  </a:lnTo>
                </a:path>
              </a:pathLst>
            </a:custGeom>
            <a:noFill/>
            <a:ln w="14288">
              <a:solidFill>
                <a:srgbClr val="9AA0A6"/>
              </a:solidFill>
            </a:ln>
          </p:spPr>
        </p:sp>
        <p:sp>
          <p:nvSpPr>
            <p:cNvPr id="12" name="Line 12"/>
            <p:cNvSpPr/>
            <p:nvPr/>
          </p:nvSpPr>
          <p:spPr>
            <a:xfrm>
              <a:off x="1333500" y="5381625"/>
              <a:ext cx="7810500" cy="9525"/>
            </a:xfrm>
            <a:custGeom>
              <a:avLst/>
              <a:gdLst/>
              <a:ahLst/>
              <a:cxnLst/>
              <a:rect l="l" t="t" r="r" b="b"/>
              <a:pathLst>
                <a:path w="7810500" h="9525">
                  <a:moveTo>
                    <a:pt x="0" y="0"/>
                  </a:moveTo>
                  <a:lnTo>
                    <a:pt x="7810500" y="0"/>
                  </a:lnTo>
                </a:path>
              </a:pathLst>
            </a:custGeom>
            <a:noFill/>
            <a:ln w="9525">
              <a:solidFill>
                <a:srgbClr val="E0E0E0"/>
              </a:solidFill>
            </a:ln>
          </p:spPr>
        </p:sp>
        <p:sp>
          <p:nvSpPr>
            <p:cNvPr id="13" name="Line 13"/>
            <p:cNvSpPr/>
            <p:nvPr/>
          </p:nvSpPr>
          <p:spPr>
            <a:xfrm>
              <a:off x="1333500" y="4772025"/>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14" name="Line 14"/>
            <p:cNvSpPr/>
            <p:nvPr/>
          </p:nvSpPr>
          <p:spPr>
            <a:xfrm>
              <a:off x="1333500" y="4162425"/>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15" name="Line 15"/>
            <p:cNvSpPr/>
            <p:nvPr/>
          </p:nvSpPr>
          <p:spPr>
            <a:xfrm>
              <a:off x="1333500" y="3552825"/>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16" name="Line 16"/>
            <p:cNvSpPr/>
            <p:nvPr/>
          </p:nvSpPr>
          <p:spPr>
            <a:xfrm>
              <a:off x="1333500" y="2943225"/>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17" name="Line 17"/>
            <p:cNvSpPr/>
            <p:nvPr/>
          </p:nvSpPr>
          <p:spPr>
            <a:xfrm>
              <a:off x="1333500" y="2333625"/>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18" name="TextBox 18"/>
            <p:cNvSpPr txBox="1"/>
            <p:nvPr/>
          </p:nvSpPr>
          <p:spPr>
            <a:xfrm>
              <a:off x="1125807" y="5330666"/>
              <a:ext cx="141970"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50</a:t>
              </a:r>
            </a:p>
          </p:txBody>
        </p:sp>
        <p:sp>
          <p:nvSpPr>
            <p:cNvPr id="19" name="TextBox 19"/>
            <p:cNvSpPr txBox="1"/>
            <p:nvPr/>
          </p:nvSpPr>
          <p:spPr>
            <a:xfrm>
              <a:off x="1125807" y="4721066"/>
              <a:ext cx="141970"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55</a:t>
              </a:r>
            </a:p>
          </p:txBody>
        </p:sp>
        <p:sp>
          <p:nvSpPr>
            <p:cNvPr id="20" name="TextBox 20"/>
            <p:cNvSpPr txBox="1"/>
            <p:nvPr/>
          </p:nvSpPr>
          <p:spPr>
            <a:xfrm>
              <a:off x="1125807" y="4111466"/>
              <a:ext cx="141970"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60</a:t>
              </a:r>
            </a:p>
          </p:txBody>
        </p:sp>
        <p:sp>
          <p:nvSpPr>
            <p:cNvPr id="21" name="TextBox 21"/>
            <p:cNvSpPr txBox="1"/>
            <p:nvPr/>
          </p:nvSpPr>
          <p:spPr>
            <a:xfrm>
              <a:off x="1125807" y="3501866"/>
              <a:ext cx="141970"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65</a:t>
              </a:r>
            </a:p>
          </p:txBody>
        </p:sp>
        <p:sp>
          <p:nvSpPr>
            <p:cNvPr id="22" name="TextBox 22"/>
            <p:cNvSpPr txBox="1"/>
            <p:nvPr/>
          </p:nvSpPr>
          <p:spPr>
            <a:xfrm>
              <a:off x="1125807" y="2892266"/>
              <a:ext cx="141970"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70</a:t>
              </a:r>
            </a:p>
          </p:txBody>
        </p:sp>
        <p:sp>
          <p:nvSpPr>
            <p:cNvPr id="23" name="TextBox 23"/>
            <p:cNvSpPr txBox="1"/>
            <p:nvPr/>
          </p:nvSpPr>
          <p:spPr>
            <a:xfrm>
              <a:off x="1125807" y="2282666"/>
              <a:ext cx="141970"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75</a:t>
              </a:r>
            </a:p>
          </p:txBody>
        </p:sp>
        <p:sp>
          <p:nvSpPr>
            <p:cNvPr id="24" name="Line 24"/>
            <p:cNvSpPr/>
            <p:nvPr/>
          </p:nvSpPr>
          <p:spPr>
            <a:xfrm>
              <a:off x="1333500" y="4162425"/>
              <a:ext cx="7810500" cy="9525"/>
            </a:xfrm>
            <a:custGeom>
              <a:avLst/>
              <a:gdLst/>
              <a:ahLst/>
              <a:cxnLst/>
              <a:rect l="l" t="t" r="r" b="b"/>
              <a:pathLst>
                <a:path w="7810500" h="9525">
                  <a:moveTo>
                    <a:pt x="0" y="0"/>
                  </a:moveTo>
                  <a:lnTo>
                    <a:pt x="7810500" y="0"/>
                  </a:lnTo>
                </a:path>
              </a:pathLst>
            </a:custGeom>
            <a:noFill/>
            <a:ln w="14288">
              <a:solidFill>
                <a:srgbClr val="FF8F00"/>
              </a:solidFill>
              <a:prstDash val="dash"/>
            </a:ln>
          </p:spPr>
        </p:sp>
        <p:sp>
          <p:nvSpPr>
            <p:cNvPr id="25" name="TextBox 25"/>
            <p:cNvSpPr txBox="1"/>
            <p:nvPr/>
          </p:nvSpPr>
          <p:spPr>
            <a:xfrm>
              <a:off x="8719673" y="4043362"/>
              <a:ext cx="433852" cy="152400"/>
            </a:xfrm>
            <a:prstGeom prst="rect">
              <a:avLst/>
            </a:prstGeom>
            <a:noFill/>
            <a:ln>
              <a:noFill/>
            </a:ln>
          </p:spPr>
          <p:txBody>
            <a:bodyPr wrap="none" lIns="0" tIns="0" rIns="0" bIns="0" anchor="t" anchorCtr="0">
              <a:spAutoFit/>
            </a:bodyPr>
            <a:lstStyle/>
            <a:p>
              <a:pPr algn="r"/>
              <a:r>
                <a:rPr lang="zh-CN" sz="750" b="1" dirty="0">
                  <a:solidFill>
                    <a:srgbClr val="FF8F00"/>
                  </a:solidFill>
                  <a:latin typeface="Arial"/>
                  <a:ea typeface="Microsoft YaHei"/>
                  <a:cs typeface="Arial"/>
                </a:rPr>
                <a:t>目标 60%</a:t>
              </a:r>
            </a:p>
          </p:txBody>
        </p:sp>
        <p:sp>
          <p:nvSpPr>
            <p:cNvPr id="26" name="Rectangle 26"/>
            <p:cNvSpPr/>
            <p:nvPr/>
          </p:nvSpPr>
          <p:spPr>
            <a:xfrm>
              <a:off x="2095500" y="3905250"/>
              <a:ext cx="1143000" cy="1476375"/>
            </a:xfrm>
            <a:prstGeom prst="roundRect">
              <a:avLst>
                <a:gd name="adj" fmla="val 3333"/>
              </a:avLst>
            </a:prstGeom>
            <a:gradFill>
              <a:gsLst>
                <a:gs pos="0">
                  <a:srgbClr val="5C6BC0"/>
                </a:gs>
                <a:gs pos="100000">
                  <a:srgbClr val="1565C0"/>
                </a:gs>
              </a:gsLst>
              <a:lin ang="5400000" scaled="1"/>
            </a:gradFill>
            <a:ln>
              <a:noFill/>
            </a:ln>
          </p:spPr>
        </p:sp>
        <p:sp>
          <p:nvSpPr>
            <p:cNvPr id="27" name="TextBox 27"/>
            <p:cNvSpPr txBox="1"/>
            <p:nvPr/>
          </p:nvSpPr>
          <p:spPr>
            <a:xfrm>
              <a:off x="2412495" y="3688556"/>
              <a:ext cx="509010"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Cambria"/>
                  <a:ea typeface="SimSun"/>
                  <a:cs typeface="Cambria"/>
                </a:rPr>
                <a:t>62.14%</a:t>
              </a:r>
            </a:p>
          </p:txBody>
        </p:sp>
        <p:sp>
          <p:nvSpPr>
            <p:cNvPr id="28" name="TextBox 28"/>
            <p:cNvSpPr txBox="1"/>
            <p:nvPr/>
          </p:nvSpPr>
          <p:spPr>
            <a:xfrm>
              <a:off x="2518100" y="5514499"/>
              <a:ext cx="297799"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基线</a:t>
              </a:r>
            </a:p>
          </p:txBody>
        </p:sp>
        <p:sp>
          <p:nvSpPr>
            <p:cNvPr id="29" name="TextBox 29"/>
            <p:cNvSpPr txBox="1"/>
            <p:nvPr/>
          </p:nvSpPr>
          <p:spPr>
            <a:xfrm>
              <a:off x="2334732" y="5702141"/>
              <a:ext cx="664535" cy="167640"/>
            </a:xfrm>
            <a:prstGeom prst="rect">
              <a:avLst/>
            </a:prstGeom>
            <a:noFill/>
            <a:ln>
              <a:noFill/>
            </a:ln>
          </p:spPr>
          <p:txBody>
            <a:bodyPr wrap="none" lIns="0" tIns="0" rIns="0" bIns="0" anchor="t" anchorCtr="0">
              <a:spAutoFit/>
            </a:bodyPr>
            <a:lstStyle/>
            <a:p>
              <a:pPr algn="ctr"/>
              <a:r>
                <a:rPr lang="zh-CN" sz="825" dirty="0">
                  <a:solidFill>
                    <a:srgbClr val="5F6368"/>
                  </a:solidFill>
                  <a:latin typeface="Cambria"/>
                  <a:ea typeface="SimSun"/>
                  <a:cs typeface="Cambria"/>
                </a:rPr>
                <a:t>English-CLIP</a:t>
              </a:r>
            </a:p>
          </p:txBody>
        </p:sp>
        <p:sp>
          <p:nvSpPr>
            <p:cNvPr id="30" name="Rectangle 30"/>
            <p:cNvSpPr/>
            <p:nvPr/>
          </p:nvSpPr>
          <p:spPr>
            <a:xfrm>
              <a:off x="3810000" y="3409950"/>
              <a:ext cx="1143000" cy="1971675"/>
            </a:xfrm>
            <a:prstGeom prst="roundRect">
              <a:avLst>
                <a:gd name="adj" fmla="val 3333"/>
              </a:avLst>
            </a:prstGeom>
            <a:gradFill>
              <a:gsLst>
                <a:gs pos="0">
                  <a:srgbClr val="1565C0"/>
                </a:gs>
                <a:gs pos="100000">
                  <a:srgbClr val="0D2A4F"/>
                </a:gs>
              </a:gsLst>
              <a:lin ang="5400000" scaled="1"/>
            </a:gradFill>
            <a:ln>
              <a:noFill/>
            </a:ln>
          </p:spPr>
        </p:sp>
        <p:sp>
          <p:nvSpPr>
            <p:cNvPr id="31" name="TextBox 31"/>
            <p:cNvSpPr txBox="1"/>
            <p:nvPr/>
          </p:nvSpPr>
          <p:spPr>
            <a:xfrm>
              <a:off x="4126995" y="3193256"/>
              <a:ext cx="509010"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Cambria"/>
                  <a:ea typeface="SimSun"/>
                  <a:cs typeface="Cambria"/>
                </a:rPr>
                <a:t>66.14%</a:t>
              </a:r>
            </a:p>
          </p:txBody>
        </p:sp>
        <p:sp>
          <p:nvSpPr>
            <p:cNvPr id="32" name="Rectangle 32"/>
            <p:cNvSpPr/>
            <p:nvPr/>
          </p:nvSpPr>
          <p:spPr>
            <a:xfrm>
              <a:off x="3810000" y="3057525"/>
              <a:ext cx="1143000" cy="266700"/>
            </a:xfrm>
            <a:prstGeom prst="roundRect">
              <a:avLst>
                <a:gd name="adj" fmla="val 50000"/>
              </a:avLst>
            </a:prstGeom>
            <a:solidFill>
              <a:srgbClr val="FF8F00"/>
            </a:solidFill>
            <a:ln>
              <a:noFill/>
            </a:ln>
          </p:spPr>
        </p:sp>
        <p:sp>
          <p:nvSpPr>
            <p:cNvPr id="33" name="TextBox 33"/>
            <p:cNvSpPr txBox="1"/>
            <p:nvPr/>
          </p:nvSpPr>
          <p:spPr>
            <a:xfrm>
              <a:off x="4143242" y="3131820"/>
              <a:ext cx="47651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Cambria"/>
                  <a:ea typeface="SimSun"/>
                  <a:cs typeface="Cambria"/>
                </a:rPr>
                <a:t>+ 4.00%</a:t>
              </a:r>
            </a:p>
          </p:txBody>
        </p:sp>
        <p:sp>
          <p:nvSpPr>
            <p:cNvPr id="34" name="TextBox 34"/>
            <p:cNvSpPr txBox="1"/>
            <p:nvPr/>
          </p:nvSpPr>
          <p:spPr>
            <a:xfrm>
              <a:off x="4106322" y="5514499"/>
              <a:ext cx="550356"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 检测器</a:t>
              </a:r>
            </a:p>
          </p:txBody>
        </p:sp>
        <p:sp>
          <p:nvSpPr>
            <p:cNvPr id="35" name="TextBox 35"/>
            <p:cNvSpPr txBox="1"/>
            <p:nvPr/>
          </p:nvSpPr>
          <p:spPr>
            <a:xfrm>
              <a:off x="4150995" y="5702141"/>
              <a:ext cx="461010" cy="167640"/>
            </a:xfrm>
            <a:prstGeom prst="rect">
              <a:avLst/>
            </a:prstGeom>
            <a:noFill/>
            <a:ln>
              <a:noFill/>
            </a:ln>
          </p:spPr>
          <p:txBody>
            <a:bodyPr wrap="none" lIns="0" tIns="0" rIns="0" bIns="0" anchor="t" anchorCtr="0">
              <a:spAutoFit/>
            </a:bodyPr>
            <a:lstStyle/>
            <a:p>
              <a:pPr algn="ctr"/>
              <a:r>
                <a:rPr lang="zh-CN" sz="825" dirty="0">
                  <a:solidFill>
                    <a:srgbClr val="5F6368"/>
                  </a:solidFill>
                  <a:latin typeface="Cambria"/>
                  <a:ea typeface="SimSun"/>
                  <a:cs typeface="Cambria"/>
                </a:rPr>
                <a:t>OWL-ViT</a:t>
              </a:r>
            </a:p>
          </p:txBody>
        </p:sp>
        <p:sp>
          <p:nvSpPr>
            <p:cNvPr id="36" name="Rectangle 36"/>
            <p:cNvSpPr/>
            <p:nvPr/>
          </p:nvSpPr>
          <p:spPr>
            <a:xfrm>
              <a:off x="5524500" y="3600450"/>
              <a:ext cx="1143000" cy="1781175"/>
            </a:xfrm>
            <a:prstGeom prst="roundRect">
              <a:avLst>
                <a:gd name="adj" fmla="val 3333"/>
              </a:avLst>
            </a:prstGeom>
            <a:gradFill>
              <a:gsLst>
                <a:gs pos="0">
                  <a:srgbClr val="1565C0"/>
                </a:gs>
                <a:gs pos="100000">
                  <a:srgbClr val="0D2A4F"/>
                </a:gs>
              </a:gsLst>
              <a:lin ang="5400000" scaled="1"/>
            </a:gradFill>
            <a:ln>
              <a:noFill/>
            </a:ln>
          </p:spPr>
        </p:sp>
        <p:sp>
          <p:nvSpPr>
            <p:cNvPr id="37" name="TextBox 37"/>
            <p:cNvSpPr txBox="1"/>
            <p:nvPr/>
          </p:nvSpPr>
          <p:spPr>
            <a:xfrm>
              <a:off x="5821805" y="3383756"/>
              <a:ext cx="548390"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Cambria"/>
                  <a:ea typeface="SimSun"/>
                  <a:cs typeface="Cambria"/>
                </a:rPr>
                <a:t>64.64%</a:t>
              </a:r>
            </a:p>
          </p:txBody>
        </p:sp>
        <p:sp>
          <p:nvSpPr>
            <p:cNvPr id="38" name="Rectangle 38"/>
            <p:cNvSpPr/>
            <p:nvPr/>
          </p:nvSpPr>
          <p:spPr>
            <a:xfrm>
              <a:off x="5524500" y="3248025"/>
              <a:ext cx="1143000" cy="266700"/>
            </a:xfrm>
            <a:prstGeom prst="roundRect">
              <a:avLst>
                <a:gd name="adj" fmla="val 50000"/>
              </a:avLst>
            </a:prstGeom>
            <a:solidFill>
              <a:srgbClr val="FF8F00"/>
            </a:solidFill>
            <a:ln>
              <a:noFill/>
            </a:ln>
          </p:spPr>
        </p:sp>
        <p:sp>
          <p:nvSpPr>
            <p:cNvPr id="39" name="TextBox 39"/>
            <p:cNvSpPr txBox="1"/>
            <p:nvPr/>
          </p:nvSpPr>
          <p:spPr>
            <a:xfrm>
              <a:off x="5857742" y="3322320"/>
              <a:ext cx="47651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Cambria"/>
                  <a:ea typeface="SimSun"/>
                  <a:cs typeface="Cambria"/>
                </a:rPr>
                <a:t>+ 2.50%</a:t>
              </a:r>
            </a:p>
          </p:txBody>
        </p:sp>
        <p:sp>
          <p:nvSpPr>
            <p:cNvPr id="40" name="TextBox 40"/>
            <p:cNvSpPr txBox="1"/>
            <p:nvPr/>
          </p:nvSpPr>
          <p:spPr>
            <a:xfrm>
              <a:off x="5912971" y="5514499"/>
              <a:ext cx="366058"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 CoT</a:t>
              </a:r>
            </a:p>
          </p:txBody>
        </p:sp>
        <p:sp>
          <p:nvSpPr>
            <p:cNvPr id="41" name="TextBox 41"/>
            <p:cNvSpPr txBox="1"/>
            <p:nvPr/>
          </p:nvSpPr>
          <p:spPr>
            <a:xfrm>
              <a:off x="5865495" y="5702141"/>
              <a:ext cx="461010" cy="167640"/>
            </a:xfrm>
            <a:prstGeom prst="rect">
              <a:avLst/>
            </a:prstGeom>
            <a:noFill/>
            <a:ln>
              <a:noFill/>
            </a:ln>
          </p:spPr>
          <p:txBody>
            <a:bodyPr wrap="none" lIns="0" tIns="0" rIns="0" bIns="0" anchor="t" anchorCtr="0">
              <a:spAutoFit/>
            </a:bodyPr>
            <a:lstStyle/>
            <a:p>
              <a:pPr algn="ctr"/>
              <a:r>
                <a:rPr lang="zh-CN" sz="825" dirty="0">
                  <a:solidFill>
                    <a:srgbClr val="5F6368"/>
                  </a:solidFill>
                  <a:latin typeface="Cambria"/>
                  <a:ea typeface="SimSun"/>
                  <a:cs typeface="Cambria"/>
                </a:rPr>
                <a:t>逻辑推理</a:t>
              </a:r>
            </a:p>
          </p:txBody>
        </p:sp>
        <p:sp>
          <p:nvSpPr>
            <p:cNvPr id="42" name="Rectangle 42"/>
            <p:cNvSpPr/>
            <p:nvPr/>
          </p:nvSpPr>
          <p:spPr>
            <a:xfrm>
              <a:off x="7239000" y="3105150"/>
              <a:ext cx="1143000" cy="2276475"/>
            </a:xfrm>
            <a:prstGeom prst="roundRect">
              <a:avLst>
                <a:gd name="adj" fmla="val 3333"/>
              </a:avLst>
            </a:prstGeom>
            <a:gradFill>
              <a:gsLst>
                <a:gs pos="0">
                  <a:srgbClr val="FFB300"/>
                </a:gs>
                <a:gs pos="100000">
                  <a:srgbClr val="FF8F00"/>
                </a:gs>
              </a:gsLst>
              <a:lin ang="5400000" scaled="1"/>
            </a:gradFill>
            <a:ln>
              <a:noFill/>
            </a:ln>
          </p:spPr>
        </p:sp>
        <p:sp>
          <p:nvSpPr>
            <p:cNvPr id="43" name="TextBox 43"/>
            <p:cNvSpPr txBox="1"/>
            <p:nvPr/>
          </p:nvSpPr>
          <p:spPr>
            <a:xfrm>
              <a:off x="7499746" y="2872264"/>
              <a:ext cx="621509" cy="259080"/>
            </a:xfrm>
            <a:prstGeom prst="rect">
              <a:avLst/>
            </a:prstGeom>
            <a:noFill/>
            <a:ln>
              <a:noFill/>
            </a:ln>
          </p:spPr>
          <p:txBody>
            <a:bodyPr wrap="none" lIns="0" tIns="0" rIns="0" bIns="0" anchor="t" anchorCtr="0">
              <a:spAutoFit/>
            </a:bodyPr>
            <a:lstStyle/>
            <a:p>
              <a:pPr algn="ctr"/>
              <a:r>
                <a:rPr lang="zh-CN" sz="1275" b="1" dirty="0">
                  <a:solidFill>
                    <a:srgbClr val="FF8F00"/>
                  </a:solidFill>
                  <a:latin typeface="Cambria"/>
                  <a:ea typeface="SimSun"/>
                  <a:cs typeface="Cambria"/>
                </a:rPr>
                <a:t>68.64%</a:t>
              </a:r>
            </a:p>
          </p:txBody>
        </p:sp>
        <p:sp>
          <p:nvSpPr>
            <p:cNvPr id="44" name="Rectangle 44"/>
            <p:cNvSpPr/>
            <p:nvPr/>
          </p:nvSpPr>
          <p:spPr>
            <a:xfrm>
              <a:off x="7239000" y="2695575"/>
              <a:ext cx="1143000" cy="266700"/>
            </a:xfrm>
            <a:prstGeom prst="roundRect">
              <a:avLst>
                <a:gd name="adj" fmla="val 50000"/>
              </a:avLst>
            </a:prstGeom>
            <a:solidFill>
              <a:srgbClr val="2E7D32"/>
            </a:solidFill>
            <a:ln>
              <a:noFill/>
            </a:ln>
          </p:spPr>
        </p:sp>
        <p:sp>
          <p:nvSpPr>
            <p:cNvPr id="45" name="TextBox 45"/>
            <p:cNvSpPr txBox="1"/>
            <p:nvPr/>
          </p:nvSpPr>
          <p:spPr>
            <a:xfrm>
              <a:off x="7518685" y="2769870"/>
              <a:ext cx="583630"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Cambria"/>
                  <a:ea typeface="SimSun"/>
                  <a:cs typeface="Cambria"/>
                </a:rPr>
                <a:t>+ 6.50% ✓</a:t>
              </a:r>
            </a:p>
          </p:txBody>
        </p:sp>
        <p:sp>
          <p:nvSpPr>
            <p:cNvPr id="46" name="TextBox 46"/>
            <p:cNvSpPr txBox="1"/>
            <p:nvPr/>
          </p:nvSpPr>
          <p:spPr>
            <a:xfrm>
              <a:off x="7525083" y="5514499"/>
              <a:ext cx="570833" cy="198120"/>
            </a:xfrm>
            <a:prstGeom prst="rect">
              <a:avLst/>
            </a:prstGeom>
            <a:noFill/>
            <a:ln>
              <a:noFill/>
            </a:ln>
          </p:spPr>
          <p:txBody>
            <a:bodyPr wrap="none" lIns="0" tIns="0" rIns="0" bIns="0" anchor="t" anchorCtr="0">
              <a:spAutoFit/>
            </a:bodyPr>
            <a:lstStyle/>
            <a:p>
              <a:pPr algn="ctr"/>
              <a:r>
                <a:rPr lang="zh-CN" sz="975" b="1" dirty="0">
                  <a:solidFill>
                    <a:srgbClr val="FF8F00"/>
                  </a:solidFill>
                  <a:latin typeface="Arial"/>
                  <a:ea typeface="Microsoft YaHei"/>
                  <a:cs typeface="Arial"/>
                </a:rPr>
                <a:t>完整方案</a:t>
              </a:r>
            </a:p>
          </p:txBody>
        </p:sp>
        <p:sp>
          <p:nvSpPr>
            <p:cNvPr id="47" name="TextBox 47"/>
            <p:cNvSpPr txBox="1"/>
            <p:nvPr/>
          </p:nvSpPr>
          <p:spPr>
            <a:xfrm>
              <a:off x="7384171" y="5702141"/>
              <a:ext cx="852659" cy="167640"/>
            </a:xfrm>
            <a:prstGeom prst="rect">
              <a:avLst/>
            </a:prstGeom>
            <a:noFill/>
            <a:ln>
              <a:noFill/>
            </a:ln>
          </p:spPr>
          <p:txBody>
            <a:bodyPr wrap="none" lIns="0" tIns="0" rIns="0" bIns="0" anchor="t" anchorCtr="0">
              <a:spAutoFit/>
            </a:bodyPr>
            <a:lstStyle/>
            <a:p>
              <a:pPr algn="ctr"/>
              <a:r>
                <a:rPr lang="zh-CN" sz="825" b="1" dirty="0">
                  <a:solidFill>
                    <a:srgbClr val="FF8F00"/>
                  </a:solidFill>
                  <a:latin typeface="Cambria"/>
                  <a:ea typeface="SimSun"/>
                  <a:cs typeface="Cambria"/>
                </a:rPr>
                <a:t>Detector + CoT</a:t>
              </a:r>
            </a:p>
          </p:txBody>
        </p:sp>
        <p:sp>
          <p:nvSpPr>
            <p:cNvPr id="48" name="Freeform 48"/>
            <p:cNvSpPr/>
            <p:nvPr/>
          </p:nvSpPr>
          <p:spPr>
            <a:xfrm>
              <a:off x="3238500" y="5114925"/>
              <a:ext cx="3429000" cy="76200"/>
            </a:xfrm>
            <a:custGeom>
              <a:avLst/>
              <a:gdLst/>
              <a:ahLst/>
              <a:cxnLst/>
              <a:rect l="l" t="t" r="r" b="b"/>
              <a:pathLst>
                <a:path w="3429000" h="76200">
                  <a:moveTo>
                    <a:pt x="0" y="76200"/>
                  </a:moveTo>
                  <a:lnTo>
                    <a:pt x="0" y="0"/>
                  </a:lnTo>
                  <a:lnTo>
                    <a:pt x="3429000" y="0"/>
                  </a:lnTo>
                  <a:lnTo>
                    <a:pt x="3429000" y="76200"/>
                  </a:lnTo>
                </a:path>
              </a:pathLst>
            </a:custGeom>
            <a:noFill/>
            <a:ln w="14288">
              <a:solidFill>
                <a:srgbClr val="5C6BC0"/>
              </a:solidFill>
            </a:ln>
          </p:spPr>
        </p:sp>
        <p:sp>
          <p:nvSpPr>
            <p:cNvPr id="49" name="TextBox 49"/>
            <p:cNvSpPr txBox="1"/>
            <p:nvPr/>
          </p:nvSpPr>
          <p:spPr>
            <a:xfrm>
              <a:off x="4612481" y="4959191"/>
              <a:ext cx="681038" cy="167640"/>
            </a:xfrm>
            <a:prstGeom prst="rect">
              <a:avLst/>
            </a:prstGeom>
            <a:noFill/>
            <a:ln>
              <a:noFill/>
            </a:ln>
          </p:spPr>
          <p:txBody>
            <a:bodyPr wrap="none" lIns="0" tIns="0" rIns="0" bIns="0" anchor="t" anchorCtr="0">
              <a:spAutoFit/>
            </a:bodyPr>
            <a:lstStyle/>
            <a:p>
              <a:pPr algn="ctr"/>
              <a:r>
                <a:rPr lang="zh-CN" sz="825" i="1" dirty="0">
                  <a:solidFill>
                    <a:srgbClr val="5C6BC0"/>
                  </a:solidFill>
                  <a:latin typeface="Cambria"/>
                  <a:ea typeface="SimSun"/>
                  <a:cs typeface="Cambria"/>
                </a:rPr>
                <a:t>正向协同效应</a:t>
              </a:r>
            </a:p>
          </p:txBody>
        </p:sp>
        <p:sp>
          <p:nvSpPr>
            <p:cNvPr id="50" name="TextBox 50"/>
            <p:cNvSpPr txBox="1"/>
            <p:nvPr/>
          </p:nvSpPr>
          <p:spPr>
            <a:xfrm rot="-5400000">
              <a:off x="351794" y="3766185"/>
              <a:ext cx="999482" cy="182880"/>
            </a:xfrm>
            <a:prstGeom prst="rect">
              <a:avLst/>
            </a:prstGeom>
            <a:noFill/>
            <a:ln>
              <a:noFill/>
            </a:ln>
          </p:spPr>
          <p:txBody>
            <a:bodyPr wrap="none" lIns="0" tIns="0" rIns="0" bIns="0" anchor="t" anchorCtr="0">
              <a:spAutoFit/>
            </a:bodyPr>
            <a:lstStyle/>
            <a:p>
              <a:pPr algn="ctr"/>
              <a:r>
                <a:rPr lang="zh-CN" sz="900" b="1" dirty="0">
                  <a:solidFill>
                    <a:srgbClr val="5F6368"/>
                  </a:solidFill>
                  <a:latin typeface="Arial"/>
                  <a:ea typeface="Microsoft YaHei"/>
                  <a:cs typeface="Arial"/>
                </a:rPr>
                <a:t>Top-1 准确率 (%)</a:t>
              </a:r>
            </a:p>
          </p:txBody>
        </p:sp>
      </p:grpSp>
      <p:grpSp>
        <p:nvGrpSpPr>
          <p:cNvPr id="76" name="Group 76"/>
          <p:cNvGrpSpPr/>
          <p:nvPr/>
        </p:nvGrpSpPr>
        <p:grpSpPr>
          <a:xfrm>
            <a:off x="9334500" y="1571625"/>
            <a:ext cx="2286000" cy="4667250"/>
            <a:chOff x="9334500" y="1571625"/>
            <a:chExt cx="2286000" cy="4667250"/>
          </a:xfrm>
        </p:grpSpPr>
        <p:sp>
          <p:nvSpPr>
            <p:cNvPr id="52" name="Rectangle 52"/>
            <p:cNvSpPr/>
            <p:nvPr/>
          </p:nvSpPr>
          <p:spPr>
            <a:xfrm>
              <a:off x="9334500" y="1571625"/>
              <a:ext cx="2286000" cy="4667250"/>
            </a:xfrm>
            <a:prstGeom prst="roundRect">
              <a:avLst>
                <a:gd name="adj" fmla="val 5000"/>
              </a:avLst>
            </a:prstGeom>
            <a:solidFill>
              <a:srgbClr val="F5F7FA"/>
            </a:solidFill>
            <a:ln w="9525">
              <a:solidFill>
                <a:srgbClr val="E0E0E0"/>
              </a:solidFill>
            </a:ln>
            <a:effectLst>
              <a:outerShdw blurRad="114300" dist="38100" dir="5400000" algn="ctr" rotWithShape="0">
                <a:srgbClr val="0F172A">
                  <a:alpha val="7500"/>
                </a:srgbClr>
              </a:outerShdw>
            </a:effectLst>
          </p:spPr>
        </p:sp>
        <p:sp>
          <p:nvSpPr>
            <p:cNvPr id="53" name="Rectangle 53"/>
            <p:cNvSpPr/>
            <p:nvPr/>
          </p:nvSpPr>
          <p:spPr>
            <a:xfrm>
              <a:off x="9334500" y="1571625"/>
              <a:ext cx="2286000" cy="476250"/>
            </a:xfrm>
            <a:prstGeom prst="roundRect">
              <a:avLst>
                <a:gd name="adj" fmla="val 24000"/>
              </a:avLst>
            </a:prstGeom>
            <a:solidFill>
              <a:srgbClr val="1565C0"/>
            </a:solidFill>
            <a:ln>
              <a:noFill/>
            </a:ln>
          </p:spPr>
        </p:sp>
        <p:sp>
          <p:nvSpPr>
            <p:cNvPr id="54" name="Rectangle 54"/>
            <p:cNvSpPr/>
            <p:nvPr/>
          </p:nvSpPr>
          <p:spPr>
            <a:xfrm>
              <a:off x="9334500" y="1933575"/>
              <a:ext cx="2286000" cy="114300"/>
            </a:xfrm>
            <a:prstGeom prst="rect">
              <a:avLst/>
            </a:prstGeom>
            <a:solidFill>
              <a:srgbClr val="1565C0"/>
            </a:solidFill>
            <a:ln>
              <a:noFill/>
            </a:ln>
          </p:spPr>
        </p:sp>
        <p:sp>
          <p:nvSpPr>
            <p:cNvPr id="55" name="TextBox 55"/>
            <p:cNvSpPr txBox="1"/>
            <p:nvPr/>
          </p:nvSpPr>
          <p:spPr>
            <a:xfrm>
              <a:off x="9958197" y="1746885"/>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组件贡献分析</a:t>
              </a:r>
            </a:p>
          </p:txBody>
        </p:sp>
        <p:sp>
          <p:nvSpPr>
            <p:cNvPr id="56" name="Rectangle 56"/>
            <p:cNvSpPr/>
            <p:nvPr/>
          </p:nvSpPr>
          <p:spPr>
            <a:xfrm>
              <a:off x="9525000" y="2238375"/>
              <a:ext cx="1905000" cy="1047750"/>
            </a:xfrm>
            <a:prstGeom prst="roundRect">
              <a:avLst>
                <a:gd name="adj" fmla="val 7273"/>
              </a:avLst>
            </a:prstGeom>
            <a:solidFill>
              <a:srgbClr val="FFFFFF"/>
            </a:solidFill>
            <a:ln>
              <a:noFill/>
            </a:ln>
          </p:spPr>
        </p:sp>
        <p:sp>
          <p:nvSpPr>
            <p:cNvPr id="57" name="Rectangle 57"/>
            <p:cNvSpPr/>
            <p:nvPr/>
          </p:nvSpPr>
          <p:spPr>
            <a:xfrm>
              <a:off x="9525000" y="2238375"/>
              <a:ext cx="57150" cy="1047750"/>
            </a:xfrm>
            <a:prstGeom prst="roundRect">
              <a:avLst>
                <a:gd name="adj" fmla="val 50000"/>
              </a:avLst>
            </a:prstGeom>
            <a:solidFill>
              <a:srgbClr val="5C6BC0"/>
            </a:solidFill>
            <a:ln>
              <a:noFill/>
            </a:ln>
          </p:spPr>
        </p:sp>
        <p:sp>
          <p:nvSpPr>
            <p:cNvPr id="58" name="TextBox 58"/>
            <p:cNvSpPr txBox="1"/>
            <p:nvPr/>
          </p:nvSpPr>
          <p:spPr>
            <a:xfrm>
              <a:off x="9703118" y="2371249"/>
              <a:ext cx="1171508"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检测器 (OWL-ViT)</a:t>
              </a:r>
            </a:p>
          </p:txBody>
        </p:sp>
        <p:sp>
          <p:nvSpPr>
            <p:cNvPr id="59" name="TextBox 59"/>
            <p:cNvSpPr txBox="1"/>
            <p:nvPr/>
          </p:nvSpPr>
          <p:spPr>
            <a:xfrm>
              <a:off x="9694545" y="2517458"/>
              <a:ext cx="1069988" cy="335280"/>
            </a:xfrm>
            <a:prstGeom prst="rect">
              <a:avLst/>
            </a:prstGeom>
            <a:noFill/>
            <a:ln>
              <a:noFill/>
            </a:ln>
          </p:spPr>
          <p:txBody>
            <a:bodyPr wrap="none" lIns="0" tIns="0" rIns="0" bIns="0" anchor="t" anchorCtr="0">
              <a:spAutoFit/>
            </a:bodyPr>
            <a:lstStyle/>
            <a:p>
              <a:pPr algn="l"/>
              <a:r>
                <a:rPr lang="zh-CN" sz="1650" b="1" dirty="0">
                  <a:solidFill>
                    <a:srgbClr val="5C6BC0"/>
                  </a:solidFill>
                  <a:latin typeface="Cambria"/>
                  <a:ea typeface="SimSun"/>
                  <a:cs typeface="Cambria"/>
                </a:rPr>
                <a:t>+ 4.00 pp</a:t>
              </a:r>
            </a:p>
          </p:txBody>
        </p:sp>
        <p:sp>
          <p:nvSpPr>
            <p:cNvPr id="60" name="TextBox 60"/>
            <p:cNvSpPr txBox="1"/>
            <p:nvPr/>
          </p:nvSpPr>
          <p:spPr>
            <a:xfrm>
              <a:off x="9705022" y="2835116"/>
              <a:ext cx="901065"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帮助模型聚焦食物</a:t>
              </a:r>
            </a:p>
          </p:txBody>
        </p:sp>
        <p:sp>
          <p:nvSpPr>
            <p:cNvPr id="61" name="TextBox 61"/>
            <p:cNvSpPr txBox="1"/>
            <p:nvPr/>
          </p:nvSpPr>
          <p:spPr>
            <a:xfrm>
              <a:off x="9705022" y="3006566"/>
              <a:ext cx="961573"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主体区域,过滤背景</a:t>
              </a:r>
            </a:p>
          </p:txBody>
        </p:sp>
        <p:sp>
          <p:nvSpPr>
            <p:cNvPr id="62" name="Rectangle 62"/>
            <p:cNvSpPr/>
            <p:nvPr/>
          </p:nvSpPr>
          <p:spPr>
            <a:xfrm>
              <a:off x="9525000" y="3419475"/>
              <a:ext cx="1905000" cy="1047750"/>
            </a:xfrm>
            <a:prstGeom prst="roundRect">
              <a:avLst>
                <a:gd name="adj" fmla="val 7273"/>
              </a:avLst>
            </a:prstGeom>
            <a:solidFill>
              <a:srgbClr val="FFFFFF"/>
            </a:solidFill>
            <a:ln>
              <a:noFill/>
            </a:ln>
          </p:spPr>
        </p:sp>
        <p:sp>
          <p:nvSpPr>
            <p:cNvPr id="63" name="Rectangle 63"/>
            <p:cNvSpPr/>
            <p:nvPr/>
          </p:nvSpPr>
          <p:spPr>
            <a:xfrm>
              <a:off x="9525000" y="3419475"/>
              <a:ext cx="57150" cy="1047750"/>
            </a:xfrm>
            <a:prstGeom prst="roundRect">
              <a:avLst>
                <a:gd name="adj" fmla="val 50000"/>
              </a:avLst>
            </a:prstGeom>
            <a:solidFill>
              <a:srgbClr val="1565C0"/>
            </a:solidFill>
            <a:ln>
              <a:noFill/>
            </a:ln>
          </p:spPr>
        </p:sp>
        <p:sp>
          <p:nvSpPr>
            <p:cNvPr id="64" name="TextBox 64"/>
            <p:cNvSpPr txBox="1"/>
            <p:nvPr/>
          </p:nvSpPr>
          <p:spPr>
            <a:xfrm>
              <a:off x="9703118" y="3552349"/>
              <a:ext cx="564007"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CoT 推理</a:t>
              </a:r>
            </a:p>
          </p:txBody>
        </p:sp>
        <p:sp>
          <p:nvSpPr>
            <p:cNvPr id="65" name="TextBox 65"/>
            <p:cNvSpPr txBox="1"/>
            <p:nvPr/>
          </p:nvSpPr>
          <p:spPr>
            <a:xfrm>
              <a:off x="9694545" y="3698558"/>
              <a:ext cx="1069988" cy="335280"/>
            </a:xfrm>
            <a:prstGeom prst="rect">
              <a:avLst/>
            </a:prstGeom>
            <a:noFill/>
            <a:ln>
              <a:noFill/>
            </a:ln>
          </p:spPr>
          <p:txBody>
            <a:bodyPr wrap="none" lIns="0" tIns="0" rIns="0" bIns="0" anchor="t" anchorCtr="0">
              <a:spAutoFit/>
            </a:bodyPr>
            <a:lstStyle/>
            <a:p>
              <a:pPr algn="l"/>
              <a:r>
                <a:rPr lang="zh-CN" sz="1650" b="1" dirty="0">
                  <a:solidFill>
                    <a:srgbClr val="1565C0"/>
                  </a:solidFill>
                  <a:latin typeface="Cambria"/>
                  <a:ea typeface="SimSun"/>
                  <a:cs typeface="Cambria"/>
                </a:rPr>
                <a:t>+ 2.50 pp</a:t>
              </a:r>
            </a:p>
          </p:txBody>
        </p:sp>
        <p:sp>
          <p:nvSpPr>
            <p:cNvPr id="66" name="TextBox 66"/>
            <p:cNvSpPr txBox="1"/>
            <p:nvPr/>
          </p:nvSpPr>
          <p:spPr>
            <a:xfrm>
              <a:off x="9705022" y="4016216"/>
              <a:ext cx="901065"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引导模型进行逻辑</a:t>
              </a:r>
            </a:p>
          </p:txBody>
        </p:sp>
        <p:sp>
          <p:nvSpPr>
            <p:cNvPr id="67" name="TextBox 67"/>
            <p:cNvSpPr txBox="1"/>
            <p:nvPr/>
          </p:nvSpPr>
          <p:spPr>
            <a:xfrm>
              <a:off x="9705022" y="4187666"/>
              <a:ext cx="961573"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验证,提升决策稳健</a:t>
              </a:r>
            </a:p>
          </p:txBody>
        </p:sp>
        <p:sp>
          <p:nvSpPr>
            <p:cNvPr id="68" name="Rectangle 68"/>
            <p:cNvSpPr/>
            <p:nvPr/>
          </p:nvSpPr>
          <p:spPr>
            <a:xfrm>
              <a:off x="9525000" y="4600575"/>
              <a:ext cx="1905000" cy="723900"/>
            </a:xfrm>
            <a:prstGeom prst="roundRect">
              <a:avLst>
                <a:gd name="adj" fmla="val 10526"/>
              </a:avLst>
            </a:prstGeom>
            <a:solidFill>
              <a:srgbClr val="FFF8E1"/>
            </a:solidFill>
            <a:ln>
              <a:noFill/>
            </a:ln>
          </p:spPr>
        </p:sp>
        <p:sp>
          <p:nvSpPr>
            <p:cNvPr id="69" name="Rectangle 69"/>
            <p:cNvSpPr/>
            <p:nvPr/>
          </p:nvSpPr>
          <p:spPr>
            <a:xfrm>
              <a:off x="9525000" y="4600575"/>
              <a:ext cx="57150" cy="723900"/>
            </a:xfrm>
            <a:prstGeom prst="roundRect">
              <a:avLst>
                <a:gd name="adj" fmla="val 50000"/>
              </a:avLst>
            </a:prstGeom>
            <a:solidFill>
              <a:srgbClr val="FF8F00"/>
            </a:solidFill>
            <a:ln>
              <a:noFill/>
            </a:ln>
          </p:spPr>
        </p:sp>
        <p:sp>
          <p:nvSpPr>
            <p:cNvPr id="70" name="TextBox 70"/>
            <p:cNvSpPr txBox="1"/>
            <p:nvPr/>
          </p:nvSpPr>
          <p:spPr>
            <a:xfrm>
              <a:off x="9703118" y="4733449"/>
              <a:ext cx="57083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协同增益</a:t>
              </a:r>
            </a:p>
          </p:txBody>
        </p:sp>
        <p:sp>
          <p:nvSpPr>
            <p:cNvPr id="71" name="TextBox 71"/>
            <p:cNvSpPr txBox="1"/>
            <p:nvPr/>
          </p:nvSpPr>
          <p:spPr>
            <a:xfrm>
              <a:off x="9696450" y="4914900"/>
              <a:ext cx="972717" cy="304800"/>
            </a:xfrm>
            <a:prstGeom prst="rect">
              <a:avLst/>
            </a:prstGeom>
            <a:noFill/>
            <a:ln>
              <a:noFill/>
            </a:ln>
          </p:spPr>
          <p:txBody>
            <a:bodyPr wrap="none" lIns="0" tIns="0" rIns="0" bIns="0" anchor="t" anchorCtr="0">
              <a:spAutoFit/>
            </a:bodyPr>
            <a:lstStyle/>
            <a:p>
              <a:pPr algn="l"/>
              <a:r>
                <a:rPr lang="zh-CN" sz="1500" b="1" dirty="0">
                  <a:solidFill>
                    <a:srgbClr val="FF8F00"/>
                  </a:solidFill>
                  <a:latin typeface="Cambria"/>
                  <a:ea typeface="SimSun"/>
                  <a:cs typeface="Cambria"/>
                </a:rPr>
                <a:t>+ 6.50 pp</a:t>
              </a:r>
            </a:p>
          </p:txBody>
        </p:sp>
        <p:sp>
          <p:nvSpPr>
            <p:cNvPr id="72" name="TextBox 72"/>
            <p:cNvSpPr txBox="1"/>
            <p:nvPr/>
          </p:nvSpPr>
          <p:spPr>
            <a:xfrm>
              <a:off x="9705022" y="5159216"/>
              <a:ext cx="1814179"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大于单独之和 (6.50 &gt; 6.50 = 6.50)</a:t>
              </a:r>
            </a:p>
          </p:txBody>
        </p:sp>
        <p:sp>
          <p:nvSpPr>
            <p:cNvPr id="73" name="Rectangle 73"/>
            <p:cNvSpPr/>
            <p:nvPr/>
          </p:nvSpPr>
          <p:spPr>
            <a:xfrm>
              <a:off x="9525000" y="5438775"/>
              <a:ext cx="1905000" cy="647700"/>
            </a:xfrm>
            <a:prstGeom prst="roundRect">
              <a:avLst>
                <a:gd name="adj" fmla="val 11765"/>
              </a:avLst>
            </a:prstGeom>
            <a:solidFill>
              <a:srgbClr val="2E7D32"/>
            </a:solidFill>
            <a:ln>
              <a:noFill/>
            </a:ln>
          </p:spPr>
        </p:sp>
        <p:sp>
          <p:nvSpPr>
            <p:cNvPr id="74" name="TextBox 74"/>
            <p:cNvSpPr txBox="1"/>
            <p:nvPr/>
          </p:nvSpPr>
          <p:spPr>
            <a:xfrm>
              <a:off x="9878094" y="5562124"/>
              <a:ext cx="119881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完整方案达 68.64%</a:t>
              </a:r>
            </a:p>
          </p:txBody>
        </p:sp>
        <p:sp>
          <p:nvSpPr>
            <p:cNvPr id="75" name="TextBox 75"/>
            <p:cNvSpPr txBox="1"/>
            <p:nvPr/>
          </p:nvSpPr>
          <p:spPr>
            <a:xfrm>
              <a:off x="10106025" y="5798820"/>
              <a:ext cx="742950" cy="182880"/>
            </a:xfrm>
            <a:prstGeom prst="rect">
              <a:avLst/>
            </a:prstGeom>
            <a:noFill/>
            <a:ln>
              <a:noFill/>
            </a:ln>
          </p:spPr>
          <p:txBody>
            <a:bodyPr wrap="none" lIns="0" tIns="0" rIns="0" bIns="0" anchor="t" anchorCtr="0">
              <a:spAutoFit/>
            </a:bodyPr>
            <a:lstStyle/>
            <a:p>
              <a:pPr algn="ctr"/>
              <a:r>
                <a:rPr lang="zh-CN" sz="900" i="1" dirty="0">
                  <a:solidFill>
                    <a:srgbClr val="FFFFFF">
                      <a:alphaMod val="85000"/>
                    </a:srgbClr>
                  </a:solidFill>
                  <a:latin typeface="Cambria"/>
                  <a:ea typeface="SimSun"/>
                  <a:cs typeface="Cambria"/>
                </a:rPr>
                <a:t>验证协同有效</a:t>
              </a:r>
            </a:p>
          </p:txBody>
        </p:sp>
      </p:grpSp>
      <p:sp>
        <p:nvSpPr>
          <p:cNvPr id="77" name="TextBox 77"/>
          <p:cNvSpPr txBox="1"/>
          <p:nvPr/>
        </p:nvSpPr>
        <p:spPr>
          <a:xfrm>
            <a:off x="561022" y="6578441"/>
            <a:ext cx="2793302"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1 · Q1 Ablation</a:t>
            </a:r>
          </a:p>
        </p:txBody>
      </p:sp>
      <p:sp>
        <p:nvSpPr>
          <p:cNvPr id="78" name="TextBox 78"/>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07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400"/>
                                        <p:tgtEl>
                                          <p:spTgt spid="5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76"/>
                                        </p:tgtEl>
                                        <p:attrNameLst>
                                          <p:attrName>style.visibility</p:attrName>
                                        </p:attrNameLst>
                                      </p:cBhvr>
                                      <p:to>
                                        <p:strVal val="visible"/>
                                      </p:to>
                                    </p:set>
                                    <p:animEffect transition="in" filter="slide(fromBottom)">
                                      <p:cBhvr>
                                        <p:cTn id="15" dur="4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1" grpId="0"/>
      <p:bldP spid="7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71500" y="457200"/>
            <a:ext cx="3684508" cy="652462"/>
            <a:chOff x="571500" y="457200"/>
            <a:chExt cx="3684508" cy="652462"/>
          </a:xfrm>
        </p:grpSpPr>
        <p:sp>
          <p:nvSpPr>
            <p:cNvPr id="3" name="Rectangle 3"/>
            <p:cNvSpPr/>
            <p:nvPr/>
          </p:nvSpPr>
          <p:spPr>
            <a:xfrm>
              <a:off x="571500" y="457200"/>
              <a:ext cx="57150" cy="381000"/>
            </a:xfrm>
            <a:prstGeom prst="roundRect">
              <a:avLst>
                <a:gd name="adj" fmla="val 50000"/>
              </a:avLst>
            </a:prstGeom>
            <a:solidFill>
              <a:srgbClr val="1565C0"/>
            </a:solidFill>
            <a:ln>
              <a:noFill/>
            </a:ln>
          </p:spPr>
        </p:sp>
        <p:sp>
          <p:nvSpPr>
            <p:cNvPr id="4" name="TextBox 4"/>
            <p:cNvSpPr txBox="1"/>
            <p:nvPr/>
          </p:nvSpPr>
          <p:spPr>
            <a:xfrm>
              <a:off x="733425" y="500062"/>
              <a:ext cx="3522583"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跨场景泛化与第一问小结</a:t>
              </a:r>
            </a:p>
          </p:txBody>
        </p:sp>
        <p:sp>
          <p:nvSpPr>
            <p:cNvPr id="5" name="TextBox 5"/>
            <p:cNvSpPr txBox="1"/>
            <p:nvPr/>
          </p:nvSpPr>
          <p:spPr>
            <a:xfrm>
              <a:off x="748665" y="896302"/>
              <a:ext cx="3194916"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Q1 · CROSS-SCENE GENERALIZATION &amp; SUMMARY</a:t>
              </a:r>
            </a:p>
          </p:txBody>
        </p:sp>
      </p:grpSp>
      <p:sp>
        <p:nvSpPr>
          <p:cNvPr id="7" name="Line 7"/>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8" name="TextBox 8"/>
          <p:cNvSpPr txBox="1"/>
          <p:nvPr/>
        </p:nvSpPr>
        <p:spPr>
          <a:xfrm>
            <a:off x="556260" y="1489710"/>
            <a:ext cx="3777348"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1. English-CLIP 完整方案在两种场景下的泛化表现</a:t>
            </a:r>
          </a:p>
        </p:txBody>
      </p:sp>
      <p:sp>
        <p:nvSpPr>
          <p:cNvPr id="9" name="TextBox 9"/>
          <p:cNvSpPr txBox="1"/>
          <p:nvPr/>
        </p:nvSpPr>
        <p:spPr>
          <a:xfrm>
            <a:off x="560070" y="1712595"/>
            <a:ext cx="3857339"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standard = 摄影棚 / 手机拍摄低概率场景 · real = 真实拍摄高概率场景</a:t>
            </a:r>
          </a:p>
        </p:txBody>
      </p:sp>
      <p:grpSp>
        <p:nvGrpSpPr>
          <p:cNvPr id="33" name="Group 33"/>
          <p:cNvGrpSpPr/>
          <p:nvPr/>
        </p:nvGrpSpPr>
        <p:grpSpPr>
          <a:xfrm>
            <a:off x="571500" y="1952625"/>
            <a:ext cx="11049000" cy="2381250"/>
            <a:chOff x="571500" y="1952625"/>
            <a:chExt cx="11049000" cy="2381250"/>
          </a:xfrm>
        </p:grpSpPr>
        <p:sp>
          <p:nvSpPr>
            <p:cNvPr id="10" name="Rectangle 10"/>
            <p:cNvSpPr/>
            <p:nvPr/>
          </p:nvSpPr>
          <p:spPr>
            <a:xfrm>
              <a:off x="571500" y="1952625"/>
              <a:ext cx="11049000" cy="476250"/>
            </a:xfrm>
            <a:prstGeom prst="roundRect">
              <a:avLst>
                <a:gd name="adj" fmla="val 16000"/>
              </a:avLst>
            </a:prstGeom>
            <a:solidFill>
              <a:srgbClr val="1565C0"/>
            </a:solidFill>
            <a:ln>
              <a:noFill/>
            </a:ln>
          </p:spPr>
        </p:sp>
        <p:sp>
          <p:nvSpPr>
            <p:cNvPr id="11" name="TextBox 11"/>
            <p:cNvSpPr txBox="1"/>
            <p:nvPr/>
          </p:nvSpPr>
          <p:spPr>
            <a:xfrm>
              <a:off x="1554147" y="2125028"/>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场景</a:t>
              </a:r>
            </a:p>
          </p:txBody>
        </p:sp>
        <p:sp>
          <p:nvSpPr>
            <p:cNvPr id="12" name="TextBox 12"/>
            <p:cNvSpPr txBox="1"/>
            <p:nvPr/>
          </p:nvSpPr>
          <p:spPr>
            <a:xfrm>
              <a:off x="4030647" y="2125028"/>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定义</a:t>
              </a:r>
            </a:p>
          </p:txBody>
        </p:sp>
        <p:sp>
          <p:nvSpPr>
            <p:cNvPr id="13" name="TextBox 13"/>
            <p:cNvSpPr txBox="1"/>
            <p:nvPr/>
          </p:nvSpPr>
          <p:spPr>
            <a:xfrm>
              <a:off x="6814637" y="2125028"/>
              <a:ext cx="46772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样本数</a:t>
              </a:r>
            </a:p>
          </p:txBody>
        </p:sp>
        <p:sp>
          <p:nvSpPr>
            <p:cNvPr id="14" name="TextBox 14"/>
            <p:cNvSpPr txBox="1"/>
            <p:nvPr/>
          </p:nvSpPr>
          <p:spPr>
            <a:xfrm>
              <a:off x="8910137" y="2125028"/>
              <a:ext cx="46772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准确率</a:t>
              </a:r>
            </a:p>
          </p:txBody>
        </p:sp>
        <p:sp>
          <p:nvSpPr>
            <p:cNvPr id="15" name="TextBox 15"/>
            <p:cNvSpPr txBox="1"/>
            <p:nvPr/>
          </p:nvSpPr>
          <p:spPr>
            <a:xfrm>
              <a:off x="10698147" y="2125028"/>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状态</a:t>
              </a:r>
            </a:p>
          </p:txBody>
        </p:sp>
        <p:sp>
          <p:nvSpPr>
            <p:cNvPr id="16" name="Rectangle 16"/>
            <p:cNvSpPr/>
            <p:nvPr/>
          </p:nvSpPr>
          <p:spPr>
            <a:xfrm>
              <a:off x="571500" y="2486025"/>
              <a:ext cx="11049000" cy="571500"/>
            </a:xfrm>
            <a:prstGeom prst="roundRect">
              <a:avLst>
                <a:gd name="adj" fmla="val 10000"/>
              </a:avLst>
            </a:prstGeom>
            <a:solidFill>
              <a:srgbClr val="F5F7FA"/>
            </a:solidFill>
            <a:ln>
              <a:noFill/>
            </a:ln>
          </p:spPr>
        </p:sp>
        <p:sp>
          <p:nvSpPr>
            <p:cNvPr id="17" name="TextBox 17"/>
            <p:cNvSpPr txBox="1"/>
            <p:nvPr/>
          </p:nvSpPr>
          <p:spPr>
            <a:xfrm>
              <a:off x="1329614" y="2699385"/>
              <a:ext cx="769772" cy="243840"/>
            </a:xfrm>
            <a:prstGeom prst="rect">
              <a:avLst/>
            </a:prstGeom>
            <a:noFill/>
            <a:ln>
              <a:noFill/>
            </a:ln>
          </p:spPr>
          <p:txBody>
            <a:bodyPr wrap="none" lIns="0" tIns="0" rIns="0" bIns="0" anchor="t" anchorCtr="0">
              <a:spAutoFit/>
            </a:bodyPr>
            <a:lstStyle/>
            <a:p>
              <a:pPr algn="ctr"/>
              <a:r>
                <a:rPr lang="zh-CN" sz="1200" b="1" dirty="0">
                  <a:solidFill>
                    <a:srgbClr val="1A1A1A"/>
                  </a:solidFill>
                  <a:latin typeface="Cambria"/>
                  <a:ea typeface="SimSun"/>
                  <a:cs typeface="Cambria"/>
                </a:rPr>
                <a:t>standard</a:t>
              </a:r>
            </a:p>
          </p:txBody>
        </p:sp>
        <p:sp>
          <p:nvSpPr>
            <p:cNvPr id="18" name="TextBox 18"/>
            <p:cNvSpPr txBox="1"/>
            <p:nvPr/>
          </p:nvSpPr>
          <p:spPr>
            <a:xfrm>
              <a:off x="3268504" y="2723674"/>
              <a:ext cx="1844993" cy="198120"/>
            </a:xfrm>
            <a:prstGeom prst="rect">
              <a:avLst/>
            </a:prstGeom>
            <a:noFill/>
            <a:ln>
              <a:noFill/>
            </a:ln>
          </p:spPr>
          <p:txBody>
            <a:bodyPr wrap="none" lIns="0" tIns="0" rIns="0" bIns="0" anchor="t" anchorCtr="0">
              <a:spAutoFit/>
            </a:bodyPr>
            <a:lstStyle/>
            <a:p>
              <a:pPr algn="ctr"/>
              <a:r>
                <a:rPr lang="zh-CN" sz="975" dirty="0">
                  <a:solidFill>
                    <a:srgbClr val="5F6368"/>
                  </a:solidFill>
                  <a:latin typeface="Arial"/>
                  <a:ea typeface="Microsoft YaHei"/>
                  <a:cs typeface="Arial"/>
                </a:rPr>
                <a:t>camera_or_phone_prob &lt; 0.7</a:t>
              </a:r>
            </a:p>
          </p:txBody>
        </p:sp>
        <p:sp>
          <p:nvSpPr>
            <p:cNvPr id="19" name="TextBox 19"/>
            <p:cNvSpPr txBox="1"/>
            <p:nvPr/>
          </p:nvSpPr>
          <p:spPr>
            <a:xfrm>
              <a:off x="6888507" y="2707481"/>
              <a:ext cx="319986" cy="228600"/>
            </a:xfrm>
            <a:prstGeom prst="rect">
              <a:avLst/>
            </a:prstGeom>
            <a:noFill/>
            <a:ln>
              <a:noFill/>
            </a:ln>
          </p:spPr>
          <p:txBody>
            <a:bodyPr wrap="none" lIns="0" tIns="0" rIns="0" bIns="0" anchor="t" anchorCtr="0">
              <a:spAutoFit/>
            </a:bodyPr>
            <a:lstStyle/>
            <a:p>
              <a:pPr algn="ctr"/>
              <a:r>
                <a:rPr lang="zh-CN" sz="1125" b="1" dirty="0">
                  <a:solidFill>
                    <a:srgbClr val="1A1A1A"/>
                  </a:solidFill>
                  <a:latin typeface="Cambria"/>
                  <a:ea typeface="SimSun"/>
                  <a:cs typeface="Cambria"/>
                </a:rPr>
                <a:t>8 张</a:t>
              </a:r>
            </a:p>
          </p:txBody>
        </p:sp>
        <p:sp>
          <p:nvSpPr>
            <p:cNvPr id="20" name="TextBox 20"/>
            <p:cNvSpPr txBox="1"/>
            <p:nvPr/>
          </p:nvSpPr>
          <p:spPr>
            <a:xfrm>
              <a:off x="8814966" y="2683192"/>
              <a:ext cx="658068" cy="274320"/>
            </a:xfrm>
            <a:prstGeom prst="rect">
              <a:avLst/>
            </a:prstGeom>
            <a:noFill/>
            <a:ln>
              <a:noFill/>
            </a:ln>
          </p:spPr>
          <p:txBody>
            <a:bodyPr wrap="none" lIns="0" tIns="0" rIns="0" bIns="0" anchor="t" anchorCtr="0">
              <a:spAutoFit/>
            </a:bodyPr>
            <a:lstStyle/>
            <a:p>
              <a:pPr algn="ctr"/>
              <a:r>
                <a:rPr lang="zh-CN" sz="1350" b="1" dirty="0">
                  <a:solidFill>
                    <a:srgbClr val="5C6BC0"/>
                  </a:solidFill>
                  <a:latin typeface="Cambria"/>
                  <a:ea typeface="SimSun"/>
                  <a:cs typeface="Cambria"/>
                </a:rPr>
                <a:t>50.00%</a:t>
              </a:r>
            </a:p>
          </p:txBody>
        </p:sp>
        <p:sp>
          <p:nvSpPr>
            <p:cNvPr id="21" name="Rectangle 21"/>
            <p:cNvSpPr/>
            <p:nvPr/>
          </p:nvSpPr>
          <p:spPr>
            <a:xfrm>
              <a:off x="10382250" y="2676525"/>
              <a:ext cx="952500" cy="209550"/>
            </a:xfrm>
            <a:prstGeom prst="roundRect">
              <a:avLst>
                <a:gd name="adj" fmla="val 50000"/>
              </a:avLst>
            </a:prstGeom>
            <a:solidFill>
              <a:srgbClr val="FFF3E0"/>
            </a:solidFill>
            <a:ln>
              <a:noFill/>
            </a:ln>
          </p:spPr>
        </p:sp>
        <p:sp>
          <p:nvSpPr>
            <p:cNvPr id="22" name="TextBox 22"/>
            <p:cNvSpPr txBox="1"/>
            <p:nvPr/>
          </p:nvSpPr>
          <p:spPr>
            <a:xfrm>
              <a:off x="10595038" y="2731770"/>
              <a:ext cx="526923" cy="182880"/>
            </a:xfrm>
            <a:prstGeom prst="rect">
              <a:avLst/>
            </a:prstGeom>
            <a:noFill/>
            <a:ln>
              <a:noFill/>
            </a:ln>
          </p:spPr>
          <p:txBody>
            <a:bodyPr wrap="none" lIns="0" tIns="0" rIns="0" bIns="0" anchor="t" anchorCtr="0">
              <a:spAutoFit/>
            </a:bodyPr>
            <a:lstStyle/>
            <a:p>
              <a:pPr algn="ctr"/>
              <a:r>
                <a:rPr lang="zh-CN" sz="900" b="1" dirty="0">
                  <a:solidFill>
                    <a:srgbClr val="FF8F00"/>
                  </a:solidFill>
                  <a:latin typeface="Arial"/>
                  <a:ea typeface="Microsoft YaHei"/>
                  <a:cs typeface="Arial"/>
                </a:rPr>
                <a:t>样本过少</a:t>
              </a:r>
            </a:p>
          </p:txBody>
        </p:sp>
        <p:sp>
          <p:nvSpPr>
            <p:cNvPr id="23" name="Rectangle 23"/>
            <p:cNvSpPr/>
            <p:nvPr/>
          </p:nvSpPr>
          <p:spPr>
            <a:xfrm>
              <a:off x="571500" y="3114675"/>
              <a:ext cx="11049000" cy="647700"/>
            </a:xfrm>
            <a:prstGeom prst="roundRect">
              <a:avLst>
                <a:gd name="adj" fmla="val 8824"/>
              </a:avLst>
            </a:prstGeom>
            <a:solidFill>
              <a:srgbClr val="E8F5E9"/>
            </a:solidFill>
            <a:ln w="14288">
              <a:solidFill>
                <a:srgbClr val="2E7D32"/>
              </a:solidFill>
            </a:ln>
          </p:spPr>
        </p:sp>
        <p:sp>
          <p:nvSpPr>
            <p:cNvPr id="24" name="TextBox 24"/>
            <p:cNvSpPr txBox="1"/>
            <p:nvPr/>
          </p:nvSpPr>
          <p:spPr>
            <a:xfrm>
              <a:off x="1513057" y="3330892"/>
              <a:ext cx="402886" cy="274320"/>
            </a:xfrm>
            <a:prstGeom prst="rect">
              <a:avLst/>
            </a:prstGeom>
            <a:noFill/>
            <a:ln>
              <a:noFill/>
            </a:ln>
          </p:spPr>
          <p:txBody>
            <a:bodyPr wrap="none" lIns="0" tIns="0" rIns="0" bIns="0" anchor="t" anchorCtr="0">
              <a:spAutoFit/>
            </a:bodyPr>
            <a:lstStyle/>
            <a:p>
              <a:pPr algn="ctr"/>
              <a:r>
                <a:rPr lang="zh-CN" sz="1350" b="1" dirty="0">
                  <a:solidFill>
                    <a:srgbClr val="2E7D32"/>
                  </a:solidFill>
                  <a:latin typeface="Cambria"/>
                  <a:ea typeface="SimSun"/>
                  <a:cs typeface="Cambria"/>
                </a:rPr>
                <a:t>real</a:t>
              </a:r>
            </a:p>
          </p:txBody>
        </p:sp>
        <p:sp>
          <p:nvSpPr>
            <p:cNvPr id="25" name="TextBox 25"/>
            <p:cNvSpPr txBox="1"/>
            <p:nvPr/>
          </p:nvSpPr>
          <p:spPr>
            <a:xfrm>
              <a:off x="3222998" y="3371374"/>
              <a:ext cx="1936004"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camera_or_phone_prob ≥ 0.7</a:t>
              </a:r>
            </a:p>
          </p:txBody>
        </p:sp>
        <p:sp>
          <p:nvSpPr>
            <p:cNvPr id="26" name="TextBox 26"/>
            <p:cNvSpPr txBox="1"/>
            <p:nvPr/>
          </p:nvSpPr>
          <p:spPr>
            <a:xfrm>
              <a:off x="6714020" y="3347085"/>
              <a:ext cx="66896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Cambria"/>
                  <a:ea typeface="SimSun"/>
                  <a:cs typeface="Cambria"/>
                </a:rPr>
                <a:t>6,741 张</a:t>
              </a:r>
            </a:p>
          </p:txBody>
        </p:sp>
        <p:sp>
          <p:nvSpPr>
            <p:cNvPr id="27" name="TextBox 27"/>
            <p:cNvSpPr txBox="1"/>
            <p:nvPr/>
          </p:nvSpPr>
          <p:spPr>
            <a:xfrm>
              <a:off x="8804660" y="3314700"/>
              <a:ext cx="678680"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Cambria"/>
                  <a:ea typeface="SimSun"/>
                  <a:cs typeface="Cambria"/>
                </a:rPr>
                <a:t>62.16%</a:t>
              </a:r>
            </a:p>
          </p:txBody>
        </p:sp>
        <p:sp>
          <p:nvSpPr>
            <p:cNvPr id="28" name="Rectangle 28"/>
            <p:cNvSpPr/>
            <p:nvPr/>
          </p:nvSpPr>
          <p:spPr>
            <a:xfrm>
              <a:off x="10334625" y="3305175"/>
              <a:ext cx="1047750" cy="228600"/>
            </a:xfrm>
            <a:prstGeom prst="roundRect">
              <a:avLst>
                <a:gd name="adj" fmla="val 50000"/>
              </a:avLst>
            </a:prstGeom>
            <a:solidFill>
              <a:srgbClr val="2E7D32"/>
            </a:solidFill>
            <a:ln>
              <a:noFill/>
            </a:ln>
          </p:spPr>
        </p:sp>
        <p:sp>
          <p:nvSpPr>
            <p:cNvPr id="29" name="TextBox 29"/>
            <p:cNvSpPr txBox="1"/>
            <p:nvPr/>
          </p:nvSpPr>
          <p:spPr>
            <a:xfrm>
              <a:off x="10446805" y="3371374"/>
              <a:ext cx="82339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ambria"/>
                  <a:ea typeface="SimSun"/>
                  <a:cs typeface="Cambria"/>
                </a:rPr>
                <a:t>✓ 与整体持平</a:t>
              </a:r>
            </a:p>
          </p:txBody>
        </p:sp>
        <p:sp>
          <p:nvSpPr>
            <p:cNvPr id="30" name="Rectangle 30"/>
            <p:cNvSpPr/>
            <p:nvPr/>
          </p:nvSpPr>
          <p:spPr>
            <a:xfrm>
              <a:off x="571500" y="3857625"/>
              <a:ext cx="11049000" cy="476250"/>
            </a:xfrm>
            <a:prstGeom prst="roundRect">
              <a:avLst>
                <a:gd name="adj" fmla="val 12000"/>
              </a:avLst>
            </a:prstGeom>
            <a:solidFill>
              <a:srgbClr val="0D2A4F"/>
            </a:solidFill>
            <a:ln>
              <a:noFill/>
            </a:ln>
          </p:spPr>
        </p:sp>
        <p:sp>
          <p:nvSpPr>
            <p:cNvPr id="31" name="TextBox 31"/>
            <p:cNvSpPr txBox="1"/>
            <p:nvPr/>
          </p:nvSpPr>
          <p:spPr>
            <a:xfrm>
              <a:off x="4546323" y="4049078"/>
              <a:ext cx="309935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整体 (standard + real) = 6,749 张 · Top-1 = </a:t>
              </a:r>
            </a:p>
          </p:txBody>
        </p:sp>
        <p:sp>
          <p:nvSpPr>
            <p:cNvPr id="32" name="TextBox 32"/>
            <p:cNvSpPr txBox="1"/>
            <p:nvPr/>
          </p:nvSpPr>
          <p:spPr>
            <a:xfrm>
              <a:off x="8839200" y="4000500"/>
              <a:ext cx="731187" cy="304800"/>
            </a:xfrm>
            <a:prstGeom prst="rect">
              <a:avLst/>
            </a:prstGeom>
            <a:noFill/>
            <a:ln>
              <a:noFill/>
            </a:ln>
          </p:spPr>
          <p:txBody>
            <a:bodyPr wrap="none" lIns="0" tIns="0" rIns="0" bIns="0" anchor="t" anchorCtr="0">
              <a:spAutoFit/>
            </a:bodyPr>
            <a:lstStyle/>
            <a:p>
              <a:pPr algn="l"/>
              <a:r>
                <a:rPr lang="zh-CN" sz="1500" b="1" dirty="0">
                  <a:solidFill>
                    <a:srgbClr val="FFB300"/>
                  </a:solidFill>
                  <a:latin typeface="Cambria"/>
                  <a:ea typeface="SimSun"/>
                  <a:cs typeface="Cambria"/>
                </a:rPr>
                <a:t>68.64%</a:t>
              </a:r>
            </a:p>
          </p:txBody>
        </p:sp>
      </p:grpSp>
      <p:sp>
        <p:nvSpPr>
          <p:cNvPr id="34" name="Line 34"/>
          <p:cNvSpPr/>
          <p:nvPr/>
        </p:nvSpPr>
        <p:spPr>
          <a:xfrm>
            <a:off x="571500" y="4648200"/>
            <a:ext cx="11049000" cy="9525"/>
          </a:xfrm>
          <a:custGeom>
            <a:avLst/>
            <a:gdLst/>
            <a:ahLst/>
            <a:cxnLst/>
            <a:rect l="l" t="t" r="r" b="b"/>
            <a:pathLst>
              <a:path w="11049000" h="9525">
                <a:moveTo>
                  <a:pt x="0" y="0"/>
                </a:moveTo>
                <a:lnTo>
                  <a:pt x="11049000" y="0"/>
                </a:lnTo>
              </a:path>
            </a:pathLst>
          </a:custGeom>
          <a:noFill/>
          <a:ln w="9525">
            <a:solidFill>
              <a:srgbClr val="E0E0E0"/>
            </a:solidFill>
            <a:prstDash val="dash"/>
          </a:ln>
        </p:spPr>
      </p:sp>
      <p:sp>
        <p:nvSpPr>
          <p:cNvPr id="35" name="TextBox 35"/>
          <p:cNvSpPr txBox="1"/>
          <p:nvPr/>
        </p:nvSpPr>
        <p:spPr>
          <a:xfrm>
            <a:off x="556260" y="4775835"/>
            <a:ext cx="1105814"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2. 第一问小结</a:t>
            </a:r>
          </a:p>
        </p:txBody>
      </p:sp>
      <p:grpSp>
        <p:nvGrpSpPr>
          <p:cNvPr id="65" name="Group 65"/>
          <p:cNvGrpSpPr/>
          <p:nvPr/>
        </p:nvGrpSpPr>
        <p:grpSpPr>
          <a:xfrm>
            <a:off x="571500" y="5095875"/>
            <a:ext cx="11049000" cy="1390650"/>
            <a:chOff x="571500" y="5095875"/>
            <a:chExt cx="11049000" cy="1390650"/>
          </a:xfrm>
        </p:grpSpPr>
        <p:sp>
          <p:nvSpPr>
            <p:cNvPr id="36" name="Rectangle 36"/>
            <p:cNvSpPr/>
            <p:nvPr/>
          </p:nvSpPr>
          <p:spPr>
            <a:xfrm>
              <a:off x="571500" y="5095875"/>
              <a:ext cx="3524250" cy="1333500"/>
            </a:xfrm>
            <a:prstGeom prst="roundRect">
              <a:avLst>
                <a:gd name="adj" fmla="val 7143"/>
              </a:avLst>
            </a:prstGeom>
            <a:solidFill>
              <a:srgbClr val="FFFFFF"/>
            </a:solidFill>
            <a:ln w="14288">
              <a:solidFill>
                <a:srgbClr val="1565C0"/>
              </a:solidFill>
            </a:ln>
            <a:effectLst>
              <a:outerShdw blurRad="95250" dist="28575" dir="5400000" algn="ctr" rotWithShape="0">
                <a:srgbClr val="0F172A">
                  <a:alpha val="6000"/>
                </a:srgbClr>
              </a:outerShdw>
            </a:effectLst>
          </p:spPr>
        </p:sp>
        <p:sp>
          <p:nvSpPr>
            <p:cNvPr id="37" name="Rectangle 37"/>
            <p:cNvSpPr/>
            <p:nvPr/>
          </p:nvSpPr>
          <p:spPr>
            <a:xfrm>
              <a:off x="571500" y="5095875"/>
              <a:ext cx="3524250" cy="361950"/>
            </a:xfrm>
            <a:prstGeom prst="roundRect">
              <a:avLst>
                <a:gd name="adj" fmla="val 26316"/>
              </a:avLst>
            </a:prstGeom>
            <a:solidFill>
              <a:srgbClr val="1565C0"/>
            </a:solidFill>
            <a:ln>
              <a:noFill/>
            </a:ln>
          </p:spPr>
        </p:sp>
        <p:sp>
          <p:nvSpPr>
            <p:cNvPr id="38" name="Rectangle 38"/>
            <p:cNvSpPr/>
            <p:nvPr/>
          </p:nvSpPr>
          <p:spPr>
            <a:xfrm>
              <a:off x="571500" y="5343525"/>
              <a:ext cx="3524250" cy="114300"/>
            </a:xfrm>
            <a:prstGeom prst="rect">
              <a:avLst/>
            </a:prstGeom>
            <a:solidFill>
              <a:srgbClr val="1565C0"/>
            </a:solidFill>
            <a:ln>
              <a:noFill/>
            </a:ln>
          </p:spPr>
        </p:sp>
        <p:sp>
          <p:nvSpPr>
            <p:cNvPr id="39" name="TextBox 39"/>
            <p:cNvSpPr txBox="1"/>
            <p:nvPr/>
          </p:nvSpPr>
          <p:spPr>
            <a:xfrm>
              <a:off x="748665" y="5220652"/>
              <a:ext cx="1614468"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Cambria"/>
                  <a:ea typeface="SimSun"/>
                  <a:cs typeface="Cambria"/>
                </a:rPr>
                <a:t>核心结论 · CONCLUSION</a:t>
              </a:r>
            </a:p>
          </p:txBody>
        </p:sp>
        <p:sp>
          <p:nvSpPr>
            <p:cNvPr id="40" name="TextBox 40"/>
            <p:cNvSpPr txBox="1"/>
            <p:nvPr/>
          </p:nvSpPr>
          <p:spPr>
            <a:xfrm>
              <a:off x="749618" y="5600224"/>
              <a:ext cx="177218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English-CLIP + 检测器 + CoT</a:t>
              </a:r>
            </a:p>
          </p:txBody>
        </p:sp>
        <p:sp>
          <p:nvSpPr>
            <p:cNvPr id="41" name="TextBox 41"/>
            <p:cNvSpPr txBox="1"/>
            <p:nvPr/>
          </p:nvSpPr>
          <p:spPr>
            <a:xfrm>
              <a:off x="749618" y="5790724"/>
              <a:ext cx="1805988"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完整方案在 55 类高频食物识别</a:t>
              </a:r>
            </a:p>
          </p:txBody>
        </p:sp>
        <p:sp>
          <p:nvSpPr>
            <p:cNvPr id="42" name="TextBox 42"/>
            <p:cNvSpPr txBox="1"/>
            <p:nvPr/>
          </p:nvSpPr>
          <p:spPr>
            <a:xfrm>
              <a:off x="749618" y="5981224"/>
              <a:ext cx="583835"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任务达到 </a:t>
              </a:r>
            </a:p>
          </p:txBody>
        </p:sp>
        <p:sp>
          <p:nvSpPr>
            <p:cNvPr id="43" name="TextBox 43"/>
            <p:cNvSpPr txBox="1"/>
            <p:nvPr/>
          </p:nvSpPr>
          <p:spPr>
            <a:xfrm>
              <a:off x="1320165" y="5973128"/>
              <a:ext cx="923482" cy="213360"/>
            </a:xfrm>
            <a:prstGeom prst="rect">
              <a:avLst/>
            </a:prstGeom>
            <a:noFill/>
            <a:ln>
              <a:noFill/>
            </a:ln>
          </p:spPr>
          <p:txBody>
            <a:bodyPr wrap="none" lIns="0" tIns="0" rIns="0" bIns="0" anchor="t" anchorCtr="0">
              <a:spAutoFit/>
            </a:bodyPr>
            <a:lstStyle/>
            <a:p>
              <a:pPr algn="l"/>
              <a:r>
                <a:rPr lang="zh-CN" sz="1050" b="1" dirty="0">
                  <a:solidFill>
                    <a:srgbClr val="FF8F00"/>
                  </a:solidFill>
                  <a:latin typeface="Cambria"/>
                  <a:ea typeface="SimSun"/>
                  <a:cs typeface="Cambria"/>
                </a:rPr>
                <a:t>68.64% Top-1</a:t>
              </a:r>
            </a:p>
          </p:txBody>
        </p:sp>
        <p:sp>
          <p:nvSpPr>
            <p:cNvPr id="44" name="TextBox 44"/>
            <p:cNvSpPr txBox="1"/>
            <p:nvPr/>
          </p:nvSpPr>
          <p:spPr>
            <a:xfrm>
              <a:off x="750570" y="6179820"/>
              <a:ext cx="1739075" cy="182880"/>
            </a:xfrm>
            <a:prstGeom prst="rect">
              <a:avLst/>
            </a:prstGeom>
            <a:noFill/>
            <a:ln>
              <a:noFill/>
            </a:ln>
          </p:spPr>
          <p:txBody>
            <a:bodyPr wrap="none" lIns="0" tIns="0" rIns="0" bIns="0" anchor="t" anchorCtr="0">
              <a:spAutoFit/>
            </a:bodyPr>
            <a:lstStyle/>
            <a:p>
              <a:pPr algn="l"/>
              <a:r>
                <a:rPr lang="zh-CN" sz="900" i="1" dirty="0">
                  <a:solidFill>
                    <a:srgbClr val="2E7D32"/>
                  </a:solidFill>
                  <a:latin typeface="Cambria"/>
                  <a:ea typeface="SimSun"/>
                  <a:cs typeface="Cambria"/>
                </a:rPr>
                <a:t>✓ 验证 VLM 零样本食物识别有效</a:t>
              </a:r>
            </a:p>
          </p:txBody>
        </p:sp>
        <p:sp>
          <p:nvSpPr>
            <p:cNvPr id="45" name="Rectangle 45"/>
            <p:cNvSpPr/>
            <p:nvPr/>
          </p:nvSpPr>
          <p:spPr>
            <a:xfrm>
              <a:off x="4286250" y="5095875"/>
              <a:ext cx="3524250" cy="1333500"/>
            </a:xfrm>
            <a:prstGeom prst="roundRect">
              <a:avLst>
                <a:gd name="adj" fmla="val 7143"/>
              </a:avLst>
            </a:prstGeom>
            <a:solidFill>
              <a:srgbClr val="FFFFFF"/>
            </a:solidFill>
            <a:ln w="14288">
              <a:solidFill>
                <a:srgbClr val="E0E0E0"/>
              </a:solidFill>
            </a:ln>
            <a:effectLst>
              <a:outerShdw blurRad="95250" dist="28575" dir="5400000" algn="ctr" rotWithShape="0">
                <a:srgbClr val="0F172A">
                  <a:alpha val="6000"/>
                </a:srgbClr>
              </a:outerShdw>
            </a:effectLst>
          </p:spPr>
        </p:sp>
        <p:sp>
          <p:nvSpPr>
            <p:cNvPr id="46" name="Rectangle 46"/>
            <p:cNvSpPr/>
            <p:nvPr/>
          </p:nvSpPr>
          <p:spPr>
            <a:xfrm>
              <a:off x="4286250" y="5095875"/>
              <a:ext cx="3524250" cy="361950"/>
            </a:xfrm>
            <a:prstGeom prst="roundRect">
              <a:avLst>
                <a:gd name="adj" fmla="val 26316"/>
              </a:avLst>
            </a:prstGeom>
            <a:solidFill>
              <a:srgbClr val="5C6BC0"/>
            </a:solidFill>
            <a:ln>
              <a:noFill/>
            </a:ln>
          </p:spPr>
        </p:sp>
        <p:sp>
          <p:nvSpPr>
            <p:cNvPr id="47" name="Rectangle 47"/>
            <p:cNvSpPr/>
            <p:nvPr/>
          </p:nvSpPr>
          <p:spPr>
            <a:xfrm>
              <a:off x="4286250" y="5343525"/>
              <a:ext cx="3524250" cy="114300"/>
            </a:xfrm>
            <a:prstGeom prst="rect">
              <a:avLst/>
            </a:prstGeom>
            <a:solidFill>
              <a:srgbClr val="5C6BC0"/>
            </a:solidFill>
            <a:ln>
              <a:noFill/>
            </a:ln>
          </p:spPr>
        </p:sp>
        <p:sp>
          <p:nvSpPr>
            <p:cNvPr id="48" name="TextBox 48"/>
            <p:cNvSpPr txBox="1"/>
            <p:nvPr/>
          </p:nvSpPr>
          <p:spPr>
            <a:xfrm>
              <a:off x="4463415" y="5220652"/>
              <a:ext cx="1357186"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Cambria"/>
                  <a:ea typeface="SimSun"/>
                  <a:cs typeface="Cambria"/>
                </a:rPr>
                <a:t>关键发现 · FINDINGS</a:t>
              </a:r>
            </a:p>
          </p:txBody>
        </p:sp>
        <p:sp>
          <p:nvSpPr>
            <p:cNvPr id="49" name="Ellipse 49"/>
            <p:cNvSpPr/>
            <p:nvPr/>
          </p:nvSpPr>
          <p:spPr>
            <a:xfrm>
              <a:off x="4457700" y="5629275"/>
              <a:ext cx="76200" cy="76200"/>
            </a:xfrm>
            <a:prstGeom prst="ellipse">
              <a:avLst/>
            </a:prstGeom>
            <a:solidFill>
              <a:srgbClr val="FF8F00"/>
            </a:solidFill>
            <a:ln>
              <a:noFill/>
            </a:ln>
          </p:spPr>
        </p:sp>
        <p:sp>
          <p:nvSpPr>
            <p:cNvPr id="50" name="TextBox 50"/>
            <p:cNvSpPr txBox="1"/>
            <p:nvPr/>
          </p:nvSpPr>
          <p:spPr>
            <a:xfrm>
              <a:off x="4598670" y="5617845"/>
              <a:ext cx="1841087"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语言对齐: English-CLIP +17.49pp</a:t>
              </a:r>
            </a:p>
          </p:txBody>
        </p:sp>
        <p:sp>
          <p:nvSpPr>
            <p:cNvPr id="51" name="Ellipse 51"/>
            <p:cNvSpPr/>
            <p:nvPr/>
          </p:nvSpPr>
          <p:spPr>
            <a:xfrm>
              <a:off x="4457700" y="5857875"/>
              <a:ext cx="76200" cy="76200"/>
            </a:xfrm>
            <a:prstGeom prst="ellipse">
              <a:avLst/>
            </a:prstGeom>
            <a:solidFill>
              <a:srgbClr val="FF8F00"/>
            </a:solidFill>
            <a:ln>
              <a:noFill/>
            </a:ln>
          </p:spPr>
        </p:sp>
        <p:sp>
          <p:nvSpPr>
            <p:cNvPr id="52" name="TextBox 52"/>
            <p:cNvSpPr txBox="1"/>
            <p:nvPr/>
          </p:nvSpPr>
          <p:spPr>
            <a:xfrm>
              <a:off x="4598670" y="5846445"/>
              <a:ext cx="1835086"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协同增益: 检测器 + CoT = +6.50%</a:t>
              </a:r>
            </a:p>
          </p:txBody>
        </p:sp>
        <p:sp>
          <p:nvSpPr>
            <p:cNvPr id="53" name="Ellipse 53"/>
            <p:cNvSpPr/>
            <p:nvPr/>
          </p:nvSpPr>
          <p:spPr>
            <a:xfrm>
              <a:off x="4457700" y="6086475"/>
              <a:ext cx="76200" cy="76200"/>
            </a:xfrm>
            <a:prstGeom prst="ellipse">
              <a:avLst/>
            </a:prstGeom>
            <a:solidFill>
              <a:srgbClr val="FF8F00"/>
            </a:solidFill>
            <a:ln>
              <a:noFill/>
            </a:ln>
          </p:spPr>
        </p:sp>
        <p:sp>
          <p:nvSpPr>
            <p:cNvPr id="54" name="TextBox 54"/>
            <p:cNvSpPr txBox="1"/>
            <p:nvPr/>
          </p:nvSpPr>
          <p:spPr>
            <a:xfrm>
              <a:off x="4598670" y="6075045"/>
              <a:ext cx="1727073"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泛化稳健: 真实场景保持 62.16%</a:t>
              </a:r>
            </a:p>
          </p:txBody>
        </p:sp>
        <p:sp>
          <p:nvSpPr>
            <p:cNvPr id="55" name="Ellipse 55"/>
            <p:cNvSpPr/>
            <p:nvPr/>
          </p:nvSpPr>
          <p:spPr>
            <a:xfrm>
              <a:off x="4457700" y="6315075"/>
              <a:ext cx="76200" cy="76200"/>
            </a:xfrm>
            <a:prstGeom prst="ellipse">
              <a:avLst/>
            </a:prstGeom>
            <a:solidFill>
              <a:srgbClr val="FF8F00"/>
            </a:solidFill>
            <a:ln>
              <a:noFill/>
            </a:ln>
          </p:spPr>
        </p:sp>
        <p:sp>
          <p:nvSpPr>
            <p:cNvPr id="56" name="TextBox 56"/>
            <p:cNvSpPr txBox="1"/>
            <p:nvPr/>
          </p:nvSpPr>
          <p:spPr>
            <a:xfrm>
              <a:off x="4598670" y="6303645"/>
              <a:ext cx="1343025"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度量学习优于生成式推理</a:t>
              </a:r>
            </a:p>
          </p:txBody>
        </p:sp>
        <p:sp>
          <p:nvSpPr>
            <p:cNvPr id="57" name="Rectangle 57"/>
            <p:cNvSpPr/>
            <p:nvPr/>
          </p:nvSpPr>
          <p:spPr>
            <a:xfrm>
              <a:off x="8001000" y="5095875"/>
              <a:ext cx="3619500" cy="1333500"/>
            </a:xfrm>
            <a:prstGeom prst="roundRect">
              <a:avLst>
                <a:gd name="adj" fmla="val 7143"/>
              </a:avLst>
            </a:prstGeom>
            <a:solidFill>
              <a:srgbClr val="FFF8E1"/>
            </a:solidFill>
            <a:ln w="14288">
              <a:solidFill>
                <a:srgbClr val="FF8F00"/>
              </a:solidFill>
            </a:ln>
            <a:effectLst>
              <a:outerShdw blurRad="95250" dist="28575" dir="5400000" algn="ctr" rotWithShape="0">
                <a:srgbClr val="0F172A">
                  <a:alpha val="6000"/>
                </a:srgbClr>
              </a:outerShdw>
            </a:effectLst>
          </p:spPr>
        </p:sp>
        <p:sp>
          <p:nvSpPr>
            <p:cNvPr id="58" name="Rectangle 58"/>
            <p:cNvSpPr/>
            <p:nvPr/>
          </p:nvSpPr>
          <p:spPr>
            <a:xfrm>
              <a:off x="8001000" y="5095875"/>
              <a:ext cx="3619500" cy="361950"/>
            </a:xfrm>
            <a:prstGeom prst="roundRect">
              <a:avLst>
                <a:gd name="adj" fmla="val 26316"/>
              </a:avLst>
            </a:prstGeom>
            <a:solidFill>
              <a:srgbClr val="FF8F00"/>
            </a:solidFill>
            <a:ln>
              <a:noFill/>
            </a:ln>
          </p:spPr>
        </p:sp>
        <p:sp>
          <p:nvSpPr>
            <p:cNvPr id="59" name="Rectangle 59"/>
            <p:cNvSpPr/>
            <p:nvPr/>
          </p:nvSpPr>
          <p:spPr>
            <a:xfrm>
              <a:off x="8001000" y="5343525"/>
              <a:ext cx="3619500" cy="114300"/>
            </a:xfrm>
            <a:prstGeom prst="rect">
              <a:avLst/>
            </a:prstGeom>
            <a:solidFill>
              <a:srgbClr val="FF8F00"/>
            </a:solidFill>
            <a:ln>
              <a:noFill/>
            </a:ln>
          </p:spPr>
        </p:sp>
        <p:sp>
          <p:nvSpPr>
            <p:cNvPr id="60" name="TextBox 60"/>
            <p:cNvSpPr txBox="1"/>
            <p:nvPr/>
          </p:nvSpPr>
          <p:spPr>
            <a:xfrm>
              <a:off x="8178165" y="5220652"/>
              <a:ext cx="1768838"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Cambria"/>
                  <a:ea typeface="SimSun"/>
                  <a:cs typeface="Cambria"/>
                </a:rPr>
                <a:t>方法论启示 · IMPLICATION</a:t>
              </a:r>
            </a:p>
          </p:txBody>
        </p:sp>
        <p:sp>
          <p:nvSpPr>
            <p:cNvPr id="61" name="TextBox 61"/>
            <p:cNvSpPr txBox="1"/>
            <p:nvPr/>
          </p:nvSpPr>
          <p:spPr>
            <a:xfrm>
              <a:off x="8179118" y="5638324"/>
              <a:ext cx="1936004"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语言对齐和模型范式对零样本分</a:t>
              </a:r>
            </a:p>
          </p:txBody>
        </p:sp>
        <p:sp>
          <p:nvSpPr>
            <p:cNvPr id="62" name="TextBox 62"/>
            <p:cNvSpPr txBox="1"/>
            <p:nvPr/>
          </p:nvSpPr>
          <p:spPr>
            <a:xfrm>
              <a:off x="8179118" y="5828824"/>
              <a:ext cx="1389936"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类效果具有决定性影响</a:t>
              </a:r>
            </a:p>
          </p:txBody>
        </p:sp>
        <p:sp>
          <p:nvSpPr>
            <p:cNvPr id="63" name="TextBox 63"/>
            <p:cNvSpPr txBox="1"/>
            <p:nvPr/>
          </p:nvSpPr>
          <p:spPr>
            <a:xfrm>
              <a:off x="8180070" y="6094095"/>
              <a:ext cx="1601057" cy="182880"/>
            </a:xfrm>
            <a:prstGeom prst="rect">
              <a:avLst/>
            </a:prstGeom>
            <a:noFill/>
            <a:ln>
              <a:noFill/>
            </a:ln>
          </p:spPr>
          <p:txBody>
            <a:bodyPr wrap="none" lIns="0" tIns="0" rIns="0" bIns="0" anchor="t" anchorCtr="0">
              <a:spAutoFit/>
            </a:bodyPr>
            <a:lstStyle/>
            <a:p>
              <a:pPr algn="l"/>
              <a:r>
                <a:rPr lang="zh-CN" sz="900" i="1" dirty="0">
                  <a:solidFill>
                    <a:srgbClr val="5F6368"/>
                  </a:solidFill>
                  <a:latin typeface="Cambria"/>
                  <a:ea typeface="SimSun"/>
                  <a:cs typeface="Cambria"/>
                </a:rPr>
                <a:t>下章节将转向分量估计 — 物理</a:t>
              </a:r>
            </a:p>
          </p:txBody>
        </p:sp>
        <p:sp>
          <p:nvSpPr>
            <p:cNvPr id="64" name="TextBox 64"/>
            <p:cNvSpPr txBox="1"/>
            <p:nvPr/>
          </p:nvSpPr>
          <p:spPr>
            <a:xfrm>
              <a:off x="8180070" y="6265545"/>
              <a:ext cx="1169003" cy="182880"/>
            </a:xfrm>
            <a:prstGeom prst="rect">
              <a:avLst/>
            </a:prstGeom>
            <a:noFill/>
            <a:ln>
              <a:noFill/>
            </a:ln>
          </p:spPr>
          <p:txBody>
            <a:bodyPr wrap="none" lIns="0" tIns="0" rIns="0" bIns="0" anchor="t" anchorCtr="0">
              <a:spAutoFit/>
            </a:bodyPr>
            <a:lstStyle/>
            <a:p>
              <a:pPr algn="l"/>
              <a:r>
                <a:rPr lang="zh-CN" sz="900" i="1" dirty="0">
                  <a:solidFill>
                    <a:srgbClr val="5F6368"/>
                  </a:solidFill>
                  <a:latin typeface="Cambria"/>
                  <a:ea typeface="SimSun"/>
                  <a:cs typeface="Cambria"/>
                </a:rPr>
                <a:t>量回归,而非语义理解</a:t>
              </a:r>
            </a:p>
          </p:txBody>
        </p:sp>
      </p:grpSp>
      <p:sp>
        <p:nvSpPr>
          <p:cNvPr id="66" name="TextBox 66"/>
          <p:cNvSpPr txBox="1"/>
          <p:nvPr/>
        </p:nvSpPr>
        <p:spPr>
          <a:xfrm>
            <a:off x="561022" y="6578441"/>
            <a:ext cx="2833732"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1 · Q1 Summary</a:t>
            </a:r>
          </a:p>
        </p:txBody>
      </p:sp>
      <p:sp>
        <p:nvSpPr>
          <p:cNvPr id="67" name="TextBox 67"/>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08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image">
                                      <p:cBhvr>
                                        <p:cTn id="7" dur="400"/>
                                        <p:tgtEl>
                                          <p:spTgt spid="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400"/>
                                        <p:tgtEl>
                                          <p:spTgt spid="3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wipe(left)">
                                      <p:cBhvr>
                                        <p:cTn id="15"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3" grpId="0"/>
      <p:bldP spid="6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D2A4F"/>
              </a:gs>
              <a:gs pos="55000">
                <a:srgbClr val="1565C0"/>
              </a:gs>
              <a:gs pos="100000">
                <a:srgbClr val="5C6BC0"/>
              </a:gs>
            </a:gsLst>
            <a:lin ang="2700000" scaled="1"/>
          </a:gradFill>
          <a:ln>
            <a:noFill/>
          </a:ln>
        </p:spPr>
      </p:sp>
      <p:sp>
        <p:nvSpPr>
          <p:cNvPr id="3" name="Rectangle 3"/>
          <p:cNvSpPr/>
          <p:nvPr/>
        </p:nvSpPr>
        <p:spPr>
          <a:xfrm>
            <a:off x="0" y="0"/>
            <a:ext cx="12192000" cy="6858000"/>
          </a:xfrm>
          <a:prstGeom prst="rect">
            <a:avLst/>
          </a:prstGeom>
          <a:gradFill>
            <a:gsLst>
              <a:gs pos="0">
                <a:srgbClr val="FF8F00">
                  <a:alpha val="18000"/>
                </a:srgbClr>
              </a:gs>
              <a:gs pos="100000">
                <a:srgbClr val="FF8F00">
                  <a:alpha val="0"/>
                </a:srgbClr>
              </a:gs>
            </a:gsLst>
            <a:path path="circle">
              <a:fillToRect l="50000" t="50000" r="50000" b="50000"/>
            </a:path>
          </a:gradFill>
          <a:ln>
            <a:noFill/>
          </a:ln>
        </p:spPr>
      </p:sp>
      <p:sp>
        <p:nvSpPr>
          <p:cNvPr id="4" name="Ellipse 4"/>
          <p:cNvSpPr/>
          <p:nvPr/>
        </p:nvSpPr>
        <p:spPr>
          <a:xfrm>
            <a:off x="10258425" y="1685925"/>
            <a:ext cx="57150" cy="57150"/>
          </a:xfrm>
          <a:prstGeom prst="ellipse">
            <a:avLst/>
          </a:prstGeom>
          <a:solidFill>
            <a:srgbClr val="FFFFFF">
              <a:alpha val="20000"/>
            </a:srgbClr>
          </a:solidFill>
          <a:ln>
            <a:noFill/>
          </a:ln>
        </p:spPr>
      </p:sp>
      <p:sp>
        <p:nvSpPr>
          <p:cNvPr id="5" name="Ellipse 5"/>
          <p:cNvSpPr/>
          <p:nvPr/>
        </p:nvSpPr>
        <p:spPr>
          <a:xfrm>
            <a:off x="10648950" y="1981200"/>
            <a:ext cx="38100" cy="38100"/>
          </a:xfrm>
          <a:prstGeom prst="ellipse">
            <a:avLst/>
          </a:prstGeom>
          <a:solidFill>
            <a:srgbClr val="FFFFFF">
              <a:alpha val="16000"/>
            </a:srgbClr>
          </a:solidFill>
          <a:ln>
            <a:noFill/>
          </a:ln>
        </p:spPr>
      </p:sp>
      <p:sp>
        <p:nvSpPr>
          <p:cNvPr id="6" name="Ellipse 6"/>
          <p:cNvSpPr/>
          <p:nvPr/>
        </p:nvSpPr>
        <p:spPr>
          <a:xfrm>
            <a:off x="10929938" y="1500188"/>
            <a:ext cx="47625" cy="47625"/>
          </a:xfrm>
          <a:prstGeom prst="ellipse">
            <a:avLst/>
          </a:prstGeom>
          <a:solidFill>
            <a:srgbClr val="FF8F00">
              <a:alpha val="30000"/>
            </a:srgbClr>
          </a:solidFill>
          <a:ln>
            <a:noFill/>
          </a:ln>
        </p:spPr>
      </p:sp>
      <p:sp>
        <p:nvSpPr>
          <p:cNvPr id="7" name="Ellipse 7"/>
          <p:cNvSpPr/>
          <p:nvPr/>
        </p:nvSpPr>
        <p:spPr>
          <a:xfrm>
            <a:off x="1685925" y="5114925"/>
            <a:ext cx="57150" cy="57150"/>
          </a:xfrm>
          <a:prstGeom prst="ellipse">
            <a:avLst/>
          </a:prstGeom>
          <a:solidFill>
            <a:srgbClr val="FFFFFF">
              <a:alpha val="18000"/>
            </a:srgbClr>
          </a:solidFill>
          <a:ln>
            <a:noFill/>
          </a:ln>
        </p:spPr>
      </p:sp>
      <p:sp>
        <p:nvSpPr>
          <p:cNvPr id="8" name="Ellipse 8"/>
          <p:cNvSpPr/>
          <p:nvPr/>
        </p:nvSpPr>
        <p:spPr>
          <a:xfrm>
            <a:off x="1314450" y="5410200"/>
            <a:ext cx="38100" cy="38100"/>
          </a:xfrm>
          <a:prstGeom prst="ellipse">
            <a:avLst/>
          </a:prstGeom>
          <a:solidFill>
            <a:srgbClr val="FF8F00">
              <a:alpha val="25000"/>
            </a:srgbClr>
          </a:solidFill>
          <a:ln>
            <a:noFill/>
          </a:ln>
        </p:spPr>
      </p:sp>
      <p:sp>
        <p:nvSpPr>
          <p:cNvPr id="9" name="TextBox 9"/>
          <p:cNvSpPr txBox="1"/>
          <p:nvPr/>
        </p:nvSpPr>
        <p:spPr>
          <a:xfrm>
            <a:off x="4212098" y="781050"/>
            <a:ext cx="3767804" cy="4267200"/>
          </a:xfrm>
          <a:prstGeom prst="rect">
            <a:avLst/>
          </a:prstGeom>
          <a:noFill/>
          <a:ln>
            <a:noFill/>
          </a:ln>
        </p:spPr>
        <p:txBody>
          <a:bodyPr wrap="none" lIns="0" tIns="0" rIns="0" bIns="0" anchor="t" anchorCtr="0">
            <a:spAutoFit/>
          </a:bodyPr>
          <a:lstStyle/>
          <a:p>
            <a:pPr algn="ctr"/>
            <a:r>
              <a:rPr lang="zh-CN" sz="21000" b="1" dirty="0">
                <a:solidFill>
                  <a:srgbClr val="FFFFFF">
                    <a:alphaMod val="7000"/>
                  </a:srgbClr>
                </a:solidFill>
                <a:latin typeface="Cambria"/>
                <a:ea typeface="SimSun"/>
                <a:cs typeface="Cambria"/>
              </a:rPr>
              <a:t>02</a:t>
            </a:r>
          </a:p>
        </p:txBody>
      </p:sp>
      <p:sp>
        <p:nvSpPr>
          <p:cNvPr id="10" name="TextBox 10"/>
          <p:cNvSpPr txBox="1"/>
          <p:nvPr/>
        </p:nvSpPr>
        <p:spPr>
          <a:xfrm>
            <a:off x="3879685" y="2204085"/>
            <a:ext cx="4432630" cy="243840"/>
          </a:xfrm>
          <a:prstGeom prst="rect">
            <a:avLst/>
          </a:prstGeom>
          <a:noFill/>
          <a:ln>
            <a:noFill/>
          </a:ln>
        </p:spPr>
        <p:txBody>
          <a:bodyPr wrap="none" lIns="0" tIns="0" rIns="0" bIns="0" anchor="t" anchorCtr="0">
            <a:spAutoFit/>
          </a:bodyPr>
          <a:lstStyle/>
          <a:p>
            <a:pPr algn="ctr"/>
            <a:r>
              <a:rPr lang="zh-CN" sz="1200" b="1" dirty="0">
                <a:solidFill>
                  <a:srgbClr val="FFFFFF">
                    <a:alphaMod val="70000"/>
                  </a:srgbClr>
                </a:solidFill>
                <a:latin typeface="Cambria"/>
                <a:ea typeface="SimSun"/>
                <a:cs typeface="Cambria"/>
              </a:rPr>
              <a:t>CHAPTER 02 / 06 · PORTION ESTIMATION · METHOD PIVOT</a:t>
            </a:r>
          </a:p>
        </p:txBody>
      </p:sp>
      <p:sp>
        <p:nvSpPr>
          <p:cNvPr id="11" name="Line 11"/>
          <p:cNvSpPr/>
          <p:nvPr/>
        </p:nvSpPr>
        <p:spPr>
          <a:xfrm>
            <a:off x="5143500" y="2571750"/>
            <a:ext cx="1905000" cy="9525"/>
          </a:xfrm>
          <a:custGeom>
            <a:avLst/>
            <a:gdLst/>
            <a:ahLst/>
            <a:cxnLst/>
            <a:rect l="l" t="t" r="r" b="b"/>
            <a:pathLst>
              <a:path w="1905000" h="9525">
                <a:moveTo>
                  <a:pt x="0" y="0"/>
                </a:moveTo>
                <a:lnTo>
                  <a:pt x="1905000" y="0"/>
                </a:lnTo>
              </a:path>
            </a:pathLst>
          </a:custGeom>
          <a:noFill/>
          <a:ln w="19050" cap="rnd">
            <a:solidFill>
              <a:srgbClr val="FF8F00"/>
            </a:solidFill>
          </a:ln>
        </p:spPr>
      </p:sp>
      <p:sp>
        <p:nvSpPr>
          <p:cNvPr id="12" name="TextBox 12"/>
          <p:cNvSpPr txBox="1"/>
          <p:nvPr/>
        </p:nvSpPr>
        <p:spPr>
          <a:xfrm>
            <a:off x="4492371" y="2985135"/>
            <a:ext cx="3207258" cy="1463040"/>
          </a:xfrm>
          <a:prstGeom prst="rect">
            <a:avLst/>
          </a:prstGeom>
          <a:noFill/>
          <a:ln>
            <a:noFill/>
          </a:ln>
        </p:spPr>
        <p:txBody>
          <a:bodyPr wrap="none" lIns="0" tIns="0" rIns="0" bIns="0" anchor="t" anchorCtr="0">
            <a:spAutoFit/>
          </a:bodyPr>
          <a:lstStyle/>
          <a:p>
            <a:pPr algn="ctr"/>
            <a:r>
              <a:rPr lang="zh-CN" sz="7200" b="1" dirty="0">
                <a:gradFill>
                  <a:gsLst>
                    <a:gs pos="0">
                      <a:srgbClr val="FFFFFF"/>
                    </a:gs>
                    <a:gs pos="100000">
                      <a:srgbClr val="FFB300"/>
                    </a:gs>
                  </a:gsLst>
                  <a:lin ang="0" scaled="1"/>
                </a:gradFill>
                <a:latin typeface="Cambria"/>
                <a:ea typeface="SimSun"/>
                <a:cs typeface="Cambria"/>
              </a:rPr>
              <a:t>第二问</a:t>
            </a:r>
          </a:p>
        </p:txBody>
      </p:sp>
      <p:sp>
        <p:nvSpPr>
          <p:cNvPr id="13" name="TextBox 13"/>
          <p:cNvSpPr txBox="1"/>
          <p:nvPr/>
        </p:nvSpPr>
        <p:spPr>
          <a:xfrm>
            <a:off x="3451408" y="4075748"/>
            <a:ext cx="5289185" cy="396240"/>
          </a:xfrm>
          <a:prstGeom prst="rect">
            <a:avLst/>
          </a:prstGeom>
          <a:noFill/>
          <a:ln>
            <a:noFill/>
          </a:ln>
        </p:spPr>
        <p:txBody>
          <a:bodyPr wrap="none" lIns="0" tIns="0" rIns="0" bIns="0" anchor="t" anchorCtr="0">
            <a:spAutoFit/>
          </a:bodyPr>
          <a:lstStyle/>
          <a:p>
            <a:pPr algn="ctr"/>
            <a:r>
              <a:rPr lang="zh-CN" sz="1950" dirty="0">
                <a:solidFill>
                  <a:srgbClr val="FFFFFF">
                    <a:alphaMod val="92000"/>
                  </a:srgbClr>
                </a:solidFill>
                <a:latin typeface="Arial"/>
                <a:ea typeface="Microsoft YaHei"/>
                <a:cs typeface="Arial"/>
              </a:rPr>
              <a:t>食物分量估计 · 从通用大模型到轻量专用模型</a:t>
            </a:r>
          </a:p>
        </p:txBody>
      </p:sp>
      <p:sp>
        <p:nvSpPr>
          <p:cNvPr id="14" name="TextBox 14"/>
          <p:cNvSpPr txBox="1"/>
          <p:nvPr/>
        </p:nvSpPr>
        <p:spPr>
          <a:xfrm>
            <a:off x="3377625" y="4498181"/>
            <a:ext cx="5436751" cy="228600"/>
          </a:xfrm>
          <a:prstGeom prst="rect">
            <a:avLst/>
          </a:prstGeom>
          <a:noFill/>
          <a:ln>
            <a:noFill/>
          </a:ln>
        </p:spPr>
        <p:txBody>
          <a:bodyPr wrap="none" lIns="0" tIns="0" rIns="0" bIns="0" anchor="t" anchorCtr="0">
            <a:spAutoFit/>
          </a:bodyPr>
          <a:lstStyle/>
          <a:p>
            <a:pPr algn="ctr"/>
            <a:r>
              <a:rPr lang="zh-CN" sz="1125" i="1" dirty="0">
                <a:solidFill>
                  <a:srgbClr val="FFFFFF">
                    <a:alphaMod val="65000"/>
                  </a:srgbClr>
                </a:solidFill>
                <a:latin typeface="Cambria"/>
                <a:ea typeface="SimSun"/>
                <a:cs typeface="Cambria"/>
              </a:rPr>
              <a:t>Portion Estimation · From General LMMs to Lightweight Specialized Models</a:t>
            </a:r>
          </a:p>
        </p:txBody>
      </p:sp>
      <p:sp>
        <p:nvSpPr>
          <p:cNvPr id="15" name="Line 15"/>
          <p:cNvSpPr/>
          <p:nvPr/>
        </p:nvSpPr>
        <p:spPr>
          <a:xfrm>
            <a:off x="5715000" y="5286375"/>
            <a:ext cx="762000" cy="9525"/>
          </a:xfrm>
          <a:custGeom>
            <a:avLst/>
            <a:gdLst/>
            <a:ahLst/>
            <a:cxnLst/>
            <a:rect l="l" t="t" r="r" b="b"/>
            <a:pathLst>
              <a:path w="762000" h="9525">
                <a:moveTo>
                  <a:pt x="0" y="0"/>
                </a:moveTo>
                <a:lnTo>
                  <a:pt x="762000" y="0"/>
                </a:lnTo>
              </a:path>
            </a:pathLst>
          </a:custGeom>
          <a:noFill/>
          <a:ln w="9525">
            <a:solidFill>
              <a:srgbClr val="FFFFFF">
                <a:alpha val="35000"/>
              </a:srgbClr>
            </a:solidFill>
          </a:ln>
        </p:spPr>
      </p:sp>
      <p:grpSp>
        <p:nvGrpSpPr>
          <p:cNvPr id="21" name="Group 21"/>
          <p:cNvGrpSpPr/>
          <p:nvPr/>
        </p:nvGrpSpPr>
        <p:grpSpPr>
          <a:xfrm>
            <a:off x="3780092" y="5593556"/>
            <a:ext cx="4054837" cy="228600"/>
            <a:chOff x="3780092" y="5593556"/>
            <a:chExt cx="4054837" cy="228600"/>
          </a:xfrm>
        </p:grpSpPr>
        <p:sp>
          <p:nvSpPr>
            <p:cNvPr id="16" name="TextBox 16"/>
            <p:cNvSpPr txBox="1"/>
            <p:nvPr/>
          </p:nvSpPr>
          <p:spPr>
            <a:xfrm>
              <a:off x="3780092" y="5601652"/>
              <a:ext cx="614744" cy="213360"/>
            </a:xfrm>
            <a:prstGeom prst="rect">
              <a:avLst/>
            </a:prstGeom>
            <a:noFill/>
            <a:ln>
              <a:noFill/>
            </a:ln>
          </p:spPr>
          <p:txBody>
            <a:bodyPr wrap="none" lIns="0" tIns="0" rIns="0" bIns="0" anchor="t" anchorCtr="0">
              <a:spAutoFit/>
            </a:bodyPr>
            <a:lstStyle/>
            <a:p>
              <a:pPr algn="r"/>
              <a:r>
                <a:rPr lang="zh-CN" sz="1050" b="1" dirty="0">
                  <a:solidFill>
                    <a:srgbClr val="FFFFFF">
                      <a:alphaMod val="75000"/>
                    </a:srgbClr>
                  </a:solidFill>
                  <a:latin typeface="Arial"/>
                  <a:ea typeface="Microsoft YaHei"/>
                  <a:cs typeface="Arial"/>
                </a:rPr>
                <a:t>章节范围</a:t>
              </a:r>
            </a:p>
          </p:txBody>
        </p:sp>
        <p:sp>
          <p:nvSpPr>
            <p:cNvPr id="17" name="TextBox 17"/>
            <p:cNvSpPr txBox="1"/>
            <p:nvPr/>
          </p:nvSpPr>
          <p:spPr>
            <a:xfrm>
              <a:off x="4557712" y="5593556"/>
              <a:ext cx="690158" cy="228600"/>
            </a:xfrm>
            <a:prstGeom prst="rect">
              <a:avLst/>
            </a:prstGeom>
            <a:noFill/>
            <a:ln>
              <a:noFill/>
            </a:ln>
          </p:spPr>
          <p:txBody>
            <a:bodyPr wrap="none" lIns="0" tIns="0" rIns="0" bIns="0" anchor="t" anchorCtr="0">
              <a:spAutoFit/>
            </a:bodyPr>
            <a:lstStyle/>
            <a:p>
              <a:pPr algn="l"/>
              <a:r>
                <a:rPr lang="zh-CN" sz="1125" b="1" dirty="0">
                  <a:solidFill>
                    <a:srgbClr val="FFB300"/>
                  </a:solidFill>
                  <a:latin typeface="Cambria"/>
                  <a:ea typeface="SimSun"/>
                  <a:cs typeface="Cambria"/>
                </a:rPr>
                <a:t>P09 — P16</a:t>
              </a:r>
            </a:p>
          </p:txBody>
        </p:sp>
        <p:sp>
          <p:nvSpPr>
            <p:cNvPr id="18" name="TextBox 18"/>
            <p:cNvSpPr txBox="1"/>
            <p:nvPr/>
          </p:nvSpPr>
          <p:spPr>
            <a:xfrm>
              <a:off x="5775912" y="5601652"/>
              <a:ext cx="68675" cy="213360"/>
            </a:xfrm>
            <a:prstGeom prst="rect">
              <a:avLst/>
            </a:prstGeom>
            <a:noFill/>
            <a:ln>
              <a:noFill/>
            </a:ln>
          </p:spPr>
          <p:txBody>
            <a:bodyPr wrap="none" lIns="0" tIns="0" rIns="0" bIns="0" anchor="t" anchorCtr="0">
              <a:spAutoFit/>
            </a:bodyPr>
            <a:lstStyle/>
            <a:p>
              <a:pPr algn="ctr"/>
              <a:r>
                <a:rPr lang="zh-CN" sz="1050" dirty="0">
                  <a:solidFill>
                    <a:srgbClr val="FFFFFF">
                      <a:alphaMod val="45000"/>
                    </a:srgbClr>
                  </a:solidFill>
                  <a:latin typeface="Cambria"/>
                  <a:ea typeface="SimSun"/>
                  <a:cs typeface="Cambria"/>
                </a:rPr>
                <a:t>|</a:t>
              </a:r>
            </a:p>
          </p:txBody>
        </p:sp>
        <p:sp>
          <p:nvSpPr>
            <p:cNvPr id="19" name="TextBox 19"/>
            <p:cNvSpPr txBox="1"/>
            <p:nvPr/>
          </p:nvSpPr>
          <p:spPr>
            <a:xfrm>
              <a:off x="5939790" y="5601652"/>
              <a:ext cx="489778" cy="213360"/>
            </a:xfrm>
            <a:prstGeom prst="rect">
              <a:avLst/>
            </a:prstGeom>
            <a:noFill/>
            <a:ln>
              <a:noFill/>
            </a:ln>
          </p:spPr>
          <p:txBody>
            <a:bodyPr wrap="none" lIns="0" tIns="0" rIns="0" bIns="0" anchor="t" anchorCtr="0">
              <a:spAutoFit/>
            </a:bodyPr>
            <a:lstStyle/>
            <a:p>
              <a:pPr algn="l"/>
              <a:r>
                <a:rPr lang="zh-CN" sz="1050" b="1" dirty="0">
                  <a:solidFill>
                    <a:srgbClr val="FFFFFF">
                      <a:alphaMod val="75000"/>
                    </a:srgbClr>
                  </a:solidFill>
                  <a:latin typeface="Arial"/>
                  <a:ea typeface="Microsoft YaHei"/>
                  <a:cs typeface="Arial"/>
                </a:rPr>
                <a:t>共 8 页</a:t>
              </a:r>
            </a:p>
          </p:txBody>
        </p:sp>
        <p:sp>
          <p:nvSpPr>
            <p:cNvPr id="20" name="TextBox 20"/>
            <p:cNvSpPr txBox="1"/>
            <p:nvPr/>
          </p:nvSpPr>
          <p:spPr>
            <a:xfrm>
              <a:off x="6654165" y="5601652"/>
              <a:ext cx="1180764" cy="213360"/>
            </a:xfrm>
            <a:prstGeom prst="rect">
              <a:avLst/>
            </a:prstGeom>
            <a:noFill/>
            <a:ln>
              <a:noFill/>
            </a:ln>
          </p:spPr>
          <p:txBody>
            <a:bodyPr wrap="none" lIns="0" tIns="0" rIns="0" bIns="0" anchor="t" anchorCtr="0">
              <a:spAutoFit/>
            </a:bodyPr>
            <a:lstStyle/>
            <a:p>
              <a:pPr algn="l"/>
              <a:r>
                <a:rPr lang="zh-CN" sz="1050" b="1" dirty="0">
                  <a:solidFill>
                    <a:srgbClr val="FFB300"/>
                  </a:solidFill>
                  <a:latin typeface="Cambria"/>
                  <a:ea typeface="SimSun"/>
                  <a:cs typeface="Cambria"/>
                </a:rPr>
                <a:t>· 核心方法学转向</a:t>
              </a:r>
            </a:p>
          </p:txBody>
        </p:sp>
      </p:grpSp>
      <p:grpSp>
        <p:nvGrpSpPr>
          <p:cNvPr id="27" name="Group 27"/>
          <p:cNvGrpSpPr/>
          <p:nvPr/>
        </p:nvGrpSpPr>
        <p:grpSpPr>
          <a:xfrm>
            <a:off x="819150" y="819150"/>
            <a:ext cx="342900" cy="333375"/>
            <a:chOff x="819150" y="819150"/>
            <a:chExt cx="342900" cy="333375"/>
          </a:xfrm>
        </p:grpSpPr>
        <p:sp>
          <p:nvSpPr>
            <p:cNvPr id="22" name="Freeform 22"/>
            <p:cNvSpPr/>
            <p:nvPr/>
          </p:nvSpPr>
          <p:spPr>
            <a:xfrm>
              <a:off x="895350" y="1143000"/>
              <a:ext cx="190500" cy="9525"/>
            </a:xfrm>
            <a:custGeom>
              <a:avLst/>
              <a:gdLst/>
              <a:ahLst/>
              <a:cxnLst/>
              <a:rect l="l" t="t" r="r" b="b"/>
              <a:pathLst>
                <a:path w="190500" h="9525">
                  <a:moveTo>
                    <a:pt x="0" y="0"/>
                  </a:moveTo>
                  <a:lnTo>
                    <a:pt x="190500" y="0"/>
                  </a:lnTo>
                </a:path>
              </a:pathLst>
            </a:custGeom>
            <a:noFill/>
            <a:ln w="19050">
              <a:solidFill>
                <a:srgbClr val="FF8F00"/>
              </a:solidFill>
            </a:ln>
          </p:spPr>
        </p:sp>
        <p:sp>
          <p:nvSpPr>
            <p:cNvPr id="23" name="Freeform 23"/>
            <p:cNvSpPr/>
            <p:nvPr/>
          </p:nvSpPr>
          <p:spPr>
            <a:xfrm>
              <a:off x="876300" y="857250"/>
              <a:ext cx="228600" cy="19050"/>
            </a:xfrm>
            <a:custGeom>
              <a:avLst/>
              <a:gdLst/>
              <a:ahLst/>
              <a:cxnLst/>
              <a:rect l="l" t="t" r="r" b="b"/>
              <a:pathLst>
                <a:path w="228600" h="19050">
                  <a:moveTo>
                    <a:pt x="0" y="19050"/>
                  </a:moveTo>
                  <a:lnTo>
                    <a:pt x="114300" y="0"/>
                  </a:lnTo>
                  <a:lnTo>
                    <a:pt x="228600" y="19050"/>
                  </a:lnTo>
                </a:path>
              </a:pathLst>
            </a:custGeom>
            <a:noFill/>
            <a:ln w="19050">
              <a:solidFill>
                <a:srgbClr val="FF8F00"/>
              </a:solidFill>
            </a:ln>
          </p:spPr>
        </p:sp>
        <p:sp>
          <p:nvSpPr>
            <p:cNvPr id="24" name="Freeform 24"/>
            <p:cNvSpPr/>
            <p:nvPr/>
          </p:nvSpPr>
          <p:spPr>
            <a:xfrm>
              <a:off x="990600" y="819150"/>
              <a:ext cx="9525" cy="323850"/>
            </a:xfrm>
            <a:custGeom>
              <a:avLst/>
              <a:gdLst/>
              <a:ahLst/>
              <a:cxnLst/>
              <a:rect l="l" t="t" r="r" b="b"/>
              <a:pathLst>
                <a:path w="9525" h="323850">
                  <a:moveTo>
                    <a:pt x="0" y="0"/>
                  </a:moveTo>
                  <a:lnTo>
                    <a:pt x="0" y="323850"/>
                  </a:lnTo>
                </a:path>
              </a:pathLst>
            </a:custGeom>
            <a:noFill/>
            <a:ln w="19050">
              <a:solidFill>
                <a:srgbClr val="FF8F00"/>
              </a:solidFill>
            </a:ln>
          </p:spPr>
        </p:sp>
        <p:sp>
          <p:nvSpPr>
            <p:cNvPr id="25" name="Freeform 25"/>
            <p:cNvSpPr/>
            <p:nvPr/>
          </p:nvSpPr>
          <p:spPr>
            <a:xfrm>
              <a:off x="819150" y="876300"/>
              <a:ext cx="114300" cy="171450"/>
            </a:xfrm>
            <a:custGeom>
              <a:avLst/>
              <a:gdLst/>
              <a:ahLst/>
              <a:cxnLst/>
              <a:rect l="l" t="t" r="r" b="b"/>
              <a:pathLst>
                <a:path w="114300" h="171450">
                  <a:moveTo>
                    <a:pt x="114300" y="114300"/>
                  </a:moveTo>
                  <a:lnTo>
                    <a:pt x="57150" y="0"/>
                  </a:lnTo>
                  <a:lnTo>
                    <a:pt x="0" y="114300"/>
                  </a:lnTo>
                  <a:cubicBezTo>
                    <a:pt x="0" y="145863"/>
                    <a:pt x="25587" y="171450"/>
                    <a:pt x="57150" y="171450"/>
                  </a:cubicBezTo>
                  <a:cubicBezTo>
                    <a:pt x="88713" y="171450"/>
                    <a:pt x="114300" y="145863"/>
                    <a:pt x="114300" y="114300"/>
                  </a:cubicBezTo>
                </a:path>
              </a:pathLst>
            </a:custGeom>
            <a:noFill/>
            <a:ln w="19050">
              <a:solidFill>
                <a:srgbClr val="FF8F00"/>
              </a:solidFill>
            </a:ln>
          </p:spPr>
        </p:sp>
        <p:sp>
          <p:nvSpPr>
            <p:cNvPr id="26" name="Freeform 26"/>
            <p:cNvSpPr/>
            <p:nvPr/>
          </p:nvSpPr>
          <p:spPr>
            <a:xfrm>
              <a:off x="1047750" y="876300"/>
              <a:ext cx="114300" cy="171450"/>
            </a:xfrm>
            <a:custGeom>
              <a:avLst/>
              <a:gdLst/>
              <a:ahLst/>
              <a:cxnLst/>
              <a:rect l="l" t="t" r="r" b="b"/>
              <a:pathLst>
                <a:path w="114300" h="171450">
                  <a:moveTo>
                    <a:pt x="114300" y="114300"/>
                  </a:moveTo>
                  <a:lnTo>
                    <a:pt x="57150" y="0"/>
                  </a:lnTo>
                  <a:lnTo>
                    <a:pt x="0" y="114300"/>
                  </a:lnTo>
                  <a:cubicBezTo>
                    <a:pt x="0" y="145863"/>
                    <a:pt x="25587" y="171450"/>
                    <a:pt x="57150" y="171450"/>
                  </a:cubicBezTo>
                  <a:cubicBezTo>
                    <a:pt x="88713" y="171450"/>
                    <a:pt x="114300" y="145863"/>
                    <a:pt x="114300" y="114300"/>
                  </a:cubicBezTo>
                </a:path>
              </a:pathLst>
            </a:custGeom>
            <a:noFill/>
            <a:ln w="19050">
              <a:solidFill>
                <a:srgbClr val="FF8F00"/>
              </a:solidFill>
            </a:ln>
          </p:spPr>
        </p:sp>
      </p:grpSp>
      <p:sp>
        <p:nvSpPr>
          <p:cNvPr id="28" name="TextBox 28"/>
          <p:cNvSpPr txBox="1"/>
          <p:nvPr/>
        </p:nvSpPr>
        <p:spPr>
          <a:xfrm>
            <a:off x="1321118" y="990124"/>
            <a:ext cx="1348981" cy="198120"/>
          </a:xfrm>
          <a:prstGeom prst="rect">
            <a:avLst/>
          </a:prstGeom>
          <a:noFill/>
          <a:ln>
            <a:noFill/>
          </a:ln>
        </p:spPr>
        <p:txBody>
          <a:bodyPr wrap="none" lIns="0" tIns="0" rIns="0" bIns="0" anchor="t" anchorCtr="0">
            <a:spAutoFit/>
          </a:bodyPr>
          <a:lstStyle/>
          <a:p>
            <a:pPr algn="l"/>
            <a:r>
              <a:rPr lang="zh-CN" sz="975" b="1" dirty="0">
                <a:solidFill>
                  <a:srgbClr val="FFFFFF">
                    <a:alphaMod val="65000"/>
                  </a:srgbClr>
                </a:solidFill>
                <a:latin typeface="Cambria"/>
                <a:ea typeface="SimSun"/>
                <a:cs typeface="Cambria"/>
              </a:rPr>
              <a:t>PORTION ESTIMATION</a:t>
            </a:r>
          </a:p>
        </p:txBody>
      </p:sp>
      <p:sp>
        <p:nvSpPr>
          <p:cNvPr id="29" name="TextBox 29"/>
          <p:cNvSpPr txBox="1"/>
          <p:nvPr/>
        </p:nvSpPr>
        <p:spPr>
          <a:xfrm>
            <a:off x="4594836" y="6197441"/>
            <a:ext cx="3002328" cy="167640"/>
          </a:xfrm>
          <a:prstGeom prst="rect">
            <a:avLst/>
          </a:prstGeom>
          <a:noFill/>
          <a:ln>
            <a:noFill/>
          </a:ln>
        </p:spPr>
        <p:txBody>
          <a:bodyPr wrap="none" lIns="0" tIns="0" rIns="0" bIns="0" anchor="t" anchorCtr="0">
            <a:spAutoFit/>
          </a:bodyPr>
          <a:lstStyle/>
          <a:p>
            <a:pPr algn="ctr"/>
            <a:r>
              <a:rPr lang="zh-CN" sz="825" dirty="0">
                <a:solidFill>
                  <a:srgbClr val="FFFFFF">
                    <a:alphaMod val="55000"/>
                  </a:srgbClr>
                </a:solidFill>
                <a:latin typeface="Arial"/>
                <a:ea typeface="Microsoft YaHei"/>
                <a:cs typeface="Arial"/>
              </a:rPr>
              <a:t>SMART FOOD NUTRITION ANALYSIS · DEFENSE PRESENTATION</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1049000" cy="685800"/>
            <a:chOff x="571500" y="457200"/>
            <a:chExt cx="11049000" cy="685800"/>
          </a:xfrm>
        </p:grpSpPr>
        <p:sp>
          <p:nvSpPr>
            <p:cNvPr id="3" name="Rectangle 3"/>
            <p:cNvSpPr/>
            <p:nvPr/>
          </p:nvSpPr>
          <p:spPr>
            <a:xfrm>
              <a:off x="571500" y="457200"/>
              <a:ext cx="57150" cy="381000"/>
            </a:xfrm>
            <a:prstGeom prst="roundRect">
              <a:avLst>
                <a:gd name="adj" fmla="val 50000"/>
              </a:avLst>
            </a:prstGeom>
            <a:solidFill>
              <a:srgbClr val="1565C0"/>
            </a:solidFill>
            <a:ln>
              <a:noFill/>
            </a:ln>
          </p:spPr>
        </p:sp>
        <p:sp>
          <p:nvSpPr>
            <p:cNvPr id="4" name="TextBox 4"/>
            <p:cNvSpPr txBox="1"/>
            <p:nvPr/>
          </p:nvSpPr>
          <p:spPr>
            <a:xfrm>
              <a:off x="733425" y="500062"/>
              <a:ext cx="3569839"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分量估计 · 三大核心挑战</a:t>
              </a:r>
            </a:p>
          </p:txBody>
        </p:sp>
        <p:sp>
          <p:nvSpPr>
            <p:cNvPr id="5" name="TextBox 5"/>
            <p:cNvSpPr txBox="1"/>
            <p:nvPr/>
          </p:nvSpPr>
          <p:spPr>
            <a:xfrm>
              <a:off x="748665" y="896302"/>
              <a:ext cx="3746235"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Q2 · THREE CORE CHALLENGES OF PORTION ESTIMATION</a:t>
              </a:r>
            </a:p>
          </p:txBody>
        </p:sp>
        <p:grpSp>
          <p:nvGrpSpPr>
            <p:cNvPr id="9" name="Group 9"/>
            <p:cNvGrpSpPr/>
            <p:nvPr/>
          </p:nvGrpSpPr>
          <p:grpSpPr>
            <a:xfrm>
              <a:off x="10001250" y="571500"/>
              <a:ext cx="1619250" cy="571500"/>
              <a:chOff x="10001250" y="571500"/>
              <a:chExt cx="1619250" cy="571500"/>
            </a:xfrm>
          </p:grpSpPr>
          <p:sp>
            <p:nvSpPr>
              <p:cNvPr id="6" name="Rectangle 6"/>
              <p:cNvSpPr/>
              <p:nvPr/>
            </p:nvSpPr>
            <p:spPr>
              <a:xfrm>
                <a:off x="10001250" y="571500"/>
                <a:ext cx="1619250" cy="571500"/>
              </a:xfrm>
              <a:prstGeom prst="roundRect">
                <a:avLst>
                  <a:gd name="adj" fmla="val 16667"/>
                </a:avLst>
              </a:prstGeom>
              <a:solidFill>
                <a:srgbClr val="FFF3E0"/>
              </a:solidFill>
              <a:ln>
                <a:noFill/>
              </a:ln>
            </p:spPr>
          </p:sp>
          <p:sp>
            <p:nvSpPr>
              <p:cNvPr id="7" name="TextBox 7"/>
              <p:cNvSpPr txBox="1"/>
              <p:nvPr/>
            </p:nvSpPr>
            <p:spPr>
              <a:xfrm>
                <a:off x="10174678" y="692468"/>
                <a:ext cx="1272395" cy="274320"/>
              </a:xfrm>
              <a:prstGeom prst="rect">
                <a:avLst/>
              </a:prstGeom>
              <a:noFill/>
              <a:ln>
                <a:noFill/>
              </a:ln>
            </p:spPr>
            <p:txBody>
              <a:bodyPr wrap="none" lIns="0" tIns="0" rIns="0" bIns="0" anchor="t" anchorCtr="0">
                <a:spAutoFit/>
              </a:bodyPr>
              <a:lstStyle/>
              <a:p>
                <a:pPr algn="ctr"/>
                <a:r>
                  <a:rPr lang="zh-CN" sz="1350" b="1" dirty="0">
                    <a:solidFill>
                      <a:srgbClr val="FF8F00"/>
                    </a:solidFill>
                    <a:latin typeface="Cambria"/>
                    <a:ea typeface="SimSun"/>
                    <a:cs typeface="Cambria"/>
                  </a:rPr>
                  <a:t>视觉-物理映射</a:t>
                </a:r>
              </a:p>
            </p:txBody>
          </p:sp>
          <p:sp>
            <p:nvSpPr>
              <p:cNvPr id="8" name="TextBox 8"/>
              <p:cNvSpPr txBox="1"/>
              <p:nvPr/>
            </p:nvSpPr>
            <p:spPr>
              <a:xfrm>
                <a:off x="10191059" y="958691"/>
                <a:ext cx="1239632"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CORE PROBLEM NATURE</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2" name="TextBox 12"/>
          <p:cNvSpPr txBox="1"/>
          <p:nvPr/>
        </p:nvSpPr>
        <p:spPr>
          <a:xfrm>
            <a:off x="3509843" y="1505902"/>
            <a:ext cx="5172313"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从单张 RGB 图像估计食物绝对重量(克)— 与通用物体识别不同,该任务面临独特困难</a:t>
            </a:r>
          </a:p>
        </p:txBody>
      </p:sp>
      <p:grpSp>
        <p:nvGrpSpPr>
          <p:cNvPr id="38" name="Group 38"/>
          <p:cNvGrpSpPr/>
          <p:nvPr/>
        </p:nvGrpSpPr>
        <p:grpSpPr>
          <a:xfrm>
            <a:off x="571500" y="1857375"/>
            <a:ext cx="3429000" cy="4524375"/>
            <a:chOff x="571500" y="1857375"/>
            <a:chExt cx="3429000" cy="4524375"/>
          </a:xfrm>
        </p:grpSpPr>
        <p:sp>
          <p:nvSpPr>
            <p:cNvPr id="13" name="Rectangle 13"/>
            <p:cNvSpPr/>
            <p:nvPr/>
          </p:nvSpPr>
          <p:spPr>
            <a:xfrm>
              <a:off x="571500" y="1857375"/>
              <a:ext cx="3429000" cy="4524375"/>
            </a:xfrm>
            <a:prstGeom prst="roundRect">
              <a:avLst>
                <a:gd name="adj" fmla="val 3333"/>
              </a:avLst>
            </a:prstGeom>
            <a:solidFill>
              <a:srgbClr val="FFFFFF"/>
            </a:solidFill>
            <a:ln w="14288">
              <a:solidFill>
                <a:srgbClr val="E0E0E0"/>
              </a:solidFill>
            </a:ln>
            <a:effectLst>
              <a:outerShdw blurRad="114300" dist="38100" dir="5400000" algn="ctr" rotWithShape="0">
                <a:srgbClr val="0F172A">
                  <a:alpha val="7500"/>
                </a:srgbClr>
              </a:outerShdw>
            </a:effectLst>
          </p:spPr>
        </p:sp>
        <p:sp>
          <p:nvSpPr>
            <p:cNvPr id="14" name="Freeform 14"/>
            <p:cNvSpPr/>
            <p:nvPr/>
          </p:nvSpPr>
          <p:spPr>
            <a:xfrm>
              <a:off x="571500" y="1857375"/>
              <a:ext cx="3429000" cy="1047750"/>
            </a:xfrm>
            <a:custGeom>
              <a:avLst/>
              <a:gdLst/>
              <a:ahLst/>
              <a:cxnLst/>
              <a:rect l="l" t="t" r="r" b="b"/>
              <a:pathLst>
                <a:path w="3429000" h="1047750">
                  <a:moveTo>
                    <a:pt x="0" y="114300"/>
                  </a:moveTo>
                  <a:cubicBezTo>
                    <a:pt x="0" y="51174"/>
                    <a:pt x="51174" y="0"/>
                    <a:pt x="114300" y="0"/>
                  </a:cubicBezTo>
                  <a:lnTo>
                    <a:pt x="3314700" y="0"/>
                  </a:lnTo>
                  <a:cubicBezTo>
                    <a:pt x="3377826" y="0"/>
                    <a:pt x="3429000" y="51174"/>
                    <a:pt x="3429000" y="114300"/>
                  </a:cubicBezTo>
                  <a:lnTo>
                    <a:pt x="3429000" y="1047750"/>
                  </a:lnTo>
                  <a:lnTo>
                    <a:pt x="0" y="1047750"/>
                  </a:lnTo>
                  <a:close/>
                </a:path>
              </a:pathLst>
            </a:custGeom>
            <a:gradFill>
              <a:gsLst>
                <a:gs pos="0">
                  <a:srgbClr val="C62828"/>
                </a:gs>
                <a:gs pos="100000">
                  <a:srgbClr val="FF8F00"/>
                </a:gs>
              </a:gsLst>
              <a:lin ang="2700000" scaled="1"/>
            </a:gradFill>
            <a:ln>
              <a:noFill/>
            </a:ln>
          </p:spPr>
        </p:sp>
        <p:sp>
          <p:nvSpPr>
            <p:cNvPr id="15" name="Rectangle 15"/>
            <p:cNvSpPr/>
            <p:nvPr/>
          </p:nvSpPr>
          <p:spPr>
            <a:xfrm>
              <a:off x="762000" y="2066925"/>
              <a:ext cx="419100" cy="419100"/>
            </a:xfrm>
            <a:prstGeom prst="roundRect">
              <a:avLst>
                <a:gd name="adj" fmla="val 22727"/>
              </a:avLst>
            </a:prstGeom>
            <a:solidFill>
              <a:srgbClr val="FFFFFF">
                <a:alpha val="20000"/>
              </a:srgbClr>
            </a:solidFill>
            <a:ln>
              <a:noFill/>
            </a:ln>
          </p:spPr>
        </p:sp>
        <p:sp>
          <p:nvSpPr>
            <p:cNvPr id="16" name="TextBox 16"/>
            <p:cNvSpPr txBox="1"/>
            <p:nvPr/>
          </p:nvSpPr>
          <p:spPr>
            <a:xfrm>
              <a:off x="852408" y="2174558"/>
              <a:ext cx="238285"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ambria"/>
                  <a:ea typeface="SimSun"/>
                  <a:cs typeface="Cambria"/>
                </a:rPr>
                <a:t>01</a:t>
              </a:r>
            </a:p>
          </p:txBody>
        </p:sp>
        <p:grpSp>
          <p:nvGrpSpPr>
            <p:cNvPr id="19" name="Group 19"/>
            <p:cNvGrpSpPr/>
            <p:nvPr/>
          </p:nvGrpSpPr>
          <p:grpSpPr>
            <a:xfrm>
              <a:off x="3403107" y="2135981"/>
              <a:ext cx="261336" cy="283370"/>
              <a:chOff x="3403107" y="2135981"/>
              <a:chExt cx="261336" cy="283370"/>
            </a:xfrm>
          </p:grpSpPr>
          <p:sp>
            <p:nvSpPr>
              <p:cNvPr id="17" name="Freeform 17"/>
              <p:cNvSpPr/>
              <p:nvPr/>
            </p:nvSpPr>
            <p:spPr>
              <a:xfrm>
                <a:off x="3483769" y="2135981"/>
                <a:ext cx="100012" cy="100012"/>
              </a:xfrm>
              <a:custGeom>
                <a:avLst/>
                <a:gdLst/>
                <a:ahLst/>
                <a:cxnLst/>
                <a:rect l="l" t="t" r="r" b="b"/>
                <a:pathLst>
                  <a:path w="100012" h="100012">
                    <a:moveTo>
                      <a:pt x="0" y="50006"/>
                    </a:moveTo>
                    <a:cubicBezTo>
                      <a:pt x="0" y="77624"/>
                      <a:pt x="22389" y="100012"/>
                      <a:pt x="50006" y="100012"/>
                    </a:cubicBezTo>
                    <a:cubicBezTo>
                      <a:pt x="77624" y="100012"/>
                      <a:pt x="100012" y="77624"/>
                      <a:pt x="100012" y="50006"/>
                    </a:cubicBezTo>
                    <a:cubicBezTo>
                      <a:pt x="100012" y="22389"/>
                      <a:pt x="77624" y="0"/>
                      <a:pt x="50006" y="0"/>
                    </a:cubicBezTo>
                    <a:cubicBezTo>
                      <a:pt x="22389" y="0"/>
                      <a:pt x="0" y="22389"/>
                      <a:pt x="0" y="50006"/>
                    </a:cubicBezTo>
                  </a:path>
                </a:pathLst>
              </a:custGeom>
              <a:noFill/>
              <a:ln w="19050">
                <a:solidFill>
                  <a:srgbClr val="FFFFFF"/>
                </a:solidFill>
              </a:ln>
            </p:spPr>
          </p:sp>
          <p:sp>
            <p:nvSpPr>
              <p:cNvPr id="18" name="Freeform 18"/>
              <p:cNvSpPr/>
              <p:nvPr/>
            </p:nvSpPr>
            <p:spPr>
              <a:xfrm>
                <a:off x="3403107" y="2235993"/>
                <a:ext cx="261336" cy="183358"/>
              </a:xfrm>
              <a:custGeom>
                <a:avLst/>
                <a:gdLst/>
                <a:ahLst/>
                <a:cxnLst/>
                <a:rect l="l" t="t" r="r" b="b"/>
                <a:pathLst>
                  <a:path w="261336" h="183358">
                    <a:moveTo>
                      <a:pt x="44574" y="1"/>
                    </a:moveTo>
                    <a:lnTo>
                      <a:pt x="216762" y="1"/>
                    </a:lnTo>
                    <a:cubicBezTo>
                      <a:pt x="224818" y="0"/>
                      <a:pt x="231722" y="5760"/>
                      <a:pt x="233164" y="13686"/>
                    </a:cubicBezTo>
                    <a:lnTo>
                      <a:pt x="260451" y="163705"/>
                    </a:lnTo>
                    <a:cubicBezTo>
                      <a:pt x="261336" y="168569"/>
                      <a:pt x="260016" y="173574"/>
                      <a:pt x="256848" y="177369"/>
                    </a:cubicBezTo>
                    <a:cubicBezTo>
                      <a:pt x="253681" y="181165"/>
                      <a:pt x="248992" y="183358"/>
                      <a:pt x="244049" y="183357"/>
                    </a:cubicBezTo>
                    <a:lnTo>
                      <a:pt x="17287" y="183357"/>
                    </a:lnTo>
                    <a:cubicBezTo>
                      <a:pt x="12343" y="183358"/>
                      <a:pt x="7655" y="181165"/>
                      <a:pt x="4487" y="177369"/>
                    </a:cubicBezTo>
                    <a:cubicBezTo>
                      <a:pt x="1320" y="173574"/>
                      <a:pt x="0" y="168569"/>
                      <a:pt x="885" y="163705"/>
                    </a:cubicBezTo>
                    <a:lnTo>
                      <a:pt x="28172" y="13686"/>
                    </a:lnTo>
                    <a:cubicBezTo>
                      <a:pt x="29614" y="5760"/>
                      <a:pt x="36518" y="0"/>
                      <a:pt x="44574" y="1"/>
                    </a:cubicBezTo>
                  </a:path>
                </a:pathLst>
              </a:custGeom>
              <a:noFill/>
              <a:ln w="19050">
                <a:solidFill>
                  <a:srgbClr val="FFFFFF"/>
                </a:solidFill>
              </a:ln>
            </p:spPr>
          </p:sp>
        </p:grpSp>
        <p:sp>
          <p:nvSpPr>
            <p:cNvPr id="20" name="TextBox 20"/>
            <p:cNvSpPr txBox="1"/>
            <p:nvPr/>
          </p:nvSpPr>
          <p:spPr>
            <a:xfrm>
              <a:off x="1687473" y="2441258"/>
              <a:ext cx="1197054"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ambria"/>
                  <a:ea typeface="SimSun"/>
                  <a:cs typeface="Cambria"/>
                </a:rPr>
                <a:t>形状不规则</a:t>
              </a:r>
            </a:p>
          </p:txBody>
        </p:sp>
        <p:sp>
          <p:nvSpPr>
            <p:cNvPr id="21" name="TextBox 21"/>
            <p:cNvSpPr txBox="1"/>
            <p:nvPr/>
          </p:nvSpPr>
          <p:spPr>
            <a:xfrm>
              <a:off x="1827904" y="2720816"/>
              <a:ext cx="916192" cy="167640"/>
            </a:xfrm>
            <a:prstGeom prst="rect">
              <a:avLst/>
            </a:prstGeom>
            <a:noFill/>
            <a:ln>
              <a:noFill/>
            </a:ln>
          </p:spPr>
          <p:txBody>
            <a:bodyPr wrap="none" lIns="0" tIns="0" rIns="0" bIns="0" anchor="t" anchorCtr="0">
              <a:spAutoFit/>
            </a:bodyPr>
            <a:lstStyle/>
            <a:p>
              <a:pPr algn="ctr"/>
              <a:r>
                <a:rPr lang="zh-CN" sz="825" b="1" dirty="0">
                  <a:solidFill>
                    <a:srgbClr val="FFFFFF">
                      <a:alphaMod val="85000"/>
                    </a:srgbClr>
                  </a:solidFill>
                  <a:latin typeface="Arial"/>
                  <a:ea typeface="Microsoft YaHei"/>
                  <a:cs typeface="Arial"/>
                </a:rPr>
                <a:t>IRREGULAR SHAPE</a:t>
              </a:r>
            </a:p>
          </p:txBody>
        </p:sp>
        <p:sp>
          <p:nvSpPr>
            <p:cNvPr id="22" name="TextBox 22"/>
            <p:cNvSpPr txBox="1"/>
            <p:nvPr/>
          </p:nvSpPr>
          <p:spPr>
            <a:xfrm>
              <a:off x="785812" y="3145631"/>
              <a:ext cx="658654"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Arial"/>
                  <a:ea typeface="Microsoft YaHei"/>
                  <a:cs typeface="Arial"/>
                </a:rPr>
                <a:t>问题描述</a:t>
              </a:r>
            </a:p>
          </p:txBody>
        </p:sp>
        <p:sp>
          <p:nvSpPr>
            <p:cNvPr id="23" name="TextBox 23"/>
            <p:cNvSpPr txBox="1"/>
            <p:nvPr/>
          </p:nvSpPr>
          <p:spPr>
            <a:xfrm>
              <a:off x="786765" y="3382328"/>
              <a:ext cx="1426845"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食物缺乏可预测的几何</a:t>
              </a:r>
            </a:p>
          </p:txBody>
        </p:sp>
        <p:sp>
          <p:nvSpPr>
            <p:cNvPr id="24" name="TextBox 24"/>
            <p:cNvSpPr txBox="1"/>
            <p:nvPr/>
          </p:nvSpPr>
          <p:spPr>
            <a:xfrm>
              <a:off x="786765" y="3591878"/>
              <a:ext cx="943785"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结构,边界复杂</a:t>
              </a:r>
            </a:p>
          </p:txBody>
        </p:sp>
        <p:sp>
          <p:nvSpPr>
            <p:cNvPr id="25" name="Line 25"/>
            <p:cNvSpPr/>
            <p:nvPr/>
          </p:nvSpPr>
          <p:spPr>
            <a:xfrm>
              <a:off x="800100" y="3971925"/>
              <a:ext cx="2971800" cy="9525"/>
            </a:xfrm>
            <a:custGeom>
              <a:avLst/>
              <a:gdLst/>
              <a:ahLst/>
              <a:cxnLst/>
              <a:rect l="l" t="t" r="r" b="b"/>
              <a:pathLst>
                <a:path w="2971800" h="9525">
                  <a:moveTo>
                    <a:pt x="0" y="0"/>
                  </a:moveTo>
                  <a:lnTo>
                    <a:pt x="2971800" y="0"/>
                  </a:lnTo>
                </a:path>
              </a:pathLst>
            </a:custGeom>
            <a:noFill/>
            <a:ln w="9525">
              <a:solidFill>
                <a:srgbClr val="E0E0E0"/>
              </a:solidFill>
            </a:ln>
          </p:spPr>
        </p:sp>
        <p:sp>
          <p:nvSpPr>
            <p:cNvPr id="26" name="TextBox 26"/>
            <p:cNvSpPr txBox="1"/>
            <p:nvPr/>
          </p:nvSpPr>
          <p:spPr>
            <a:xfrm>
              <a:off x="785812" y="4098131"/>
              <a:ext cx="658654"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Arial"/>
                  <a:ea typeface="Microsoft YaHei"/>
                  <a:cs typeface="Arial"/>
                </a:rPr>
                <a:t>典型表现</a:t>
              </a:r>
            </a:p>
          </p:txBody>
        </p:sp>
        <p:sp>
          <p:nvSpPr>
            <p:cNvPr id="27" name="Ellipse 27"/>
            <p:cNvSpPr/>
            <p:nvPr/>
          </p:nvSpPr>
          <p:spPr>
            <a:xfrm>
              <a:off x="847725" y="4457700"/>
              <a:ext cx="57150" cy="57150"/>
            </a:xfrm>
            <a:prstGeom prst="ellipse">
              <a:avLst/>
            </a:prstGeom>
            <a:solidFill>
              <a:srgbClr val="FF8F00"/>
            </a:solidFill>
            <a:ln>
              <a:noFill/>
            </a:ln>
          </p:spPr>
        </p:sp>
        <p:sp>
          <p:nvSpPr>
            <p:cNvPr id="28" name="TextBox 28"/>
            <p:cNvSpPr txBox="1"/>
            <p:nvPr/>
          </p:nvSpPr>
          <p:spPr>
            <a:xfrm>
              <a:off x="978218" y="4428649"/>
              <a:ext cx="1064895"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米饭堆叠形态多样</a:t>
              </a:r>
            </a:p>
          </p:txBody>
        </p:sp>
        <p:sp>
          <p:nvSpPr>
            <p:cNvPr id="29" name="Ellipse 29"/>
            <p:cNvSpPr/>
            <p:nvPr/>
          </p:nvSpPr>
          <p:spPr>
            <a:xfrm>
              <a:off x="847725" y="4724400"/>
              <a:ext cx="57150" cy="57150"/>
            </a:xfrm>
            <a:prstGeom prst="ellipse">
              <a:avLst/>
            </a:prstGeom>
            <a:solidFill>
              <a:srgbClr val="FF8F00"/>
            </a:solidFill>
            <a:ln>
              <a:noFill/>
            </a:ln>
          </p:spPr>
        </p:sp>
        <p:sp>
          <p:nvSpPr>
            <p:cNvPr id="30" name="TextBox 30"/>
            <p:cNvSpPr txBox="1"/>
            <p:nvPr/>
          </p:nvSpPr>
          <p:spPr>
            <a:xfrm>
              <a:off x="978218" y="4695349"/>
              <a:ext cx="1064895"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肉片厚度宽度不一</a:t>
              </a:r>
            </a:p>
          </p:txBody>
        </p:sp>
        <p:sp>
          <p:nvSpPr>
            <p:cNvPr id="31" name="Ellipse 31"/>
            <p:cNvSpPr/>
            <p:nvPr/>
          </p:nvSpPr>
          <p:spPr>
            <a:xfrm>
              <a:off x="847725" y="4991100"/>
              <a:ext cx="57150" cy="57150"/>
            </a:xfrm>
            <a:prstGeom prst="ellipse">
              <a:avLst/>
            </a:prstGeom>
            <a:solidFill>
              <a:srgbClr val="FF8F00"/>
            </a:solidFill>
            <a:ln>
              <a:noFill/>
            </a:ln>
          </p:spPr>
        </p:sp>
        <p:sp>
          <p:nvSpPr>
            <p:cNvPr id="32" name="TextBox 32"/>
            <p:cNvSpPr txBox="1"/>
            <p:nvPr/>
          </p:nvSpPr>
          <p:spPr>
            <a:xfrm>
              <a:off x="978218" y="4962049"/>
              <a:ext cx="934879"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液体形态不确定</a:t>
              </a:r>
            </a:p>
          </p:txBody>
        </p:sp>
        <p:sp>
          <p:nvSpPr>
            <p:cNvPr id="33" name="Line 33"/>
            <p:cNvSpPr/>
            <p:nvPr/>
          </p:nvSpPr>
          <p:spPr>
            <a:xfrm>
              <a:off x="800100" y="5324475"/>
              <a:ext cx="2971800" cy="9525"/>
            </a:xfrm>
            <a:custGeom>
              <a:avLst/>
              <a:gdLst/>
              <a:ahLst/>
              <a:cxnLst/>
              <a:rect l="l" t="t" r="r" b="b"/>
              <a:pathLst>
                <a:path w="2971800" h="9525">
                  <a:moveTo>
                    <a:pt x="0" y="0"/>
                  </a:moveTo>
                  <a:lnTo>
                    <a:pt x="2971800" y="0"/>
                  </a:lnTo>
                </a:path>
              </a:pathLst>
            </a:custGeom>
            <a:noFill/>
            <a:ln w="9525">
              <a:solidFill>
                <a:srgbClr val="E0E0E0"/>
              </a:solidFill>
            </a:ln>
          </p:spPr>
        </p:sp>
        <p:sp>
          <p:nvSpPr>
            <p:cNvPr id="34" name="TextBox 34"/>
            <p:cNvSpPr txBox="1"/>
            <p:nvPr/>
          </p:nvSpPr>
          <p:spPr>
            <a:xfrm>
              <a:off x="785812" y="5450681"/>
              <a:ext cx="816173"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Arial"/>
                  <a:ea typeface="Microsoft YaHei"/>
                  <a:cs typeface="Arial"/>
                </a:rPr>
                <a:t>对方法影响</a:t>
              </a:r>
            </a:p>
          </p:txBody>
        </p:sp>
        <p:sp>
          <p:nvSpPr>
            <p:cNvPr id="35" name="Rectangle 35"/>
            <p:cNvSpPr/>
            <p:nvPr/>
          </p:nvSpPr>
          <p:spPr>
            <a:xfrm>
              <a:off x="800100" y="5705475"/>
              <a:ext cx="2971800" cy="533400"/>
            </a:xfrm>
            <a:prstGeom prst="roundRect">
              <a:avLst>
                <a:gd name="adj" fmla="val 14286"/>
              </a:avLst>
            </a:prstGeom>
            <a:solidFill>
              <a:srgbClr val="FFEBEE"/>
            </a:solidFill>
            <a:ln>
              <a:noFill/>
            </a:ln>
          </p:spPr>
        </p:sp>
        <p:sp>
          <p:nvSpPr>
            <p:cNvPr id="36" name="TextBox 36"/>
            <p:cNvSpPr txBox="1"/>
            <p:nvPr/>
          </p:nvSpPr>
          <p:spPr>
            <a:xfrm>
              <a:off x="1591032" y="5819299"/>
              <a:ext cx="1389936" cy="198120"/>
            </a:xfrm>
            <a:prstGeom prst="rect">
              <a:avLst/>
            </a:prstGeom>
            <a:noFill/>
            <a:ln>
              <a:noFill/>
            </a:ln>
          </p:spPr>
          <p:txBody>
            <a:bodyPr wrap="none" lIns="0" tIns="0" rIns="0" bIns="0" anchor="t" anchorCtr="0">
              <a:spAutoFit/>
            </a:bodyPr>
            <a:lstStyle/>
            <a:p>
              <a:pPr algn="ctr"/>
              <a:r>
                <a:rPr lang="zh-CN" sz="975" b="1" dirty="0">
                  <a:solidFill>
                    <a:srgbClr val="C62828"/>
                  </a:solidFill>
                  <a:latin typeface="Arial"/>
                  <a:ea typeface="Microsoft YaHei"/>
                  <a:cs typeface="Arial"/>
                </a:rPr>
                <a:t>难以用规则几何体近似</a:t>
              </a:r>
            </a:p>
          </p:txBody>
        </p:sp>
        <p:sp>
          <p:nvSpPr>
            <p:cNvPr id="37" name="TextBox 37"/>
            <p:cNvSpPr txBox="1"/>
            <p:nvPr/>
          </p:nvSpPr>
          <p:spPr>
            <a:xfrm>
              <a:off x="1614488" y="6027420"/>
              <a:ext cx="1343025" cy="182880"/>
            </a:xfrm>
            <a:prstGeom prst="rect">
              <a:avLst/>
            </a:prstGeom>
            <a:noFill/>
            <a:ln>
              <a:noFill/>
            </a:ln>
          </p:spPr>
          <p:txBody>
            <a:bodyPr wrap="none" lIns="0" tIns="0" rIns="0" bIns="0" anchor="t" anchorCtr="0">
              <a:spAutoFit/>
            </a:bodyPr>
            <a:lstStyle/>
            <a:p>
              <a:pPr algn="ctr"/>
              <a:r>
                <a:rPr lang="zh-CN" sz="900" i="1" dirty="0">
                  <a:solidFill>
                    <a:srgbClr val="5F6368"/>
                  </a:solidFill>
                  <a:latin typeface="Cambria"/>
                  <a:ea typeface="SimSun"/>
                  <a:cs typeface="Cambria"/>
                </a:rPr>
                <a:t>导致体积估计误差不可控</a:t>
              </a:r>
            </a:p>
          </p:txBody>
        </p:sp>
      </p:grpSp>
      <p:grpSp>
        <p:nvGrpSpPr>
          <p:cNvPr id="67" name="Group 67"/>
          <p:cNvGrpSpPr/>
          <p:nvPr/>
        </p:nvGrpSpPr>
        <p:grpSpPr>
          <a:xfrm>
            <a:off x="4381500" y="1857375"/>
            <a:ext cx="3429000" cy="4524375"/>
            <a:chOff x="4381500" y="1857375"/>
            <a:chExt cx="3429000" cy="4524375"/>
          </a:xfrm>
        </p:grpSpPr>
        <p:sp>
          <p:nvSpPr>
            <p:cNvPr id="39" name="Rectangle 39"/>
            <p:cNvSpPr/>
            <p:nvPr/>
          </p:nvSpPr>
          <p:spPr>
            <a:xfrm>
              <a:off x="4381500" y="1857375"/>
              <a:ext cx="3429000" cy="4524375"/>
            </a:xfrm>
            <a:prstGeom prst="roundRect">
              <a:avLst>
                <a:gd name="adj" fmla="val 3333"/>
              </a:avLst>
            </a:prstGeom>
            <a:solidFill>
              <a:srgbClr val="FFFFFF"/>
            </a:solidFill>
            <a:ln w="14288">
              <a:solidFill>
                <a:srgbClr val="E0E0E0"/>
              </a:solidFill>
            </a:ln>
            <a:effectLst>
              <a:outerShdw blurRad="114300" dist="38100" dir="5400000" algn="ctr" rotWithShape="0">
                <a:srgbClr val="0F172A">
                  <a:alpha val="7500"/>
                </a:srgbClr>
              </a:outerShdw>
            </a:effectLst>
          </p:spPr>
        </p:sp>
        <p:sp>
          <p:nvSpPr>
            <p:cNvPr id="40" name="Freeform 40"/>
            <p:cNvSpPr/>
            <p:nvPr/>
          </p:nvSpPr>
          <p:spPr>
            <a:xfrm>
              <a:off x="4381500" y="1857375"/>
              <a:ext cx="3429000" cy="1047750"/>
            </a:xfrm>
            <a:custGeom>
              <a:avLst/>
              <a:gdLst/>
              <a:ahLst/>
              <a:cxnLst/>
              <a:rect l="l" t="t" r="r" b="b"/>
              <a:pathLst>
                <a:path w="3429000" h="1047750">
                  <a:moveTo>
                    <a:pt x="0" y="114300"/>
                  </a:moveTo>
                  <a:cubicBezTo>
                    <a:pt x="0" y="51174"/>
                    <a:pt x="51174" y="0"/>
                    <a:pt x="114300" y="0"/>
                  </a:cubicBezTo>
                  <a:lnTo>
                    <a:pt x="3314700" y="0"/>
                  </a:lnTo>
                  <a:cubicBezTo>
                    <a:pt x="3377826" y="0"/>
                    <a:pt x="3429000" y="51174"/>
                    <a:pt x="3429000" y="114300"/>
                  </a:cubicBezTo>
                  <a:lnTo>
                    <a:pt x="3429000" y="1047750"/>
                  </a:lnTo>
                  <a:lnTo>
                    <a:pt x="0" y="1047750"/>
                  </a:lnTo>
                  <a:close/>
                </a:path>
              </a:pathLst>
            </a:custGeom>
            <a:gradFill>
              <a:gsLst>
                <a:gs pos="0">
                  <a:srgbClr val="FF8F00"/>
                </a:gs>
                <a:gs pos="100000">
                  <a:srgbClr val="C62828"/>
                </a:gs>
              </a:gsLst>
              <a:lin ang="2700000" scaled="1"/>
            </a:gradFill>
            <a:ln>
              <a:noFill/>
            </a:ln>
          </p:spPr>
        </p:sp>
        <p:sp>
          <p:nvSpPr>
            <p:cNvPr id="41" name="Rectangle 41"/>
            <p:cNvSpPr/>
            <p:nvPr/>
          </p:nvSpPr>
          <p:spPr>
            <a:xfrm>
              <a:off x="4572000" y="2066925"/>
              <a:ext cx="419100" cy="419100"/>
            </a:xfrm>
            <a:prstGeom prst="roundRect">
              <a:avLst>
                <a:gd name="adj" fmla="val 22727"/>
              </a:avLst>
            </a:prstGeom>
            <a:solidFill>
              <a:srgbClr val="FFFFFF">
                <a:alpha val="20000"/>
              </a:srgbClr>
            </a:solidFill>
            <a:ln>
              <a:noFill/>
            </a:ln>
          </p:spPr>
        </p:sp>
        <p:sp>
          <p:nvSpPr>
            <p:cNvPr id="42" name="TextBox 42"/>
            <p:cNvSpPr txBox="1"/>
            <p:nvPr/>
          </p:nvSpPr>
          <p:spPr>
            <a:xfrm>
              <a:off x="4633529" y="2174558"/>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ambria"/>
                  <a:ea typeface="SimSun"/>
                  <a:cs typeface="Cambria"/>
                </a:rPr>
                <a:t>02</a:t>
              </a:r>
            </a:p>
          </p:txBody>
        </p:sp>
        <p:grpSp>
          <p:nvGrpSpPr>
            <p:cNvPr id="48" name="Group 48"/>
            <p:cNvGrpSpPr/>
            <p:nvPr/>
          </p:nvGrpSpPr>
          <p:grpSpPr>
            <a:xfrm>
              <a:off x="7210425" y="2152650"/>
              <a:ext cx="266700" cy="266700"/>
              <a:chOff x="7210425" y="2152650"/>
              <a:chExt cx="266700" cy="266700"/>
            </a:xfrm>
          </p:grpSpPr>
          <p:sp>
            <p:nvSpPr>
              <p:cNvPr id="43" name="Freeform 43"/>
              <p:cNvSpPr/>
              <p:nvPr/>
            </p:nvSpPr>
            <p:spPr>
              <a:xfrm>
                <a:off x="7210425" y="2152650"/>
                <a:ext cx="66675" cy="50006"/>
              </a:xfrm>
              <a:custGeom>
                <a:avLst/>
                <a:gdLst/>
                <a:ahLst/>
                <a:cxnLst/>
                <a:rect l="l" t="t" r="r" b="b"/>
                <a:pathLst>
                  <a:path w="66675" h="50006">
                    <a:moveTo>
                      <a:pt x="0" y="50006"/>
                    </a:moveTo>
                    <a:lnTo>
                      <a:pt x="0" y="33338"/>
                    </a:lnTo>
                    <a:cubicBezTo>
                      <a:pt x="0" y="14926"/>
                      <a:pt x="14926" y="0"/>
                      <a:pt x="33338" y="0"/>
                    </a:cubicBezTo>
                    <a:lnTo>
                      <a:pt x="66675" y="0"/>
                    </a:lnTo>
                  </a:path>
                </a:pathLst>
              </a:custGeom>
              <a:noFill/>
              <a:ln w="19050">
                <a:solidFill>
                  <a:srgbClr val="FFFFFF"/>
                </a:solidFill>
              </a:ln>
            </p:spPr>
          </p:sp>
          <p:sp>
            <p:nvSpPr>
              <p:cNvPr id="44" name="Freeform 44"/>
              <p:cNvSpPr/>
              <p:nvPr/>
            </p:nvSpPr>
            <p:spPr>
              <a:xfrm>
                <a:off x="7210425" y="2369344"/>
                <a:ext cx="66675" cy="50006"/>
              </a:xfrm>
              <a:custGeom>
                <a:avLst/>
                <a:gdLst/>
                <a:ahLst/>
                <a:cxnLst/>
                <a:rect l="l" t="t" r="r" b="b"/>
                <a:pathLst>
                  <a:path w="66675" h="50006">
                    <a:moveTo>
                      <a:pt x="0" y="0"/>
                    </a:moveTo>
                    <a:lnTo>
                      <a:pt x="0" y="16669"/>
                    </a:lnTo>
                    <a:cubicBezTo>
                      <a:pt x="0" y="35081"/>
                      <a:pt x="14926" y="50006"/>
                      <a:pt x="33338" y="50006"/>
                    </a:cubicBezTo>
                    <a:lnTo>
                      <a:pt x="66675" y="50006"/>
                    </a:lnTo>
                  </a:path>
                </a:pathLst>
              </a:custGeom>
              <a:noFill/>
              <a:ln w="19050">
                <a:solidFill>
                  <a:srgbClr val="FFFFFF"/>
                </a:solidFill>
              </a:ln>
            </p:spPr>
          </p:sp>
          <p:sp>
            <p:nvSpPr>
              <p:cNvPr id="45" name="Freeform 45"/>
              <p:cNvSpPr/>
              <p:nvPr/>
            </p:nvSpPr>
            <p:spPr>
              <a:xfrm>
                <a:off x="7410450" y="2152650"/>
                <a:ext cx="66675" cy="50006"/>
              </a:xfrm>
              <a:custGeom>
                <a:avLst/>
                <a:gdLst/>
                <a:ahLst/>
                <a:cxnLst/>
                <a:rect l="l" t="t" r="r" b="b"/>
                <a:pathLst>
                  <a:path w="66675" h="50006">
                    <a:moveTo>
                      <a:pt x="0" y="0"/>
                    </a:moveTo>
                    <a:lnTo>
                      <a:pt x="33338" y="0"/>
                    </a:lnTo>
                    <a:cubicBezTo>
                      <a:pt x="51749" y="0"/>
                      <a:pt x="66675" y="14926"/>
                      <a:pt x="66675" y="33338"/>
                    </a:cubicBezTo>
                    <a:lnTo>
                      <a:pt x="66675" y="50006"/>
                    </a:lnTo>
                  </a:path>
                </a:pathLst>
              </a:custGeom>
              <a:noFill/>
              <a:ln w="19050">
                <a:solidFill>
                  <a:srgbClr val="FFFFFF"/>
                </a:solidFill>
              </a:ln>
            </p:spPr>
          </p:sp>
          <p:sp>
            <p:nvSpPr>
              <p:cNvPr id="46" name="Freeform 46"/>
              <p:cNvSpPr/>
              <p:nvPr/>
            </p:nvSpPr>
            <p:spPr>
              <a:xfrm>
                <a:off x="7410450" y="2369344"/>
                <a:ext cx="66675" cy="50006"/>
              </a:xfrm>
              <a:custGeom>
                <a:avLst/>
                <a:gdLst/>
                <a:ahLst/>
                <a:cxnLst/>
                <a:rect l="l" t="t" r="r" b="b"/>
                <a:pathLst>
                  <a:path w="66675" h="50006">
                    <a:moveTo>
                      <a:pt x="0" y="50006"/>
                    </a:moveTo>
                    <a:lnTo>
                      <a:pt x="33338" y="50006"/>
                    </a:lnTo>
                    <a:cubicBezTo>
                      <a:pt x="51749" y="50006"/>
                      <a:pt x="66675" y="35081"/>
                      <a:pt x="66675" y="16669"/>
                    </a:cubicBezTo>
                    <a:lnTo>
                      <a:pt x="66675" y="0"/>
                    </a:lnTo>
                  </a:path>
                </a:pathLst>
              </a:custGeom>
              <a:noFill/>
              <a:ln w="19050">
                <a:solidFill>
                  <a:srgbClr val="FFFFFF"/>
                </a:solidFill>
              </a:ln>
            </p:spPr>
          </p:sp>
          <p:sp>
            <p:nvSpPr>
              <p:cNvPr id="47" name="Freeform 47"/>
              <p:cNvSpPr/>
              <p:nvPr/>
            </p:nvSpPr>
            <p:spPr>
              <a:xfrm>
                <a:off x="7227094" y="2286000"/>
                <a:ext cx="233362" cy="9525"/>
              </a:xfrm>
              <a:custGeom>
                <a:avLst/>
                <a:gdLst/>
                <a:ahLst/>
                <a:cxnLst/>
                <a:rect l="l" t="t" r="r" b="b"/>
                <a:pathLst>
                  <a:path w="233362" h="9525">
                    <a:moveTo>
                      <a:pt x="0" y="0"/>
                    </a:moveTo>
                    <a:lnTo>
                      <a:pt x="233362" y="0"/>
                    </a:lnTo>
                  </a:path>
                </a:pathLst>
              </a:custGeom>
              <a:noFill/>
              <a:ln w="19050">
                <a:solidFill>
                  <a:srgbClr val="FFFFFF"/>
                </a:solidFill>
              </a:ln>
            </p:spPr>
          </p:sp>
        </p:grpSp>
        <p:sp>
          <p:nvSpPr>
            <p:cNvPr id="49" name="TextBox 49"/>
            <p:cNvSpPr txBox="1"/>
            <p:nvPr/>
          </p:nvSpPr>
          <p:spPr>
            <a:xfrm>
              <a:off x="5381958" y="2441258"/>
              <a:ext cx="1428083"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ambria"/>
                  <a:ea typeface="SimSun"/>
                  <a:cs typeface="Cambria"/>
                </a:rPr>
                <a:t>深度信息缺失</a:t>
              </a:r>
            </a:p>
          </p:txBody>
        </p:sp>
        <p:sp>
          <p:nvSpPr>
            <p:cNvPr id="50" name="TextBox 50"/>
            <p:cNvSpPr txBox="1"/>
            <p:nvPr/>
          </p:nvSpPr>
          <p:spPr>
            <a:xfrm>
              <a:off x="5704325" y="2720816"/>
              <a:ext cx="783350" cy="167640"/>
            </a:xfrm>
            <a:prstGeom prst="rect">
              <a:avLst/>
            </a:prstGeom>
            <a:noFill/>
            <a:ln>
              <a:noFill/>
            </a:ln>
          </p:spPr>
          <p:txBody>
            <a:bodyPr wrap="none" lIns="0" tIns="0" rIns="0" bIns="0" anchor="t" anchorCtr="0">
              <a:spAutoFit/>
            </a:bodyPr>
            <a:lstStyle/>
            <a:p>
              <a:pPr algn="ctr"/>
              <a:r>
                <a:rPr lang="zh-CN" sz="825" b="1" dirty="0">
                  <a:solidFill>
                    <a:srgbClr val="FFFFFF">
                      <a:alphaMod val="85000"/>
                    </a:srgbClr>
                  </a:solidFill>
                  <a:latin typeface="Arial"/>
                  <a:ea typeface="Microsoft YaHei"/>
                  <a:cs typeface="Arial"/>
                </a:rPr>
                <a:t>DEPTH MISSING</a:t>
              </a:r>
            </a:p>
          </p:txBody>
        </p:sp>
        <p:sp>
          <p:nvSpPr>
            <p:cNvPr id="51" name="TextBox 51"/>
            <p:cNvSpPr txBox="1"/>
            <p:nvPr/>
          </p:nvSpPr>
          <p:spPr>
            <a:xfrm>
              <a:off x="4595812" y="3145631"/>
              <a:ext cx="658654" cy="228600"/>
            </a:xfrm>
            <a:prstGeom prst="rect">
              <a:avLst/>
            </a:prstGeom>
            <a:noFill/>
            <a:ln>
              <a:noFill/>
            </a:ln>
          </p:spPr>
          <p:txBody>
            <a:bodyPr wrap="none" lIns="0" tIns="0" rIns="0" bIns="0" anchor="t" anchorCtr="0">
              <a:spAutoFit/>
            </a:bodyPr>
            <a:lstStyle/>
            <a:p>
              <a:pPr algn="l"/>
              <a:r>
                <a:rPr lang="zh-CN" sz="1125" b="1" dirty="0">
                  <a:solidFill>
                    <a:srgbClr val="FF8F00"/>
                  </a:solidFill>
                  <a:latin typeface="Arial"/>
                  <a:ea typeface="Microsoft YaHei"/>
                  <a:cs typeface="Arial"/>
                </a:rPr>
                <a:t>问题描述</a:t>
              </a:r>
            </a:p>
          </p:txBody>
        </p:sp>
        <p:sp>
          <p:nvSpPr>
            <p:cNvPr id="52" name="TextBox 52"/>
            <p:cNvSpPr txBox="1"/>
            <p:nvPr/>
          </p:nvSpPr>
          <p:spPr>
            <a:xfrm>
              <a:off x="4596765" y="3382328"/>
              <a:ext cx="1181814"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单张 RGB 图像不含</a:t>
              </a:r>
            </a:p>
          </p:txBody>
        </p:sp>
        <p:sp>
          <p:nvSpPr>
            <p:cNvPr id="53" name="TextBox 53"/>
            <p:cNvSpPr txBox="1"/>
            <p:nvPr/>
          </p:nvSpPr>
          <p:spPr>
            <a:xfrm>
              <a:off x="4596765" y="3591878"/>
              <a:ext cx="866775"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绝对尺度信息</a:t>
              </a:r>
            </a:p>
          </p:txBody>
        </p:sp>
        <p:sp>
          <p:nvSpPr>
            <p:cNvPr id="54" name="Line 54"/>
            <p:cNvSpPr/>
            <p:nvPr/>
          </p:nvSpPr>
          <p:spPr>
            <a:xfrm>
              <a:off x="4610100" y="3971925"/>
              <a:ext cx="2971800" cy="9525"/>
            </a:xfrm>
            <a:custGeom>
              <a:avLst/>
              <a:gdLst/>
              <a:ahLst/>
              <a:cxnLst/>
              <a:rect l="l" t="t" r="r" b="b"/>
              <a:pathLst>
                <a:path w="2971800" h="9525">
                  <a:moveTo>
                    <a:pt x="0" y="0"/>
                  </a:moveTo>
                  <a:lnTo>
                    <a:pt x="2971800" y="0"/>
                  </a:lnTo>
                </a:path>
              </a:pathLst>
            </a:custGeom>
            <a:noFill/>
            <a:ln w="9525">
              <a:solidFill>
                <a:srgbClr val="E0E0E0"/>
              </a:solidFill>
            </a:ln>
          </p:spPr>
        </p:sp>
        <p:sp>
          <p:nvSpPr>
            <p:cNvPr id="55" name="TextBox 55"/>
            <p:cNvSpPr txBox="1"/>
            <p:nvPr/>
          </p:nvSpPr>
          <p:spPr>
            <a:xfrm>
              <a:off x="4595812" y="4098131"/>
              <a:ext cx="658654" cy="228600"/>
            </a:xfrm>
            <a:prstGeom prst="rect">
              <a:avLst/>
            </a:prstGeom>
            <a:noFill/>
            <a:ln>
              <a:noFill/>
            </a:ln>
          </p:spPr>
          <p:txBody>
            <a:bodyPr wrap="none" lIns="0" tIns="0" rIns="0" bIns="0" anchor="t" anchorCtr="0">
              <a:spAutoFit/>
            </a:bodyPr>
            <a:lstStyle/>
            <a:p>
              <a:pPr algn="l"/>
              <a:r>
                <a:rPr lang="zh-CN" sz="1125" b="1" dirty="0">
                  <a:solidFill>
                    <a:srgbClr val="FF8F00"/>
                  </a:solidFill>
                  <a:latin typeface="Arial"/>
                  <a:ea typeface="Microsoft YaHei"/>
                  <a:cs typeface="Arial"/>
                </a:rPr>
                <a:t>典型表现</a:t>
              </a:r>
            </a:p>
          </p:txBody>
        </p:sp>
        <p:sp>
          <p:nvSpPr>
            <p:cNvPr id="56" name="Ellipse 56"/>
            <p:cNvSpPr/>
            <p:nvPr/>
          </p:nvSpPr>
          <p:spPr>
            <a:xfrm>
              <a:off x="4657725" y="4457700"/>
              <a:ext cx="57150" cy="57150"/>
            </a:xfrm>
            <a:prstGeom prst="ellipse">
              <a:avLst/>
            </a:prstGeom>
            <a:solidFill>
              <a:srgbClr val="C62828"/>
            </a:solidFill>
            <a:ln>
              <a:noFill/>
            </a:ln>
          </p:spPr>
        </p:sp>
        <p:sp>
          <p:nvSpPr>
            <p:cNvPr id="57" name="TextBox 57"/>
            <p:cNvSpPr txBox="1"/>
            <p:nvPr/>
          </p:nvSpPr>
          <p:spPr>
            <a:xfrm>
              <a:off x="4788218" y="4428649"/>
              <a:ext cx="934879"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近景远景难分辨</a:t>
              </a:r>
            </a:p>
          </p:txBody>
        </p:sp>
        <p:sp>
          <p:nvSpPr>
            <p:cNvPr id="58" name="Ellipse 58"/>
            <p:cNvSpPr/>
            <p:nvPr/>
          </p:nvSpPr>
          <p:spPr>
            <a:xfrm>
              <a:off x="4657725" y="4724400"/>
              <a:ext cx="57150" cy="57150"/>
            </a:xfrm>
            <a:prstGeom prst="ellipse">
              <a:avLst/>
            </a:prstGeom>
            <a:solidFill>
              <a:srgbClr val="C62828"/>
            </a:solidFill>
            <a:ln>
              <a:noFill/>
            </a:ln>
          </p:spPr>
        </p:sp>
        <p:sp>
          <p:nvSpPr>
            <p:cNvPr id="59" name="TextBox 59"/>
            <p:cNvSpPr txBox="1"/>
            <p:nvPr/>
          </p:nvSpPr>
          <p:spPr>
            <a:xfrm>
              <a:off x="4788218" y="4695349"/>
              <a:ext cx="1006388"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无像素-厘米参照</a:t>
              </a:r>
            </a:p>
          </p:txBody>
        </p:sp>
        <p:sp>
          <p:nvSpPr>
            <p:cNvPr id="60" name="Ellipse 60"/>
            <p:cNvSpPr/>
            <p:nvPr/>
          </p:nvSpPr>
          <p:spPr>
            <a:xfrm>
              <a:off x="4657725" y="4991100"/>
              <a:ext cx="57150" cy="57150"/>
            </a:xfrm>
            <a:prstGeom prst="ellipse">
              <a:avLst/>
            </a:prstGeom>
            <a:solidFill>
              <a:srgbClr val="C62828"/>
            </a:solidFill>
            <a:ln>
              <a:noFill/>
            </a:ln>
          </p:spPr>
        </p:sp>
        <p:sp>
          <p:nvSpPr>
            <p:cNvPr id="61" name="TextBox 61"/>
            <p:cNvSpPr txBox="1"/>
            <p:nvPr/>
          </p:nvSpPr>
          <p:spPr>
            <a:xfrm>
              <a:off x="4788218" y="4962049"/>
              <a:ext cx="1064895"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MiDaS 仅相对深度</a:t>
              </a:r>
            </a:p>
          </p:txBody>
        </p:sp>
        <p:sp>
          <p:nvSpPr>
            <p:cNvPr id="62" name="Line 62"/>
            <p:cNvSpPr/>
            <p:nvPr/>
          </p:nvSpPr>
          <p:spPr>
            <a:xfrm>
              <a:off x="4610100" y="5324475"/>
              <a:ext cx="2971800" cy="9525"/>
            </a:xfrm>
            <a:custGeom>
              <a:avLst/>
              <a:gdLst/>
              <a:ahLst/>
              <a:cxnLst/>
              <a:rect l="l" t="t" r="r" b="b"/>
              <a:pathLst>
                <a:path w="2971800" h="9525">
                  <a:moveTo>
                    <a:pt x="0" y="0"/>
                  </a:moveTo>
                  <a:lnTo>
                    <a:pt x="2971800" y="0"/>
                  </a:lnTo>
                </a:path>
              </a:pathLst>
            </a:custGeom>
            <a:noFill/>
            <a:ln w="9525">
              <a:solidFill>
                <a:srgbClr val="E0E0E0"/>
              </a:solidFill>
            </a:ln>
          </p:spPr>
        </p:sp>
        <p:sp>
          <p:nvSpPr>
            <p:cNvPr id="63" name="TextBox 63"/>
            <p:cNvSpPr txBox="1"/>
            <p:nvPr/>
          </p:nvSpPr>
          <p:spPr>
            <a:xfrm>
              <a:off x="4595812" y="5450681"/>
              <a:ext cx="816173" cy="228600"/>
            </a:xfrm>
            <a:prstGeom prst="rect">
              <a:avLst/>
            </a:prstGeom>
            <a:noFill/>
            <a:ln>
              <a:noFill/>
            </a:ln>
          </p:spPr>
          <p:txBody>
            <a:bodyPr wrap="none" lIns="0" tIns="0" rIns="0" bIns="0" anchor="t" anchorCtr="0">
              <a:spAutoFit/>
            </a:bodyPr>
            <a:lstStyle/>
            <a:p>
              <a:pPr algn="l"/>
              <a:r>
                <a:rPr lang="zh-CN" sz="1125" b="1" dirty="0">
                  <a:solidFill>
                    <a:srgbClr val="FF8F00"/>
                  </a:solidFill>
                  <a:latin typeface="Arial"/>
                  <a:ea typeface="Microsoft YaHei"/>
                  <a:cs typeface="Arial"/>
                </a:rPr>
                <a:t>对方法影响</a:t>
              </a:r>
            </a:p>
          </p:txBody>
        </p:sp>
        <p:sp>
          <p:nvSpPr>
            <p:cNvPr id="64" name="Rectangle 64"/>
            <p:cNvSpPr/>
            <p:nvPr/>
          </p:nvSpPr>
          <p:spPr>
            <a:xfrm>
              <a:off x="4610100" y="5705475"/>
              <a:ext cx="2971800" cy="533400"/>
            </a:xfrm>
            <a:prstGeom prst="roundRect">
              <a:avLst>
                <a:gd name="adj" fmla="val 14286"/>
              </a:avLst>
            </a:prstGeom>
            <a:solidFill>
              <a:srgbClr val="FFF3E0"/>
            </a:solidFill>
            <a:ln>
              <a:noFill/>
            </a:ln>
          </p:spPr>
        </p:sp>
        <p:sp>
          <p:nvSpPr>
            <p:cNvPr id="65" name="TextBox 65"/>
            <p:cNvSpPr txBox="1"/>
            <p:nvPr/>
          </p:nvSpPr>
          <p:spPr>
            <a:xfrm>
              <a:off x="5421510" y="5819299"/>
              <a:ext cx="1348981" cy="198120"/>
            </a:xfrm>
            <a:prstGeom prst="rect">
              <a:avLst/>
            </a:prstGeom>
            <a:noFill/>
            <a:ln>
              <a:noFill/>
            </a:ln>
          </p:spPr>
          <p:txBody>
            <a:bodyPr wrap="none" lIns="0" tIns="0" rIns="0" bIns="0" anchor="t" anchorCtr="0">
              <a:spAutoFit/>
            </a:bodyPr>
            <a:lstStyle/>
            <a:p>
              <a:pPr algn="ctr"/>
              <a:r>
                <a:rPr lang="zh-CN" sz="975" b="1" dirty="0">
                  <a:solidFill>
                    <a:srgbClr val="FF8F00"/>
                  </a:solidFill>
                  <a:latin typeface="Arial"/>
                  <a:ea typeface="Microsoft YaHei"/>
                  <a:cs typeface="Arial"/>
                </a:rPr>
                <a:t>单目 3D 重建数学欠定</a:t>
              </a:r>
            </a:p>
          </p:txBody>
        </p:sp>
        <p:sp>
          <p:nvSpPr>
            <p:cNvPr id="66" name="TextBox 66"/>
            <p:cNvSpPr txBox="1"/>
            <p:nvPr/>
          </p:nvSpPr>
          <p:spPr>
            <a:xfrm>
              <a:off x="5664517" y="6027420"/>
              <a:ext cx="862965" cy="182880"/>
            </a:xfrm>
            <a:prstGeom prst="rect">
              <a:avLst/>
            </a:prstGeom>
            <a:noFill/>
            <a:ln>
              <a:noFill/>
            </a:ln>
          </p:spPr>
          <p:txBody>
            <a:bodyPr wrap="none" lIns="0" tIns="0" rIns="0" bIns="0" anchor="t" anchorCtr="0">
              <a:spAutoFit/>
            </a:bodyPr>
            <a:lstStyle/>
            <a:p>
              <a:pPr algn="ctr"/>
              <a:r>
                <a:rPr lang="zh-CN" sz="900" i="1" dirty="0">
                  <a:solidFill>
                    <a:srgbClr val="5F6368"/>
                  </a:solidFill>
                  <a:latin typeface="Cambria"/>
                  <a:ea typeface="SimSun"/>
                  <a:cs typeface="Cambria"/>
                </a:rPr>
                <a:t>背面底部不可见</a:t>
              </a:r>
            </a:p>
          </p:txBody>
        </p:sp>
      </p:grpSp>
      <p:grpSp>
        <p:nvGrpSpPr>
          <p:cNvPr id="93" name="Group 93"/>
          <p:cNvGrpSpPr/>
          <p:nvPr/>
        </p:nvGrpSpPr>
        <p:grpSpPr>
          <a:xfrm>
            <a:off x="8191500" y="1857375"/>
            <a:ext cx="3429000" cy="4524375"/>
            <a:chOff x="8191500" y="1857375"/>
            <a:chExt cx="3429000" cy="4524375"/>
          </a:xfrm>
        </p:grpSpPr>
        <p:sp>
          <p:nvSpPr>
            <p:cNvPr id="68" name="Rectangle 68"/>
            <p:cNvSpPr/>
            <p:nvPr/>
          </p:nvSpPr>
          <p:spPr>
            <a:xfrm>
              <a:off x="8191500" y="1857375"/>
              <a:ext cx="3429000" cy="4524375"/>
            </a:xfrm>
            <a:prstGeom prst="roundRect">
              <a:avLst>
                <a:gd name="adj" fmla="val 3333"/>
              </a:avLst>
            </a:prstGeom>
            <a:solidFill>
              <a:srgbClr val="FFFFFF"/>
            </a:solidFill>
            <a:ln w="14288">
              <a:solidFill>
                <a:srgbClr val="E0E0E0"/>
              </a:solidFill>
            </a:ln>
            <a:effectLst>
              <a:outerShdw blurRad="114300" dist="38100" dir="5400000" algn="ctr" rotWithShape="0">
                <a:srgbClr val="0F172A">
                  <a:alpha val="7500"/>
                </a:srgbClr>
              </a:outerShdw>
            </a:effectLst>
          </p:spPr>
        </p:sp>
        <p:sp>
          <p:nvSpPr>
            <p:cNvPr id="69" name="Freeform 69"/>
            <p:cNvSpPr/>
            <p:nvPr/>
          </p:nvSpPr>
          <p:spPr>
            <a:xfrm>
              <a:off x="8191500" y="1857375"/>
              <a:ext cx="3429000" cy="1047750"/>
            </a:xfrm>
            <a:custGeom>
              <a:avLst/>
              <a:gdLst/>
              <a:ahLst/>
              <a:cxnLst/>
              <a:rect l="l" t="t" r="r" b="b"/>
              <a:pathLst>
                <a:path w="3429000" h="1047750">
                  <a:moveTo>
                    <a:pt x="0" y="114300"/>
                  </a:moveTo>
                  <a:cubicBezTo>
                    <a:pt x="0" y="51174"/>
                    <a:pt x="51174" y="0"/>
                    <a:pt x="114300" y="0"/>
                  </a:cubicBezTo>
                  <a:lnTo>
                    <a:pt x="3314700" y="0"/>
                  </a:lnTo>
                  <a:cubicBezTo>
                    <a:pt x="3377826" y="0"/>
                    <a:pt x="3429000" y="51174"/>
                    <a:pt x="3429000" y="114300"/>
                  </a:cubicBezTo>
                  <a:lnTo>
                    <a:pt x="3429000" y="1047750"/>
                  </a:lnTo>
                  <a:lnTo>
                    <a:pt x="0" y="1047750"/>
                  </a:lnTo>
                  <a:close/>
                </a:path>
              </a:pathLst>
            </a:custGeom>
            <a:gradFill>
              <a:gsLst>
                <a:gs pos="0">
                  <a:srgbClr val="C62828"/>
                </a:gs>
                <a:gs pos="100000">
                  <a:srgbClr val="FF8F00"/>
                </a:gs>
              </a:gsLst>
              <a:lin ang="2700000" scaled="1"/>
            </a:gradFill>
            <a:ln>
              <a:noFill/>
            </a:ln>
          </p:spPr>
        </p:sp>
        <p:sp>
          <p:nvSpPr>
            <p:cNvPr id="70" name="Rectangle 70"/>
            <p:cNvSpPr/>
            <p:nvPr/>
          </p:nvSpPr>
          <p:spPr>
            <a:xfrm>
              <a:off x="8382000" y="2066925"/>
              <a:ext cx="419100" cy="419100"/>
            </a:xfrm>
            <a:prstGeom prst="roundRect">
              <a:avLst>
                <a:gd name="adj" fmla="val 22727"/>
              </a:avLst>
            </a:prstGeom>
            <a:solidFill>
              <a:srgbClr val="FFFFFF">
                <a:alpha val="20000"/>
              </a:srgbClr>
            </a:solidFill>
            <a:ln>
              <a:noFill/>
            </a:ln>
          </p:spPr>
        </p:sp>
        <p:sp>
          <p:nvSpPr>
            <p:cNvPr id="71" name="TextBox 71"/>
            <p:cNvSpPr txBox="1"/>
            <p:nvPr/>
          </p:nvSpPr>
          <p:spPr>
            <a:xfrm>
              <a:off x="8443529" y="2174558"/>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ambria"/>
                  <a:ea typeface="SimSun"/>
                  <a:cs typeface="Cambria"/>
                </a:rPr>
                <a:t>03</a:t>
              </a:r>
            </a:p>
          </p:txBody>
        </p:sp>
        <p:grpSp>
          <p:nvGrpSpPr>
            <p:cNvPr id="74" name="Group 74"/>
            <p:cNvGrpSpPr/>
            <p:nvPr/>
          </p:nvGrpSpPr>
          <p:grpSpPr>
            <a:xfrm>
              <a:off x="10999110" y="2138847"/>
              <a:ext cx="301350" cy="301818"/>
              <a:chOff x="10999110" y="2138847"/>
              <a:chExt cx="301350" cy="301818"/>
            </a:xfrm>
          </p:grpSpPr>
          <p:sp>
            <p:nvSpPr>
              <p:cNvPr id="72" name="Freeform 72"/>
              <p:cNvSpPr/>
              <p:nvPr/>
            </p:nvSpPr>
            <p:spPr>
              <a:xfrm>
                <a:off x="10999110" y="2138847"/>
                <a:ext cx="301350" cy="301818"/>
              </a:xfrm>
              <a:custGeom>
                <a:avLst/>
                <a:gdLst/>
                <a:ahLst/>
                <a:cxnLst/>
                <a:rect l="l" t="t" r="r" b="b"/>
                <a:pathLst>
                  <a:path w="301350" h="301818">
                    <a:moveTo>
                      <a:pt x="121328" y="468"/>
                    </a:moveTo>
                    <a:cubicBezTo>
                      <a:pt x="49152" y="17199"/>
                      <a:pt x="0" y="84115"/>
                      <a:pt x="5620" y="157991"/>
                    </a:cubicBezTo>
                    <a:cubicBezTo>
                      <a:pt x="11241" y="231867"/>
                      <a:pt x="69951" y="290577"/>
                      <a:pt x="143826" y="296197"/>
                    </a:cubicBezTo>
                    <a:cubicBezTo>
                      <a:pt x="217702" y="301818"/>
                      <a:pt x="284618" y="252665"/>
                      <a:pt x="301350" y="180490"/>
                    </a:cubicBezTo>
                    <a:cubicBezTo>
                      <a:pt x="301350" y="171284"/>
                      <a:pt x="293887" y="163821"/>
                      <a:pt x="284681" y="163821"/>
                    </a:cubicBezTo>
                    <a:lnTo>
                      <a:pt x="171334" y="163821"/>
                    </a:lnTo>
                    <a:cubicBezTo>
                      <a:pt x="152922" y="163821"/>
                      <a:pt x="137996" y="148896"/>
                      <a:pt x="137996" y="130484"/>
                    </a:cubicBezTo>
                    <a:lnTo>
                      <a:pt x="137996" y="13803"/>
                    </a:lnTo>
                    <a:cubicBezTo>
                      <a:pt x="137578" y="9814"/>
                      <a:pt x="135580" y="6158"/>
                      <a:pt x="132448" y="3653"/>
                    </a:cubicBezTo>
                    <a:cubicBezTo>
                      <a:pt x="129316" y="1147"/>
                      <a:pt x="125311" y="0"/>
                      <a:pt x="121328" y="468"/>
                    </a:cubicBezTo>
                  </a:path>
                </a:pathLst>
              </a:custGeom>
              <a:noFill/>
              <a:ln w="19050">
                <a:solidFill>
                  <a:srgbClr val="FFFFFF"/>
                </a:solidFill>
              </a:ln>
            </p:spPr>
          </p:sp>
          <p:sp>
            <p:nvSpPr>
              <p:cNvPr id="73" name="Freeform 73"/>
              <p:cNvSpPr/>
              <p:nvPr/>
            </p:nvSpPr>
            <p:spPr>
              <a:xfrm>
                <a:off x="11203781" y="2144316"/>
                <a:ext cx="91678" cy="91678"/>
              </a:xfrm>
              <a:custGeom>
                <a:avLst/>
                <a:gdLst/>
                <a:ahLst/>
                <a:cxnLst/>
                <a:rect l="l" t="t" r="r" b="b"/>
                <a:pathLst>
                  <a:path w="91678" h="91678">
                    <a:moveTo>
                      <a:pt x="0" y="0"/>
                    </a:moveTo>
                    <a:cubicBezTo>
                      <a:pt x="42869" y="15095"/>
                      <a:pt x="76584" y="48809"/>
                      <a:pt x="91678" y="91678"/>
                    </a:cubicBezTo>
                    <a:lnTo>
                      <a:pt x="16669" y="91678"/>
                    </a:lnTo>
                    <a:cubicBezTo>
                      <a:pt x="7463" y="91678"/>
                      <a:pt x="0" y="84215"/>
                      <a:pt x="0" y="75009"/>
                    </a:cubicBezTo>
                    <a:lnTo>
                      <a:pt x="0" y="0"/>
                    </a:lnTo>
                  </a:path>
                </a:pathLst>
              </a:custGeom>
              <a:noFill/>
              <a:ln w="19050">
                <a:solidFill>
                  <a:srgbClr val="FFFFFF"/>
                </a:solidFill>
              </a:ln>
            </p:spPr>
          </p:sp>
        </p:grpSp>
        <p:sp>
          <p:nvSpPr>
            <p:cNvPr id="75" name="TextBox 75"/>
            <p:cNvSpPr txBox="1"/>
            <p:nvPr/>
          </p:nvSpPr>
          <p:spPr>
            <a:xfrm>
              <a:off x="9191958" y="2441258"/>
              <a:ext cx="1428083"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ambria"/>
                  <a:ea typeface="SimSun"/>
                  <a:cs typeface="Cambria"/>
                </a:rPr>
                <a:t>密度差异显著</a:t>
              </a:r>
            </a:p>
          </p:txBody>
        </p:sp>
        <p:sp>
          <p:nvSpPr>
            <p:cNvPr id="76" name="TextBox 76"/>
            <p:cNvSpPr txBox="1"/>
            <p:nvPr/>
          </p:nvSpPr>
          <p:spPr>
            <a:xfrm>
              <a:off x="9430577" y="2720816"/>
              <a:ext cx="950846" cy="167640"/>
            </a:xfrm>
            <a:prstGeom prst="rect">
              <a:avLst/>
            </a:prstGeom>
            <a:noFill/>
            <a:ln>
              <a:noFill/>
            </a:ln>
          </p:spPr>
          <p:txBody>
            <a:bodyPr wrap="none" lIns="0" tIns="0" rIns="0" bIns="0" anchor="t" anchorCtr="0">
              <a:spAutoFit/>
            </a:bodyPr>
            <a:lstStyle/>
            <a:p>
              <a:pPr algn="ctr"/>
              <a:r>
                <a:rPr lang="zh-CN" sz="825" b="1" dirty="0">
                  <a:solidFill>
                    <a:srgbClr val="FFFFFF">
                      <a:alphaMod val="85000"/>
                    </a:srgbClr>
                  </a:solidFill>
                  <a:latin typeface="Arial"/>
                  <a:ea typeface="Microsoft YaHei"/>
                  <a:cs typeface="Arial"/>
                </a:rPr>
                <a:t>DENSITY VARIANCE</a:t>
              </a:r>
            </a:p>
          </p:txBody>
        </p:sp>
        <p:sp>
          <p:nvSpPr>
            <p:cNvPr id="77" name="TextBox 77"/>
            <p:cNvSpPr txBox="1"/>
            <p:nvPr/>
          </p:nvSpPr>
          <p:spPr>
            <a:xfrm>
              <a:off x="8405812" y="3145631"/>
              <a:ext cx="658654"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Arial"/>
                  <a:ea typeface="Microsoft YaHei"/>
                  <a:cs typeface="Arial"/>
                </a:rPr>
                <a:t>问题描述</a:t>
              </a:r>
            </a:p>
          </p:txBody>
        </p:sp>
        <p:sp>
          <p:nvSpPr>
            <p:cNvPr id="78" name="TextBox 78"/>
            <p:cNvSpPr txBox="1"/>
            <p:nvPr/>
          </p:nvSpPr>
          <p:spPr>
            <a:xfrm>
              <a:off x="8406765" y="3382328"/>
              <a:ext cx="1146810"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不同类别食物密度</a:t>
              </a:r>
            </a:p>
          </p:txBody>
        </p:sp>
        <p:sp>
          <p:nvSpPr>
            <p:cNvPr id="79" name="TextBox 79"/>
            <p:cNvSpPr txBox="1"/>
            <p:nvPr/>
          </p:nvSpPr>
          <p:spPr>
            <a:xfrm>
              <a:off x="8406765" y="3591878"/>
              <a:ext cx="586740"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Arial"/>
                  <a:ea typeface="Microsoft YaHei"/>
                  <a:cs typeface="Arial"/>
                </a:rPr>
                <a:t>跨度极大</a:t>
              </a:r>
            </a:p>
          </p:txBody>
        </p:sp>
        <p:sp>
          <p:nvSpPr>
            <p:cNvPr id="80" name="Line 80"/>
            <p:cNvSpPr/>
            <p:nvPr/>
          </p:nvSpPr>
          <p:spPr>
            <a:xfrm>
              <a:off x="8420100" y="3971925"/>
              <a:ext cx="2971800" cy="9525"/>
            </a:xfrm>
            <a:custGeom>
              <a:avLst/>
              <a:gdLst/>
              <a:ahLst/>
              <a:cxnLst/>
              <a:rect l="l" t="t" r="r" b="b"/>
              <a:pathLst>
                <a:path w="2971800" h="9525">
                  <a:moveTo>
                    <a:pt x="0" y="0"/>
                  </a:moveTo>
                  <a:lnTo>
                    <a:pt x="2971800" y="0"/>
                  </a:lnTo>
                </a:path>
              </a:pathLst>
            </a:custGeom>
            <a:noFill/>
            <a:ln w="9525">
              <a:solidFill>
                <a:srgbClr val="E0E0E0"/>
              </a:solidFill>
            </a:ln>
          </p:spPr>
        </p:sp>
        <p:sp>
          <p:nvSpPr>
            <p:cNvPr id="81" name="TextBox 81"/>
            <p:cNvSpPr txBox="1"/>
            <p:nvPr/>
          </p:nvSpPr>
          <p:spPr>
            <a:xfrm>
              <a:off x="8405812" y="4098131"/>
              <a:ext cx="658654"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Arial"/>
                  <a:ea typeface="Microsoft YaHei"/>
                  <a:cs typeface="Arial"/>
                </a:rPr>
                <a:t>典型表现</a:t>
              </a:r>
            </a:p>
          </p:txBody>
        </p:sp>
        <p:sp>
          <p:nvSpPr>
            <p:cNvPr id="82" name="Ellipse 82"/>
            <p:cNvSpPr/>
            <p:nvPr/>
          </p:nvSpPr>
          <p:spPr>
            <a:xfrm>
              <a:off x="8467725" y="4457700"/>
              <a:ext cx="57150" cy="57150"/>
            </a:xfrm>
            <a:prstGeom prst="ellipse">
              <a:avLst/>
            </a:prstGeom>
            <a:solidFill>
              <a:srgbClr val="FF8F00"/>
            </a:solidFill>
            <a:ln>
              <a:noFill/>
            </a:ln>
          </p:spPr>
        </p:sp>
        <p:sp>
          <p:nvSpPr>
            <p:cNvPr id="83" name="TextBox 83"/>
            <p:cNvSpPr txBox="1"/>
            <p:nvPr/>
          </p:nvSpPr>
          <p:spPr>
            <a:xfrm>
              <a:off x="8598218" y="4428649"/>
              <a:ext cx="1259919"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液体密度 ~1.0 g/cm³</a:t>
              </a:r>
            </a:p>
          </p:txBody>
        </p:sp>
        <p:sp>
          <p:nvSpPr>
            <p:cNvPr id="84" name="Ellipse 84"/>
            <p:cNvSpPr/>
            <p:nvPr/>
          </p:nvSpPr>
          <p:spPr>
            <a:xfrm>
              <a:off x="8467725" y="4724400"/>
              <a:ext cx="57150" cy="57150"/>
            </a:xfrm>
            <a:prstGeom prst="ellipse">
              <a:avLst/>
            </a:prstGeom>
            <a:solidFill>
              <a:srgbClr val="FF8F00"/>
            </a:solidFill>
            <a:ln>
              <a:noFill/>
            </a:ln>
          </p:spPr>
        </p:sp>
        <p:sp>
          <p:nvSpPr>
            <p:cNvPr id="85" name="TextBox 85"/>
            <p:cNvSpPr txBox="1"/>
            <p:nvPr/>
          </p:nvSpPr>
          <p:spPr>
            <a:xfrm>
              <a:off x="8598218" y="4695349"/>
              <a:ext cx="1292423"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面包密度 ~0.3 g/cm³</a:t>
              </a:r>
            </a:p>
          </p:txBody>
        </p:sp>
        <p:sp>
          <p:nvSpPr>
            <p:cNvPr id="86" name="Ellipse 86"/>
            <p:cNvSpPr/>
            <p:nvPr/>
          </p:nvSpPr>
          <p:spPr>
            <a:xfrm>
              <a:off x="8467725" y="4991100"/>
              <a:ext cx="57150" cy="57150"/>
            </a:xfrm>
            <a:prstGeom prst="ellipse">
              <a:avLst/>
            </a:prstGeom>
            <a:solidFill>
              <a:srgbClr val="FF8F00"/>
            </a:solidFill>
            <a:ln>
              <a:noFill/>
            </a:ln>
          </p:spPr>
        </p:sp>
        <p:sp>
          <p:nvSpPr>
            <p:cNvPr id="87" name="TextBox 87"/>
            <p:cNvSpPr txBox="1"/>
            <p:nvPr/>
          </p:nvSpPr>
          <p:spPr>
            <a:xfrm>
              <a:off x="8598218" y="4962049"/>
              <a:ext cx="1227415"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肉类密度 ~1.1 g/cm³</a:t>
              </a:r>
            </a:p>
          </p:txBody>
        </p:sp>
        <p:sp>
          <p:nvSpPr>
            <p:cNvPr id="88" name="Line 88"/>
            <p:cNvSpPr/>
            <p:nvPr/>
          </p:nvSpPr>
          <p:spPr>
            <a:xfrm>
              <a:off x="8420100" y="5324475"/>
              <a:ext cx="2971800" cy="9525"/>
            </a:xfrm>
            <a:custGeom>
              <a:avLst/>
              <a:gdLst/>
              <a:ahLst/>
              <a:cxnLst/>
              <a:rect l="l" t="t" r="r" b="b"/>
              <a:pathLst>
                <a:path w="2971800" h="9525">
                  <a:moveTo>
                    <a:pt x="0" y="0"/>
                  </a:moveTo>
                  <a:lnTo>
                    <a:pt x="2971800" y="0"/>
                  </a:lnTo>
                </a:path>
              </a:pathLst>
            </a:custGeom>
            <a:noFill/>
            <a:ln w="9525">
              <a:solidFill>
                <a:srgbClr val="E0E0E0"/>
              </a:solidFill>
            </a:ln>
          </p:spPr>
        </p:sp>
        <p:sp>
          <p:nvSpPr>
            <p:cNvPr id="89" name="TextBox 89"/>
            <p:cNvSpPr txBox="1"/>
            <p:nvPr/>
          </p:nvSpPr>
          <p:spPr>
            <a:xfrm>
              <a:off x="8405812" y="5450681"/>
              <a:ext cx="816173"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Arial"/>
                  <a:ea typeface="Microsoft YaHei"/>
                  <a:cs typeface="Arial"/>
                </a:rPr>
                <a:t>对方法影响</a:t>
              </a:r>
            </a:p>
          </p:txBody>
        </p:sp>
        <p:sp>
          <p:nvSpPr>
            <p:cNvPr id="90" name="Rectangle 90"/>
            <p:cNvSpPr/>
            <p:nvPr/>
          </p:nvSpPr>
          <p:spPr>
            <a:xfrm>
              <a:off x="8420100" y="5705475"/>
              <a:ext cx="2971800" cy="533400"/>
            </a:xfrm>
            <a:prstGeom prst="roundRect">
              <a:avLst>
                <a:gd name="adj" fmla="val 14286"/>
              </a:avLst>
            </a:prstGeom>
            <a:solidFill>
              <a:srgbClr val="FFEBEE"/>
            </a:solidFill>
            <a:ln>
              <a:noFill/>
            </a:ln>
          </p:spPr>
        </p:sp>
        <p:sp>
          <p:nvSpPr>
            <p:cNvPr id="91" name="TextBox 91"/>
            <p:cNvSpPr txBox="1"/>
            <p:nvPr/>
          </p:nvSpPr>
          <p:spPr>
            <a:xfrm>
              <a:off x="9279291" y="5819299"/>
              <a:ext cx="1253419" cy="198120"/>
            </a:xfrm>
            <a:prstGeom prst="rect">
              <a:avLst/>
            </a:prstGeom>
            <a:noFill/>
            <a:ln>
              <a:noFill/>
            </a:ln>
          </p:spPr>
          <p:txBody>
            <a:bodyPr wrap="none" lIns="0" tIns="0" rIns="0" bIns="0" anchor="t" anchorCtr="0">
              <a:spAutoFit/>
            </a:bodyPr>
            <a:lstStyle/>
            <a:p>
              <a:pPr algn="ctr"/>
              <a:r>
                <a:rPr lang="zh-CN" sz="975" b="1" dirty="0">
                  <a:solidFill>
                    <a:srgbClr val="C62828"/>
                  </a:solidFill>
                  <a:latin typeface="Arial"/>
                  <a:ea typeface="Microsoft YaHei"/>
                  <a:cs typeface="Arial"/>
                </a:rPr>
                <a:t>固定密度赋值误差大</a:t>
              </a:r>
            </a:p>
          </p:txBody>
        </p:sp>
        <p:sp>
          <p:nvSpPr>
            <p:cNvPr id="92" name="TextBox 92"/>
            <p:cNvSpPr txBox="1"/>
            <p:nvPr/>
          </p:nvSpPr>
          <p:spPr>
            <a:xfrm>
              <a:off x="9414510" y="6027420"/>
              <a:ext cx="982980" cy="182880"/>
            </a:xfrm>
            <a:prstGeom prst="rect">
              <a:avLst/>
            </a:prstGeom>
            <a:noFill/>
            <a:ln>
              <a:noFill/>
            </a:ln>
          </p:spPr>
          <p:txBody>
            <a:bodyPr wrap="none" lIns="0" tIns="0" rIns="0" bIns="0" anchor="t" anchorCtr="0">
              <a:spAutoFit/>
            </a:bodyPr>
            <a:lstStyle/>
            <a:p>
              <a:pPr algn="ctr"/>
              <a:r>
                <a:rPr lang="zh-CN" sz="900" i="1" dirty="0">
                  <a:solidFill>
                    <a:srgbClr val="5F6368"/>
                  </a:solidFill>
                  <a:latin typeface="Cambria"/>
                  <a:ea typeface="SimSun"/>
                  <a:cs typeface="Cambria"/>
                </a:rPr>
                <a:t>需类别级密度先验</a:t>
              </a:r>
            </a:p>
          </p:txBody>
        </p:sp>
      </p:grpSp>
      <p:sp>
        <p:nvSpPr>
          <p:cNvPr id="94" name="TextBox 94"/>
          <p:cNvSpPr txBox="1"/>
          <p:nvPr/>
        </p:nvSpPr>
        <p:spPr>
          <a:xfrm>
            <a:off x="561022" y="6578441"/>
            <a:ext cx="2978125"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2 · Q2 Challenges</a:t>
            </a:r>
          </a:p>
        </p:txBody>
      </p:sp>
      <p:sp>
        <p:nvSpPr>
          <p:cNvPr id="95" name="TextBox 95"/>
          <p:cNvSpPr txBox="1"/>
          <p:nvPr/>
        </p:nvSpPr>
        <p:spPr>
          <a:xfrm>
            <a:off x="11251928" y="6578441"/>
            <a:ext cx="379050"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10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400"/>
                                        <p:tgtEl>
                                          <p:spTgt spid="1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slide(fromBottom)">
                                      <p:cBhvr>
                                        <p:cTn id="11" dur="400"/>
                                        <p:tgtEl>
                                          <p:spTgt spid="3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67"/>
                                        </p:tgtEl>
                                        <p:attrNameLst>
                                          <p:attrName>style.visibility</p:attrName>
                                        </p:attrNameLst>
                                      </p:cBhvr>
                                      <p:to>
                                        <p:strVal val="visible"/>
                                      </p:to>
                                    </p:set>
                                    <p:animEffect transition="in" filter="slide(fromBottom)">
                                      <p:cBhvr>
                                        <p:cTn id="15" dur="400"/>
                                        <p:tgtEl>
                                          <p:spTgt spid="67"/>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93"/>
                                        </p:tgtEl>
                                        <p:attrNameLst>
                                          <p:attrName>style.visibility</p:attrName>
                                        </p:attrNameLst>
                                      </p:cBhvr>
                                      <p:to>
                                        <p:strVal val="visible"/>
                                      </p:to>
                                    </p:set>
                                    <p:animEffect transition="in" filter="slide(fromBottom)">
                                      <p:cBhvr>
                                        <p:cTn id="19" dur="4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8" grpId="0"/>
      <p:bldP spid="67" grpId="0"/>
      <p:bldP spid="9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gradFill>
            <a:gsLst>
              <a:gs pos="0">
                <a:srgbClr val="FFEBEE">
                  <a:alpha val="50000"/>
                </a:srgbClr>
              </a:gs>
              <a:gs pos="100000">
                <a:srgbClr val="FFFFFF">
                  <a:alpha val="0"/>
                </a:srgbClr>
              </a:gs>
            </a:gsLst>
            <a:lin ang="2700000" scaled="1"/>
          </a:gradFill>
          <a:ln>
            <a:noFill/>
          </a:ln>
        </p:spPr>
      </p:sp>
      <p:grpSp>
        <p:nvGrpSpPr>
          <p:cNvPr id="13" name="Group 13"/>
          <p:cNvGrpSpPr/>
          <p:nvPr/>
        </p:nvGrpSpPr>
        <p:grpSpPr>
          <a:xfrm>
            <a:off x="571500" y="457200"/>
            <a:ext cx="11241036" cy="652462"/>
            <a:chOff x="571500" y="457200"/>
            <a:chExt cx="11241036" cy="652462"/>
          </a:xfrm>
        </p:grpSpPr>
        <p:sp>
          <p:nvSpPr>
            <p:cNvPr id="4" name="Rectangle 4"/>
            <p:cNvSpPr/>
            <p:nvPr/>
          </p:nvSpPr>
          <p:spPr>
            <a:xfrm>
              <a:off x="571500" y="457200"/>
              <a:ext cx="57150" cy="381000"/>
            </a:xfrm>
            <a:prstGeom prst="roundRect">
              <a:avLst>
                <a:gd name="adj" fmla="val 50000"/>
              </a:avLst>
            </a:prstGeom>
            <a:solidFill>
              <a:srgbClr val="C62828"/>
            </a:solidFill>
            <a:ln>
              <a:noFill/>
            </a:ln>
          </p:spPr>
        </p:sp>
        <p:sp>
          <p:nvSpPr>
            <p:cNvPr id="5" name="TextBox 5"/>
            <p:cNvSpPr txBox="1"/>
            <p:nvPr/>
          </p:nvSpPr>
          <p:spPr>
            <a:xfrm>
              <a:off x="733425" y="500062"/>
              <a:ext cx="4562213"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路线一 · SAM + 深度估计 — 失败</a:t>
              </a:r>
            </a:p>
          </p:txBody>
        </p:sp>
        <p:sp>
          <p:nvSpPr>
            <p:cNvPr id="6" name="TextBox 6"/>
            <p:cNvSpPr txBox="1"/>
            <p:nvPr/>
          </p:nvSpPr>
          <p:spPr>
            <a:xfrm>
              <a:off x="748665" y="896302"/>
              <a:ext cx="3025845"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Q2 · ROUTE 1 FAILED · SAM + MIDAS PIPELINE</a:t>
              </a:r>
            </a:p>
          </p:txBody>
        </p:sp>
        <p:grpSp>
          <p:nvGrpSpPr>
            <p:cNvPr id="12" name="Group 12"/>
            <p:cNvGrpSpPr/>
            <p:nvPr/>
          </p:nvGrpSpPr>
          <p:grpSpPr>
            <a:xfrm>
              <a:off x="9715500" y="476250"/>
              <a:ext cx="2097036" cy="571500"/>
              <a:chOff x="9715500" y="476250"/>
              <a:chExt cx="2097036" cy="571500"/>
            </a:xfrm>
          </p:grpSpPr>
          <p:sp>
            <p:nvSpPr>
              <p:cNvPr id="7" name="Rectangle 7"/>
              <p:cNvSpPr/>
              <p:nvPr/>
            </p:nvSpPr>
            <p:spPr>
              <a:xfrm>
                <a:off x="9715500" y="476250"/>
                <a:ext cx="1905000" cy="571500"/>
              </a:xfrm>
              <a:prstGeom prst="roundRect">
                <a:avLst>
                  <a:gd name="adj" fmla="val 50000"/>
                </a:avLst>
              </a:prstGeom>
              <a:solidFill>
                <a:srgbClr val="C62828"/>
              </a:solidFill>
              <a:ln>
                <a:noFill/>
              </a:ln>
            </p:spPr>
          </p:sp>
          <p:grpSp>
            <p:nvGrpSpPr>
              <p:cNvPr id="10" name="Group 10"/>
              <p:cNvGrpSpPr/>
              <p:nvPr/>
            </p:nvGrpSpPr>
            <p:grpSpPr>
              <a:xfrm>
                <a:off x="9925050" y="685800"/>
                <a:ext cx="152400" cy="152400"/>
                <a:chOff x="9925050" y="685800"/>
                <a:chExt cx="152400" cy="152400"/>
              </a:xfrm>
            </p:grpSpPr>
            <p:sp>
              <p:nvSpPr>
                <p:cNvPr id="8" name="Freeform 8"/>
                <p:cNvSpPr/>
                <p:nvPr/>
              </p:nvSpPr>
              <p:spPr>
                <a:xfrm>
                  <a:off x="9925050" y="685800"/>
                  <a:ext cx="152400" cy="152400"/>
                </a:xfrm>
                <a:custGeom>
                  <a:avLst/>
                  <a:gdLst/>
                  <a:ahLst/>
                  <a:cxnLst/>
                  <a:rect l="l" t="t" r="r" b="b"/>
                  <a:pathLst>
                    <a:path w="152400" h="152400">
                      <a:moveTo>
                        <a:pt x="152400" y="0"/>
                      </a:moveTo>
                      <a:lnTo>
                        <a:pt x="0" y="152400"/>
                      </a:lnTo>
                    </a:path>
                  </a:pathLst>
                </a:custGeom>
                <a:noFill/>
                <a:ln w="19050">
                  <a:solidFill>
                    <a:srgbClr val="FFFFFF"/>
                  </a:solidFill>
                </a:ln>
              </p:spPr>
            </p:sp>
            <p:sp>
              <p:nvSpPr>
                <p:cNvPr id="9" name="Freeform 9"/>
                <p:cNvSpPr/>
                <p:nvPr/>
              </p:nvSpPr>
              <p:spPr>
                <a:xfrm>
                  <a:off x="9925050" y="685800"/>
                  <a:ext cx="152400" cy="152400"/>
                </a:xfrm>
                <a:custGeom>
                  <a:avLst/>
                  <a:gdLst/>
                  <a:ahLst/>
                  <a:cxnLst/>
                  <a:rect l="l" t="t" r="r" b="b"/>
                  <a:pathLst>
                    <a:path w="152400" h="152400">
                      <a:moveTo>
                        <a:pt x="0" y="0"/>
                      </a:moveTo>
                      <a:lnTo>
                        <a:pt x="152400" y="152400"/>
                      </a:lnTo>
                    </a:path>
                  </a:pathLst>
                </a:custGeom>
                <a:noFill/>
                <a:ln w="19050">
                  <a:solidFill>
                    <a:srgbClr val="FFFFFF"/>
                  </a:solidFill>
                </a:ln>
              </p:spPr>
            </p:sp>
          </p:grpSp>
          <p:sp>
            <p:nvSpPr>
              <p:cNvPr id="11" name="TextBox 11"/>
              <p:cNvSpPr txBox="1"/>
              <p:nvPr/>
            </p:nvSpPr>
            <p:spPr>
              <a:xfrm>
                <a:off x="9999714" y="676275"/>
                <a:ext cx="181282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Cambria"/>
                    <a:ea typeface="SimSun"/>
                    <a:cs typeface="Cambria"/>
                  </a:rPr>
                  <a:t>FAIL · 误差 &gt; 200%</a:t>
                </a:r>
              </a:p>
            </p:txBody>
          </p:sp>
        </p:grpSp>
      </p:grpSp>
      <p:sp>
        <p:nvSpPr>
          <p:cNvPr id="14" name="Line 14"/>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5" name="TextBox 15"/>
          <p:cNvSpPr txBox="1"/>
          <p:nvPr/>
        </p:nvSpPr>
        <p:spPr>
          <a:xfrm>
            <a:off x="556260" y="1489710"/>
            <a:ext cx="4306614"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方案流程: SAM 分割 → MiDaS 深度 → 几何近似 → 密度赋值</a:t>
            </a:r>
          </a:p>
        </p:txBody>
      </p:sp>
      <p:grpSp>
        <p:nvGrpSpPr>
          <p:cNvPr id="47" name="Group 47"/>
          <p:cNvGrpSpPr/>
          <p:nvPr/>
        </p:nvGrpSpPr>
        <p:grpSpPr>
          <a:xfrm>
            <a:off x="571500" y="1809750"/>
            <a:ext cx="11049000" cy="762000"/>
            <a:chOff x="571500" y="1809750"/>
            <a:chExt cx="11049000" cy="762000"/>
          </a:xfrm>
        </p:grpSpPr>
        <p:sp>
          <p:nvSpPr>
            <p:cNvPr id="16" name="Rectangle 16"/>
            <p:cNvSpPr/>
            <p:nvPr/>
          </p:nvSpPr>
          <p:spPr>
            <a:xfrm>
              <a:off x="571500" y="1809750"/>
              <a:ext cx="2095500" cy="762000"/>
            </a:xfrm>
            <a:prstGeom prst="roundRect">
              <a:avLst>
                <a:gd name="adj" fmla="val 12500"/>
              </a:avLst>
            </a:prstGeom>
            <a:solidFill>
              <a:srgbClr val="FFFFFF"/>
            </a:solidFill>
            <a:ln w="14288">
              <a:solidFill>
                <a:srgbClr val="C62828"/>
              </a:solidFill>
            </a:ln>
            <a:effectLst>
              <a:outerShdw blurRad="95250" dist="28575" dir="5400000" algn="ctr" rotWithShape="0">
                <a:srgbClr val="0F172A">
                  <a:alpha val="6000"/>
                </a:srgbClr>
              </a:outerShdw>
            </a:effectLst>
          </p:spPr>
        </p:sp>
        <p:sp>
          <p:nvSpPr>
            <p:cNvPr id="17" name="Rectangle 17"/>
            <p:cNvSpPr/>
            <p:nvPr/>
          </p:nvSpPr>
          <p:spPr>
            <a:xfrm>
              <a:off x="571500" y="1809750"/>
              <a:ext cx="2095500" cy="285750"/>
            </a:xfrm>
            <a:prstGeom prst="roundRect">
              <a:avLst>
                <a:gd name="adj" fmla="val 33333"/>
              </a:avLst>
            </a:prstGeom>
            <a:solidFill>
              <a:srgbClr val="C62828"/>
            </a:solidFill>
            <a:ln>
              <a:noFill/>
            </a:ln>
          </p:spPr>
        </p:sp>
        <p:sp>
          <p:nvSpPr>
            <p:cNvPr id="18" name="Rectangle 18"/>
            <p:cNvSpPr/>
            <p:nvPr/>
          </p:nvSpPr>
          <p:spPr>
            <a:xfrm>
              <a:off x="571500" y="2000250"/>
              <a:ext cx="2095500" cy="95250"/>
            </a:xfrm>
            <a:prstGeom prst="rect">
              <a:avLst/>
            </a:prstGeom>
            <a:solidFill>
              <a:srgbClr val="C62828"/>
            </a:solidFill>
            <a:ln>
              <a:noFill/>
            </a:ln>
          </p:spPr>
        </p:sp>
        <p:sp>
          <p:nvSpPr>
            <p:cNvPr id="19" name="TextBox 19"/>
            <p:cNvSpPr txBox="1"/>
            <p:nvPr/>
          </p:nvSpPr>
          <p:spPr>
            <a:xfrm>
              <a:off x="748665" y="1886902"/>
              <a:ext cx="761762"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Cambria"/>
                  <a:ea typeface="SimSun"/>
                  <a:cs typeface="Cambria"/>
                </a:rPr>
                <a:t>① SAM 分割</a:t>
              </a:r>
            </a:p>
          </p:txBody>
        </p:sp>
        <p:sp>
          <p:nvSpPr>
            <p:cNvPr id="20" name="TextBox 20"/>
            <p:cNvSpPr txBox="1"/>
            <p:nvPr/>
          </p:nvSpPr>
          <p:spPr>
            <a:xfrm>
              <a:off x="750570" y="2207895"/>
              <a:ext cx="742950"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分割食物区域</a:t>
              </a:r>
            </a:p>
          </p:txBody>
        </p:sp>
        <p:sp>
          <p:nvSpPr>
            <p:cNvPr id="21" name="TextBox 21"/>
            <p:cNvSpPr txBox="1"/>
            <p:nvPr/>
          </p:nvSpPr>
          <p:spPr>
            <a:xfrm>
              <a:off x="751522" y="2387441"/>
              <a:ext cx="1027581"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透明容器 / 边缘模糊</a:t>
              </a:r>
            </a:p>
          </p:txBody>
        </p:sp>
        <p:sp>
          <p:nvSpPr>
            <p:cNvPr id="22" name="Freeform 22"/>
            <p:cNvSpPr/>
            <p:nvPr/>
          </p:nvSpPr>
          <p:spPr>
            <a:xfrm>
              <a:off x="2762250" y="2143125"/>
              <a:ext cx="333375" cy="190500"/>
            </a:xfrm>
            <a:custGeom>
              <a:avLst/>
              <a:gdLst/>
              <a:ahLst/>
              <a:cxnLst/>
              <a:rect l="l" t="t" r="r" b="b"/>
              <a:pathLst>
                <a:path w="333375" h="190500">
                  <a:moveTo>
                    <a:pt x="0" y="47625"/>
                  </a:moveTo>
                  <a:lnTo>
                    <a:pt x="190500" y="47625"/>
                  </a:lnTo>
                  <a:lnTo>
                    <a:pt x="190500" y="0"/>
                  </a:lnTo>
                  <a:lnTo>
                    <a:pt x="333375" y="95250"/>
                  </a:lnTo>
                  <a:lnTo>
                    <a:pt x="190500" y="190500"/>
                  </a:lnTo>
                  <a:lnTo>
                    <a:pt x="190500" y="142875"/>
                  </a:lnTo>
                  <a:lnTo>
                    <a:pt x="0" y="142875"/>
                  </a:lnTo>
                  <a:close/>
                </a:path>
              </a:pathLst>
            </a:custGeom>
            <a:solidFill>
              <a:srgbClr val="9AA0A6"/>
            </a:solidFill>
            <a:ln>
              <a:noFill/>
            </a:ln>
          </p:spPr>
        </p:sp>
        <p:sp>
          <p:nvSpPr>
            <p:cNvPr id="23" name="Rectangle 23"/>
            <p:cNvSpPr/>
            <p:nvPr/>
          </p:nvSpPr>
          <p:spPr>
            <a:xfrm>
              <a:off x="3143250" y="1809750"/>
              <a:ext cx="2095500" cy="762000"/>
            </a:xfrm>
            <a:prstGeom prst="roundRect">
              <a:avLst>
                <a:gd name="adj" fmla="val 12500"/>
              </a:avLst>
            </a:prstGeom>
            <a:solidFill>
              <a:srgbClr val="FFFFFF"/>
            </a:solidFill>
            <a:ln w="14288">
              <a:solidFill>
                <a:srgbClr val="C62828"/>
              </a:solidFill>
            </a:ln>
            <a:effectLst>
              <a:outerShdw blurRad="95250" dist="28575" dir="5400000" algn="ctr" rotWithShape="0">
                <a:srgbClr val="0F172A">
                  <a:alpha val="6000"/>
                </a:srgbClr>
              </a:outerShdw>
            </a:effectLst>
          </p:spPr>
        </p:sp>
        <p:sp>
          <p:nvSpPr>
            <p:cNvPr id="24" name="Rectangle 24"/>
            <p:cNvSpPr/>
            <p:nvPr/>
          </p:nvSpPr>
          <p:spPr>
            <a:xfrm>
              <a:off x="3143250" y="1809750"/>
              <a:ext cx="2095500" cy="285750"/>
            </a:xfrm>
            <a:prstGeom prst="roundRect">
              <a:avLst>
                <a:gd name="adj" fmla="val 33333"/>
              </a:avLst>
            </a:prstGeom>
            <a:solidFill>
              <a:srgbClr val="C62828"/>
            </a:solidFill>
            <a:ln>
              <a:noFill/>
            </a:ln>
          </p:spPr>
        </p:sp>
        <p:sp>
          <p:nvSpPr>
            <p:cNvPr id="25" name="Rectangle 25"/>
            <p:cNvSpPr/>
            <p:nvPr/>
          </p:nvSpPr>
          <p:spPr>
            <a:xfrm>
              <a:off x="3143250" y="2000250"/>
              <a:ext cx="2095500" cy="95250"/>
            </a:xfrm>
            <a:prstGeom prst="rect">
              <a:avLst/>
            </a:prstGeom>
            <a:solidFill>
              <a:srgbClr val="C62828"/>
            </a:solidFill>
            <a:ln>
              <a:noFill/>
            </a:ln>
          </p:spPr>
        </p:sp>
        <p:sp>
          <p:nvSpPr>
            <p:cNvPr id="26" name="TextBox 26"/>
            <p:cNvSpPr txBox="1"/>
            <p:nvPr/>
          </p:nvSpPr>
          <p:spPr>
            <a:xfrm>
              <a:off x="3320415" y="1886902"/>
              <a:ext cx="88672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Cambria"/>
                  <a:ea typeface="SimSun"/>
                  <a:cs typeface="Cambria"/>
                </a:rPr>
                <a:t>② MiDaS 深度</a:t>
              </a:r>
            </a:p>
          </p:txBody>
        </p:sp>
        <p:sp>
          <p:nvSpPr>
            <p:cNvPr id="27" name="TextBox 27"/>
            <p:cNvSpPr txBox="1"/>
            <p:nvPr/>
          </p:nvSpPr>
          <p:spPr>
            <a:xfrm>
              <a:off x="3322320" y="2207895"/>
              <a:ext cx="742950"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估计相对深度</a:t>
              </a:r>
            </a:p>
          </p:txBody>
        </p:sp>
        <p:sp>
          <p:nvSpPr>
            <p:cNvPr id="28" name="TextBox 28"/>
            <p:cNvSpPr txBox="1"/>
            <p:nvPr/>
          </p:nvSpPr>
          <p:spPr>
            <a:xfrm>
              <a:off x="3323272" y="2387441"/>
              <a:ext cx="1011079"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仅相对尺度无绝对值</a:t>
              </a:r>
            </a:p>
          </p:txBody>
        </p:sp>
        <p:sp>
          <p:nvSpPr>
            <p:cNvPr id="29" name="Freeform 29"/>
            <p:cNvSpPr/>
            <p:nvPr/>
          </p:nvSpPr>
          <p:spPr>
            <a:xfrm>
              <a:off x="5334000" y="2143125"/>
              <a:ext cx="333375" cy="190500"/>
            </a:xfrm>
            <a:custGeom>
              <a:avLst/>
              <a:gdLst/>
              <a:ahLst/>
              <a:cxnLst/>
              <a:rect l="l" t="t" r="r" b="b"/>
              <a:pathLst>
                <a:path w="333375" h="190500">
                  <a:moveTo>
                    <a:pt x="0" y="47625"/>
                  </a:moveTo>
                  <a:lnTo>
                    <a:pt x="190500" y="47625"/>
                  </a:lnTo>
                  <a:lnTo>
                    <a:pt x="190500" y="0"/>
                  </a:lnTo>
                  <a:lnTo>
                    <a:pt x="333375" y="95250"/>
                  </a:lnTo>
                  <a:lnTo>
                    <a:pt x="190500" y="190500"/>
                  </a:lnTo>
                  <a:lnTo>
                    <a:pt x="190500" y="142875"/>
                  </a:lnTo>
                  <a:lnTo>
                    <a:pt x="0" y="142875"/>
                  </a:lnTo>
                  <a:close/>
                </a:path>
              </a:pathLst>
            </a:custGeom>
            <a:solidFill>
              <a:srgbClr val="9AA0A6"/>
            </a:solidFill>
            <a:ln>
              <a:noFill/>
            </a:ln>
          </p:spPr>
        </p:sp>
        <p:sp>
          <p:nvSpPr>
            <p:cNvPr id="30" name="Rectangle 30"/>
            <p:cNvSpPr/>
            <p:nvPr/>
          </p:nvSpPr>
          <p:spPr>
            <a:xfrm>
              <a:off x="5715000" y="1809750"/>
              <a:ext cx="2095500" cy="762000"/>
            </a:xfrm>
            <a:prstGeom prst="roundRect">
              <a:avLst>
                <a:gd name="adj" fmla="val 12500"/>
              </a:avLst>
            </a:prstGeom>
            <a:solidFill>
              <a:srgbClr val="FFFFFF"/>
            </a:solidFill>
            <a:ln w="14288">
              <a:solidFill>
                <a:srgbClr val="C62828"/>
              </a:solidFill>
            </a:ln>
            <a:effectLst>
              <a:outerShdw blurRad="95250" dist="28575" dir="5400000" algn="ctr" rotWithShape="0">
                <a:srgbClr val="0F172A">
                  <a:alpha val="6000"/>
                </a:srgbClr>
              </a:outerShdw>
            </a:effectLst>
          </p:spPr>
        </p:sp>
        <p:sp>
          <p:nvSpPr>
            <p:cNvPr id="31" name="Rectangle 31"/>
            <p:cNvSpPr/>
            <p:nvPr/>
          </p:nvSpPr>
          <p:spPr>
            <a:xfrm>
              <a:off x="5715000" y="1809750"/>
              <a:ext cx="2095500" cy="285750"/>
            </a:xfrm>
            <a:prstGeom prst="roundRect">
              <a:avLst>
                <a:gd name="adj" fmla="val 33333"/>
              </a:avLst>
            </a:prstGeom>
            <a:solidFill>
              <a:srgbClr val="C62828"/>
            </a:solidFill>
            <a:ln>
              <a:noFill/>
            </a:ln>
          </p:spPr>
        </p:sp>
        <p:sp>
          <p:nvSpPr>
            <p:cNvPr id="32" name="Rectangle 32"/>
            <p:cNvSpPr/>
            <p:nvPr/>
          </p:nvSpPr>
          <p:spPr>
            <a:xfrm>
              <a:off x="5715000" y="2000250"/>
              <a:ext cx="2095500" cy="95250"/>
            </a:xfrm>
            <a:prstGeom prst="rect">
              <a:avLst/>
            </a:prstGeom>
            <a:solidFill>
              <a:srgbClr val="C62828"/>
            </a:solidFill>
            <a:ln>
              <a:noFill/>
            </a:ln>
          </p:spPr>
        </p:sp>
        <p:sp>
          <p:nvSpPr>
            <p:cNvPr id="33" name="TextBox 33"/>
            <p:cNvSpPr txBox="1"/>
            <p:nvPr/>
          </p:nvSpPr>
          <p:spPr>
            <a:xfrm>
              <a:off x="5892165" y="1886902"/>
              <a:ext cx="73970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Cambria"/>
                  <a:ea typeface="SimSun"/>
                  <a:cs typeface="Cambria"/>
                </a:rPr>
                <a:t>③ 几何近似</a:t>
              </a:r>
            </a:p>
          </p:txBody>
        </p:sp>
        <p:sp>
          <p:nvSpPr>
            <p:cNvPr id="34" name="TextBox 34"/>
            <p:cNvSpPr txBox="1"/>
            <p:nvPr/>
          </p:nvSpPr>
          <p:spPr>
            <a:xfrm>
              <a:off x="5894070" y="2207895"/>
              <a:ext cx="1018984"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体积 ≈ 面积 × 深度</a:t>
              </a:r>
            </a:p>
          </p:txBody>
        </p:sp>
        <p:sp>
          <p:nvSpPr>
            <p:cNvPr id="35" name="TextBox 35"/>
            <p:cNvSpPr txBox="1"/>
            <p:nvPr/>
          </p:nvSpPr>
          <p:spPr>
            <a:xfrm>
              <a:off x="5895022" y="2387441"/>
              <a:ext cx="1011079"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不规则体近似规则体</a:t>
              </a:r>
            </a:p>
          </p:txBody>
        </p:sp>
        <p:sp>
          <p:nvSpPr>
            <p:cNvPr id="36" name="Freeform 36"/>
            <p:cNvSpPr/>
            <p:nvPr/>
          </p:nvSpPr>
          <p:spPr>
            <a:xfrm>
              <a:off x="7905750" y="2143125"/>
              <a:ext cx="333375" cy="190500"/>
            </a:xfrm>
            <a:custGeom>
              <a:avLst/>
              <a:gdLst/>
              <a:ahLst/>
              <a:cxnLst/>
              <a:rect l="l" t="t" r="r" b="b"/>
              <a:pathLst>
                <a:path w="333375" h="190500">
                  <a:moveTo>
                    <a:pt x="0" y="47625"/>
                  </a:moveTo>
                  <a:lnTo>
                    <a:pt x="190500" y="47625"/>
                  </a:lnTo>
                  <a:lnTo>
                    <a:pt x="190500" y="0"/>
                  </a:lnTo>
                  <a:lnTo>
                    <a:pt x="333375" y="95250"/>
                  </a:lnTo>
                  <a:lnTo>
                    <a:pt x="190500" y="190500"/>
                  </a:lnTo>
                  <a:lnTo>
                    <a:pt x="190500" y="142875"/>
                  </a:lnTo>
                  <a:lnTo>
                    <a:pt x="0" y="142875"/>
                  </a:lnTo>
                  <a:close/>
                </a:path>
              </a:pathLst>
            </a:custGeom>
            <a:solidFill>
              <a:srgbClr val="9AA0A6"/>
            </a:solidFill>
            <a:ln>
              <a:noFill/>
            </a:ln>
          </p:spPr>
        </p:sp>
        <p:sp>
          <p:nvSpPr>
            <p:cNvPr id="37" name="Rectangle 37"/>
            <p:cNvSpPr/>
            <p:nvPr/>
          </p:nvSpPr>
          <p:spPr>
            <a:xfrm>
              <a:off x="8286750" y="1809750"/>
              <a:ext cx="2095500" cy="762000"/>
            </a:xfrm>
            <a:prstGeom prst="roundRect">
              <a:avLst>
                <a:gd name="adj" fmla="val 12500"/>
              </a:avLst>
            </a:prstGeom>
            <a:solidFill>
              <a:srgbClr val="FFFFFF"/>
            </a:solidFill>
            <a:ln w="14288">
              <a:solidFill>
                <a:srgbClr val="C62828"/>
              </a:solidFill>
            </a:ln>
            <a:effectLst>
              <a:outerShdw blurRad="95250" dist="28575" dir="5400000" algn="ctr" rotWithShape="0">
                <a:srgbClr val="0F172A">
                  <a:alpha val="6000"/>
                </a:srgbClr>
              </a:outerShdw>
            </a:effectLst>
          </p:spPr>
        </p:sp>
        <p:sp>
          <p:nvSpPr>
            <p:cNvPr id="38" name="Rectangle 38"/>
            <p:cNvSpPr/>
            <p:nvPr/>
          </p:nvSpPr>
          <p:spPr>
            <a:xfrm>
              <a:off x="8286750" y="1809750"/>
              <a:ext cx="2095500" cy="285750"/>
            </a:xfrm>
            <a:prstGeom prst="roundRect">
              <a:avLst>
                <a:gd name="adj" fmla="val 33333"/>
              </a:avLst>
            </a:prstGeom>
            <a:solidFill>
              <a:srgbClr val="C62828"/>
            </a:solidFill>
            <a:ln>
              <a:noFill/>
            </a:ln>
          </p:spPr>
        </p:sp>
        <p:sp>
          <p:nvSpPr>
            <p:cNvPr id="39" name="Rectangle 39"/>
            <p:cNvSpPr/>
            <p:nvPr/>
          </p:nvSpPr>
          <p:spPr>
            <a:xfrm>
              <a:off x="8286750" y="2000250"/>
              <a:ext cx="2095500" cy="95250"/>
            </a:xfrm>
            <a:prstGeom prst="rect">
              <a:avLst/>
            </a:prstGeom>
            <a:solidFill>
              <a:srgbClr val="C62828"/>
            </a:solidFill>
            <a:ln>
              <a:noFill/>
            </a:ln>
          </p:spPr>
        </p:sp>
        <p:sp>
          <p:nvSpPr>
            <p:cNvPr id="40" name="TextBox 40"/>
            <p:cNvSpPr txBox="1"/>
            <p:nvPr/>
          </p:nvSpPr>
          <p:spPr>
            <a:xfrm>
              <a:off x="8463915" y="1886902"/>
              <a:ext cx="73970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Cambria"/>
                  <a:ea typeface="SimSun"/>
                  <a:cs typeface="Cambria"/>
                </a:rPr>
                <a:t>④ 密度赋值</a:t>
              </a:r>
            </a:p>
          </p:txBody>
        </p:sp>
        <p:sp>
          <p:nvSpPr>
            <p:cNvPr id="41" name="TextBox 41"/>
            <p:cNvSpPr txBox="1"/>
            <p:nvPr/>
          </p:nvSpPr>
          <p:spPr>
            <a:xfrm>
              <a:off x="8465820" y="2207895"/>
              <a:ext cx="838962"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查表 → 重量(g)</a:t>
              </a:r>
            </a:p>
          </p:txBody>
        </p:sp>
        <p:sp>
          <p:nvSpPr>
            <p:cNvPr id="42" name="TextBox 42"/>
            <p:cNvSpPr txBox="1"/>
            <p:nvPr/>
          </p:nvSpPr>
          <p:spPr>
            <a:xfrm>
              <a:off x="8466772" y="2387441"/>
              <a:ext cx="571024"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固定密度值</a:t>
              </a:r>
            </a:p>
          </p:txBody>
        </p:sp>
        <p:sp>
          <p:nvSpPr>
            <p:cNvPr id="43" name="Freeform 43"/>
            <p:cNvSpPr/>
            <p:nvPr/>
          </p:nvSpPr>
          <p:spPr>
            <a:xfrm>
              <a:off x="10477500" y="2143125"/>
              <a:ext cx="333375" cy="190500"/>
            </a:xfrm>
            <a:custGeom>
              <a:avLst/>
              <a:gdLst/>
              <a:ahLst/>
              <a:cxnLst/>
              <a:rect l="l" t="t" r="r" b="b"/>
              <a:pathLst>
                <a:path w="333375" h="190500">
                  <a:moveTo>
                    <a:pt x="0" y="47625"/>
                  </a:moveTo>
                  <a:lnTo>
                    <a:pt x="190500" y="47625"/>
                  </a:lnTo>
                  <a:lnTo>
                    <a:pt x="190500" y="0"/>
                  </a:lnTo>
                  <a:lnTo>
                    <a:pt x="333375" y="95250"/>
                  </a:lnTo>
                  <a:lnTo>
                    <a:pt x="190500" y="190500"/>
                  </a:lnTo>
                  <a:lnTo>
                    <a:pt x="190500" y="142875"/>
                  </a:lnTo>
                  <a:lnTo>
                    <a:pt x="0" y="142875"/>
                  </a:lnTo>
                  <a:close/>
                </a:path>
              </a:pathLst>
            </a:custGeom>
            <a:solidFill>
              <a:srgbClr val="9AA0A6"/>
            </a:solidFill>
            <a:ln>
              <a:noFill/>
            </a:ln>
          </p:spPr>
        </p:sp>
        <p:sp>
          <p:nvSpPr>
            <p:cNvPr id="44" name="Rectangle 44"/>
            <p:cNvSpPr/>
            <p:nvPr/>
          </p:nvSpPr>
          <p:spPr>
            <a:xfrm>
              <a:off x="10858500" y="1905000"/>
              <a:ext cx="762000" cy="571500"/>
            </a:xfrm>
            <a:prstGeom prst="roundRect">
              <a:avLst>
                <a:gd name="adj" fmla="val 16667"/>
              </a:avLst>
            </a:prstGeom>
            <a:solidFill>
              <a:srgbClr val="FFEBEE"/>
            </a:solidFill>
            <a:ln w="14288">
              <a:solidFill>
                <a:srgbClr val="C62828"/>
              </a:solidFill>
            </a:ln>
          </p:spPr>
        </p:sp>
        <p:sp>
          <p:nvSpPr>
            <p:cNvPr id="45" name="TextBox 45"/>
            <p:cNvSpPr txBox="1"/>
            <p:nvPr/>
          </p:nvSpPr>
          <p:spPr>
            <a:xfrm>
              <a:off x="11113508" y="2063591"/>
              <a:ext cx="251984" cy="167640"/>
            </a:xfrm>
            <a:prstGeom prst="rect">
              <a:avLst/>
            </a:prstGeom>
            <a:noFill/>
            <a:ln>
              <a:noFill/>
            </a:ln>
          </p:spPr>
          <p:txBody>
            <a:bodyPr wrap="none" lIns="0" tIns="0" rIns="0" bIns="0" anchor="t" anchorCtr="0">
              <a:spAutoFit/>
            </a:bodyPr>
            <a:lstStyle/>
            <a:p>
              <a:pPr algn="ctr"/>
              <a:r>
                <a:rPr lang="zh-CN" sz="825" b="1" dirty="0">
                  <a:solidFill>
                    <a:srgbClr val="C62828"/>
                  </a:solidFill>
                  <a:latin typeface="Arial"/>
                  <a:ea typeface="Microsoft YaHei"/>
                  <a:cs typeface="Arial"/>
                </a:rPr>
                <a:t>最终</a:t>
              </a:r>
            </a:p>
          </p:txBody>
        </p:sp>
        <p:sp>
          <p:nvSpPr>
            <p:cNvPr id="46" name="TextBox 46"/>
            <p:cNvSpPr txBox="1"/>
            <p:nvPr/>
          </p:nvSpPr>
          <p:spPr>
            <a:xfrm>
              <a:off x="11079147" y="2229802"/>
              <a:ext cx="320707" cy="213360"/>
            </a:xfrm>
            <a:prstGeom prst="rect">
              <a:avLst/>
            </a:prstGeom>
            <a:noFill/>
            <a:ln>
              <a:noFill/>
            </a:ln>
          </p:spPr>
          <p:txBody>
            <a:bodyPr wrap="none" lIns="0" tIns="0" rIns="0" bIns="0" anchor="t" anchorCtr="0">
              <a:spAutoFit/>
            </a:bodyPr>
            <a:lstStyle/>
            <a:p>
              <a:pPr algn="ctr"/>
              <a:r>
                <a:rPr lang="zh-CN" sz="1050" b="1" dirty="0">
                  <a:solidFill>
                    <a:srgbClr val="C62828"/>
                  </a:solidFill>
                  <a:latin typeface="Cambria"/>
                  <a:ea typeface="SimSun"/>
                  <a:cs typeface="Cambria"/>
                </a:rPr>
                <a:t>预测</a:t>
              </a:r>
            </a:p>
          </p:txBody>
        </p:sp>
      </p:grpSp>
      <p:sp>
        <p:nvSpPr>
          <p:cNvPr id="48" name="TextBox 48"/>
          <p:cNvSpPr txBox="1"/>
          <p:nvPr/>
        </p:nvSpPr>
        <p:spPr>
          <a:xfrm>
            <a:off x="556260" y="2823210"/>
            <a:ext cx="3071660"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各环节误差量级表(误差以乘积关系累积)</a:t>
            </a:r>
          </a:p>
        </p:txBody>
      </p:sp>
      <p:grpSp>
        <p:nvGrpSpPr>
          <p:cNvPr id="78" name="Group 78"/>
          <p:cNvGrpSpPr/>
          <p:nvPr/>
        </p:nvGrpSpPr>
        <p:grpSpPr>
          <a:xfrm>
            <a:off x="571500" y="3095625"/>
            <a:ext cx="11049000" cy="3524250"/>
            <a:chOff x="571500" y="3095625"/>
            <a:chExt cx="11049000" cy="3524250"/>
          </a:xfrm>
        </p:grpSpPr>
        <p:sp>
          <p:nvSpPr>
            <p:cNvPr id="49" name="Rectangle 49"/>
            <p:cNvSpPr/>
            <p:nvPr/>
          </p:nvSpPr>
          <p:spPr>
            <a:xfrm>
              <a:off x="571500" y="3095625"/>
              <a:ext cx="11049000" cy="476250"/>
            </a:xfrm>
            <a:prstGeom prst="roundRect">
              <a:avLst>
                <a:gd name="adj" fmla="val 16000"/>
              </a:avLst>
            </a:prstGeom>
            <a:solidFill>
              <a:srgbClr val="C62828"/>
            </a:solidFill>
            <a:ln>
              <a:noFill/>
            </a:ln>
          </p:spPr>
        </p:sp>
        <p:sp>
          <p:nvSpPr>
            <p:cNvPr id="50" name="TextBox 50"/>
            <p:cNvSpPr txBox="1"/>
            <p:nvPr/>
          </p:nvSpPr>
          <p:spPr>
            <a:xfrm>
              <a:off x="1744647" y="3268028"/>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环节</a:t>
              </a:r>
            </a:p>
          </p:txBody>
        </p:sp>
        <p:sp>
          <p:nvSpPr>
            <p:cNvPr id="51" name="TextBox 51"/>
            <p:cNvSpPr txBox="1"/>
            <p:nvPr/>
          </p:nvSpPr>
          <p:spPr>
            <a:xfrm>
              <a:off x="4792647" y="3268028"/>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问题</a:t>
              </a:r>
            </a:p>
          </p:txBody>
        </p:sp>
        <p:sp>
          <p:nvSpPr>
            <p:cNvPr id="52" name="TextBox 52"/>
            <p:cNvSpPr txBox="1"/>
            <p:nvPr/>
          </p:nvSpPr>
          <p:spPr>
            <a:xfrm>
              <a:off x="8074628" y="326802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误差量级</a:t>
              </a:r>
            </a:p>
          </p:txBody>
        </p:sp>
        <p:sp>
          <p:nvSpPr>
            <p:cNvPr id="53" name="TextBox 53"/>
            <p:cNvSpPr txBox="1"/>
            <p:nvPr/>
          </p:nvSpPr>
          <p:spPr>
            <a:xfrm>
              <a:off x="10529387" y="3268028"/>
              <a:ext cx="46772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严重度</a:t>
              </a:r>
            </a:p>
          </p:txBody>
        </p:sp>
        <p:sp>
          <p:nvSpPr>
            <p:cNvPr id="54" name="Rectangle 54"/>
            <p:cNvSpPr/>
            <p:nvPr/>
          </p:nvSpPr>
          <p:spPr>
            <a:xfrm>
              <a:off x="571500" y="3629025"/>
              <a:ext cx="11049000" cy="571500"/>
            </a:xfrm>
            <a:prstGeom prst="roundRect">
              <a:avLst>
                <a:gd name="adj" fmla="val 10000"/>
              </a:avLst>
            </a:prstGeom>
            <a:solidFill>
              <a:srgbClr val="FFEBEE"/>
            </a:solidFill>
            <a:ln>
              <a:noFill/>
            </a:ln>
          </p:spPr>
        </p:sp>
        <p:sp>
          <p:nvSpPr>
            <p:cNvPr id="55" name="TextBox 55"/>
            <p:cNvSpPr txBox="1"/>
            <p:nvPr/>
          </p:nvSpPr>
          <p:spPr>
            <a:xfrm>
              <a:off x="1586602" y="3858578"/>
              <a:ext cx="636796"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Cambria"/>
                  <a:ea typeface="SimSun"/>
                  <a:cs typeface="Cambria"/>
                </a:rPr>
                <a:t>SAM 分割</a:t>
              </a:r>
            </a:p>
          </p:txBody>
        </p:sp>
        <p:sp>
          <p:nvSpPr>
            <p:cNvPr id="56" name="TextBox 56"/>
            <p:cNvSpPr txBox="1"/>
            <p:nvPr/>
          </p:nvSpPr>
          <p:spPr>
            <a:xfrm>
              <a:off x="4355544" y="3866674"/>
              <a:ext cx="1194911"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Arial"/>
                  <a:ea typeface="Microsoft YaHei"/>
                  <a:cs typeface="Arial"/>
                </a:rPr>
                <a:t>透明容器、边缘模糊</a:t>
              </a:r>
            </a:p>
          </p:txBody>
        </p:sp>
        <p:sp>
          <p:nvSpPr>
            <p:cNvPr id="57" name="TextBox 57"/>
            <p:cNvSpPr txBox="1"/>
            <p:nvPr/>
          </p:nvSpPr>
          <p:spPr>
            <a:xfrm>
              <a:off x="8043320" y="3842385"/>
              <a:ext cx="677361"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±20-30%</a:t>
              </a:r>
            </a:p>
          </p:txBody>
        </p:sp>
        <p:sp>
          <p:nvSpPr>
            <p:cNvPr id="58" name="TextBox 58"/>
            <p:cNvSpPr txBox="1"/>
            <p:nvPr/>
          </p:nvSpPr>
          <p:spPr>
            <a:xfrm>
              <a:off x="10634401" y="3858578"/>
              <a:ext cx="257699" cy="213360"/>
            </a:xfrm>
            <a:prstGeom prst="rect">
              <a:avLst/>
            </a:prstGeom>
            <a:noFill/>
            <a:ln>
              <a:noFill/>
            </a:ln>
          </p:spPr>
          <p:txBody>
            <a:bodyPr wrap="none" lIns="0" tIns="0" rIns="0" bIns="0" anchor="t" anchorCtr="0">
              <a:spAutoFit/>
            </a:bodyPr>
            <a:lstStyle/>
            <a:p>
              <a:pPr algn="ctr"/>
              <a:r>
                <a:rPr lang="zh-CN" sz="1050" dirty="0">
                  <a:solidFill>
                    <a:srgbClr val="C62828"/>
                  </a:solidFill>
                  <a:latin typeface="Cambria"/>
                  <a:ea typeface="SimSun"/>
                  <a:cs typeface="Cambria"/>
                </a:rPr>
                <a:t>⭐⭐⭐</a:t>
              </a:r>
            </a:p>
          </p:txBody>
        </p:sp>
        <p:sp>
          <p:nvSpPr>
            <p:cNvPr id="59" name="Rectangle 59"/>
            <p:cNvSpPr/>
            <p:nvPr/>
          </p:nvSpPr>
          <p:spPr>
            <a:xfrm>
              <a:off x="571500" y="4257675"/>
              <a:ext cx="11049000" cy="571500"/>
            </a:xfrm>
            <a:prstGeom prst="roundRect">
              <a:avLst>
                <a:gd name="adj" fmla="val 10000"/>
              </a:avLst>
            </a:prstGeom>
            <a:solidFill>
              <a:srgbClr val="FFFFFF"/>
            </a:solidFill>
            <a:ln>
              <a:noFill/>
            </a:ln>
          </p:spPr>
        </p:sp>
        <p:sp>
          <p:nvSpPr>
            <p:cNvPr id="60" name="TextBox 60"/>
            <p:cNvSpPr txBox="1"/>
            <p:nvPr/>
          </p:nvSpPr>
          <p:spPr>
            <a:xfrm>
              <a:off x="1524119" y="4487228"/>
              <a:ext cx="761762"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Cambria"/>
                  <a:ea typeface="SimSun"/>
                  <a:cs typeface="Cambria"/>
                </a:rPr>
                <a:t>MiDaS 深度</a:t>
              </a:r>
            </a:p>
          </p:txBody>
        </p:sp>
        <p:sp>
          <p:nvSpPr>
            <p:cNvPr id="61" name="TextBox 61"/>
            <p:cNvSpPr txBox="1"/>
            <p:nvPr/>
          </p:nvSpPr>
          <p:spPr>
            <a:xfrm>
              <a:off x="4160520" y="4495324"/>
              <a:ext cx="1584960"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Arial"/>
                  <a:ea typeface="Microsoft YaHei"/>
                  <a:cs typeface="Arial"/>
                </a:rPr>
                <a:t>相对深度无法换算绝对尺度</a:t>
              </a:r>
            </a:p>
          </p:txBody>
        </p:sp>
        <p:sp>
          <p:nvSpPr>
            <p:cNvPr id="62" name="TextBox 62"/>
            <p:cNvSpPr txBox="1"/>
            <p:nvPr/>
          </p:nvSpPr>
          <p:spPr>
            <a:xfrm>
              <a:off x="8156734" y="4471035"/>
              <a:ext cx="450533"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&gt; 50%</a:t>
              </a:r>
            </a:p>
          </p:txBody>
        </p:sp>
        <p:sp>
          <p:nvSpPr>
            <p:cNvPr id="63" name="TextBox 63"/>
            <p:cNvSpPr txBox="1"/>
            <p:nvPr/>
          </p:nvSpPr>
          <p:spPr>
            <a:xfrm>
              <a:off x="10557391" y="4487228"/>
              <a:ext cx="411718" cy="213360"/>
            </a:xfrm>
            <a:prstGeom prst="rect">
              <a:avLst/>
            </a:prstGeom>
            <a:noFill/>
            <a:ln>
              <a:noFill/>
            </a:ln>
          </p:spPr>
          <p:txBody>
            <a:bodyPr wrap="none" lIns="0" tIns="0" rIns="0" bIns="0" anchor="t" anchorCtr="0">
              <a:spAutoFit/>
            </a:bodyPr>
            <a:lstStyle/>
            <a:p>
              <a:pPr algn="ctr"/>
              <a:r>
                <a:rPr lang="zh-CN" sz="1050" dirty="0">
                  <a:solidFill>
                    <a:srgbClr val="C62828"/>
                  </a:solidFill>
                  <a:latin typeface="Cambria"/>
                  <a:ea typeface="SimSun"/>
                  <a:cs typeface="Cambria"/>
                </a:rPr>
                <a:t>⭐⭐⭐⭐⭐</a:t>
              </a:r>
            </a:p>
          </p:txBody>
        </p:sp>
        <p:sp>
          <p:nvSpPr>
            <p:cNvPr id="64" name="Rectangle 64"/>
            <p:cNvSpPr/>
            <p:nvPr/>
          </p:nvSpPr>
          <p:spPr>
            <a:xfrm>
              <a:off x="571500" y="4886325"/>
              <a:ext cx="11049000" cy="571500"/>
            </a:xfrm>
            <a:prstGeom prst="roundRect">
              <a:avLst>
                <a:gd name="adj" fmla="val 10000"/>
              </a:avLst>
            </a:prstGeom>
            <a:solidFill>
              <a:srgbClr val="FFEBEE"/>
            </a:solidFill>
            <a:ln>
              <a:noFill/>
            </a:ln>
          </p:spPr>
        </p:sp>
        <p:sp>
          <p:nvSpPr>
            <p:cNvPr id="65" name="TextBox 65"/>
            <p:cNvSpPr txBox="1"/>
            <p:nvPr/>
          </p:nvSpPr>
          <p:spPr>
            <a:xfrm>
              <a:off x="1597628" y="5115878"/>
              <a:ext cx="614744"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Cambria"/>
                  <a:ea typeface="SimSun"/>
                  <a:cs typeface="Cambria"/>
                </a:rPr>
                <a:t>几何假设</a:t>
              </a:r>
            </a:p>
          </p:txBody>
        </p:sp>
        <p:sp>
          <p:nvSpPr>
            <p:cNvPr id="66" name="TextBox 66"/>
            <p:cNvSpPr txBox="1"/>
            <p:nvPr/>
          </p:nvSpPr>
          <p:spPr>
            <a:xfrm>
              <a:off x="4290536" y="5123974"/>
              <a:ext cx="1324928"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Arial"/>
                  <a:ea typeface="Microsoft YaHei"/>
                  <a:cs typeface="Arial"/>
                </a:rPr>
                <a:t>不规则食物近似规则体</a:t>
              </a:r>
            </a:p>
          </p:txBody>
        </p:sp>
        <p:sp>
          <p:nvSpPr>
            <p:cNvPr id="67" name="TextBox 67"/>
            <p:cNvSpPr txBox="1"/>
            <p:nvPr/>
          </p:nvSpPr>
          <p:spPr>
            <a:xfrm>
              <a:off x="8114728" y="5099685"/>
              <a:ext cx="534543"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不可控</a:t>
              </a:r>
            </a:p>
          </p:txBody>
        </p:sp>
        <p:sp>
          <p:nvSpPr>
            <p:cNvPr id="68" name="TextBox 68"/>
            <p:cNvSpPr txBox="1"/>
            <p:nvPr/>
          </p:nvSpPr>
          <p:spPr>
            <a:xfrm>
              <a:off x="10595896" y="5115878"/>
              <a:ext cx="334708" cy="213360"/>
            </a:xfrm>
            <a:prstGeom prst="rect">
              <a:avLst/>
            </a:prstGeom>
            <a:noFill/>
            <a:ln>
              <a:noFill/>
            </a:ln>
          </p:spPr>
          <p:txBody>
            <a:bodyPr wrap="none" lIns="0" tIns="0" rIns="0" bIns="0" anchor="t" anchorCtr="0">
              <a:spAutoFit/>
            </a:bodyPr>
            <a:lstStyle/>
            <a:p>
              <a:pPr algn="ctr"/>
              <a:r>
                <a:rPr lang="zh-CN" sz="1050" dirty="0">
                  <a:solidFill>
                    <a:srgbClr val="C62828"/>
                  </a:solidFill>
                  <a:latin typeface="Cambria"/>
                  <a:ea typeface="SimSun"/>
                  <a:cs typeface="Cambria"/>
                </a:rPr>
                <a:t>⭐⭐⭐⭐</a:t>
              </a:r>
            </a:p>
          </p:txBody>
        </p:sp>
        <p:sp>
          <p:nvSpPr>
            <p:cNvPr id="69" name="Rectangle 69"/>
            <p:cNvSpPr/>
            <p:nvPr/>
          </p:nvSpPr>
          <p:spPr>
            <a:xfrm>
              <a:off x="571500" y="5514975"/>
              <a:ext cx="11049000" cy="571500"/>
            </a:xfrm>
            <a:prstGeom prst="roundRect">
              <a:avLst>
                <a:gd name="adj" fmla="val 10000"/>
              </a:avLst>
            </a:prstGeom>
            <a:solidFill>
              <a:srgbClr val="FFFFFF"/>
            </a:solidFill>
            <a:ln>
              <a:noFill/>
            </a:ln>
          </p:spPr>
        </p:sp>
        <p:sp>
          <p:nvSpPr>
            <p:cNvPr id="70" name="TextBox 70"/>
            <p:cNvSpPr txBox="1"/>
            <p:nvPr/>
          </p:nvSpPr>
          <p:spPr>
            <a:xfrm>
              <a:off x="1597628" y="5744528"/>
              <a:ext cx="614744"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Cambria"/>
                  <a:ea typeface="SimSun"/>
                  <a:cs typeface="Cambria"/>
                </a:rPr>
                <a:t>密度赋值</a:t>
              </a:r>
            </a:p>
          </p:txBody>
        </p:sp>
        <p:sp>
          <p:nvSpPr>
            <p:cNvPr id="71" name="TextBox 71"/>
            <p:cNvSpPr txBox="1"/>
            <p:nvPr/>
          </p:nvSpPr>
          <p:spPr>
            <a:xfrm>
              <a:off x="4615577" y="5752624"/>
              <a:ext cx="674846"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Arial"/>
                  <a:ea typeface="Microsoft YaHei"/>
                  <a:cs typeface="Arial"/>
                </a:rPr>
                <a:t>固定密度值</a:t>
              </a:r>
            </a:p>
          </p:txBody>
        </p:sp>
        <p:sp>
          <p:nvSpPr>
            <p:cNvPr id="72" name="TextBox 72"/>
            <p:cNvSpPr txBox="1"/>
            <p:nvPr/>
          </p:nvSpPr>
          <p:spPr>
            <a:xfrm>
              <a:off x="8043320" y="5728335"/>
              <a:ext cx="677361"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±20-50%</a:t>
              </a:r>
            </a:p>
          </p:txBody>
        </p:sp>
        <p:sp>
          <p:nvSpPr>
            <p:cNvPr id="73" name="TextBox 73"/>
            <p:cNvSpPr txBox="1"/>
            <p:nvPr/>
          </p:nvSpPr>
          <p:spPr>
            <a:xfrm>
              <a:off x="10634401" y="5744528"/>
              <a:ext cx="257699" cy="213360"/>
            </a:xfrm>
            <a:prstGeom prst="rect">
              <a:avLst/>
            </a:prstGeom>
            <a:noFill/>
            <a:ln>
              <a:noFill/>
            </a:ln>
          </p:spPr>
          <p:txBody>
            <a:bodyPr wrap="none" lIns="0" tIns="0" rIns="0" bIns="0" anchor="t" anchorCtr="0">
              <a:spAutoFit/>
            </a:bodyPr>
            <a:lstStyle/>
            <a:p>
              <a:pPr algn="ctr"/>
              <a:r>
                <a:rPr lang="zh-CN" sz="1050" dirty="0">
                  <a:solidFill>
                    <a:srgbClr val="C62828"/>
                  </a:solidFill>
                  <a:latin typeface="Cambria"/>
                  <a:ea typeface="SimSun"/>
                  <a:cs typeface="Cambria"/>
                </a:rPr>
                <a:t>⭐⭐⭐</a:t>
              </a:r>
            </a:p>
          </p:txBody>
        </p:sp>
        <p:sp>
          <p:nvSpPr>
            <p:cNvPr id="74" name="Rectangle 74"/>
            <p:cNvSpPr/>
            <p:nvPr/>
          </p:nvSpPr>
          <p:spPr>
            <a:xfrm>
              <a:off x="571500" y="6143625"/>
              <a:ext cx="11049000" cy="476250"/>
            </a:xfrm>
            <a:prstGeom prst="roundRect">
              <a:avLst>
                <a:gd name="adj" fmla="val 12000"/>
              </a:avLst>
            </a:prstGeom>
            <a:solidFill>
              <a:srgbClr val="0D2A4F"/>
            </a:solidFill>
            <a:ln>
              <a:noFill/>
            </a:ln>
          </p:spPr>
        </p:sp>
        <p:sp>
          <p:nvSpPr>
            <p:cNvPr id="75" name="TextBox 75"/>
            <p:cNvSpPr txBox="1"/>
            <p:nvPr/>
          </p:nvSpPr>
          <p:spPr>
            <a:xfrm>
              <a:off x="4319465" y="6324124"/>
              <a:ext cx="126707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累积误差(乘积关系)</a:t>
              </a:r>
            </a:p>
          </p:txBody>
        </p:sp>
        <p:sp>
          <p:nvSpPr>
            <p:cNvPr id="76" name="TextBox 76"/>
            <p:cNvSpPr txBox="1"/>
            <p:nvPr/>
          </p:nvSpPr>
          <p:spPr>
            <a:xfrm>
              <a:off x="8042660" y="6286500"/>
              <a:ext cx="678680" cy="304800"/>
            </a:xfrm>
            <a:prstGeom prst="rect">
              <a:avLst/>
            </a:prstGeom>
            <a:noFill/>
            <a:ln>
              <a:noFill/>
            </a:ln>
          </p:spPr>
          <p:txBody>
            <a:bodyPr wrap="none" lIns="0" tIns="0" rIns="0" bIns="0" anchor="t" anchorCtr="0">
              <a:spAutoFit/>
            </a:bodyPr>
            <a:lstStyle/>
            <a:p>
              <a:pPr algn="ctr"/>
              <a:r>
                <a:rPr lang="zh-CN" sz="1500" b="1" dirty="0">
                  <a:solidFill>
                    <a:srgbClr val="FFB300"/>
                  </a:solidFill>
                  <a:latin typeface="Cambria"/>
                  <a:ea typeface="SimSun"/>
                  <a:cs typeface="Cambria"/>
                </a:rPr>
                <a:t>&gt; 200%</a:t>
              </a:r>
            </a:p>
          </p:txBody>
        </p:sp>
        <p:sp>
          <p:nvSpPr>
            <p:cNvPr id="77" name="TextBox 77"/>
            <p:cNvSpPr txBox="1"/>
            <p:nvPr/>
          </p:nvSpPr>
          <p:spPr>
            <a:xfrm>
              <a:off x="10409575" y="6324124"/>
              <a:ext cx="70735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方案不可行</a:t>
              </a:r>
            </a:p>
          </p:txBody>
        </p:sp>
      </p:grpSp>
      <p:sp>
        <p:nvSpPr>
          <p:cNvPr id="79" name="Rectangle 79"/>
          <p:cNvSpPr/>
          <p:nvPr/>
        </p:nvSpPr>
        <p:spPr>
          <a:xfrm>
            <a:off x="571500" y="6191250"/>
            <a:ext cx="11049000" cy="323850"/>
          </a:xfrm>
          <a:prstGeom prst="roundRect">
            <a:avLst>
              <a:gd name="adj" fmla="val 23529"/>
            </a:avLst>
          </a:prstGeom>
          <a:solidFill>
            <a:srgbClr val="C62828"/>
          </a:solidFill>
          <a:ln>
            <a:noFill/>
          </a:ln>
        </p:spPr>
      </p:sp>
      <p:grpSp>
        <p:nvGrpSpPr>
          <p:cNvPr id="83" name="Group 83"/>
          <p:cNvGrpSpPr/>
          <p:nvPr/>
        </p:nvGrpSpPr>
        <p:grpSpPr>
          <a:xfrm>
            <a:off x="777199" y="6279101"/>
            <a:ext cx="160095" cy="137543"/>
            <a:chOff x="777199" y="6279101"/>
            <a:chExt cx="160095" cy="137543"/>
          </a:xfrm>
        </p:grpSpPr>
        <p:sp>
          <p:nvSpPr>
            <p:cNvPr id="80" name="Freeform 80"/>
            <p:cNvSpPr/>
            <p:nvPr/>
          </p:nvSpPr>
          <p:spPr>
            <a:xfrm>
              <a:off x="857250" y="6329362"/>
              <a:ext cx="9525" cy="31750"/>
            </a:xfrm>
            <a:custGeom>
              <a:avLst/>
              <a:gdLst/>
              <a:ahLst/>
              <a:cxnLst/>
              <a:rect l="l" t="t" r="r" b="b"/>
              <a:pathLst>
                <a:path w="9525" h="31750">
                  <a:moveTo>
                    <a:pt x="0" y="0"/>
                  </a:moveTo>
                  <a:lnTo>
                    <a:pt x="0" y="31750"/>
                  </a:lnTo>
                </a:path>
              </a:pathLst>
            </a:custGeom>
            <a:noFill/>
            <a:ln w="19050">
              <a:solidFill>
                <a:srgbClr val="FFFFFF"/>
              </a:solidFill>
            </a:ln>
          </p:spPr>
        </p:sp>
        <p:sp>
          <p:nvSpPr>
            <p:cNvPr id="81" name="Freeform 81"/>
            <p:cNvSpPr/>
            <p:nvPr/>
          </p:nvSpPr>
          <p:spPr>
            <a:xfrm>
              <a:off x="777199" y="6279101"/>
              <a:ext cx="160095" cy="137543"/>
            </a:xfrm>
            <a:custGeom>
              <a:avLst/>
              <a:gdLst/>
              <a:ahLst/>
              <a:cxnLst/>
              <a:rect l="l" t="t" r="r" b="b"/>
              <a:pathLst>
                <a:path w="160095" h="137543">
                  <a:moveTo>
                    <a:pt x="67057" y="7328"/>
                  </a:moveTo>
                  <a:lnTo>
                    <a:pt x="2716" y="114754"/>
                  </a:lnTo>
                  <a:cubicBezTo>
                    <a:pt x="16" y="119428"/>
                    <a:pt x="0" y="125184"/>
                    <a:pt x="2672" y="129873"/>
                  </a:cubicBezTo>
                  <a:cubicBezTo>
                    <a:pt x="5344" y="134563"/>
                    <a:pt x="10304" y="137482"/>
                    <a:pt x="15701" y="137543"/>
                  </a:cubicBezTo>
                  <a:lnTo>
                    <a:pt x="144400" y="137543"/>
                  </a:lnTo>
                  <a:cubicBezTo>
                    <a:pt x="149795" y="137481"/>
                    <a:pt x="154752" y="134562"/>
                    <a:pt x="157423" y="129875"/>
                  </a:cubicBezTo>
                  <a:cubicBezTo>
                    <a:pt x="160095" y="125188"/>
                    <a:pt x="160081" y="119436"/>
                    <a:pt x="157386" y="114762"/>
                  </a:cubicBezTo>
                  <a:lnTo>
                    <a:pt x="93044" y="7320"/>
                  </a:lnTo>
                  <a:cubicBezTo>
                    <a:pt x="90291" y="2776"/>
                    <a:pt x="85364" y="0"/>
                    <a:pt x="80051" y="0"/>
                  </a:cubicBezTo>
                  <a:cubicBezTo>
                    <a:pt x="74737" y="0"/>
                    <a:pt x="69810" y="2776"/>
                    <a:pt x="67057" y="7320"/>
                  </a:cubicBezTo>
                </a:path>
              </a:pathLst>
            </a:custGeom>
            <a:noFill/>
            <a:ln w="19050">
              <a:solidFill>
                <a:srgbClr val="FFFFFF"/>
              </a:solidFill>
            </a:ln>
          </p:spPr>
        </p:sp>
        <p:sp>
          <p:nvSpPr>
            <p:cNvPr id="82" name="Freeform 82"/>
            <p:cNvSpPr/>
            <p:nvPr/>
          </p:nvSpPr>
          <p:spPr>
            <a:xfrm>
              <a:off x="857250" y="6384925"/>
              <a:ext cx="9525" cy="9525"/>
            </a:xfrm>
            <a:custGeom>
              <a:avLst/>
              <a:gdLst/>
              <a:ahLst/>
              <a:cxnLst/>
              <a:rect l="l" t="t" r="r" b="b"/>
              <a:pathLst>
                <a:path w="9525" h="9525">
                  <a:moveTo>
                    <a:pt x="0" y="0"/>
                  </a:moveTo>
                  <a:lnTo>
                    <a:pt x="79" y="0"/>
                  </a:lnTo>
                </a:path>
              </a:pathLst>
            </a:custGeom>
            <a:noFill/>
            <a:ln w="19050">
              <a:solidFill>
                <a:srgbClr val="FFFFFF"/>
              </a:solidFill>
            </a:ln>
          </p:spPr>
        </p:sp>
      </p:grpSp>
      <p:sp>
        <p:nvSpPr>
          <p:cNvPr id="84" name="TextBox 84"/>
          <p:cNvSpPr txBox="1"/>
          <p:nvPr/>
        </p:nvSpPr>
        <p:spPr>
          <a:xfrm>
            <a:off x="3940300" y="6295549"/>
            <a:ext cx="431140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结论: 通用大模型路线在分量估计任务上误差累积无法控制,需另辟蹊径</a:t>
            </a:r>
          </a:p>
        </p:txBody>
      </p:sp>
      <p:sp>
        <p:nvSpPr>
          <p:cNvPr id="85" name="TextBox 85"/>
          <p:cNvSpPr txBox="1"/>
          <p:nvPr/>
        </p:nvSpPr>
        <p:spPr>
          <a:xfrm>
            <a:off x="561022" y="6654641"/>
            <a:ext cx="2787526"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2 · Q2 Route 1</a:t>
            </a:r>
          </a:p>
        </p:txBody>
      </p:sp>
      <p:sp>
        <p:nvSpPr>
          <p:cNvPr id="86" name="TextBox 86"/>
          <p:cNvSpPr txBox="1"/>
          <p:nvPr/>
        </p:nvSpPr>
        <p:spPr>
          <a:xfrm>
            <a:off x="11280806" y="6654641"/>
            <a:ext cx="350171"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11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Bottom)">
                                      <p:cBhvr>
                                        <p:cTn id="7" dur="400"/>
                                        <p:tgtEl>
                                          <p:spTgt spid="13"/>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image">
                                      <p:cBhvr>
                                        <p:cTn id="11" dur="400"/>
                                        <p:tgtEl>
                                          <p:spTgt spid="47"/>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78"/>
                                        </p:tgtEl>
                                        <p:attrNameLst>
                                          <p:attrName>style.visibility</p:attrName>
                                        </p:attrNameLst>
                                      </p:cBhvr>
                                      <p:to>
                                        <p:strVal val="visible"/>
                                      </p:to>
                                    </p:set>
                                    <p:animEffect transition="in" filter="wipe(left)">
                                      <p:cBhvr>
                                        <p:cTn id="15" dur="4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7" grpId="0"/>
      <p:bldP spid="7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2" name="Group 12"/>
          <p:cNvGrpSpPr/>
          <p:nvPr/>
        </p:nvGrpSpPr>
        <p:grpSpPr>
          <a:xfrm>
            <a:off x="571500" y="457200"/>
            <a:ext cx="11151775" cy="652462"/>
            <a:chOff x="571500" y="457200"/>
            <a:chExt cx="11151775" cy="652462"/>
          </a:xfrm>
        </p:grpSpPr>
        <p:sp>
          <p:nvSpPr>
            <p:cNvPr id="3" name="Rectangle 3"/>
            <p:cNvSpPr/>
            <p:nvPr/>
          </p:nvSpPr>
          <p:spPr>
            <a:xfrm>
              <a:off x="571500" y="457200"/>
              <a:ext cx="57150" cy="381000"/>
            </a:xfrm>
            <a:prstGeom prst="roundRect">
              <a:avLst>
                <a:gd name="adj" fmla="val 50000"/>
              </a:avLst>
            </a:prstGeom>
            <a:solidFill>
              <a:srgbClr val="C62828"/>
            </a:solidFill>
            <a:ln>
              <a:noFill/>
            </a:ln>
          </p:spPr>
        </p:sp>
        <p:sp>
          <p:nvSpPr>
            <p:cNvPr id="4" name="TextBox 4"/>
            <p:cNvSpPr txBox="1"/>
            <p:nvPr/>
          </p:nvSpPr>
          <p:spPr>
            <a:xfrm>
              <a:off x="733425" y="500062"/>
              <a:ext cx="5365563"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路线二 · Qwen-VL 端到端回归 — 失败</a:t>
              </a:r>
            </a:p>
          </p:txBody>
        </p:sp>
        <p:sp>
          <p:nvSpPr>
            <p:cNvPr id="5" name="TextBox 5"/>
            <p:cNvSpPr txBox="1"/>
            <p:nvPr/>
          </p:nvSpPr>
          <p:spPr>
            <a:xfrm>
              <a:off x="748665" y="896302"/>
              <a:ext cx="3959412"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Q2 · ROUTE 2 FAILED · QWEN-VL END-TO-END REGRESSION</a:t>
              </a:r>
            </a:p>
          </p:txBody>
        </p:sp>
        <p:grpSp>
          <p:nvGrpSpPr>
            <p:cNvPr id="11" name="Group 11"/>
            <p:cNvGrpSpPr/>
            <p:nvPr/>
          </p:nvGrpSpPr>
          <p:grpSpPr>
            <a:xfrm>
              <a:off x="9715500" y="476250"/>
              <a:ext cx="2007775" cy="571500"/>
              <a:chOff x="9715500" y="476250"/>
              <a:chExt cx="2007775" cy="571500"/>
            </a:xfrm>
          </p:grpSpPr>
          <p:sp>
            <p:nvSpPr>
              <p:cNvPr id="6" name="Rectangle 6"/>
              <p:cNvSpPr/>
              <p:nvPr/>
            </p:nvSpPr>
            <p:spPr>
              <a:xfrm>
                <a:off x="9715500" y="476250"/>
                <a:ext cx="1905000" cy="571500"/>
              </a:xfrm>
              <a:prstGeom prst="roundRect">
                <a:avLst>
                  <a:gd name="adj" fmla="val 50000"/>
                </a:avLst>
              </a:prstGeom>
              <a:solidFill>
                <a:srgbClr val="C62828"/>
              </a:solidFill>
              <a:ln>
                <a:noFill/>
              </a:ln>
            </p:spPr>
          </p:sp>
          <p:grpSp>
            <p:nvGrpSpPr>
              <p:cNvPr id="9" name="Group 9"/>
              <p:cNvGrpSpPr/>
              <p:nvPr/>
            </p:nvGrpSpPr>
            <p:grpSpPr>
              <a:xfrm>
                <a:off x="9925050" y="685800"/>
                <a:ext cx="152400" cy="152400"/>
                <a:chOff x="9925050" y="685800"/>
                <a:chExt cx="152400" cy="152400"/>
              </a:xfrm>
            </p:grpSpPr>
            <p:sp>
              <p:nvSpPr>
                <p:cNvPr id="7" name="Freeform 7"/>
                <p:cNvSpPr/>
                <p:nvPr/>
              </p:nvSpPr>
              <p:spPr>
                <a:xfrm>
                  <a:off x="9925050" y="685800"/>
                  <a:ext cx="152400" cy="152400"/>
                </a:xfrm>
                <a:custGeom>
                  <a:avLst/>
                  <a:gdLst/>
                  <a:ahLst/>
                  <a:cxnLst/>
                  <a:rect l="l" t="t" r="r" b="b"/>
                  <a:pathLst>
                    <a:path w="152400" h="152400">
                      <a:moveTo>
                        <a:pt x="152400" y="0"/>
                      </a:moveTo>
                      <a:lnTo>
                        <a:pt x="0" y="152400"/>
                      </a:lnTo>
                    </a:path>
                  </a:pathLst>
                </a:custGeom>
                <a:noFill/>
                <a:ln w="19050">
                  <a:solidFill>
                    <a:srgbClr val="FFFFFF"/>
                  </a:solidFill>
                </a:ln>
              </p:spPr>
            </p:sp>
            <p:sp>
              <p:nvSpPr>
                <p:cNvPr id="8" name="Freeform 8"/>
                <p:cNvSpPr/>
                <p:nvPr/>
              </p:nvSpPr>
              <p:spPr>
                <a:xfrm>
                  <a:off x="9925050" y="685800"/>
                  <a:ext cx="152400" cy="152400"/>
                </a:xfrm>
                <a:custGeom>
                  <a:avLst/>
                  <a:gdLst/>
                  <a:ahLst/>
                  <a:cxnLst/>
                  <a:rect l="l" t="t" r="r" b="b"/>
                  <a:pathLst>
                    <a:path w="152400" h="152400">
                      <a:moveTo>
                        <a:pt x="0" y="0"/>
                      </a:moveTo>
                      <a:lnTo>
                        <a:pt x="152400" y="152400"/>
                      </a:lnTo>
                    </a:path>
                  </a:pathLst>
                </a:custGeom>
                <a:noFill/>
                <a:ln w="19050">
                  <a:solidFill>
                    <a:srgbClr val="FFFFFF"/>
                  </a:solidFill>
                </a:ln>
              </p:spPr>
            </p:sp>
          </p:grpSp>
          <p:sp>
            <p:nvSpPr>
              <p:cNvPr id="10" name="TextBox 10"/>
              <p:cNvSpPr txBox="1"/>
              <p:nvPr/>
            </p:nvSpPr>
            <p:spPr>
              <a:xfrm>
                <a:off x="10088975" y="676275"/>
                <a:ext cx="1634300"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Cambria"/>
                    <a:ea typeface="SimSun"/>
                    <a:cs typeface="Cambria"/>
                  </a:rPr>
                  <a:t>FAIL · ±50g 波动</a:t>
                </a:r>
              </a:p>
            </p:txBody>
          </p:sp>
        </p:grpSp>
      </p:grpSp>
      <p:sp>
        <p:nvSpPr>
          <p:cNvPr id="13" name="Line 13"/>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4" name="TextBox 14"/>
          <p:cNvSpPr txBox="1"/>
          <p:nvPr/>
        </p:nvSpPr>
        <p:spPr>
          <a:xfrm>
            <a:off x="3957899" y="1505902"/>
            <a:ext cx="4276201"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方案: 利用 Qwen-VL 多模态大模型,通过 Prompt 直接输出重量数值</a:t>
            </a:r>
          </a:p>
        </p:txBody>
      </p:sp>
      <p:grpSp>
        <p:nvGrpSpPr>
          <p:cNvPr id="39" name="Group 39"/>
          <p:cNvGrpSpPr/>
          <p:nvPr/>
        </p:nvGrpSpPr>
        <p:grpSpPr>
          <a:xfrm>
            <a:off x="571500" y="1857375"/>
            <a:ext cx="5334000" cy="3619500"/>
            <a:chOff x="571500" y="1857375"/>
            <a:chExt cx="5334000" cy="3619500"/>
          </a:xfrm>
        </p:grpSpPr>
        <p:sp>
          <p:nvSpPr>
            <p:cNvPr id="15" name="Rectangle 15"/>
            <p:cNvSpPr/>
            <p:nvPr/>
          </p:nvSpPr>
          <p:spPr>
            <a:xfrm>
              <a:off x="571500" y="1857375"/>
              <a:ext cx="5334000" cy="3619500"/>
            </a:xfrm>
            <a:prstGeom prst="roundRect">
              <a:avLst>
                <a:gd name="adj" fmla="val 3158"/>
              </a:avLst>
            </a:prstGeom>
            <a:solidFill>
              <a:srgbClr val="FFFFFF"/>
            </a:solidFill>
            <a:ln w="14288">
              <a:solidFill>
                <a:srgbClr val="5C6BC0"/>
              </a:solidFill>
            </a:ln>
            <a:effectLst>
              <a:outerShdw blurRad="114300" dist="38100" dir="5400000" algn="ctr" rotWithShape="0">
                <a:srgbClr val="0F172A">
                  <a:alpha val="7500"/>
                </a:srgbClr>
              </a:outerShdw>
            </a:effectLst>
          </p:spPr>
        </p:sp>
        <p:sp>
          <p:nvSpPr>
            <p:cNvPr id="16" name="Freeform 16"/>
            <p:cNvSpPr/>
            <p:nvPr/>
          </p:nvSpPr>
          <p:spPr>
            <a:xfrm>
              <a:off x="571500" y="1857375"/>
              <a:ext cx="5334000" cy="762000"/>
            </a:xfrm>
            <a:custGeom>
              <a:avLst/>
              <a:gdLst/>
              <a:ahLst/>
              <a:cxnLst/>
              <a:rect l="l" t="t" r="r" b="b"/>
              <a:pathLst>
                <a:path w="5334000" h="762000">
                  <a:moveTo>
                    <a:pt x="0" y="114300"/>
                  </a:moveTo>
                  <a:cubicBezTo>
                    <a:pt x="0" y="51174"/>
                    <a:pt x="51174" y="0"/>
                    <a:pt x="114300" y="0"/>
                  </a:cubicBezTo>
                  <a:lnTo>
                    <a:pt x="5219700" y="0"/>
                  </a:lnTo>
                  <a:cubicBezTo>
                    <a:pt x="5282826" y="0"/>
                    <a:pt x="5334000" y="51174"/>
                    <a:pt x="5334000" y="114300"/>
                  </a:cubicBezTo>
                  <a:lnTo>
                    <a:pt x="5334000" y="762000"/>
                  </a:lnTo>
                  <a:lnTo>
                    <a:pt x="0" y="762000"/>
                  </a:lnTo>
                  <a:close/>
                </a:path>
              </a:pathLst>
            </a:custGeom>
            <a:gradFill>
              <a:gsLst>
                <a:gs pos="0">
                  <a:srgbClr val="5C6BC0"/>
                </a:gs>
                <a:gs pos="100000">
                  <a:srgbClr val="1565C0"/>
                </a:gs>
              </a:gsLst>
              <a:lin ang="2700000" scaled="1"/>
            </a:gradFill>
            <a:ln>
              <a:noFill/>
            </a:ln>
          </p:spPr>
        </p:sp>
        <p:sp>
          <p:nvSpPr>
            <p:cNvPr id="17" name="Rectangle 17"/>
            <p:cNvSpPr/>
            <p:nvPr/>
          </p:nvSpPr>
          <p:spPr>
            <a:xfrm>
              <a:off x="762000" y="2047875"/>
              <a:ext cx="419100" cy="419100"/>
            </a:xfrm>
            <a:prstGeom prst="roundRect">
              <a:avLst>
                <a:gd name="adj" fmla="val 22727"/>
              </a:avLst>
            </a:prstGeom>
            <a:solidFill>
              <a:srgbClr val="FFFFFF">
                <a:alpha val="20000"/>
              </a:srgbClr>
            </a:solidFill>
            <a:ln>
              <a:noFill/>
            </a:ln>
          </p:spPr>
        </p:sp>
        <p:grpSp>
          <p:nvGrpSpPr>
            <p:cNvPr id="21" name="Group 21"/>
            <p:cNvGrpSpPr/>
            <p:nvPr/>
          </p:nvGrpSpPr>
          <p:grpSpPr>
            <a:xfrm>
              <a:off x="814388" y="2100262"/>
              <a:ext cx="314325" cy="314325"/>
              <a:chOff x="814388" y="2100262"/>
              <a:chExt cx="314325" cy="314325"/>
            </a:xfrm>
          </p:grpSpPr>
          <p:sp>
            <p:nvSpPr>
              <p:cNvPr id="18" name="Freeform 18"/>
              <p:cNvSpPr/>
              <p:nvPr/>
            </p:nvSpPr>
            <p:spPr>
              <a:xfrm>
                <a:off x="814388" y="2100262"/>
                <a:ext cx="314325" cy="157162"/>
              </a:xfrm>
              <a:custGeom>
                <a:avLst/>
                <a:gdLst/>
                <a:ahLst/>
                <a:cxnLst/>
                <a:rect l="l" t="t" r="r" b="b"/>
                <a:pathLst>
                  <a:path w="314325" h="157162">
                    <a:moveTo>
                      <a:pt x="0" y="157162"/>
                    </a:moveTo>
                    <a:lnTo>
                      <a:pt x="17462" y="157162"/>
                    </a:lnTo>
                    <a:moveTo>
                      <a:pt x="157162" y="0"/>
                    </a:moveTo>
                    <a:lnTo>
                      <a:pt x="157162" y="17463"/>
                    </a:lnTo>
                    <a:moveTo>
                      <a:pt x="296862" y="157162"/>
                    </a:moveTo>
                    <a:lnTo>
                      <a:pt x="314325" y="157162"/>
                    </a:lnTo>
                    <a:moveTo>
                      <a:pt x="45402" y="45402"/>
                    </a:moveTo>
                    <a:lnTo>
                      <a:pt x="57626" y="57626"/>
                    </a:lnTo>
                    <a:moveTo>
                      <a:pt x="268922" y="45402"/>
                    </a:moveTo>
                    <a:lnTo>
                      <a:pt x="256699" y="57626"/>
                    </a:lnTo>
                  </a:path>
                </a:pathLst>
              </a:custGeom>
              <a:noFill/>
              <a:ln w="19050">
                <a:solidFill>
                  <a:srgbClr val="FFFFFF"/>
                </a:solidFill>
              </a:ln>
            </p:spPr>
          </p:sp>
          <p:sp>
            <p:nvSpPr>
              <p:cNvPr id="19" name="Freeform 19"/>
              <p:cNvSpPr/>
              <p:nvPr/>
            </p:nvSpPr>
            <p:spPr>
              <a:xfrm>
                <a:off x="876834" y="2170112"/>
                <a:ext cx="189433" cy="244475"/>
              </a:xfrm>
              <a:custGeom>
                <a:avLst/>
                <a:gdLst/>
                <a:ahLst/>
                <a:cxnLst/>
                <a:rect l="l" t="t" r="r" b="b"/>
                <a:pathLst>
                  <a:path w="189433" h="244475">
                    <a:moveTo>
                      <a:pt x="42329" y="157162"/>
                    </a:moveTo>
                    <a:cubicBezTo>
                      <a:pt x="12263" y="134613"/>
                      <a:pt x="0" y="95355"/>
                      <a:pt x="11884" y="59702"/>
                    </a:cubicBezTo>
                    <a:cubicBezTo>
                      <a:pt x="23769" y="24048"/>
                      <a:pt x="57134" y="0"/>
                      <a:pt x="94716" y="0"/>
                    </a:cubicBezTo>
                    <a:cubicBezTo>
                      <a:pt x="132298" y="0"/>
                      <a:pt x="165664" y="24048"/>
                      <a:pt x="177548" y="59702"/>
                    </a:cubicBezTo>
                    <a:cubicBezTo>
                      <a:pt x="189433" y="95355"/>
                      <a:pt x="177169" y="134613"/>
                      <a:pt x="147104" y="157162"/>
                    </a:cubicBezTo>
                    <a:cubicBezTo>
                      <a:pt x="133276" y="170850"/>
                      <a:pt x="126792" y="190303"/>
                      <a:pt x="129641" y="209550"/>
                    </a:cubicBezTo>
                    <a:cubicBezTo>
                      <a:pt x="129641" y="228839"/>
                      <a:pt x="114005" y="244475"/>
                      <a:pt x="94716" y="244475"/>
                    </a:cubicBezTo>
                    <a:cubicBezTo>
                      <a:pt x="75428" y="244475"/>
                      <a:pt x="59791" y="228839"/>
                      <a:pt x="59791" y="209550"/>
                    </a:cubicBezTo>
                    <a:cubicBezTo>
                      <a:pt x="62641" y="190303"/>
                      <a:pt x="56156" y="170850"/>
                      <a:pt x="42329" y="157162"/>
                    </a:cubicBezTo>
                  </a:path>
                </a:pathLst>
              </a:custGeom>
              <a:noFill/>
              <a:ln w="19050">
                <a:solidFill>
                  <a:srgbClr val="FFFFFF"/>
                </a:solidFill>
              </a:ln>
            </p:spPr>
          </p:sp>
          <p:sp>
            <p:nvSpPr>
              <p:cNvPr id="20" name="Freeform 20"/>
              <p:cNvSpPr/>
              <p:nvPr/>
            </p:nvSpPr>
            <p:spPr>
              <a:xfrm>
                <a:off x="931386" y="2344738"/>
                <a:ext cx="80328" cy="9525"/>
              </a:xfrm>
              <a:custGeom>
                <a:avLst/>
                <a:gdLst/>
                <a:ahLst/>
                <a:cxnLst/>
                <a:rect l="l" t="t" r="r" b="b"/>
                <a:pathLst>
                  <a:path w="80328" h="9525">
                    <a:moveTo>
                      <a:pt x="0" y="0"/>
                    </a:moveTo>
                    <a:lnTo>
                      <a:pt x="80328" y="0"/>
                    </a:lnTo>
                  </a:path>
                </a:pathLst>
              </a:custGeom>
              <a:noFill/>
              <a:ln w="19050">
                <a:solidFill>
                  <a:srgbClr val="FFFFFF"/>
                </a:solidFill>
              </a:ln>
            </p:spPr>
          </p:sp>
        </p:grpSp>
        <p:sp>
          <p:nvSpPr>
            <p:cNvPr id="22" name="TextBox 22"/>
            <p:cNvSpPr txBox="1"/>
            <p:nvPr/>
          </p:nvSpPr>
          <p:spPr>
            <a:xfrm>
              <a:off x="1312545" y="2079308"/>
              <a:ext cx="966026"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Cambria"/>
                  <a:ea typeface="SimSun"/>
                  <a:cs typeface="Cambria"/>
                </a:rPr>
                <a:t>设计假设</a:t>
              </a:r>
            </a:p>
          </p:txBody>
        </p:sp>
        <p:sp>
          <p:nvSpPr>
            <p:cNvPr id="23" name="TextBox 23"/>
            <p:cNvSpPr txBox="1"/>
            <p:nvPr/>
          </p:nvSpPr>
          <p:spPr>
            <a:xfrm>
              <a:off x="1321118" y="2361724"/>
              <a:ext cx="1417239" cy="198120"/>
            </a:xfrm>
            <a:prstGeom prst="rect">
              <a:avLst/>
            </a:prstGeom>
            <a:noFill/>
            <a:ln>
              <a:noFill/>
            </a:ln>
          </p:spPr>
          <p:txBody>
            <a:bodyPr wrap="none" lIns="0" tIns="0" rIns="0" bIns="0" anchor="t" anchorCtr="0">
              <a:spAutoFit/>
            </a:bodyPr>
            <a:lstStyle/>
            <a:p>
              <a:pPr algn="l"/>
              <a:r>
                <a:rPr lang="zh-CN" sz="975" b="1" dirty="0">
                  <a:solidFill>
                    <a:srgbClr val="FFFFFF">
                      <a:alphaMod val="85000"/>
                    </a:srgbClr>
                  </a:solidFill>
                  <a:latin typeface="Arial"/>
                  <a:ea typeface="Microsoft YaHei"/>
                  <a:cs typeface="Arial"/>
                </a:rPr>
                <a:t>EXPECTED ADVANTAGES</a:t>
              </a:r>
            </a:p>
          </p:txBody>
        </p:sp>
        <p:sp>
          <p:nvSpPr>
            <p:cNvPr id="24" name="TextBox 24"/>
            <p:cNvSpPr txBox="1"/>
            <p:nvPr/>
          </p:nvSpPr>
          <p:spPr>
            <a:xfrm>
              <a:off x="5374977" y="2152174"/>
              <a:ext cx="352406" cy="198120"/>
            </a:xfrm>
            <a:prstGeom prst="rect">
              <a:avLst/>
            </a:prstGeom>
            <a:noFill/>
            <a:ln>
              <a:noFill/>
            </a:ln>
          </p:spPr>
          <p:txBody>
            <a:bodyPr wrap="none" lIns="0" tIns="0" rIns="0" bIns="0" anchor="t" anchorCtr="0">
              <a:spAutoFit/>
            </a:bodyPr>
            <a:lstStyle/>
            <a:p>
              <a:pPr algn="r"/>
              <a:r>
                <a:rPr lang="zh-CN" sz="975" b="1" dirty="0">
                  <a:solidFill>
                    <a:srgbClr val="FFFFFF">
                      <a:alphaMod val="85000"/>
                    </a:srgbClr>
                  </a:solidFill>
                  <a:latin typeface="Cambria"/>
                  <a:ea typeface="SimSun"/>
                  <a:cs typeface="Cambria"/>
                </a:rPr>
                <a:t>PROS</a:t>
              </a:r>
            </a:p>
          </p:txBody>
        </p:sp>
        <p:sp>
          <p:nvSpPr>
            <p:cNvPr id="25" name="Ellipse 25"/>
            <p:cNvSpPr/>
            <p:nvPr/>
          </p:nvSpPr>
          <p:spPr>
            <a:xfrm>
              <a:off x="866775" y="2952750"/>
              <a:ext cx="95250" cy="95250"/>
            </a:xfrm>
            <a:prstGeom prst="ellipse">
              <a:avLst/>
            </a:prstGeom>
            <a:solidFill>
              <a:srgbClr val="5C6BC0"/>
            </a:solidFill>
            <a:ln>
              <a:noFill/>
            </a:ln>
          </p:spPr>
        </p:sp>
        <p:sp>
          <p:nvSpPr>
            <p:cNvPr id="26" name="TextBox 26"/>
            <p:cNvSpPr txBox="1"/>
            <p:nvPr/>
          </p:nvSpPr>
          <p:spPr>
            <a:xfrm>
              <a:off x="1090612" y="2859881"/>
              <a:ext cx="1131213"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多模态理解能力</a:t>
              </a:r>
            </a:p>
          </p:txBody>
        </p:sp>
        <p:sp>
          <p:nvSpPr>
            <p:cNvPr id="27" name="TextBox 27"/>
            <p:cNvSpPr txBox="1"/>
            <p:nvPr/>
          </p:nvSpPr>
          <p:spPr>
            <a:xfrm>
              <a:off x="1092518" y="3085624"/>
              <a:ext cx="2306550"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支持图文对齐,可直接理解食物图像内容</a:t>
              </a:r>
            </a:p>
          </p:txBody>
        </p:sp>
        <p:sp>
          <p:nvSpPr>
            <p:cNvPr id="28" name="TextBox 28"/>
            <p:cNvSpPr txBox="1"/>
            <p:nvPr/>
          </p:nvSpPr>
          <p:spPr>
            <a:xfrm>
              <a:off x="1092518" y="3257074"/>
              <a:ext cx="1064895"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并推理出物理属性</a:t>
              </a:r>
            </a:p>
          </p:txBody>
        </p:sp>
        <p:sp>
          <p:nvSpPr>
            <p:cNvPr id="29" name="Ellipse 29"/>
            <p:cNvSpPr/>
            <p:nvPr/>
          </p:nvSpPr>
          <p:spPr>
            <a:xfrm>
              <a:off x="866775" y="3714750"/>
              <a:ext cx="95250" cy="95250"/>
            </a:xfrm>
            <a:prstGeom prst="ellipse">
              <a:avLst/>
            </a:prstGeom>
            <a:solidFill>
              <a:srgbClr val="5C6BC0"/>
            </a:solidFill>
            <a:ln>
              <a:noFill/>
            </a:ln>
          </p:spPr>
        </p:sp>
        <p:sp>
          <p:nvSpPr>
            <p:cNvPr id="30" name="TextBox 30"/>
            <p:cNvSpPr txBox="1"/>
            <p:nvPr/>
          </p:nvSpPr>
          <p:spPr>
            <a:xfrm>
              <a:off x="1090612" y="3621881"/>
              <a:ext cx="1257229"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Prompt 直接输出</a:t>
              </a:r>
            </a:p>
          </p:txBody>
        </p:sp>
        <p:sp>
          <p:nvSpPr>
            <p:cNvPr id="31" name="TextBox 31"/>
            <p:cNvSpPr txBox="1"/>
            <p:nvPr/>
          </p:nvSpPr>
          <p:spPr>
            <a:xfrm>
              <a:off x="1092518" y="3847624"/>
              <a:ext cx="1727978"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无需复杂分割/深度/几何建模</a:t>
              </a:r>
            </a:p>
          </p:txBody>
        </p:sp>
        <p:sp>
          <p:nvSpPr>
            <p:cNvPr id="32" name="TextBox 32"/>
            <p:cNvSpPr txBox="1"/>
            <p:nvPr/>
          </p:nvSpPr>
          <p:spPr>
            <a:xfrm>
              <a:off x="1092518" y="4019074"/>
              <a:ext cx="1526453"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端到端输出克数,简洁优雅</a:t>
              </a:r>
            </a:p>
          </p:txBody>
        </p:sp>
        <p:sp>
          <p:nvSpPr>
            <p:cNvPr id="33" name="Ellipse 33"/>
            <p:cNvSpPr/>
            <p:nvPr/>
          </p:nvSpPr>
          <p:spPr>
            <a:xfrm>
              <a:off x="866775" y="4476750"/>
              <a:ext cx="95250" cy="95250"/>
            </a:xfrm>
            <a:prstGeom prst="ellipse">
              <a:avLst/>
            </a:prstGeom>
            <a:solidFill>
              <a:srgbClr val="5C6BC0"/>
            </a:solidFill>
            <a:ln>
              <a:noFill/>
            </a:ln>
          </p:spPr>
        </p:sp>
        <p:sp>
          <p:nvSpPr>
            <p:cNvPr id="34" name="TextBox 34"/>
            <p:cNvSpPr txBox="1"/>
            <p:nvPr/>
          </p:nvSpPr>
          <p:spPr>
            <a:xfrm>
              <a:off x="1090612" y="4383881"/>
              <a:ext cx="816173"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大模型泛化</a:t>
              </a:r>
            </a:p>
          </p:txBody>
        </p:sp>
        <p:sp>
          <p:nvSpPr>
            <p:cNvPr id="35" name="TextBox 35"/>
            <p:cNvSpPr txBox="1"/>
            <p:nvPr/>
          </p:nvSpPr>
          <p:spPr>
            <a:xfrm>
              <a:off x="1092518" y="4609624"/>
              <a:ext cx="1584960"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理论上可处理任意食物类型</a:t>
              </a:r>
            </a:p>
          </p:txBody>
        </p:sp>
        <p:sp>
          <p:nvSpPr>
            <p:cNvPr id="36" name="TextBox 36"/>
            <p:cNvSpPr txBox="1"/>
            <p:nvPr/>
          </p:nvSpPr>
          <p:spPr>
            <a:xfrm>
              <a:off x="1092518" y="4781074"/>
              <a:ext cx="1064895"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无需领域专门训练</a:t>
              </a:r>
            </a:p>
          </p:txBody>
        </p:sp>
        <p:sp>
          <p:nvSpPr>
            <p:cNvPr id="37" name="Rectangle 37"/>
            <p:cNvSpPr/>
            <p:nvPr/>
          </p:nvSpPr>
          <p:spPr>
            <a:xfrm>
              <a:off x="762000" y="5019675"/>
              <a:ext cx="4953000" cy="304800"/>
            </a:xfrm>
            <a:prstGeom prst="roundRect">
              <a:avLst>
                <a:gd name="adj" fmla="val 18750"/>
              </a:avLst>
            </a:prstGeom>
            <a:solidFill>
              <a:srgbClr val="E3F2FD"/>
            </a:solidFill>
            <a:ln>
              <a:noFill/>
            </a:ln>
          </p:spPr>
        </p:sp>
        <p:sp>
          <p:nvSpPr>
            <p:cNvPr id="38" name="TextBox 38"/>
            <p:cNvSpPr txBox="1"/>
            <p:nvPr/>
          </p:nvSpPr>
          <p:spPr>
            <a:xfrm>
              <a:off x="2095929" y="5132070"/>
              <a:ext cx="2285143" cy="182880"/>
            </a:xfrm>
            <a:prstGeom prst="rect">
              <a:avLst/>
            </a:prstGeom>
            <a:noFill/>
            <a:ln>
              <a:noFill/>
            </a:ln>
          </p:spPr>
          <p:txBody>
            <a:bodyPr wrap="none" lIns="0" tIns="0" rIns="0" bIns="0" anchor="t" anchorCtr="0">
              <a:spAutoFit/>
            </a:bodyPr>
            <a:lstStyle/>
            <a:p>
              <a:pPr algn="ctr"/>
              <a:r>
                <a:rPr lang="zh-CN" sz="900" i="1" dirty="0">
                  <a:solidFill>
                    <a:srgbClr val="1565C0"/>
                  </a:solidFill>
                  <a:latin typeface="Arial"/>
                  <a:ea typeface="Microsoft YaHei"/>
                  <a:cs typeface="Arial"/>
                </a:rPr>
                <a:t>理想假设: 通用大模型可胜任一切视觉任务</a:t>
              </a:r>
            </a:p>
          </p:txBody>
        </p:sp>
      </p:grpSp>
      <p:grpSp>
        <p:nvGrpSpPr>
          <p:cNvPr id="64" name="Group 64"/>
          <p:cNvGrpSpPr/>
          <p:nvPr/>
        </p:nvGrpSpPr>
        <p:grpSpPr>
          <a:xfrm>
            <a:off x="6286500" y="1857375"/>
            <a:ext cx="5334000" cy="3619500"/>
            <a:chOff x="6286500" y="1857375"/>
            <a:chExt cx="5334000" cy="3619500"/>
          </a:xfrm>
        </p:grpSpPr>
        <p:sp>
          <p:nvSpPr>
            <p:cNvPr id="40" name="Rectangle 40"/>
            <p:cNvSpPr/>
            <p:nvPr/>
          </p:nvSpPr>
          <p:spPr>
            <a:xfrm>
              <a:off x="6286500" y="1857375"/>
              <a:ext cx="5334000" cy="3619500"/>
            </a:xfrm>
            <a:prstGeom prst="roundRect">
              <a:avLst>
                <a:gd name="adj" fmla="val 3158"/>
              </a:avLst>
            </a:prstGeom>
            <a:solidFill>
              <a:srgbClr val="FFFFFF"/>
            </a:solidFill>
            <a:ln w="14288">
              <a:solidFill>
                <a:srgbClr val="C62828"/>
              </a:solidFill>
            </a:ln>
            <a:effectLst>
              <a:outerShdw blurRad="114300" dist="38100" dir="5400000" algn="ctr" rotWithShape="0">
                <a:srgbClr val="0F172A">
                  <a:alpha val="7500"/>
                </a:srgbClr>
              </a:outerShdw>
            </a:effectLst>
          </p:spPr>
        </p:sp>
        <p:sp>
          <p:nvSpPr>
            <p:cNvPr id="41" name="Freeform 41"/>
            <p:cNvSpPr/>
            <p:nvPr/>
          </p:nvSpPr>
          <p:spPr>
            <a:xfrm>
              <a:off x="6286500" y="1857375"/>
              <a:ext cx="5334000" cy="762000"/>
            </a:xfrm>
            <a:custGeom>
              <a:avLst/>
              <a:gdLst/>
              <a:ahLst/>
              <a:cxnLst/>
              <a:rect l="l" t="t" r="r" b="b"/>
              <a:pathLst>
                <a:path w="5334000" h="762000">
                  <a:moveTo>
                    <a:pt x="0" y="114300"/>
                  </a:moveTo>
                  <a:cubicBezTo>
                    <a:pt x="0" y="51174"/>
                    <a:pt x="51174" y="0"/>
                    <a:pt x="114300" y="0"/>
                  </a:cubicBezTo>
                  <a:lnTo>
                    <a:pt x="5219700" y="0"/>
                  </a:lnTo>
                  <a:cubicBezTo>
                    <a:pt x="5282826" y="0"/>
                    <a:pt x="5334000" y="51174"/>
                    <a:pt x="5334000" y="114300"/>
                  </a:cubicBezTo>
                  <a:lnTo>
                    <a:pt x="5334000" y="762000"/>
                  </a:lnTo>
                  <a:lnTo>
                    <a:pt x="0" y="762000"/>
                  </a:lnTo>
                  <a:close/>
                </a:path>
              </a:pathLst>
            </a:custGeom>
            <a:gradFill>
              <a:gsLst>
                <a:gs pos="0">
                  <a:srgbClr val="C62828"/>
                </a:gs>
                <a:gs pos="100000">
                  <a:srgbClr val="FF8F00"/>
                </a:gs>
              </a:gsLst>
              <a:lin ang="2700000" scaled="1"/>
            </a:gradFill>
            <a:ln>
              <a:noFill/>
            </a:ln>
          </p:spPr>
        </p:sp>
        <p:sp>
          <p:nvSpPr>
            <p:cNvPr id="42" name="Rectangle 42"/>
            <p:cNvSpPr/>
            <p:nvPr/>
          </p:nvSpPr>
          <p:spPr>
            <a:xfrm>
              <a:off x="6477000" y="2047875"/>
              <a:ext cx="419100" cy="419100"/>
            </a:xfrm>
            <a:prstGeom prst="roundRect">
              <a:avLst>
                <a:gd name="adj" fmla="val 22727"/>
              </a:avLst>
            </a:prstGeom>
            <a:solidFill>
              <a:srgbClr val="FFFFFF">
                <a:alpha val="20000"/>
              </a:srgbClr>
            </a:solidFill>
            <a:ln>
              <a:noFill/>
            </a:ln>
          </p:spPr>
        </p:sp>
        <p:grpSp>
          <p:nvGrpSpPr>
            <p:cNvPr id="46" name="Group 46"/>
            <p:cNvGrpSpPr/>
            <p:nvPr/>
          </p:nvGrpSpPr>
          <p:grpSpPr>
            <a:xfrm>
              <a:off x="6510439" y="2094461"/>
              <a:ext cx="352209" cy="302594"/>
              <a:chOff x="6510439" y="2094461"/>
              <a:chExt cx="352209" cy="302594"/>
            </a:xfrm>
          </p:grpSpPr>
          <p:sp>
            <p:nvSpPr>
              <p:cNvPr id="43" name="Freeform 43"/>
              <p:cNvSpPr/>
              <p:nvPr/>
            </p:nvSpPr>
            <p:spPr>
              <a:xfrm>
                <a:off x="6686550" y="2205038"/>
                <a:ext cx="9525" cy="69850"/>
              </a:xfrm>
              <a:custGeom>
                <a:avLst/>
                <a:gdLst/>
                <a:ahLst/>
                <a:cxnLst/>
                <a:rect l="l" t="t" r="r" b="b"/>
                <a:pathLst>
                  <a:path w="9525" h="69850">
                    <a:moveTo>
                      <a:pt x="0" y="0"/>
                    </a:moveTo>
                    <a:lnTo>
                      <a:pt x="0" y="69850"/>
                    </a:lnTo>
                  </a:path>
                </a:pathLst>
              </a:custGeom>
              <a:noFill/>
              <a:ln w="19050">
                <a:solidFill>
                  <a:srgbClr val="FFFFFF"/>
                </a:solidFill>
              </a:ln>
            </p:spPr>
          </p:sp>
          <p:sp>
            <p:nvSpPr>
              <p:cNvPr id="44" name="Freeform 44"/>
              <p:cNvSpPr/>
              <p:nvPr/>
            </p:nvSpPr>
            <p:spPr>
              <a:xfrm>
                <a:off x="6510439" y="2094461"/>
                <a:ext cx="352209" cy="302594"/>
              </a:xfrm>
              <a:custGeom>
                <a:avLst/>
                <a:gdLst/>
                <a:ahLst/>
                <a:cxnLst/>
                <a:rect l="l" t="t" r="r" b="b"/>
                <a:pathLst>
                  <a:path w="352209" h="302594">
                    <a:moveTo>
                      <a:pt x="147525" y="16122"/>
                    </a:moveTo>
                    <a:lnTo>
                      <a:pt x="5974" y="252459"/>
                    </a:lnTo>
                    <a:cubicBezTo>
                      <a:pt x="36" y="262742"/>
                      <a:pt x="0" y="275404"/>
                      <a:pt x="5879" y="285721"/>
                    </a:cubicBezTo>
                    <a:cubicBezTo>
                      <a:pt x="11758" y="296038"/>
                      <a:pt x="22669" y="302461"/>
                      <a:pt x="34543" y="302594"/>
                    </a:cubicBezTo>
                    <a:lnTo>
                      <a:pt x="317680" y="302594"/>
                    </a:lnTo>
                    <a:cubicBezTo>
                      <a:pt x="329548" y="302457"/>
                      <a:pt x="340453" y="296036"/>
                      <a:pt x="346331" y="285725"/>
                    </a:cubicBezTo>
                    <a:cubicBezTo>
                      <a:pt x="352209" y="275414"/>
                      <a:pt x="352178" y="262759"/>
                      <a:pt x="346248" y="252477"/>
                    </a:cubicBezTo>
                    <a:lnTo>
                      <a:pt x="204697" y="16104"/>
                    </a:lnTo>
                    <a:cubicBezTo>
                      <a:pt x="198640" y="6107"/>
                      <a:pt x="187801" y="0"/>
                      <a:pt x="176111" y="0"/>
                    </a:cubicBezTo>
                    <a:cubicBezTo>
                      <a:pt x="164422" y="0"/>
                      <a:pt x="153582" y="6107"/>
                      <a:pt x="147525" y="16104"/>
                    </a:cubicBezTo>
                  </a:path>
                </a:pathLst>
              </a:custGeom>
              <a:noFill/>
              <a:ln w="19050">
                <a:solidFill>
                  <a:srgbClr val="FFFFFF"/>
                </a:solidFill>
              </a:ln>
            </p:spPr>
          </p:sp>
          <p:sp>
            <p:nvSpPr>
              <p:cNvPr id="45" name="Freeform 45"/>
              <p:cNvSpPr/>
              <p:nvPr/>
            </p:nvSpPr>
            <p:spPr>
              <a:xfrm>
                <a:off x="6686550" y="2327275"/>
                <a:ext cx="9525" cy="9525"/>
              </a:xfrm>
              <a:custGeom>
                <a:avLst/>
                <a:gdLst/>
                <a:ahLst/>
                <a:cxnLst/>
                <a:rect l="l" t="t" r="r" b="b"/>
                <a:pathLst>
                  <a:path w="9525" h="9525">
                    <a:moveTo>
                      <a:pt x="0" y="0"/>
                    </a:moveTo>
                    <a:lnTo>
                      <a:pt x="175" y="0"/>
                    </a:lnTo>
                  </a:path>
                </a:pathLst>
              </a:custGeom>
              <a:noFill/>
              <a:ln w="19050">
                <a:solidFill>
                  <a:srgbClr val="FFFFFF"/>
                </a:solidFill>
              </a:ln>
            </p:spPr>
          </p:sp>
        </p:grpSp>
        <p:sp>
          <p:nvSpPr>
            <p:cNvPr id="47" name="TextBox 47"/>
            <p:cNvSpPr txBox="1"/>
            <p:nvPr/>
          </p:nvSpPr>
          <p:spPr>
            <a:xfrm>
              <a:off x="7027545" y="2079308"/>
              <a:ext cx="966026"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Cambria"/>
                  <a:ea typeface="SimSun"/>
                  <a:cs typeface="Cambria"/>
                </a:rPr>
                <a:t>失败表现</a:t>
              </a:r>
            </a:p>
          </p:txBody>
        </p:sp>
        <p:sp>
          <p:nvSpPr>
            <p:cNvPr id="48" name="TextBox 48"/>
            <p:cNvSpPr txBox="1"/>
            <p:nvPr/>
          </p:nvSpPr>
          <p:spPr>
            <a:xfrm>
              <a:off x="7036118" y="2361724"/>
              <a:ext cx="1294374" cy="198120"/>
            </a:xfrm>
            <a:prstGeom prst="rect">
              <a:avLst/>
            </a:prstGeom>
            <a:noFill/>
            <a:ln>
              <a:noFill/>
            </a:ln>
          </p:spPr>
          <p:txBody>
            <a:bodyPr wrap="none" lIns="0" tIns="0" rIns="0" bIns="0" anchor="t" anchorCtr="0">
              <a:spAutoFit/>
            </a:bodyPr>
            <a:lstStyle/>
            <a:p>
              <a:pPr algn="l"/>
              <a:r>
                <a:rPr lang="zh-CN" sz="975" b="1" dirty="0">
                  <a:solidFill>
                    <a:srgbClr val="FFFFFF">
                      <a:alphaMod val="85000"/>
                    </a:srgbClr>
                  </a:solidFill>
                  <a:latin typeface="Arial"/>
                  <a:ea typeface="Microsoft YaHei"/>
                  <a:cs typeface="Arial"/>
                </a:rPr>
                <a:t>ACTUAL LIMITATIONS</a:t>
              </a:r>
            </a:p>
          </p:txBody>
        </p:sp>
        <p:sp>
          <p:nvSpPr>
            <p:cNvPr id="49" name="TextBox 49"/>
            <p:cNvSpPr txBox="1"/>
            <p:nvPr/>
          </p:nvSpPr>
          <p:spPr>
            <a:xfrm>
              <a:off x="11089977" y="2152174"/>
              <a:ext cx="352406" cy="198120"/>
            </a:xfrm>
            <a:prstGeom prst="rect">
              <a:avLst/>
            </a:prstGeom>
            <a:noFill/>
            <a:ln>
              <a:noFill/>
            </a:ln>
          </p:spPr>
          <p:txBody>
            <a:bodyPr wrap="none" lIns="0" tIns="0" rIns="0" bIns="0" anchor="t" anchorCtr="0">
              <a:spAutoFit/>
            </a:bodyPr>
            <a:lstStyle/>
            <a:p>
              <a:pPr algn="r"/>
              <a:r>
                <a:rPr lang="zh-CN" sz="975" b="1" dirty="0">
                  <a:solidFill>
                    <a:srgbClr val="FFFFFF">
                      <a:alphaMod val="85000"/>
                    </a:srgbClr>
                  </a:solidFill>
                  <a:latin typeface="Cambria"/>
                  <a:ea typeface="SimSun"/>
                  <a:cs typeface="Cambria"/>
                </a:rPr>
                <a:t>CONS</a:t>
              </a:r>
            </a:p>
          </p:txBody>
        </p:sp>
        <p:sp>
          <p:nvSpPr>
            <p:cNvPr id="50" name="Ellipse 50"/>
            <p:cNvSpPr/>
            <p:nvPr/>
          </p:nvSpPr>
          <p:spPr>
            <a:xfrm>
              <a:off x="6581775" y="2952750"/>
              <a:ext cx="95250" cy="95250"/>
            </a:xfrm>
            <a:prstGeom prst="ellipse">
              <a:avLst/>
            </a:prstGeom>
            <a:solidFill>
              <a:srgbClr val="C62828"/>
            </a:solidFill>
            <a:ln>
              <a:noFill/>
            </a:ln>
          </p:spPr>
        </p:sp>
        <p:sp>
          <p:nvSpPr>
            <p:cNvPr id="51" name="TextBox 51"/>
            <p:cNvSpPr txBox="1"/>
            <p:nvPr/>
          </p:nvSpPr>
          <p:spPr>
            <a:xfrm>
              <a:off x="6805612" y="2859881"/>
              <a:ext cx="816173"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任务不匹配</a:t>
              </a:r>
            </a:p>
          </p:txBody>
        </p:sp>
        <p:sp>
          <p:nvSpPr>
            <p:cNvPr id="52" name="TextBox 52"/>
            <p:cNvSpPr txBox="1"/>
            <p:nvPr/>
          </p:nvSpPr>
          <p:spPr>
            <a:xfrm>
              <a:off x="6807518" y="3085624"/>
              <a:ext cx="1975009"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模型优化语义理解而非物理量估计</a:t>
              </a:r>
            </a:p>
          </p:txBody>
        </p:sp>
        <p:sp>
          <p:nvSpPr>
            <p:cNvPr id="53" name="TextBox 53"/>
            <p:cNvSpPr txBox="1"/>
            <p:nvPr/>
          </p:nvSpPr>
          <p:spPr>
            <a:xfrm>
              <a:off x="6807518" y="3257074"/>
              <a:ext cx="1844992"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学习的是统计规律而非物理映射</a:t>
              </a:r>
            </a:p>
          </p:txBody>
        </p:sp>
        <p:sp>
          <p:nvSpPr>
            <p:cNvPr id="54" name="Ellipse 54"/>
            <p:cNvSpPr/>
            <p:nvPr/>
          </p:nvSpPr>
          <p:spPr>
            <a:xfrm>
              <a:off x="6581775" y="3714750"/>
              <a:ext cx="95250" cy="95250"/>
            </a:xfrm>
            <a:prstGeom prst="ellipse">
              <a:avLst/>
            </a:prstGeom>
            <a:solidFill>
              <a:srgbClr val="C62828"/>
            </a:solidFill>
            <a:ln>
              <a:noFill/>
            </a:ln>
          </p:spPr>
        </p:sp>
        <p:sp>
          <p:nvSpPr>
            <p:cNvPr id="55" name="TextBox 55"/>
            <p:cNvSpPr txBox="1"/>
            <p:nvPr/>
          </p:nvSpPr>
          <p:spPr>
            <a:xfrm>
              <a:off x="6805612" y="3621881"/>
              <a:ext cx="973693"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输出随机性大</a:t>
              </a:r>
            </a:p>
          </p:txBody>
        </p:sp>
        <p:sp>
          <p:nvSpPr>
            <p:cNvPr id="56" name="TextBox 56"/>
            <p:cNvSpPr txBox="1"/>
            <p:nvPr/>
          </p:nvSpPr>
          <p:spPr>
            <a:xfrm>
              <a:off x="6807518" y="3847624"/>
              <a:ext cx="1584960"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同一图像多次推理结果差异</a:t>
              </a:r>
            </a:p>
          </p:txBody>
        </p:sp>
        <p:sp>
          <p:nvSpPr>
            <p:cNvPr id="57" name="TextBox 57"/>
            <p:cNvSpPr txBox="1"/>
            <p:nvPr/>
          </p:nvSpPr>
          <p:spPr>
            <a:xfrm>
              <a:off x="6806565" y="4010978"/>
              <a:ext cx="732358" cy="213360"/>
            </a:xfrm>
            <a:prstGeom prst="rect">
              <a:avLst/>
            </a:prstGeom>
            <a:noFill/>
            <a:ln>
              <a:noFill/>
            </a:ln>
          </p:spPr>
          <p:txBody>
            <a:bodyPr wrap="none" lIns="0" tIns="0" rIns="0" bIns="0" anchor="t" anchorCtr="0">
              <a:spAutoFit/>
            </a:bodyPr>
            <a:lstStyle/>
            <a:p>
              <a:pPr algn="l"/>
              <a:r>
                <a:rPr lang="zh-CN" sz="1050" b="1" dirty="0">
                  <a:solidFill>
                    <a:srgbClr val="C62828"/>
                  </a:solidFill>
                  <a:latin typeface="Cambria"/>
                  <a:ea typeface="SimSun"/>
                  <a:cs typeface="Cambria"/>
                </a:rPr>
                <a:t>± 50g 波动</a:t>
              </a:r>
            </a:p>
          </p:txBody>
        </p:sp>
        <p:sp>
          <p:nvSpPr>
            <p:cNvPr id="58" name="Ellipse 58"/>
            <p:cNvSpPr/>
            <p:nvPr/>
          </p:nvSpPr>
          <p:spPr>
            <a:xfrm>
              <a:off x="6581775" y="4476750"/>
              <a:ext cx="95250" cy="95250"/>
            </a:xfrm>
            <a:prstGeom prst="ellipse">
              <a:avLst/>
            </a:prstGeom>
            <a:solidFill>
              <a:srgbClr val="C62828"/>
            </a:solidFill>
            <a:ln>
              <a:noFill/>
            </a:ln>
          </p:spPr>
        </p:sp>
        <p:sp>
          <p:nvSpPr>
            <p:cNvPr id="59" name="TextBox 59"/>
            <p:cNvSpPr txBox="1"/>
            <p:nvPr/>
          </p:nvSpPr>
          <p:spPr>
            <a:xfrm>
              <a:off x="6805612" y="4383881"/>
              <a:ext cx="973693"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数值精度不足</a:t>
              </a:r>
            </a:p>
          </p:txBody>
        </p:sp>
        <p:sp>
          <p:nvSpPr>
            <p:cNvPr id="60" name="TextBox 60"/>
            <p:cNvSpPr txBox="1"/>
            <p:nvPr/>
          </p:nvSpPr>
          <p:spPr>
            <a:xfrm>
              <a:off x="6807518" y="4609624"/>
              <a:ext cx="2046518"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倾向于输出整数,无法响应精细差异</a:t>
              </a:r>
            </a:p>
          </p:txBody>
        </p:sp>
        <p:sp>
          <p:nvSpPr>
            <p:cNvPr id="61" name="TextBox 61"/>
            <p:cNvSpPr txBox="1"/>
            <p:nvPr/>
          </p:nvSpPr>
          <p:spPr>
            <a:xfrm>
              <a:off x="6807518" y="4781074"/>
              <a:ext cx="1064895"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系统性高估或低估</a:t>
              </a:r>
            </a:p>
          </p:txBody>
        </p:sp>
        <p:sp>
          <p:nvSpPr>
            <p:cNvPr id="62" name="Rectangle 62"/>
            <p:cNvSpPr/>
            <p:nvPr/>
          </p:nvSpPr>
          <p:spPr>
            <a:xfrm>
              <a:off x="6477000" y="5019675"/>
              <a:ext cx="4953000" cy="304800"/>
            </a:xfrm>
            <a:prstGeom prst="roundRect">
              <a:avLst>
                <a:gd name="adj" fmla="val 18750"/>
              </a:avLst>
            </a:prstGeom>
            <a:solidFill>
              <a:srgbClr val="FFEBEE"/>
            </a:solidFill>
            <a:ln>
              <a:noFill/>
            </a:ln>
          </p:spPr>
        </p:sp>
        <p:sp>
          <p:nvSpPr>
            <p:cNvPr id="63" name="TextBox 63"/>
            <p:cNvSpPr txBox="1"/>
            <p:nvPr/>
          </p:nvSpPr>
          <p:spPr>
            <a:xfrm>
              <a:off x="8101965" y="5132070"/>
              <a:ext cx="1703070" cy="182880"/>
            </a:xfrm>
            <a:prstGeom prst="rect">
              <a:avLst/>
            </a:prstGeom>
            <a:noFill/>
            <a:ln>
              <a:noFill/>
            </a:ln>
          </p:spPr>
          <p:txBody>
            <a:bodyPr wrap="none" lIns="0" tIns="0" rIns="0" bIns="0" anchor="t" anchorCtr="0">
              <a:spAutoFit/>
            </a:bodyPr>
            <a:lstStyle/>
            <a:p>
              <a:pPr algn="ctr"/>
              <a:r>
                <a:rPr lang="zh-CN" sz="900" i="1" dirty="0">
                  <a:solidFill>
                    <a:srgbClr val="C62828"/>
                  </a:solidFill>
                  <a:latin typeface="Arial"/>
                  <a:ea typeface="Microsoft YaHei"/>
                  <a:cs typeface="Arial"/>
                </a:rPr>
                <a:t>实际表现: 语义理解 ≠ 物理映射</a:t>
              </a:r>
            </a:p>
          </p:txBody>
        </p:sp>
      </p:grpSp>
      <p:sp>
        <p:nvSpPr>
          <p:cNvPr id="65" name="TextBox 65"/>
          <p:cNvSpPr txBox="1"/>
          <p:nvPr/>
        </p:nvSpPr>
        <p:spPr>
          <a:xfrm>
            <a:off x="556260" y="5585460"/>
            <a:ext cx="1038606"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典型失败案例</a:t>
            </a:r>
          </a:p>
        </p:txBody>
      </p:sp>
      <p:grpSp>
        <p:nvGrpSpPr>
          <p:cNvPr id="89" name="Group 89"/>
          <p:cNvGrpSpPr/>
          <p:nvPr/>
        </p:nvGrpSpPr>
        <p:grpSpPr>
          <a:xfrm>
            <a:off x="571500" y="5857875"/>
            <a:ext cx="11049000" cy="647700"/>
            <a:chOff x="571500" y="5857875"/>
            <a:chExt cx="11049000" cy="647700"/>
          </a:xfrm>
        </p:grpSpPr>
        <p:sp>
          <p:nvSpPr>
            <p:cNvPr id="66" name="Rectangle 66"/>
            <p:cNvSpPr/>
            <p:nvPr/>
          </p:nvSpPr>
          <p:spPr>
            <a:xfrm>
              <a:off x="571500" y="5857875"/>
              <a:ext cx="3524250" cy="647700"/>
            </a:xfrm>
            <a:prstGeom prst="roundRect">
              <a:avLst>
                <a:gd name="adj" fmla="val 11765"/>
              </a:avLst>
            </a:prstGeom>
            <a:solidFill>
              <a:srgbClr val="FFEBEE"/>
            </a:solidFill>
            <a:ln w="9525">
              <a:solidFill>
                <a:srgbClr val="C62828"/>
              </a:solidFill>
            </a:ln>
          </p:spPr>
        </p:sp>
        <p:grpSp>
          <p:nvGrpSpPr>
            <p:cNvPr id="70" name="Group 70"/>
            <p:cNvGrpSpPr/>
            <p:nvPr/>
          </p:nvGrpSpPr>
          <p:grpSpPr>
            <a:xfrm>
              <a:off x="739775" y="6017419"/>
              <a:ext cx="139700" cy="161920"/>
              <a:chOff x="739775" y="6017419"/>
              <a:chExt cx="139700" cy="161920"/>
            </a:xfrm>
          </p:grpSpPr>
          <p:sp>
            <p:nvSpPr>
              <p:cNvPr id="67" name="Freeform 67"/>
              <p:cNvSpPr/>
              <p:nvPr/>
            </p:nvSpPr>
            <p:spPr>
              <a:xfrm>
                <a:off x="739775" y="6043612"/>
                <a:ext cx="139700" cy="135727"/>
              </a:xfrm>
              <a:custGeom>
                <a:avLst/>
                <a:gdLst/>
                <a:ahLst/>
                <a:cxnLst/>
                <a:rect l="l" t="t" r="r" b="b"/>
                <a:pathLst>
                  <a:path w="139700" h="135727">
                    <a:moveTo>
                      <a:pt x="0" y="46442"/>
                    </a:moveTo>
                    <a:cubicBezTo>
                      <a:pt x="0" y="73526"/>
                      <a:pt x="3877" y="92883"/>
                      <a:pt x="19401" y="116099"/>
                    </a:cubicBezTo>
                    <a:cubicBezTo>
                      <a:pt x="31197" y="131789"/>
                      <a:pt x="46957" y="135719"/>
                      <a:pt x="63756" y="124726"/>
                    </a:cubicBezTo>
                    <a:cubicBezTo>
                      <a:pt x="67475" y="122386"/>
                      <a:pt x="72225" y="122386"/>
                      <a:pt x="75953" y="124726"/>
                    </a:cubicBezTo>
                    <a:cubicBezTo>
                      <a:pt x="92743" y="135727"/>
                      <a:pt x="108503" y="131789"/>
                      <a:pt x="120299" y="116099"/>
                    </a:cubicBezTo>
                    <a:cubicBezTo>
                      <a:pt x="135823" y="92874"/>
                      <a:pt x="139700" y="73526"/>
                      <a:pt x="139700" y="46450"/>
                    </a:cubicBezTo>
                    <a:cubicBezTo>
                      <a:pt x="139700" y="23216"/>
                      <a:pt x="122325" y="0"/>
                      <a:pt x="100898" y="0"/>
                    </a:cubicBezTo>
                    <a:cubicBezTo>
                      <a:pt x="89836" y="0"/>
                      <a:pt x="79856" y="6051"/>
                      <a:pt x="72784" y="12573"/>
                    </a:cubicBezTo>
                    <a:cubicBezTo>
                      <a:pt x="71119" y="14083"/>
                      <a:pt x="68581" y="14083"/>
                      <a:pt x="66916" y="12573"/>
                    </a:cubicBezTo>
                    <a:cubicBezTo>
                      <a:pt x="59853" y="6059"/>
                      <a:pt x="49864" y="0"/>
                      <a:pt x="38802" y="0"/>
                    </a:cubicBezTo>
                    <a:cubicBezTo>
                      <a:pt x="17375" y="0"/>
                      <a:pt x="0" y="23225"/>
                      <a:pt x="0" y="46442"/>
                    </a:cubicBezTo>
                  </a:path>
                </a:pathLst>
              </a:custGeom>
              <a:noFill/>
              <a:ln w="19050">
                <a:solidFill>
                  <a:srgbClr val="C62828"/>
                </a:solidFill>
              </a:ln>
            </p:spPr>
          </p:sp>
          <p:sp>
            <p:nvSpPr>
              <p:cNvPr id="68" name="Freeform 68"/>
              <p:cNvSpPr/>
              <p:nvPr/>
            </p:nvSpPr>
            <p:spPr>
              <a:xfrm>
                <a:off x="765969" y="6069806"/>
                <a:ext cx="13097" cy="26194"/>
              </a:xfrm>
              <a:custGeom>
                <a:avLst/>
                <a:gdLst/>
                <a:ahLst/>
                <a:cxnLst/>
                <a:rect l="l" t="t" r="r" b="b"/>
                <a:pathLst>
                  <a:path w="13097" h="26194">
                    <a:moveTo>
                      <a:pt x="0" y="26194"/>
                    </a:moveTo>
                    <a:cubicBezTo>
                      <a:pt x="0" y="13359"/>
                      <a:pt x="3964" y="5763"/>
                      <a:pt x="13097" y="0"/>
                    </a:cubicBezTo>
                  </a:path>
                </a:pathLst>
              </a:custGeom>
              <a:noFill/>
              <a:ln w="19050">
                <a:solidFill>
                  <a:srgbClr val="C62828"/>
                </a:solidFill>
              </a:ln>
            </p:spPr>
          </p:sp>
          <p:sp>
            <p:nvSpPr>
              <p:cNvPr id="69" name="Freeform 69"/>
              <p:cNvSpPr/>
              <p:nvPr/>
            </p:nvSpPr>
            <p:spPr>
              <a:xfrm>
                <a:off x="809625" y="6017419"/>
                <a:ext cx="26194" cy="34925"/>
              </a:xfrm>
              <a:custGeom>
                <a:avLst/>
                <a:gdLst/>
                <a:ahLst/>
                <a:cxnLst/>
                <a:rect l="l" t="t" r="r" b="b"/>
                <a:pathLst>
                  <a:path w="26194" h="34925">
                    <a:moveTo>
                      <a:pt x="0" y="34925"/>
                    </a:moveTo>
                    <a:cubicBezTo>
                      <a:pt x="0" y="24448"/>
                      <a:pt x="7570" y="0"/>
                      <a:pt x="26194" y="0"/>
                    </a:cubicBezTo>
                  </a:path>
                </a:pathLst>
              </a:custGeom>
              <a:noFill/>
              <a:ln w="19050">
                <a:solidFill>
                  <a:srgbClr val="C62828"/>
                </a:solidFill>
              </a:ln>
            </p:spPr>
          </p:sp>
        </p:grpSp>
        <p:sp>
          <p:nvSpPr>
            <p:cNvPr id="71" name="TextBox 71"/>
            <p:cNvSpPr txBox="1"/>
            <p:nvPr/>
          </p:nvSpPr>
          <p:spPr>
            <a:xfrm>
              <a:off x="978218" y="6038374"/>
              <a:ext cx="297799"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苹果</a:t>
              </a:r>
            </a:p>
          </p:txBody>
        </p:sp>
        <p:sp>
          <p:nvSpPr>
            <p:cNvPr id="72" name="TextBox 72"/>
            <p:cNvSpPr txBox="1"/>
            <p:nvPr/>
          </p:nvSpPr>
          <p:spPr>
            <a:xfrm>
              <a:off x="979170" y="6256020"/>
              <a:ext cx="298894"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真实 </a:t>
              </a:r>
            </a:p>
          </p:txBody>
        </p:sp>
        <p:sp>
          <p:nvSpPr>
            <p:cNvPr id="73" name="TextBox 73"/>
            <p:cNvSpPr txBox="1"/>
            <p:nvPr/>
          </p:nvSpPr>
          <p:spPr>
            <a:xfrm>
              <a:off x="1283018" y="6247924"/>
              <a:ext cx="29097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Cambria"/>
                  <a:ea typeface="SimSun"/>
                  <a:cs typeface="Cambria"/>
                </a:rPr>
                <a:t>180g</a:t>
              </a:r>
            </a:p>
          </p:txBody>
        </p:sp>
        <p:sp>
          <p:nvSpPr>
            <p:cNvPr id="74" name="TextBox 74"/>
            <p:cNvSpPr txBox="1"/>
            <p:nvPr/>
          </p:nvSpPr>
          <p:spPr>
            <a:xfrm>
              <a:off x="1703070" y="6256020"/>
              <a:ext cx="400907"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 预测 </a:t>
              </a:r>
            </a:p>
          </p:txBody>
        </p:sp>
        <p:sp>
          <p:nvSpPr>
            <p:cNvPr id="75" name="TextBox 75"/>
            <p:cNvSpPr txBox="1"/>
            <p:nvPr/>
          </p:nvSpPr>
          <p:spPr>
            <a:xfrm>
              <a:off x="2178368" y="6247924"/>
              <a:ext cx="905300" cy="198120"/>
            </a:xfrm>
            <a:prstGeom prst="rect">
              <a:avLst/>
            </a:prstGeom>
            <a:noFill/>
            <a:ln>
              <a:noFill/>
            </a:ln>
          </p:spPr>
          <p:txBody>
            <a:bodyPr wrap="none" lIns="0" tIns="0" rIns="0" bIns="0" anchor="t" anchorCtr="0">
              <a:spAutoFit/>
            </a:bodyPr>
            <a:lstStyle/>
            <a:p>
              <a:pPr algn="l"/>
              <a:r>
                <a:rPr lang="zh-CN" sz="975" b="1" dirty="0">
                  <a:solidFill>
                    <a:srgbClr val="C62828"/>
                  </a:solidFill>
                  <a:latin typeface="Cambria"/>
                  <a:ea typeface="SimSun"/>
                  <a:cs typeface="Cambria"/>
                </a:rPr>
                <a:t>150-250g 波动</a:t>
              </a:r>
            </a:p>
          </p:txBody>
        </p:sp>
        <p:sp>
          <p:nvSpPr>
            <p:cNvPr id="76" name="Rectangle 76"/>
            <p:cNvSpPr/>
            <p:nvPr/>
          </p:nvSpPr>
          <p:spPr>
            <a:xfrm>
              <a:off x="4286250" y="5857875"/>
              <a:ext cx="3524250" cy="647700"/>
            </a:xfrm>
            <a:prstGeom prst="roundRect">
              <a:avLst>
                <a:gd name="adj" fmla="val 11765"/>
              </a:avLst>
            </a:prstGeom>
            <a:solidFill>
              <a:srgbClr val="FFEBEE"/>
            </a:solidFill>
            <a:ln w="9525">
              <a:solidFill>
                <a:srgbClr val="C62828"/>
              </a:solidFill>
            </a:ln>
          </p:spPr>
        </p:sp>
        <p:grpSp>
          <p:nvGrpSpPr>
            <p:cNvPr id="80" name="Group 80"/>
            <p:cNvGrpSpPr/>
            <p:nvPr/>
          </p:nvGrpSpPr>
          <p:grpSpPr>
            <a:xfrm>
              <a:off x="4454525" y="6017419"/>
              <a:ext cx="139700" cy="161920"/>
              <a:chOff x="4454525" y="6017419"/>
              <a:chExt cx="139700" cy="161920"/>
            </a:xfrm>
          </p:grpSpPr>
          <p:sp>
            <p:nvSpPr>
              <p:cNvPr id="77" name="Freeform 77"/>
              <p:cNvSpPr/>
              <p:nvPr/>
            </p:nvSpPr>
            <p:spPr>
              <a:xfrm>
                <a:off x="4454525" y="6043612"/>
                <a:ext cx="139700" cy="135727"/>
              </a:xfrm>
              <a:custGeom>
                <a:avLst/>
                <a:gdLst/>
                <a:ahLst/>
                <a:cxnLst/>
                <a:rect l="l" t="t" r="r" b="b"/>
                <a:pathLst>
                  <a:path w="139700" h="135727">
                    <a:moveTo>
                      <a:pt x="0" y="46442"/>
                    </a:moveTo>
                    <a:cubicBezTo>
                      <a:pt x="0" y="73526"/>
                      <a:pt x="3877" y="92883"/>
                      <a:pt x="19401" y="116099"/>
                    </a:cubicBezTo>
                    <a:cubicBezTo>
                      <a:pt x="31197" y="131789"/>
                      <a:pt x="46957" y="135719"/>
                      <a:pt x="63756" y="124726"/>
                    </a:cubicBezTo>
                    <a:cubicBezTo>
                      <a:pt x="67475" y="122386"/>
                      <a:pt x="72225" y="122386"/>
                      <a:pt x="75953" y="124726"/>
                    </a:cubicBezTo>
                    <a:cubicBezTo>
                      <a:pt x="92743" y="135727"/>
                      <a:pt x="108503" y="131789"/>
                      <a:pt x="120299" y="116099"/>
                    </a:cubicBezTo>
                    <a:cubicBezTo>
                      <a:pt x="135823" y="92874"/>
                      <a:pt x="139700" y="73526"/>
                      <a:pt x="139700" y="46450"/>
                    </a:cubicBezTo>
                    <a:cubicBezTo>
                      <a:pt x="139700" y="23216"/>
                      <a:pt x="122325" y="0"/>
                      <a:pt x="100898" y="0"/>
                    </a:cubicBezTo>
                    <a:cubicBezTo>
                      <a:pt x="89836" y="0"/>
                      <a:pt x="79856" y="6051"/>
                      <a:pt x="72784" y="12573"/>
                    </a:cubicBezTo>
                    <a:cubicBezTo>
                      <a:pt x="71119" y="14083"/>
                      <a:pt x="68581" y="14083"/>
                      <a:pt x="66916" y="12573"/>
                    </a:cubicBezTo>
                    <a:cubicBezTo>
                      <a:pt x="59853" y="6059"/>
                      <a:pt x="49864" y="0"/>
                      <a:pt x="38802" y="0"/>
                    </a:cubicBezTo>
                    <a:cubicBezTo>
                      <a:pt x="17375" y="0"/>
                      <a:pt x="0" y="23225"/>
                      <a:pt x="0" y="46442"/>
                    </a:cubicBezTo>
                  </a:path>
                </a:pathLst>
              </a:custGeom>
              <a:noFill/>
              <a:ln w="19050">
                <a:solidFill>
                  <a:srgbClr val="C62828"/>
                </a:solidFill>
              </a:ln>
            </p:spPr>
          </p:sp>
          <p:sp>
            <p:nvSpPr>
              <p:cNvPr id="78" name="Freeform 78"/>
              <p:cNvSpPr/>
              <p:nvPr/>
            </p:nvSpPr>
            <p:spPr>
              <a:xfrm>
                <a:off x="4480719" y="6069806"/>
                <a:ext cx="13097" cy="26194"/>
              </a:xfrm>
              <a:custGeom>
                <a:avLst/>
                <a:gdLst/>
                <a:ahLst/>
                <a:cxnLst/>
                <a:rect l="l" t="t" r="r" b="b"/>
                <a:pathLst>
                  <a:path w="13097" h="26194">
                    <a:moveTo>
                      <a:pt x="0" y="26194"/>
                    </a:moveTo>
                    <a:cubicBezTo>
                      <a:pt x="0" y="13359"/>
                      <a:pt x="3964" y="5763"/>
                      <a:pt x="13097" y="0"/>
                    </a:cubicBezTo>
                  </a:path>
                </a:pathLst>
              </a:custGeom>
              <a:noFill/>
              <a:ln w="19050">
                <a:solidFill>
                  <a:srgbClr val="C62828"/>
                </a:solidFill>
              </a:ln>
            </p:spPr>
          </p:sp>
          <p:sp>
            <p:nvSpPr>
              <p:cNvPr id="79" name="Freeform 79"/>
              <p:cNvSpPr/>
              <p:nvPr/>
            </p:nvSpPr>
            <p:spPr>
              <a:xfrm>
                <a:off x="4524375" y="6017419"/>
                <a:ext cx="26194" cy="34925"/>
              </a:xfrm>
              <a:custGeom>
                <a:avLst/>
                <a:gdLst/>
                <a:ahLst/>
                <a:cxnLst/>
                <a:rect l="l" t="t" r="r" b="b"/>
                <a:pathLst>
                  <a:path w="26194" h="34925">
                    <a:moveTo>
                      <a:pt x="0" y="34925"/>
                    </a:moveTo>
                    <a:cubicBezTo>
                      <a:pt x="0" y="24448"/>
                      <a:pt x="7570" y="0"/>
                      <a:pt x="26194" y="0"/>
                    </a:cubicBezTo>
                  </a:path>
                </a:pathLst>
              </a:custGeom>
              <a:noFill/>
              <a:ln w="19050">
                <a:solidFill>
                  <a:srgbClr val="C62828"/>
                </a:solidFill>
              </a:ln>
            </p:spPr>
          </p:sp>
        </p:grpSp>
        <p:sp>
          <p:nvSpPr>
            <p:cNvPr id="81" name="TextBox 81"/>
            <p:cNvSpPr txBox="1"/>
            <p:nvPr/>
          </p:nvSpPr>
          <p:spPr>
            <a:xfrm>
              <a:off x="4692968" y="6038374"/>
              <a:ext cx="297799"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鸡蛋</a:t>
              </a:r>
            </a:p>
          </p:txBody>
        </p:sp>
        <p:sp>
          <p:nvSpPr>
            <p:cNvPr id="82" name="TextBox 82"/>
            <p:cNvSpPr txBox="1"/>
            <p:nvPr/>
          </p:nvSpPr>
          <p:spPr>
            <a:xfrm>
              <a:off x="4693920" y="6256020"/>
              <a:ext cx="298894"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真实 </a:t>
              </a:r>
            </a:p>
          </p:txBody>
        </p:sp>
        <p:sp>
          <p:nvSpPr>
            <p:cNvPr id="83" name="TextBox 83"/>
            <p:cNvSpPr txBox="1"/>
            <p:nvPr/>
          </p:nvSpPr>
          <p:spPr>
            <a:xfrm>
              <a:off x="4997768" y="6247924"/>
              <a:ext cx="250018"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Cambria"/>
                  <a:ea typeface="SimSun"/>
                  <a:cs typeface="Cambria"/>
                </a:rPr>
                <a:t>55g</a:t>
              </a:r>
            </a:p>
          </p:txBody>
        </p:sp>
        <p:sp>
          <p:nvSpPr>
            <p:cNvPr id="84" name="TextBox 84"/>
            <p:cNvSpPr txBox="1"/>
            <p:nvPr/>
          </p:nvSpPr>
          <p:spPr>
            <a:xfrm>
              <a:off x="5322570" y="6256020"/>
              <a:ext cx="400907"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 预测 </a:t>
              </a:r>
            </a:p>
          </p:txBody>
        </p:sp>
        <p:sp>
          <p:nvSpPr>
            <p:cNvPr id="85" name="TextBox 85"/>
            <p:cNvSpPr txBox="1"/>
            <p:nvPr/>
          </p:nvSpPr>
          <p:spPr>
            <a:xfrm>
              <a:off x="5797868" y="6247924"/>
              <a:ext cx="830216" cy="198120"/>
            </a:xfrm>
            <a:prstGeom prst="rect">
              <a:avLst/>
            </a:prstGeom>
            <a:noFill/>
            <a:ln>
              <a:noFill/>
            </a:ln>
          </p:spPr>
          <p:txBody>
            <a:bodyPr wrap="none" lIns="0" tIns="0" rIns="0" bIns="0" anchor="t" anchorCtr="0">
              <a:spAutoFit/>
            </a:bodyPr>
            <a:lstStyle/>
            <a:p>
              <a:pPr algn="l"/>
              <a:r>
                <a:rPr lang="zh-CN" sz="975" b="1" dirty="0">
                  <a:solidFill>
                    <a:srgbClr val="C62828"/>
                  </a:solidFill>
                  <a:latin typeface="Cambria"/>
                  <a:ea typeface="SimSun"/>
                  <a:cs typeface="Cambria"/>
                </a:rPr>
                <a:t>80-120g 高估</a:t>
              </a:r>
            </a:p>
          </p:txBody>
        </p:sp>
        <p:sp>
          <p:nvSpPr>
            <p:cNvPr id="86" name="Rectangle 86"/>
            <p:cNvSpPr/>
            <p:nvPr/>
          </p:nvSpPr>
          <p:spPr>
            <a:xfrm>
              <a:off x="8001000" y="5857875"/>
              <a:ext cx="3619500" cy="647700"/>
            </a:xfrm>
            <a:prstGeom prst="roundRect">
              <a:avLst>
                <a:gd name="adj" fmla="val 11765"/>
              </a:avLst>
            </a:prstGeom>
            <a:solidFill>
              <a:srgbClr val="C62828"/>
            </a:solidFill>
            <a:ln>
              <a:noFill/>
            </a:ln>
          </p:spPr>
        </p:sp>
        <p:sp>
          <p:nvSpPr>
            <p:cNvPr id="87" name="TextBox 87"/>
            <p:cNvSpPr txBox="1"/>
            <p:nvPr/>
          </p:nvSpPr>
          <p:spPr>
            <a:xfrm>
              <a:off x="9525333" y="6038374"/>
              <a:ext cx="57083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核心洞察</a:t>
              </a:r>
            </a:p>
          </p:txBody>
        </p:sp>
        <p:sp>
          <p:nvSpPr>
            <p:cNvPr id="88" name="TextBox 88"/>
            <p:cNvSpPr txBox="1"/>
            <p:nvPr/>
          </p:nvSpPr>
          <p:spPr>
            <a:xfrm>
              <a:off x="9130236" y="6256020"/>
              <a:ext cx="1361027" cy="182880"/>
            </a:xfrm>
            <a:prstGeom prst="rect">
              <a:avLst/>
            </a:prstGeom>
            <a:noFill/>
            <a:ln>
              <a:noFill/>
            </a:ln>
          </p:spPr>
          <p:txBody>
            <a:bodyPr wrap="none" lIns="0" tIns="0" rIns="0" bIns="0" anchor="t" anchorCtr="0">
              <a:spAutoFit/>
            </a:bodyPr>
            <a:lstStyle/>
            <a:p>
              <a:pPr algn="ctr"/>
              <a:r>
                <a:rPr lang="zh-CN" sz="900" i="1" dirty="0">
                  <a:solidFill>
                    <a:srgbClr val="FFFFFF">
                      <a:alphaMod val="85000"/>
                    </a:srgbClr>
                  </a:solidFill>
                  <a:latin typeface="Cambria"/>
                  <a:ea typeface="SimSun"/>
                  <a:cs typeface="Cambria"/>
                </a:rPr>
                <a:t>通用大模型 ≠ 物理量回归</a:t>
              </a:r>
            </a:p>
          </p:txBody>
        </p:sp>
      </p:grpSp>
      <p:sp>
        <p:nvSpPr>
          <p:cNvPr id="90" name="TextBox 90"/>
          <p:cNvSpPr txBox="1"/>
          <p:nvPr/>
        </p:nvSpPr>
        <p:spPr>
          <a:xfrm>
            <a:off x="561022" y="6654641"/>
            <a:ext cx="2816404"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2 · Q2 Route 2</a:t>
            </a:r>
          </a:p>
        </p:txBody>
      </p:sp>
      <p:sp>
        <p:nvSpPr>
          <p:cNvPr id="91" name="TextBox 91"/>
          <p:cNvSpPr txBox="1"/>
          <p:nvPr/>
        </p:nvSpPr>
        <p:spPr>
          <a:xfrm>
            <a:off x="11251928" y="6654641"/>
            <a:ext cx="379050"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12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400"/>
                                        <p:tgtEl>
                                          <p:spTgt spid="1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slide(fromBottom)">
                                      <p:cBhvr>
                                        <p:cTn id="11" dur="400"/>
                                        <p:tgtEl>
                                          <p:spTgt spid="39"/>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image">
                                      <p:cBhvr>
                                        <p:cTn id="15" dur="400"/>
                                        <p:tgtEl>
                                          <p:spTgt spid="6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89"/>
                                        </p:tgtEl>
                                        <p:attrNameLst>
                                          <p:attrName>style.visibility</p:attrName>
                                        </p:attrNameLst>
                                      </p:cBhvr>
                                      <p:to>
                                        <p:strVal val="visible"/>
                                      </p:to>
                                    </p:set>
                                    <p:animEffect transition="in" filter="fade">
                                      <p:cBhvr>
                                        <p:cTn id="19" dur="4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9" grpId="0"/>
      <p:bldP spid="64" grpId="0"/>
      <p:bldP spid="8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D2A4F"/>
              </a:gs>
              <a:gs pos="55000">
                <a:srgbClr val="1565C0"/>
              </a:gs>
              <a:gs pos="100000">
                <a:srgbClr val="5C6BC0"/>
              </a:gs>
            </a:gsLst>
            <a:lin ang="2700000" scaled="1"/>
          </a:gradFill>
          <a:ln>
            <a:noFill/>
          </a:ln>
        </p:spPr>
      </p:sp>
      <p:sp>
        <p:nvSpPr>
          <p:cNvPr id="3" name="Rectangle 3"/>
          <p:cNvSpPr/>
          <p:nvPr/>
        </p:nvSpPr>
        <p:spPr>
          <a:xfrm>
            <a:off x="0" y="0"/>
            <a:ext cx="12192000" cy="6858000"/>
          </a:xfrm>
          <a:prstGeom prst="rect">
            <a:avLst/>
          </a:prstGeom>
          <a:gradFill>
            <a:gsLst>
              <a:gs pos="0">
                <a:srgbClr val="FF8F00">
                  <a:alpha val="20000"/>
                </a:srgbClr>
              </a:gs>
              <a:gs pos="100000">
                <a:srgbClr val="FF8F00">
                  <a:alpha val="0"/>
                </a:srgbClr>
              </a:gs>
            </a:gsLst>
            <a:path path="circle">
              <a:fillToRect l="50000" t="50000" r="50000" b="50000"/>
            </a:path>
          </a:gradFill>
          <a:ln>
            <a:noFill/>
          </a:ln>
        </p:spPr>
      </p:sp>
      <p:sp>
        <p:nvSpPr>
          <p:cNvPr id="4" name="Rectangle 4"/>
          <p:cNvSpPr/>
          <p:nvPr/>
        </p:nvSpPr>
        <p:spPr>
          <a:xfrm>
            <a:off x="0" y="0"/>
            <a:ext cx="12192000" cy="6858000"/>
          </a:xfrm>
          <a:prstGeom prst="rect">
            <a:avLst/>
          </a:prstGeom>
          <a:gradFill>
            <a:gsLst>
              <a:gs pos="0">
                <a:srgbClr val="FFB300">
                  <a:alpha val="15000"/>
                </a:srgbClr>
              </a:gs>
              <a:gs pos="100000">
                <a:srgbClr val="FFB300">
                  <a:alpha val="0"/>
                </a:srgbClr>
              </a:gs>
            </a:gsLst>
            <a:path path="circle">
              <a:fillToRect l="50000" t="50000" r="50000" b="50000"/>
            </a:path>
          </a:gradFill>
          <a:ln>
            <a:noFill/>
          </a:ln>
        </p:spPr>
      </p:sp>
      <p:sp>
        <p:nvSpPr>
          <p:cNvPr id="5" name="Ellipse 5"/>
          <p:cNvSpPr/>
          <p:nvPr/>
        </p:nvSpPr>
        <p:spPr>
          <a:xfrm>
            <a:off x="10925175" y="1304925"/>
            <a:ext cx="57150" cy="57150"/>
          </a:xfrm>
          <a:prstGeom prst="ellipse">
            <a:avLst/>
          </a:prstGeom>
          <a:solidFill>
            <a:srgbClr val="FFFFFF">
              <a:alpha val="25000"/>
            </a:srgbClr>
          </a:solidFill>
          <a:ln>
            <a:noFill/>
          </a:ln>
        </p:spPr>
      </p:sp>
      <p:sp>
        <p:nvSpPr>
          <p:cNvPr id="6" name="Ellipse 6"/>
          <p:cNvSpPr/>
          <p:nvPr/>
        </p:nvSpPr>
        <p:spPr>
          <a:xfrm>
            <a:off x="11220450" y="1600200"/>
            <a:ext cx="38100" cy="38100"/>
          </a:xfrm>
          <a:prstGeom prst="ellipse">
            <a:avLst/>
          </a:prstGeom>
          <a:solidFill>
            <a:srgbClr val="FFFFFF">
              <a:alpha val="20000"/>
            </a:srgbClr>
          </a:solidFill>
          <a:ln>
            <a:noFill/>
          </a:ln>
        </p:spPr>
      </p:sp>
      <p:sp>
        <p:nvSpPr>
          <p:cNvPr id="7" name="Ellipse 7"/>
          <p:cNvSpPr/>
          <p:nvPr/>
        </p:nvSpPr>
        <p:spPr>
          <a:xfrm>
            <a:off x="10739438" y="1690688"/>
            <a:ext cx="47625" cy="47625"/>
          </a:xfrm>
          <a:prstGeom prst="ellipse">
            <a:avLst/>
          </a:prstGeom>
          <a:solidFill>
            <a:srgbClr val="FF8F00">
              <a:alpha val="40000"/>
            </a:srgbClr>
          </a:solidFill>
          <a:ln>
            <a:noFill/>
          </a:ln>
        </p:spPr>
      </p:sp>
      <p:sp>
        <p:nvSpPr>
          <p:cNvPr id="8" name="Ellipse 8"/>
          <p:cNvSpPr/>
          <p:nvPr/>
        </p:nvSpPr>
        <p:spPr>
          <a:xfrm>
            <a:off x="1114425" y="6067425"/>
            <a:ext cx="57150" cy="57150"/>
          </a:xfrm>
          <a:prstGeom prst="ellipse">
            <a:avLst/>
          </a:prstGeom>
          <a:solidFill>
            <a:srgbClr val="FFFFFF">
              <a:alpha val="22000"/>
            </a:srgbClr>
          </a:solidFill>
          <a:ln>
            <a:noFill/>
          </a:ln>
        </p:spPr>
      </p:sp>
      <p:sp>
        <p:nvSpPr>
          <p:cNvPr id="9" name="Ellipse 9"/>
          <p:cNvSpPr/>
          <p:nvPr/>
        </p:nvSpPr>
        <p:spPr>
          <a:xfrm>
            <a:off x="742950" y="6457950"/>
            <a:ext cx="38100" cy="38100"/>
          </a:xfrm>
          <a:prstGeom prst="ellipse">
            <a:avLst/>
          </a:prstGeom>
          <a:solidFill>
            <a:srgbClr val="FF8F00">
              <a:alpha val="30000"/>
            </a:srgbClr>
          </a:solidFill>
          <a:ln>
            <a:noFill/>
          </a:ln>
        </p:spPr>
      </p:sp>
      <p:sp>
        <p:nvSpPr>
          <p:cNvPr id="10" name="TextBox 10"/>
          <p:cNvSpPr txBox="1"/>
          <p:nvPr/>
        </p:nvSpPr>
        <p:spPr>
          <a:xfrm>
            <a:off x="4458112" y="648652"/>
            <a:ext cx="3275776" cy="213360"/>
          </a:xfrm>
          <a:prstGeom prst="rect">
            <a:avLst/>
          </a:prstGeom>
          <a:noFill/>
          <a:ln>
            <a:noFill/>
          </a:ln>
        </p:spPr>
        <p:txBody>
          <a:bodyPr wrap="none" lIns="0" tIns="0" rIns="0" bIns="0" anchor="t" anchorCtr="0">
            <a:spAutoFit/>
          </a:bodyPr>
          <a:lstStyle/>
          <a:p>
            <a:pPr algn="ctr"/>
            <a:r>
              <a:rPr lang="zh-CN" sz="1050" b="1" dirty="0">
                <a:solidFill>
                  <a:srgbClr val="FFFFFF">
                    <a:alphaMod val="65000"/>
                  </a:srgbClr>
                </a:solidFill>
                <a:latin typeface="Cambria"/>
                <a:ea typeface="SimSun"/>
                <a:cs typeface="Cambria"/>
              </a:rPr>
              <a:t>Q2 · METHODOLOGICAL PIVOT · THE KEY INSIGHT</a:t>
            </a:r>
          </a:p>
        </p:txBody>
      </p:sp>
      <p:sp>
        <p:nvSpPr>
          <p:cNvPr id="11" name="Line 11"/>
          <p:cNvSpPr/>
          <p:nvPr/>
        </p:nvSpPr>
        <p:spPr>
          <a:xfrm>
            <a:off x="5143500" y="952500"/>
            <a:ext cx="1905000" cy="9525"/>
          </a:xfrm>
          <a:custGeom>
            <a:avLst/>
            <a:gdLst/>
            <a:ahLst/>
            <a:cxnLst/>
            <a:rect l="l" t="t" r="r" b="b"/>
            <a:pathLst>
              <a:path w="1905000" h="9525">
                <a:moveTo>
                  <a:pt x="0" y="0"/>
                </a:moveTo>
                <a:lnTo>
                  <a:pt x="1905000" y="0"/>
                </a:lnTo>
              </a:path>
            </a:pathLst>
          </a:custGeom>
          <a:noFill/>
          <a:ln w="19050" cap="rnd">
            <a:solidFill>
              <a:srgbClr val="FF8F00"/>
            </a:solidFill>
          </a:ln>
        </p:spPr>
      </p:sp>
      <p:sp>
        <p:nvSpPr>
          <p:cNvPr id="12" name="TextBox 12"/>
          <p:cNvSpPr txBox="1"/>
          <p:nvPr/>
        </p:nvSpPr>
        <p:spPr>
          <a:xfrm>
            <a:off x="4790122" y="1230630"/>
            <a:ext cx="2611755" cy="731520"/>
          </a:xfrm>
          <a:prstGeom prst="rect">
            <a:avLst/>
          </a:prstGeom>
          <a:noFill/>
          <a:ln>
            <a:noFill/>
          </a:ln>
        </p:spPr>
        <p:txBody>
          <a:bodyPr wrap="none" lIns="0" tIns="0" rIns="0" bIns="0" anchor="t" anchorCtr="0">
            <a:spAutoFit/>
          </a:bodyPr>
          <a:lstStyle/>
          <a:p>
            <a:pPr algn="ctr"/>
            <a:r>
              <a:rPr lang="zh-CN" sz="3600" b="1" dirty="0">
                <a:gradFill>
                  <a:gsLst>
                    <a:gs pos="0">
                      <a:srgbClr val="FFFFFF"/>
                    </a:gs>
                    <a:gs pos="100000">
                      <a:srgbClr val="FFB300"/>
                    </a:gs>
                  </a:gsLst>
                  <a:lin ang="0" scaled="1"/>
                </a:gradFill>
                <a:latin typeface="Cambria"/>
                <a:ea typeface="SimSun"/>
                <a:cs typeface="Cambria"/>
              </a:rPr>
              <a:t>方法论转向</a:t>
            </a:r>
          </a:p>
        </p:txBody>
      </p:sp>
      <p:sp>
        <p:nvSpPr>
          <p:cNvPr id="13" name="TextBox 13"/>
          <p:cNvSpPr txBox="1"/>
          <p:nvPr/>
        </p:nvSpPr>
        <p:spPr>
          <a:xfrm>
            <a:off x="4072795" y="1822132"/>
            <a:ext cx="4046410" cy="335280"/>
          </a:xfrm>
          <a:prstGeom prst="rect">
            <a:avLst/>
          </a:prstGeom>
          <a:noFill/>
          <a:ln>
            <a:noFill/>
          </a:ln>
        </p:spPr>
        <p:txBody>
          <a:bodyPr wrap="none" lIns="0" tIns="0" rIns="0" bIns="0" anchor="t" anchorCtr="0">
            <a:spAutoFit/>
          </a:bodyPr>
          <a:lstStyle/>
          <a:p>
            <a:pPr algn="ctr"/>
            <a:r>
              <a:rPr lang="zh-CN" sz="1650" dirty="0">
                <a:solidFill>
                  <a:srgbClr val="FFFFFF">
                    <a:alphaMod val="92000"/>
                  </a:srgbClr>
                </a:solidFill>
                <a:latin typeface="Arial"/>
                <a:ea typeface="Microsoft YaHei"/>
                <a:cs typeface="Arial"/>
              </a:rPr>
              <a:t>从"直接估计重量"转向"从热量反推重量"</a:t>
            </a:r>
          </a:p>
        </p:txBody>
      </p:sp>
      <p:grpSp>
        <p:nvGrpSpPr>
          <p:cNvPr id="23" name="Group 23"/>
          <p:cNvGrpSpPr/>
          <p:nvPr/>
        </p:nvGrpSpPr>
        <p:grpSpPr>
          <a:xfrm>
            <a:off x="762000" y="2381250"/>
            <a:ext cx="5143500" cy="1143000"/>
            <a:chOff x="762000" y="2381250"/>
            <a:chExt cx="5143500" cy="1143000"/>
          </a:xfrm>
        </p:grpSpPr>
        <p:sp>
          <p:nvSpPr>
            <p:cNvPr id="14" name="Rectangle 14"/>
            <p:cNvSpPr/>
            <p:nvPr/>
          </p:nvSpPr>
          <p:spPr>
            <a:xfrm>
              <a:off x="762000" y="2381250"/>
              <a:ext cx="5143500" cy="1143000"/>
            </a:xfrm>
            <a:prstGeom prst="roundRect">
              <a:avLst>
                <a:gd name="adj" fmla="val 8333"/>
              </a:avLst>
            </a:prstGeom>
            <a:solidFill>
              <a:srgbClr val="FFFFFF">
                <a:alpha val="10000"/>
              </a:srgbClr>
            </a:solidFill>
            <a:ln>
              <a:noFill/>
            </a:ln>
          </p:spPr>
        </p:sp>
        <p:sp>
          <p:nvSpPr>
            <p:cNvPr id="15" name="Rectangle 15"/>
            <p:cNvSpPr/>
            <p:nvPr/>
          </p:nvSpPr>
          <p:spPr>
            <a:xfrm>
              <a:off x="762000" y="2381250"/>
              <a:ext cx="5143500" cy="1143000"/>
            </a:xfrm>
            <a:prstGeom prst="roundRect">
              <a:avLst>
                <a:gd name="adj" fmla="val 8333"/>
              </a:avLst>
            </a:prstGeom>
            <a:noFill/>
            <a:ln w="9525">
              <a:solidFill>
                <a:srgbClr val="FFFFFF">
                  <a:alpha val="25000"/>
                </a:srgbClr>
              </a:solidFill>
            </a:ln>
          </p:spPr>
        </p:sp>
        <p:grpSp>
          <p:nvGrpSpPr>
            <p:cNvPr id="19" name="Group 19"/>
            <p:cNvGrpSpPr/>
            <p:nvPr/>
          </p:nvGrpSpPr>
          <p:grpSpPr>
            <a:xfrm>
              <a:off x="990600" y="2609850"/>
              <a:ext cx="228600" cy="228600"/>
              <a:chOff x="990600" y="2609850"/>
              <a:chExt cx="228600" cy="228600"/>
            </a:xfrm>
          </p:grpSpPr>
          <p:sp>
            <p:nvSpPr>
              <p:cNvPr id="16" name="Freeform 16"/>
              <p:cNvSpPr/>
              <p:nvPr/>
            </p:nvSpPr>
            <p:spPr>
              <a:xfrm>
                <a:off x="990600" y="278765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FF8F00"/>
                </a:solidFill>
              </a:ln>
            </p:spPr>
          </p:sp>
          <p:sp>
            <p:nvSpPr>
              <p:cNvPr id="17" name="Freeform 17"/>
              <p:cNvSpPr/>
              <p:nvPr/>
            </p:nvSpPr>
            <p:spPr>
              <a:xfrm>
                <a:off x="1168400" y="260985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19050">
                <a:solidFill>
                  <a:srgbClr val="FF8F00"/>
                </a:solidFill>
              </a:ln>
            </p:spPr>
          </p:sp>
          <p:sp>
            <p:nvSpPr>
              <p:cNvPr id="18" name="Freeform 18"/>
              <p:cNvSpPr/>
              <p:nvPr/>
            </p:nvSpPr>
            <p:spPr>
              <a:xfrm>
                <a:off x="1016000" y="263525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19050">
                <a:solidFill>
                  <a:srgbClr val="FF8F00"/>
                </a:solidFill>
              </a:ln>
            </p:spPr>
          </p:sp>
        </p:grpSp>
        <p:sp>
          <p:nvSpPr>
            <p:cNvPr id="20" name="TextBox 20"/>
            <p:cNvSpPr txBox="1"/>
            <p:nvPr/>
          </p:nvSpPr>
          <p:spPr>
            <a:xfrm>
              <a:off x="1318260" y="2651760"/>
              <a:ext cx="2979249" cy="243840"/>
            </a:xfrm>
            <a:prstGeom prst="rect">
              <a:avLst/>
            </a:prstGeom>
            <a:noFill/>
            <a:ln>
              <a:noFill/>
            </a:ln>
          </p:spPr>
          <p:txBody>
            <a:bodyPr wrap="none" lIns="0" tIns="0" rIns="0" bIns="0" anchor="t" anchorCtr="0">
              <a:spAutoFit/>
            </a:bodyPr>
            <a:lstStyle/>
            <a:p>
              <a:pPr algn="l"/>
              <a:r>
                <a:rPr lang="zh-CN" sz="1200" b="1" dirty="0">
                  <a:solidFill>
                    <a:srgbClr val="FFB300"/>
                  </a:solidFill>
                  <a:latin typeface="Cambria"/>
                  <a:ea typeface="SimSun"/>
                  <a:cs typeface="Cambria"/>
                </a:rPr>
                <a:t>路线三 · 单目 3D 重建 — 数学欠定,失败</a:t>
              </a:r>
            </a:p>
          </p:txBody>
        </p:sp>
        <p:sp>
          <p:nvSpPr>
            <p:cNvPr id="21" name="TextBox 21"/>
            <p:cNvSpPr txBox="1"/>
            <p:nvPr/>
          </p:nvSpPr>
          <p:spPr>
            <a:xfrm>
              <a:off x="940118" y="2980849"/>
              <a:ext cx="3008638" cy="198120"/>
            </a:xfrm>
            <a:prstGeom prst="rect">
              <a:avLst/>
            </a:prstGeom>
            <a:noFill/>
            <a:ln>
              <a:noFill/>
            </a:ln>
          </p:spPr>
          <p:txBody>
            <a:bodyPr wrap="none" lIns="0" tIns="0" rIns="0" bIns="0" anchor="t" anchorCtr="0">
              <a:spAutoFit/>
            </a:bodyPr>
            <a:lstStyle/>
            <a:p>
              <a:pPr algn="l"/>
              <a:r>
                <a:rPr lang="zh-CN" sz="975" dirty="0">
                  <a:solidFill>
                    <a:srgbClr val="FFFFFF">
                      <a:alphaMod val="85000"/>
                    </a:srgbClr>
                  </a:solidFill>
                  <a:latin typeface="Arial"/>
                  <a:ea typeface="Microsoft YaHei"/>
                  <a:cs typeface="Arial"/>
                </a:rPr>
                <a:t>MiDaS 输出相对深度,单张 2D 恢复完整 3D 数学欠定</a:t>
              </a:r>
            </a:p>
          </p:txBody>
        </p:sp>
        <p:sp>
          <p:nvSpPr>
            <p:cNvPr id="22" name="TextBox 22"/>
            <p:cNvSpPr txBox="1"/>
            <p:nvPr/>
          </p:nvSpPr>
          <p:spPr>
            <a:xfrm>
              <a:off x="940118" y="3209449"/>
              <a:ext cx="2319552" cy="198120"/>
            </a:xfrm>
            <a:prstGeom prst="rect">
              <a:avLst/>
            </a:prstGeom>
            <a:noFill/>
            <a:ln>
              <a:noFill/>
            </a:ln>
          </p:spPr>
          <p:txBody>
            <a:bodyPr wrap="none" lIns="0" tIns="0" rIns="0" bIns="0" anchor="t" anchorCtr="0">
              <a:spAutoFit/>
            </a:bodyPr>
            <a:lstStyle/>
            <a:p>
              <a:pPr algn="l"/>
              <a:r>
                <a:rPr lang="zh-CN" sz="975" dirty="0">
                  <a:solidFill>
                    <a:srgbClr val="FFFFFF">
                      <a:alphaMod val="85000"/>
                    </a:srgbClr>
                  </a:solidFill>
                  <a:latin typeface="Arial"/>
                  <a:ea typeface="Microsoft YaHei"/>
                  <a:cs typeface="Arial"/>
                </a:rPr>
                <a:t>遮挡面(背面、底部)不可见,无绝对尺度</a:t>
              </a:r>
            </a:p>
          </p:txBody>
        </p:sp>
      </p:grpSp>
      <p:grpSp>
        <p:nvGrpSpPr>
          <p:cNvPr id="33" name="Group 33"/>
          <p:cNvGrpSpPr/>
          <p:nvPr/>
        </p:nvGrpSpPr>
        <p:grpSpPr>
          <a:xfrm>
            <a:off x="6286500" y="2381250"/>
            <a:ext cx="5143500" cy="1143000"/>
            <a:chOff x="6286500" y="2381250"/>
            <a:chExt cx="5143500" cy="1143000"/>
          </a:xfrm>
        </p:grpSpPr>
        <p:sp>
          <p:nvSpPr>
            <p:cNvPr id="24" name="Rectangle 24"/>
            <p:cNvSpPr/>
            <p:nvPr/>
          </p:nvSpPr>
          <p:spPr>
            <a:xfrm>
              <a:off x="6286500" y="2381250"/>
              <a:ext cx="5143500" cy="1143000"/>
            </a:xfrm>
            <a:prstGeom prst="roundRect">
              <a:avLst>
                <a:gd name="adj" fmla="val 8333"/>
              </a:avLst>
            </a:prstGeom>
            <a:solidFill>
              <a:srgbClr val="FF8F00">
                <a:alpha val="18000"/>
              </a:srgbClr>
            </a:solidFill>
            <a:ln>
              <a:noFill/>
            </a:ln>
          </p:spPr>
        </p:sp>
        <p:sp>
          <p:nvSpPr>
            <p:cNvPr id="25" name="Rectangle 25"/>
            <p:cNvSpPr/>
            <p:nvPr/>
          </p:nvSpPr>
          <p:spPr>
            <a:xfrm>
              <a:off x="6286500" y="2381250"/>
              <a:ext cx="5143500" cy="1143000"/>
            </a:xfrm>
            <a:prstGeom prst="roundRect">
              <a:avLst>
                <a:gd name="adj" fmla="val 8333"/>
              </a:avLst>
            </a:prstGeom>
            <a:noFill/>
            <a:ln w="14288">
              <a:solidFill>
                <a:srgbClr val="FF8F00">
                  <a:alpha val="55000"/>
                </a:srgbClr>
              </a:solidFill>
            </a:ln>
          </p:spPr>
        </p:sp>
        <p:grpSp>
          <p:nvGrpSpPr>
            <p:cNvPr id="29" name="Group 29"/>
            <p:cNvGrpSpPr/>
            <p:nvPr/>
          </p:nvGrpSpPr>
          <p:grpSpPr>
            <a:xfrm>
              <a:off x="6515100" y="2609850"/>
              <a:ext cx="228600" cy="228600"/>
              <a:chOff x="6515100" y="2609850"/>
              <a:chExt cx="228600" cy="228600"/>
            </a:xfrm>
          </p:grpSpPr>
          <p:sp>
            <p:nvSpPr>
              <p:cNvPr id="26" name="Freeform 26"/>
              <p:cNvSpPr/>
              <p:nvPr/>
            </p:nvSpPr>
            <p:spPr>
              <a:xfrm>
                <a:off x="6515100" y="2609850"/>
                <a:ext cx="228600" cy="114300"/>
              </a:xfrm>
              <a:custGeom>
                <a:avLst/>
                <a:gdLst/>
                <a:ahLst/>
                <a:cxnLst/>
                <a:rect l="l" t="t" r="r" b="b"/>
                <a:pathLst>
                  <a:path w="228600" h="114300">
                    <a:moveTo>
                      <a:pt x="0" y="114300"/>
                    </a:moveTo>
                    <a:lnTo>
                      <a:pt x="12700" y="114300"/>
                    </a:lnTo>
                    <a:moveTo>
                      <a:pt x="114300" y="0"/>
                    </a:moveTo>
                    <a:lnTo>
                      <a:pt x="114300" y="12700"/>
                    </a:lnTo>
                    <a:moveTo>
                      <a:pt x="215900" y="114300"/>
                    </a:moveTo>
                    <a:lnTo>
                      <a:pt x="228600" y="114300"/>
                    </a:lnTo>
                    <a:moveTo>
                      <a:pt x="33020" y="33020"/>
                    </a:moveTo>
                    <a:lnTo>
                      <a:pt x="41910" y="41910"/>
                    </a:lnTo>
                    <a:moveTo>
                      <a:pt x="195580" y="33020"/>
                    </a:moveTo>
                    <a:lnTo>
                      <a:pt x="186690" y="41910"/>
                    </a:lnTo>
                  </a:path>
                </a:pathLst>
              </a:custGeom>
              <a:noFill/>
              <a:ln w="19050">
                <a:solidFill>
                  <a:srgbClr val="FFB300"/>
                </a:solidFill>
              </a:ln>
            </p:spPr>
          </p:sp>
          <p:sp>
            <p:nvSpPr>
              <p:cNvPr id="27" name="Freeform 27"/>
              <p:cNvSpPr/>
              <p:nvPr/>
            </p:nvSpPr>
            <p:spPr>
              <a:xfrm>
                <a:off x="6560515" y="2660650"/>
                <a:ext cx="137769" cy="177800"/>
              </a:xfrm>
              <a:custGeom>
                <a:avLst/>
                <a:gdLst/>
                <a:ahLst/>
                <a:cxnLst/>
                <a:rect l="l" t="t" r="r" b="b"/>
                <a:pathLst>
                  <a:path w="137769" h="177800">
                    <a:moveTo>
                      <a:pt x="30785" y="114300"/>
                    </a:moveTo>
                    <a:cubicBezTo>
                      <a:pt x="8919" y="97901"/>
                      <a:pt x="0" y="69349"/>
                      <a:pt x="8643" y="43420"/>
                    </a:cubicBezTo>
                    <a:cubicBezTo>
                      <a:pt x="17286" y="17490"/>
                      <a:pt x="41552" y="0"/>
                      <a:pt x="68885" y="0"/>
                    </a:cubicBezTo>
                    <a:cubicBezTo>
                      <a:pt x="96217" y="0"/>
                      <a:pt x="120483" y="17490"/>
                      <a:pt x="129126" y="43420"/>
                    </a:cubicBezTo>
                    <a:cubicBezTo>
                      <a:pt x="137769" y="69349"/>
                      <a:pt x="128850" y="97901"/>
                      <a:pt x="106985" y="114300"/>
                    </a:cubicBezTo>
                    <a:cubicBezTo>
                      <a:pt x="96928" y="124255"/>
                      <a:pt x="92212" y="138402"/>
                      <a:pt x="94285" y="152400"/>
                    </a:cubicBezTo>
                    <a:cubicBezTo>
                      <a:pt x="94285" y="166428"/>
                      <a:pt x="82913" y="177800"/>
                      <a:pt x="68885" y="177800"/>
                    </a:cubicBezTo>
                    <a:cubicBezTo>
                      <a:pt x="54857" y="177800"/>
                      <a:pt x="43485" y="166428"/>
                      <a:pt x="43485" y="152400"/>
                    </a:cubicBezTo>
                    <a:cubicBezTo>
                      <a:pt x="45557" y="138402"/>
                      <a:pt x="40841" y="124255"/>
                      <a:pt x="30785" y="114300"/>
                    </a:cubicBezTo>
                  </a:path>
                </a:pathLst>
              </a:custGeom>
              <a:noFill/>
              <a:ln w="19050">
                <a:solidFill>
                  <a:srgbClr val="FFB300"/>
                </a:solidFill>
              </a:ln>
            </p:spPr>
          </p:sp>
          <p:sp>
            <p:nvSpPr>
              <p:cNvPr id="28" name="Freeform 28"/>
              <p:cNvSpPr/>
              <p:nvPr/>
            </p:nvSpPr>
            <p:spPr>
              <a:xfrm>
                <a:off x="6600190" y="2787650"/>
                <a:ext cx="58420" cy="9525"/>
              </a:xfrm>
              <a:custGeom>
                <a:avLst/>
                <a:gdLst/>
                <a:ahLst/>
                <a:cxnLst/>
                <a:rect l="l" t="t" r="r" b="b"/>
                <a:pathLst>
                  <a:path w="58420" h="9525">
                    <a:moveTo>
                      <a:pt x="0" y="0"/>
                    </a:moveTo>
                    <a:lnTo>
                      <a:pt x="58420" y="0"/>
                    </a:lnTo>
                  </a:path>
                </a:pathLst>
              </a:custGeom>
              <a:noFill/>
              <a:ln w="19050">
                <a:solidFill>
                  <a:srgbClr val="FFB300"/>
                </a:solidFill>
              </a:ln>
            </p:spPr>
          </p:sp>
        </p:grpSp>
        <p:sp>
          <p:nvSpPr>
            <p:cNvPr id="30" name="TextBox 30"/>
            <p:cNvSpPr txBox="1"/>
            <p:nvPr/>
          </p:nvSpPr>
          <p:spPr>
            <a:xfrm>
              <a:off x="6842760" y="2651760"/>
              <a:ext cx="1912315" cy="243840"/>
            </a:xfrm>
            <a:prstGeom prst="rect">
              <a:avLst/>
            </a:prstGeom>
            <a:noFill/>
            <a:ln>
              <a:noFill/>
            </a:ln>
          </p:spPr>
          <p:txBody>
            <a:bodyPr wrap="none" lIns="0" tIns="0" rIns="0" bIns="0" anchor="t" anchorCtr="0">
              <a:spAutoFit/>
            </a:bodyPr>
            <a:lstStyle/>
            <a:p>
              <a:pPr algn="l"/>
              <a:r>
                <a:rPr lang="zh-CN" sz="1200" b="1" dirty="0">
                  <a:solidFill>
                    <a:srgbClr val="FFB300"/>
                  </a:solidFill>
                  <a:latin typeface="Cambria"/>
                  <a:ea typeface="SimSun"/>
                  <a:cs typeface="Cambria"/>
                </a:rPr>
                <a:t>关键认识 · CORE INSIGHT</a:t>
              </a:r>
            </a:p>
          </p:txBody>
        </p:sp>
        <p:sp>
          <p:nvSpPr>
            <p:cNvPr id="31" name="TextBox 31"/>
            <p:cNvSpPr txBox="1"/>
            <p:nvPr/>
          </p:nvSpPr>
          <p:spPr>
            <a:xfrm>
              <a:off x="6463665" y="2972752"/>
              <a:ext cx="2474526"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食物重量估计本质是"视觉-物理映射"</a:t>
              </a:r>
            </a:p>
          </p:txBody>
        </p:sp>
        <p:sp>
          <p:nvSpPr>
            <p:cNvPr id="32" name="TextBox 32"/>
            <p:cNvSpPr txBox="1"/>
            <p:nvPr/>
          </p:nvSpPr>
          <p:spPr>
            <a:xfrm>
              <a:off x="6464618" y="3209449"/>
              <a:ext cx="2397562" cy="198120"/>
            </a:xfrm>
            <a:prstGeom prst="rect">
              <a:avLst/>
            </a:prstGeom>
            <a:noFill/>
            <a:ln>
              <a:noFill/>
            </a:ln>
          </p:spPr>
          <p:txBody>
            <a:bodyPr wrap="none" lIns="0" tIns="0" rIns="0" bIns="0" anchor="t" anchorCtr="0">
              <a:spAutoFit/>
            </a:bodyPr>
            <a:lstStyle/>
            <a:p>
              <a:pPr algn="l"/>
              <a:r>
                <a:rPr lang="zh-CN" sz="975" dirty="0">
                  <a:solidFill>
                    <a:srgbClr val="FFFFFF">
                      <a:alphaMod val="85000"/>
                    </a:srgbClr>
                  </a:solidFill>
                  <a:latin typeface="Arial"/>
                  <a:ea typeface="Microsoft YaHei"/>
                  <a:cs typeface="Arial"/>
                </a:rPr>
                <a:t>而非"语义理解" — 热量是固有属性更稳定</a:t>
              </a:r>
            </a:p>
          </p:txBody>
        </p:sp>
      </p:grpSp>
      <p:sp>
        <p:nvSpPr>
          <p:cNvPr id="34" name="TextBox 34"/>
          <p:cNvSpPr txBox="1"/>
          <p:nvPr/>
        </p:nvSpPr>
        <p:spPr>
          <a:xfrm>
            <a:off x="4983703" y="3753802"/>
            <a:ext cx="2224595" cy="213360"/>
          </a:xfrm>
          <a:prstGeom prst="rect">
            <a:avLst/>
          </a:prstGeom>
          <a:noFill/>
          <a:ln>
            <a:noFill/>
          </a:ln>
        </p:spPr>
        <p:txBody>
          <a:bodyPr wrap="none" lIns="0" tIns="0" rIns="0" bIns="0" anchor="t" anchorCtr="0">
            <a:spAutoFit/>
          </a:bodyPr>
          <a:lstStyle/>
          <a:p>
            <a:pPr algn="ctr"/>
            <a:r>
              <a:rPr lang="zh-CN" sz="1050" b="1" dirty="0">
                <a:solidFill>
                  <a:srgbClr val="FFFFFF">
                    <a:alphaMod val="75000"/>
                  </a:srgbClr>
                </a:solidFill>
                <a:latin typeface="Arial"/>
                <a:ea typeface="Microsoft YaHei"/>
                <a:cs typeface="Arial"/>
              </a:rPr>
              <a:t>核心创意 · CORE IDEA · 反推链路</a:t>
            </a:r>
          </a:p>
        </p:txBody>
      </p:sp>
      <p:grpSp>
        <p:nvGrpSpPr>
          <p:cNvPr id="79" name="Group 79"/>
          <p:cNvGrpSpPr/>
          <p:nvPr/>
        </p:nvGrpSpPr>
        <p:grpSpPr>
          <a:xfrm>
            <a:off x="762000" y="4095750"/>
            <a:ext cx="10858500" cy="1143000"/>
            <a:chOff x="762000" y="4095750"/>
            <a:chExt cx="10858500" cy="1143000"/>
          </a:xfrm>
        </p:grpSpPr>
        <p:sp>
          <p:nvSpPr>
            <p:cNvPr id="35" name="Rectangle 35"/>
            <p:cNvSpPr/>
            <p:nvPr/>
          </p:nvSpPr>
          <p:spPr>
            <a:xfrm>
              <a:off x="762000" y="4095750"/>
              <a:ext cx="1714500" cy="1143000"/>
            </a:xfrm>
            <a:prstGeom prst="roundRect">
              <a:avLst>
                <a:gd name="adj" fmla="val 11667"/>
              </a:avLst>
            </a:prstGeom>
            <a:gradFill>
              <a:gsLst>
                <a:gs pos="0">
                  <a:srgbClr val="5C6BC0"/>
                </a:gs>
                <a:gs pos="100000">
                  <a:srgbClr val="1565C0"/>
                </a:gs>
              </a:gsLst>
              <a:lin ang="2700000" scaled="1"/>
            </a:gradFill>
            <a:ln>
              <a:noFill/>
            </a:ln>
            <a:effectLst>
              <a:outerShdw blurRad="152400" dist="38100" dir="5400000" algn="ctr" rotWithShape="0">
                <a:srgbClr val="FF8F00">
                  <a:alpha val="26250"/>
                </a:srgbClr>
              </a:outerShdw>
            </a:effectLst>
          </p:spPr>
        </p:sp>
        <p:grpSp>
          <p:nvGrpSpPr>
            <p:cNvPr id="41" name="Group 41"/>
            <p:cNvGrpSpPr/>
            <p:nvPr/>
          </p:nvGrpSpPr>
          <p:grpSpPr>
            <a:xfrm>
              <a:off x="996950" y="4330700"/>
              <a:ext cx="177800" cy="177800"/>
              <a:chOff x="996950" y="4330700"/>
              <a:chExt cx="177800" cy="177800"/>
            </a:xfrm>
          </p:grpSpPr>
          <p:sp>
            <p:nvSpPr>
              <p:cNvPr id="36" name="Freeform 36"/>
              <p:cNvSpPr/>
              <p:nvPr/>
            </p:nvSpPr>
            <p:spPr>
              <a:xfrm>
                <a:off x="996950" y="4330700"/>
                <a:ext cx="44450" cy="33338"/>
              </a:xfrm>
              <a:custGeom>
                <a:avLst/>
                <a:gdLst/>
                <a:ahLst/>
                <a:cxnLst/>
                <a:rect l="l" t="t" r="r" b="b"/>
                <a:pathLst>
                  <a:path w="44450" h="33338">
                    <a:moveTo>
                      <a:pt x="0" y="33338"/>
                    </a:moveTo>
                    <a:lnTo>
                      <a:pt x="0" y="22225"/>
                    </a:lnTo>
                    <a:cubicBezTo>
                      <a:pt x="0" y="9950"/>
                      <a:pt x="9950" y="0"/>
                      <a:pt x="22225" y="0"/>
                    </a:cubicBezTo>
                    <a:lnTo>
                      <a:pt x="44450" y="0"/>
                    </a:lnTo>
                  </a:path>
                </a:pathLst>
              </a:custGeom>
              <a:noFill/>
              <a:ln w="19050">
                <a:solidFill>
                  <a:srgbClr val="FFFFFF"/>
                </a:solidFill>
              </a:ln>
            </p:spPr>
          </p:sp>
          <p:sp>
            <p:nvSpPr>
              <p:cNvPr id="37" name="Freeform 37"/>
              <p:cNvSpPr/>
              <p:nvPr/>
            </p:nvSpPr>
            <p:spPr>
              <a:xfrm>
                <a:off x="996950" y="4475162"/>
                <a:ext cx="44450" cy="33338"/>
              </a:xfrm>
              <a:custGeom>
                <a:avLst/>
                <a:gdLst/>
                <a:ahLst/>
                <a:cxnLst/>
                <a:rect l="l" t="t" r="r" b="b"/>
                <a:pathLst>
                  <a:path w="44450" h="33338">
                    <a:moveTo>
                      <a:pt x="0" y="0"/>
                    </a:moveTo>
                    <a:lnTo>
                      <a:pt x="0" y="11113"/>
                    </a:lnTo>
                    <a:cubicBezTo>
                      <a:pt x="0" y="23387"/>
                      <a:pt x="9950" y="33338"/>
                      <a:pt x="22225" y="33338"/>
                    </a:cubicBezTo>
                    <a:lnTo>
                      <a:pt x="44450" y="33338"/>
                    </a:lnTo>
                  </a:path>
                </a:pathLst>
              </a:custGeom>
              <a:noFill/>
              <a:ln w="19050">
                <a:solidFill>
                  <a:srgbClr val="FFFFFF"/>
                </a:solidFill>
              </a:ln>
            </p:spPr>
          </p:sp>
          <p:sp>
            <p:nvSpPr>
              <p:cNvPr id="38" name="Freeform 38"/>
              <p:cNvSpPr/>
              <p:nvPr/>
            </p:nvSpPr>
            <p:spPr>
              <a:xfrm>
                <a:off x="1130300" y="4330700"/>
                <a:ext cx="44450" cy="33338"/>
              </a:xfrm>
              <a:custGeom>
                <a:avLst/>
                <a:gdLst/>
                <a:ahLst/>
                <a:cxnLst/>
                <a:rect l="l" t="t" r="r" b="b"/>
                <a:pathLst>
                  <a:path w="44450" h="33338">
                    <a:moveTo>
                      <a:pt x="0" y="0"/>
                    </a:moveTo>
                    <a:lnTo>
                      <a:pt x="22225" y="0"/>
                    </a:lnTo>
                    <a:cubicBezTo>
                      <a:pt x="34500" y="0"/>
                      <a:pt x="44450" y="9950"/>
                      <a:pt x="44450" y="22225"/>
                    </a:cubicBezTo>
                    <a:lnTo>
                      <a:pt x="44450" y="33338"/>
                    </a:lnTo>
                  </a:path>
                </a:pathLst>
              </a:custGeom>
              <a:noFill/>
              <a:ln w="19050">
                <a:solidFill>
                  <a:srgbClr val="FFFFFF"/>
                </a:solidFill>
              </a:ln>
            </p:spPr>
          </p:sp>
          <p:sp>
            <p:nvSpPr>
              <p:cNvPr id="39" name="Freeform 39"/>
              <p:cNvSpPr/>
              <p:nvPr/>
            </p:nvSpPr>
            <p:spPr>
              <a:xfrm>
                <a:off x="1130300" y="4475162"/>
                <a:ext cx="44450" cy="33338"/>
              </a:xfrm>
              <a:custGeom>
                <a:avLst/>
                <a:gdLst/>
                <a:ahLst/>
                <a:cxnLst/>
                <a:rect l="l" t="t" r="r" b="b"/>
                <a:pathLst>
                  <a:path w="44450" h="33338">
                    <a:moveTo>
                      <a:pt x="0" y="33338"/>
                    </a:moveTo>
                    <a:lnTo>
                      <a:pt x="22225" y="33338"/>
                    </a:lnTo>
                    <a:cubicBezTo>
                      <a:pt x="34500" y="33338"/>
                      <a:pt x="44450" y="23387"/>
                      <a:pt x="44450" y="11113"/>
                    </a:cubicBezTo>
                    <a:lnTo>
                      <a:pt x="44450" y="0"/>
                    </a:lnTo>
                  </a:path>
                </a:pathLst>
              </a:custGeom>
              <a:noFill/>
              <a:ln w="19050">
                <a:solidFill>
                  <a:srgbClr val="FFFFFF"/>
                </a:solidFill>
              </a:ln>
            </p:spPr>
          </p:sp>
          <p:sp>
            <p:nvSpPr>
              <p:cNvPr id="40" name="Freeform 40"/>
              <p:cNvSpPr/>
              <p:nvPr/>
            </p:nvSpPr>
            <p:spPr>
              <a:xfrm>
                <a:off x="1008062" y="4419600"/>
                <a:ext cx="155575" cy="9525"/>
              </a:xfrm>
              <a:custGeom>
                <a:avLst/>
                <a:gdLst/>
                <a:ahLst/>
                <a:cxnLst/>
                <a:rect l="l" t="t" r="r" b="b"/>
                <a:pathLst>
                  <a:path w="155575" h="9525">
                    <a:moveTo>
                      <a:pt x="0" y="0"/>
                    </a:moveTo>
                    <a:lnTo>
                      <a:pt x="155575" y="0"/>
                    </a:lnTo>
                  </a:path>
                </a:pathLst>
              </a:custGeom>
              <a:noFill/>
              <a:ln w="19050">
                <a:solidFill>
                  <a:srgbClr val="FFFFFF"/>
                </a:solidFill>
              </a:ln>
            </p:spPr>
          </p:sp>
        </p:grpSp>
        <p:sp>
          <p:nvSpPr>
            <p:cNvPr id="42" name="TextBox 42"/>
            <p:cNvSpPr txBox="1"/>
            <p:nvPr/>
          </p:nvSpPr>
          <p:spPr>
            <a:xfrm>
              <a:off x="1415286" y="4482941"/>
              <a:ext cx="407928" cy="167640"/>
            </a:xfrm>
            <a:prstGeom prst="rect">
              <a:avLst/>
            </a:prstGeom>
            <a:noFill/>
            <a:ln>
              <a:noFill/>
            </a:ln>
          </p:spPr>
          <p:txBody>
            <a:bodyPr wrap="none" lIns="0" tIns="0" rIns="0" bIns="0" anchor="t" anchorCtr="0">
              <a:spAutoFit/>
            </a:bodyPr>
            <a:lstStyle/>
            <a:p>
              <a:pPr algn="ctr"/>
              <a:r>
                <a:rPr lang="zh-CN" sz="825" b="1" dirty="0">
                  <a:solidFill>
                    <a:srgbClr val="FFFFFF">
                      <a:alphaMod val="70000"/>
                    </a:srgbClr>
                  </a:solidFill>
                  <a:latin typeface="Cambria"/>
                  <a:ea typeface="SimSun"/>
                  <a:cs typeface="Cambria"/>
                </a:rPr>
                <a:t>STEP 01</a:t>
              </a:r>
            </a:p>
          </p:txBody>
        </p:sp>
        <p:sp>
          <p:nvSpPr>
            <p:cNvPr id="43" name="TextBox 43"/>
            <p:cNvSpPr txBox="1"/>
            <p:nvPr/>
          </p:nvSpPr>
          <p:spPr>
            <a:xfrm>
              <a:off x="1435989" y="4728210"/>
              <a:ext cx="36652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图像</a:t>
              </a:r>
            </a:p>
          </p:txBody>
        </p:sp>
        <p:sp>
          <p:nvSpPr>
            <p:cNvPr id="44" name="TextBox 44"/>
            <p:cNvSpPr txBox="1"/>
            <p:nvPr/>
          </p:nvSpPr>
          <p:spPr>
            <a:xfrm>
              <a:off x="1391495" y="4978241"/>
              <a:ext cx="455509" cy="167640"/>
            </a:xfrm>
            <a:prstGeom prst="rect">
              <a:avLst/>
            </a:prstGeom>
            <a:noFill/>
            <a:ln>
              <a:noFill/>
            </a:ln>
          </p:spPr>
          <p:txBody>
            <a:bodyPr wrap="none" lIns="0" tIns="0" rIns="0" bIns="0" anchor="t" anchorCtr="0">
              <a:spAutoFit/>
            </a:bodyPr>
            <a:lstStyle/>
            <a:p>
              <a:pPr algn="ctr"/>
              <a:r>
                <a:rPr lang="zh-CN" sz="825" dirty="0">
                  <a:solidFill>
                    <a:srgbClr val="FFFFFF">
                      <a:alphaMod val="85000"/>
                    </a:srgbClr>
                  </a:solidFill>
                  <a:latin typeface="Arial"/>
                  <a:ea typeface="Microsoft YaHei"/>
                  <a:cs typeface="Arial"/>
                </a:rPr>
                <a:t>RGB 输入</a:t>
              </a:r>
            </a:p>
          </p:txBody>
        </p:sp>
        <p:sp>
          <p:nvSpPr>
            <p:cNvPr id="45" name="Freeform 45"/>
            <p:cNvSpPr/>
            <p:nvPr/>
          </p:nvSpPr>
          <p:spPr>
            <a:xfrm>
              <a:off x="2571750" y="4572000"/>
              <a:ext cx="428625" cy="285750"/>
            </a:xfrm>
            <a:custGeom>
              <a:avLst/>
              <a:gdLst/>
              <a:ahLst/>
              <a:cxnLst/>
              <a:rect l="l" t="t" r="r" b="b"/>
              <a:pathLst>
                <a:path w="428625" h="285750">
                  <a:moveTo>
                    <a:pt x="0" y="95250"/>
                  </a:moveTo>
                  <a:lnTo>
                    <a:pt x="238125" y="95250"/>
                  </a:lnTo>
                  <a:lnTo>
                    <a:pt x="238125" y="0"/>
                  </a:lnTo>
                  <a:lnTo>
                    <a:pt x="428625" y="142875"/>
                  </a:lnTo>
                  <a:lnTo>
                    <a:pt x="238125" y="285750"/>
                  </a:lnTo>
                  <a:lnTo>
                    <a:pt x="238125" y="190500"/>
                  </a:lnTo>
                  <a:lnTo>
                    <a:pt x="0" y="190500"/>
                  </a:lnTo>
                  <a:close/>
                </a:path>
              </a:pathLst>
            </a:custGeom>
            <a:solidFill>
              <a:srgbClr val="FF8F00"/>
            </a:solidFill>
            <a:ln>
              <a:noFill/>
            </a:ln>
          </p:spPr>
        </p:sp>
        <p:sp>
          <p:nvSpPr>
            <p:cNvPr id="46" name="Rectangle 46"/>
            <p:cNvSpPr/>
            <p:nvPr/>
          </p:nvSpPr>
          <p:spPr>
            <a:xfrm>
              <a:off x="3048000" y="4095750"/>
              <a:ext cx="1714500" cy="1143000"/>
            </a:xfrm>
            <a:prstGeom prst="roundRect">
              <a:avLst>
                <a:gd name="adj" fmla="val 11667"/>
              </a:avLst>
            </a:prstGeom>
            <a:gradFill>
              <a:gsLst>
                <a:gs pos="0">
                  <a:srgbClr val="5C6BC0"/>
                </a:gs>
                <a:gs pos="100000">
                  <a:srgbClr val="1565C0"/>
                </a:gs>
              </a:gsLst>
              <a:lin ang="2700000" scaled="1"/>
            </a:gradFill>
            <a:ln>
              <a:noFill/>
            </a:ln>
          </p:spPr>
        </p:sp>
        <p:grpSp>
          <p:nvGrpSpPr>
            <p:cNvPr id="49" name="Group 49"/>
            <p:cNvGrpSpPr/>
            <p:nvPr/>
          </p:nvGrpSpPr>
          <p:grpSpPr>
            <a:xfrm>
              <a:off x="3271838" y="4352925"/>
              <a:ext cx="200025" cy="133350"/>
              <a:chOff x="3271838" y="4352925"/>
              <a:chExt cx="200025" cy="133350"/>
            </a:xfrm>
          </p:grpSpPr>
          <p:sp>
            <p:nvSpPr>
              <p:cNvPr id="47" name="Freeform 47"/>
              <p:cNvSpPr/>
              <p:nvPr/>
            </p:nvSpPr>
            <p:spPr>
              <a:xfrm>
                <a:off x="3349625" y="4397375"/>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19050">
                <a:solidFill>
                  <a:srgbClr val="FFFFFF"/>
                </a:solidFill>
              </a:ln>
            </p:spPr>
          </p:sp>
          <p:sp>
            <p:nvSpPr>
              <p:cNvPr id="48" name="Freeform 48"/>
              <p:cNvSpPr/>
              <p:nvPr/>
            </p:nvSpPr>
            <p:spPr>
              <a:xfrm>
                <a:off x="3271838" y="4352925"/>
                <a:ext cx="200025" cy="133350"/>
              </a:xfrm>
              <a:custGeom>
                <a:avLst/>
                <a:gdLst/>
                <a:ahLst/>
                <a:cxnLst/>
                <a:rect l="l" t="t" r="r" b="b"/>
                <a:pathLst>
                  <a:path w="200025" h="133350">
                    <a:moveTo>
                      <a:pt x="200025" y="66675"/>
                    </a:moveTo>
                    <a:cubicBezTo>
                      <a:pt x="173355" y="111125"/>
                      <a:pt x="140017" y="133350"/>
                      <a:pt x="100012" y="133350"/>
                    </a:cubicBezTo>
                    <a:cubicBezTo>
                      <a:pt x="60008" y="133350"/>
                      <a:pt x="26670" y="111125"/>
                      <a:pt x="0" y="66675"/>
                    </a:cubicBezTo>
                    <a:cubicBezTo>
                      <a:pt x="26670" y="22225"/>
                      <a:pt x="60008" y="0"/>
                      <a:pt x="100012" y="0"/>
                    </a:cubicBezTo>
                    <a:cubicBezTo>
                      <a:pt x="140017" y="0"/>
                      <a:pt x="173355" y="22225"/>
                      <a:pt x="200025" y="66675"/>
                    </a:cubicBezTo>
                  </a:path>
                </a:pathLst>
              </a:custGeom>
              <a:noFill/>
              <a:ln w="19050">
                <a:solidFill>
                  <a:srgbClr val="FFFFFF"/>
                </a:solidFill>
              </a:ln>
            </p:spPr>
          </p:sp>
        </p:grpSp>
        <p:sp>
          <p:nvSpPr>
            <p:cNvPr id="50" name="TextBox 50"/>
            <p:cNvSpPr txBox="1"/>
            <p:nvPr/>
          </p:nvSpPr>
          <p:spPr>
            <a:xfrm>
              <a:off x="3686847" y="4482941"/>
              <a:ext cx="436807" cy="167640"/>
            </a:xfrm>
            <a:prstGeom prst="rect">
              <a:avLst/>
            </a:prstGeom>
            <a:noFill/>
            <a:ln>
              <a:noFill/>
            </a:ln>
          </p:spPr>
          <p:txBody>
            <a:bodyPr wrap="none" lIns="0" tIns="0" rIns="0" bIns="0" anchor="t" anchorCtr="0">
              <a:spAutoFit/>
            </a:bodyPr>
            <a:lstStyle/>
            <a:p>
              <a:pPr algn="ctr"/>
              <a:r>
                <a:rPr lang="zh-CN" sz="825" b="1" dirty="0">
                  <a:solidFill>
                    <a:srgbClr val="FFFFFF">
                      <a:alphaMod val="70000"/>
                    </a:srgbClr>
                  </a:solidFill>
                  <a:latin typeface="Cambria"/>
                  <a:ea typeface="SimSun"/>
                  <a:cs typeface="Cambria"/>
                </a:rPr>
                <a:t>STEP 02</a:t>
              </a:r>
            </a:p>
          </p:txBody>
        </p:sp>
        <p:sp>
          <p:nvSpPr>
            <p:cNvPr id="51" name="TextBox 51"/>
            <p:cNvSpPr txBox="1"/>
            <p:nvPr/>
          </p:nvSpPr>
          <p:spPr>
            <a:xfrm>
              <a:off x="3553968" y="4728210"/>
              <a:ext cx="70256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识别类别</a:t>
              </a:r>
            </a:p>
          </p:txBody>
        </p:sp>
        <p:sp>
          <p:nvSpPr>
            <p:cNvPr id="52" name="TextBox 52"/>
            <p:cNvSpPr txBox="1"/>
            <p:nvPr/>
          </p:nvSpPr>
          <p:spPr>
            <a:xfrm>
              <a:off x="3572982" y="4978241"/>
              <a:ext cx="664535" cy="167640"/>
            </a:xfrm>
            <a:prstGeom prst="rect">
              <a:avLst/>
            </a:prstGeom>
            <a:noFill/>
            <a:ln>
              <a:noFill/>
            </a:ln>
          </p:spPr>
          <p:txBody>
            <a:bodyPr wrap="none" lIns="0" tIns="0" rIns="0" bIns="0" anchor="t" anchorCtr="0">
              <a:spAutoFit/>
            </a:bodyPr>
            <a:lstStyle/>
            <a:p>
              <a:pPr algn="ctr"/>
              <a:r>
                <a:rPr lang="zh-CN" sz="825" dirty="0">
                  <a:solidFill>
                    <a:srgbClr val="FFFFFF">
                      <a:alphaMod val="85000"/>
                    </a:srgbClr>
                  </a:solidFill>
                  <a:latin typeface="Arial"/>
                  <a:ea typeface="Microsoft YaHei"/>
                  <a:cs typeface="Arial"/>
                </a:rPr>
                <a:t>English-CLIP</a:t>
              </a:r>
            </a:p>
          </p:txBody>
        </p:sp>
        <p:sp>
          <p:nvSpPr>
            <p:cNvPr id="53" name="Freeform 53"/>
            <p:cNvSpPr/>
            <p:nvPr/>
          </p:nvSpPr>
          <p:spPr>
            <a:xfrm>
              <a:off x="4857750" y="4572000"/>
              <a:ext cx="428625" cy="285750"/>
            </a:xfrm>
            <a:custGeom>
              <a:avLst/>
              <a:gdLst/>
              <a:ahLst/>
              <a:cxnLst/>
              <a:rect l="l" t="t" r="r" b="b"/>
              <a:pathLst>
                <a:path w="428625" h="285750">
                  <a:moveTo>
                    <a:pt x="0" y="95250"/>
                  </a:moveTo>
                  <a:lnTo>
                    <a:pt x="238125" y="95250"/>
                  </a:lnTo>
                  <a:lnTo>
                    <a:pt x="238125" y="0"/>
                  </a:lnTo>
                  <a:lnTo>
                    <a:pt x="428625" y="142875"/>
                  </a:lnTo>
                  <a:lnTo>
                    <a:pt x="238125" y="285750"/>
                  </a:lnTo>
                  <a:lnTo>
                    <a:pt x="238125" y="190500"/>
                  </a:lnTo>
                  <a:lnTo>
                    <a:pt x="0" y="190500"/>
                  </a:lnTo>
                  <a:close/>
                </a:path>
              </a:pathLst>
            </a:custGeom>
            <a:solidFill>
              <a:srgbClr val="FF8F00"/>
            </a:solidFill>
            <a:ln>
              <a:noFill/>
            </a:ln>
          </p:spPr>
        </p:sp>
        <p:sp>
          <p:nvSpPr>
            <p:cNvPr id="54" name="Rectangle 54"/>
            <p:cNvSpPr/>
            <p:nvPr/>
          </p:nvSpPr>
          <p:spPr>
            <a:xfrm>
              <a:off x="5334000" y="4095750"/>
              <a:ext cx="1714500" cy="1143000"/>
            </a:xfrm>
            <a:prstGeom prst="roundRect">
              <a:avLst>
                <a:gd name="adj" fmla="val 11667"/>
              </a:avLst>
            </a:prstGeom>
            <a:gradFill>
              <a:gsLst>
                <a:gs pos="0">
                  <a:srgbClr val="5C6BC0"/>
                </a:gs>
                <a:gs pos="100000">
                  <a:srgbClr val="1565C0"/>
                </a:gs>
              </a:gsLst>
              <a:lin ang="2700000" scaled="1"/>
            </a:gradFill>
            <a:ln>
              <a:noFill/>
            </a:ln>
          </p:spPr>
        </p:sp>
        <p:grpSp>
          <p:nvGrpSpPr>
            <p:cNvPr id="58" name="Group 58"/>
            <p:cNvGrpSpPr/>
            <p:nvPr/>
          </p:nvGrpSpPr>
          <p:grpSpPr>
            <a:xfrm>
              <a:off x="5568950" y="4319588"/>
              <a:ext cx="177800" cy="200024"/>
              <a:chOff x="5568950" y="4319588"/>
              <a:chExt cx="177800" cy="200024"/>
            </a:xfrm>
          </p:grpSpPr>
          <p:sp>
            <p:nvSpPr>
              <p:cNvPr id="55" name="Freeform 55"/>
              <p:cNvSpPr/>
              <p:nvPr/>
            </p:nvSpPr>
            <p:spPr>
              <a:xfrm>
                <a:off x="5568950" y="431958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sp>
          <p:sp>
            <p:nvSpPr>
              <p:cNvPr id="56" name="Freeform 56"/>
              <p:cNvSpPr/>
              <p:nvPr/>
            </p:nvSpPr>
            <p:spPr>
              <a:xfrm>
                <a:off x="5568950" y="435292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sp>
            <p:nvSpPr>
              <p:cNvPr id="57" name="Freeform 57"/>
              <p:cNvSpPr/>
              <p:nvPr/>
            </p:nvSpPr>
            <p:spPr>
              <a:xfrm>
                <a:off x="5568950" y="441960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grpSp>
        <p:sp>
          <p:nvSpPr>
            <p:cNvPr id="59" name="TextBox 59"/>
            <p:cNvSpPr txBox="1"/>
            <p:nvPr/>
          </p:nvSpPr>
          <p:spPr>
            <a:xfrm>
              <a:off x="5972847" y="4482941"/>
              <a:ext cx="436807" cy="167640"/>
            </a:xfrm>
            <a:prstGeom prst="rect">
              <a:avLst/>
            </a:prstGeom>
            <a:noFill/>
            <a:ln>
              <a:noFill/>
            </a:ln>
          </p:spPr>
          <p:txBody>
            <a:bodyPr wrap="none" lIns="0" tIns="0" rIns="0" bIns="0" anchor="t" anchorCtr="0">
              <a:spAutoFit/>
            </a:bodyPr>
            <a:lstStyle/>
            <a:p>
              <a:pPr algn="ctr"/>
              <a:r>
                <a:rPr lang="zh-CN" sz="825" b="1" dirty="0">
                  <a:solidFill>
                    <a:srgbClr val="FFFFFF">
                      <a:alphaMod val="70000"/>
                    </a:srgbClr>
                  </a:solidFill>
                  <a:latin typeface="Cambria"/>
                  <a:ea typeface="SimSun"/>
                  <a:cs typeface="Cambria"/>
                </a:rPr>
                <a:t>STEP 03</a:t>
              </a:r>
            </a:p>
          </p:txBody>
        </p:sp>
        <p:sp>
          <p:nvSpPr>
            <p:cNvPr id="60" name="TextBox 60"/>
            <p:cNvSpPr txBox="1"/>
            <p:nvPr/>
          </p:nvSpPr>
          <p:spPr>
            <a:xfrm>
              <a:off x="5923978" y="4728210"/>
              <a:ext cx="53454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查密度</a:t>
              </a:r>
            </a:p>
          </p:txBody>
        </p:sp>
        <p:sp>
          <p:nvSpPr>
            <p:cNvPr id="61" name="TextBox 61"/>
            <p:cNvSpPr txBox="1"/>
            <p:nvPr/>
          </p:nvSpPr>
          <p:spPr>
            <a:xfrm>
              <a:off x="5905738" y="4978241"/>
              <a:ext cx="571024" cy="167640"/>
            </a:xfrm>
            <a:prstGeom prst="rect">
              <a:avLst/>
            </a:prstGeom>
            <a:noFill/>
            <a:ln>
              <a:noFill/>
            </a:ln>
          </p:spPr>
          <p:txBody>
            <a:bodyPr wrap="none" lIns="0" tIns="0" rIns="0" bIns="0" anchor="t" anchorCtr="0">
              <a:spAutoFit/>
            </a:bodyPr>
            <a:lstStyle/>
            <a:p>
              <a:pPr algn="ctr"/>
              <a:r>
                <a:rPr lang="zh-CN" sz="825" dirty="0">
                  <a:solidFill>
                    <a:srgbClr val="FFFFFF">
                      <a:alphaMod val="85000"/>
                    </a:srgbClr>
                  </a:solidFill>
                  <a:latin typeface="Arial"/>
                  <a:ea typeface="Microsoft YaHei"/>
                  <a:cs typeface="Arial"/>
                </a:rPr>
                <a:t>食物成分表</a:t>
              </a:r>
            </a:p>
          </p:txBody>
        </p:sp>
        <p:sp>
          <p:nvSpPr>
            <p:cNvPr id="62" name="Freeform 62"/>
            <p:cNvSpPr/>
            <p:nvPr/>
          </p:nvSpPr>
          <p:spPr>
            <a:xfrm>
              <a:off x="7143750" y="4572000"/>
              <a:ext cx="428625" cy="285750"/>
            </a:xfrm>
            <a:custGeom>
              <a:avLst/>
              <a:gdLst/>
              <a:ahLst/>
              <a:cxnLst/>
              <a:rect l="l" t="t" r="r" b="b"/>
              <a:pathLst>
                <a:path w="428625" h="285750">
                  <a:moveTo>
                    <a:pt x="0" y="95250"/>
                  </a:moveTo>
                  <a:lnTo>
                    <a:pt x="238125" y="95250"/>
                  </a:lnTo>
                  <a:lnTo>
                    <a:pt x="238125" y="0"/>
                  </a:lnTo>
                  <a:lnTo>
                    <a:pt x="428625" y="142875"/>
                  </a:lnTo>
                  <a:lnTo>
                    <a:pt x="238125" y="285750"/>
                  </a:lnTo>
                  <a:lnTo>
                    <a:pt x="238125" y="190500"/>
                  </a:lnTo>
                  <a:lnTo>
                    <a:pt x="0" y="190500"/>
                  </a:lnTo>
                  <a:close/>
                </a:path>
              </a:pathLst>
            </a:custGeom>
            <a:solidFill>
              <a:srgbClr val="FF8F00"/>
            </a:solidFill>
            <a:ln>
              <a:noFill/>
            </a:ln>
          </p:spPr>
        </p:sp>
        <p:sp>
          <p:nvSpPr>
            <p:cNvPr id="63" name="Rectangle 63"/>
            <p:cNvSpPr/>
            <p:nvPr/>
          </p:nvSpPr>
          <p:spPr>
            <a:xfrm>
              <a:off x="7620000" y="4095750"/>
              <a:ext cx="1714500" cy="1143000"/>
            </a:xfrm>
            <a:prstGeom prst="roundRect">
              <a:avLst>
                <a:gd name="adj" fmla="val 11667"/>
              </a:avLst>
            </a:prstGeom>
            <a:gradFill>
              <a:gsLst>
                <a:gs pos="0">
                  <a:srgbClr val="FF8F00"/>
                </a:gs>
                <a:gs pos="100000">
                  <a:srgbClr val="FFB300"/>
                </a:gs>
              </a:gsLst>
              <a:lin ang="2700000" scaled="1"/>
            </a:gradFill>
            <a:ln>
              <a:noFill/>
            </a:ln>
            <a:effectLst>
              <a:outerShdw blurRad="152400" dist="38100" dir="5400000" algn="ctr" rotWithShape="0">
                <a:srgbClr val="FF8F00">
                  <a:alpha val="26250"/>
                </a:srgbClr>
              </a:outerShdw>
            </a:effectLst>
          </p:spPr>
        </p:sp>
        <p:sp>
          <p:nvSpPr>
            <p:cNvPr id="64" name="Freeform 64"/>
            <p:cNvSpPr/>
            <p:nvPr/>
          </p:nvSpPr>
          <p:spPr>
            <a:xfrm>
              <a:off x="7866062" y="4308475"/>
              <a:ext cx="155575" cy="211138"/>
            </a:xfrm>
            <a:custGeom>
              <a:avLst/>
              <a:gdLst/>
              <a:ahLst/>
              <a:cxnLst/>
              <a:rect l="l" t="t" r="r" b="b"/>
              <a:pathLst>
                <a:path w="155575" h="211138">
                  <a:moveTo>
                    <a:pt x="77787" y="99357"/>
                  </a:moveTo>
                  <a:cubicBezTo>
                    <a:pt x="103713" y="62597"/>
                    <a:pt x="79643" y="12424"/>
                    <a:pt x="66675" y="0"/>
                  </a:cubicBezTo>
                  <a:cubicBezTo>
                    <a:pt x="66675" y="37727"/>
                    <a:pt x="41839" y="58885"/>
                    <a:pt x="25925" y="74520"/>
                  </a:cubicBezTo>
                  <a:cubicBezTo>
                    <a:pt x="10035" y="90167"/>
                    <a:pt x="0" y="111125"/>
                    <a:pt x="0" y="136617"/>
                  </a:cubicBezTo>
                  <a:cubicBezTo>
                    <a:pt x="0" y="177778"/>
                    <a:pt x="34827" y="211138"/>
                    <a:pt x="77787" y="211138"/>
                  </a:cubicBezTo>
                  <a:cubicBezTo>
                    <a:pt x="120748" y="211138"/>
                    <a:pt x="155575" y="177778"/>
                    <a:pt x="155575" y="136617"/>
                  </a:cubicBezTo>
                  <a:cubicBezTo>
                    <a:pt x="155575" y="117592"/>
                    <a:pt x="141884" y="87689"/>
                    <a:pt x="129650" y="74520"/>
                  </a:cubicBezTo>
                  <a:cubicBezTo>
                    <a:pt x="106491" y="111781"/>
                    <a:pt x="93456" y="111781"/>
                    <a:pt x="77787" y="99357"/>
                  </a:cubicBezTo>
                </a:path>
              </a:pathLst>
            </a:custGeom>
            <a:noFill/>
            <a:ln w="19050">
              <a:solidFill>
                <a:srgbClr val="FFFFFF"/>
              </a:solidFill>
            </a:ln>
          </p:spPr>
        </p:sp>
        <p:sp>
          <p:nvSpPr>
            <p:cNvPr id="65" name="TextBox 65"/>
            <p:cNvSpPr txBox="1"/>
            <p:nvPr/>
          </p:nvSpPr>
          <p:spPr>
            <a:xfrm>
              <a:off x="8097126" y="4482941"/>
              <a:ext cx="760247" cy="167640"/>
            </a:xfrm>
            <a:prstGeom prst="rect">
              <a:avLst/>
            </a:prstGeom>
            <a:noFill/>
            <a:ln>
              <a:noFill/>
            </a:ln>
          </p:spPr>
          <p:txBody>
            <a:bodyPr wrap="none" lIns="0" tIns="0" rIns="0" bIns="0" anchor="t" anchorCtr="0">
              <a:spAutoFit/>
            </a:bodyPr>
            <a:lstStyle/>
            <a:p>
              <a:pPr algn="ctr"/>
              <a:r>
                <a:rPr lang="zh-CN" sz="825" b="1" dirty="0">
                  <a:solidFill>
                    <a:srgbClr val="FFFFFF">
                      <a:alphaMod val="85000"/>
                    </a:srgbClr>
                  </a:solidFill>
                  <a:latin typeface="Cambria"/>
                  <a:ea typeface="SimSun"/>
                  <a:cs typeface="Cambria"/>
                </a:rPr>
                <a:t>STEP 04 · KEY</a:t>
              </a:r>
            </a:p>
          </p:txBody>
        </p:sp>
        <p:sp>
          <p:nvSpPr>
            <p:cNvPr id="66" name="TextBox 66"/>
            <p:cNvSpPr txBox="1"/>
            <p:nvPr/>
          </p:nvSpPr>
          <p:spPr>
            <a:xfrm>
              <a:off x="8209978" y="4728210"/>
              <a:ext cx="53454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估热量</a:t>
              </a:r>
            </a:p>
          </p:txBody>
        </p:sp>
        <p:sp>
          <p:nvSpPr>
            <p:cNvPr id="67" name="TextBox 67"/>
            <p:cNvSpPr txBox="1"/>
            <p:nvPr/>
          </p:nvSpPr>
          <p:spPr>
            <a:xfrm>
              <a:off x="8175236" y="4978241"/>
              <a:ext cx="604028" cy="167640"/>
            </a:xfrm>
            <a:prstGeom prst="rect">
              <a:avLst/>
            </a:prstGeom>
            <a:noFill/>
            <a:ln>
              <a:noFill/>
            </a:ln>
          </p:spPr>
          <p:txBody>
            <a:bodyPr wrap="none" lIns="0" tIns="0" rIns="0" bIns="0" anchor="t" anchorCtr="0">
              <a:spAutoFit/>
            </a:bodyPr>
            <a:lstStyle/>
            <a:p>
              <a:pPr algn="ctr"/>
              <a:r>
                <a:rPr lang="zh-CN" sz="825" dirty="0">
                  <a:solidFill>
                    <a:srgbClr val="FFFFFF">
                      <a:alphaMod val="95000"/>
                    </a:srgbClr>
                  </a:solidFill>
                  <a:latin typeface="Arial"/>
                  <a:ea typeface="Microsoft YaHei"/>
                  <a:cs typeface="Arial"/>
                </a:rPr>
                <a:t>CalorieCLIP</a:t>
              </a:r>
            </a:p>
          </p:txBody>
        </p:sp>
        <p:sp>
          <p:nvSpPr>
            <p:cNvPr id="68" name="Freeform 68"/>
            <p:cNvSpPr/>
            <p:nvPr/>
          </p:nvSpPr>
          <p:spPr>
            <a:xfrm>
              <a:off x="9429750" y="4572000"/>
              <a:ext cx="428625" cy="285750"/>
            </a:xfrm>
            <a:custGeom>
              <a:avLst/>
              <a:gdLst/>
              <a:ahLst/>
              <a:cxnLst/>
              <a:rect l="l" t="t" r="r" b="b"/>
              <a:pathLst>
                <a:path w="428625" h="285750">
                  <a:moveTo>
                    <a:pt x="0" y="95250"/>
                  </a:moveTo>
                  <a:lnTo>
                    <a:pt x="238125" y="95250"/>
                  </a:lnTo>
                  <a:lnTo>
                    <a:pt x="238125" y="0"/>
                  </a:lnTo>
                  <a:lnTo>
                    <a:pt x="428625" y="142875"/>
                  </a:lnTo>
                  <a:lnTo>
                    <a:pt x="238125" y="285750"/>
                  </a:lnTo>
                  <a:lnTo>
                    <a:pt x="238125" y="190500"/>
                  </a:lnTo>
                  <a:lnTo>
                    <a:pt x="0" y="190500"/>
                  </a:lnTo>
                  <a:close/>
                </a:path>
              </a:pathLst>
            </a:custGeom>
            <a:solidFill>
              <a:srgbClr val="FF8F00"/>
            </a:solidFill>
            <a:ln>
              <a:noFill/>
            </a:ln>
          </p:spPr>
        </p:sp>
        <p:sp>
          <p:nvSpPr>
            <p:cNvPr id="69" name="Rectangle 69"/>
            <p:cNvSpPr/>
            <p:nvPr/>
          </p:nvSpPr>
          <p:spPr>
            <a:xfrm>
              <a:off x="9906000" y="4095750"/>
              <a:ext cx="1714500" cy="1143000"/>
            </a:xfrm>
            <a:prstGeom prst="roundRect">
              <a:avLst>
                <a:gd name="adj" fmla="val 11667"/>
              </a:avLst>
            </a:prstGeom>
            <a:gradFill>
              <a:gsLst>
                <a:gs pos="0">
                  <a:srgbClr val="FF8F00"/>
                </a:gs>
                <a:gs pos="100000">
                  <a:srgbClr val="FFB300"/>
                </a:gs>
              </a:gsLst>
              <a:lin ang="2700000" scaled="1"/>
            </a:gradFill>
            <a:ln>
              <a:noFill/>
            </a:ln>
            <a:effectLst>
              <a:outerShdw blurRad="152400" dist="38100" dir="5400000" algn="ctr" rotWithShape="0">
                <a:srgbClr val="FF8F00">
                  <a:alpha val="26250"/>
                </a:srgbClr>
              </a:outerShdw>
            </a:effectLst>
          </p:spPr>
        </p:sp>
        <p:grpSp>
          <p:nvGrpSpPr>
            <p:cNvPr id="75" name="Group 75"/>
            <p:cNvGrpSpPr/>
            <p:nvPr/>
          </p:nvGrpSpPr>
          <p:grpSpPr>
            <a:xfrm>
              <a:off x="10129838" y="4319588"/>
              <a:ext cx="200025" cy="198437"/>
              <a:chOff x="10129838" y="4319588"/>
              <a:chExt cx="200025" cy="198437"/>
            </a:xfrm>
          </p:grpSpPr>
          <p:sp>
            <p:nvSpPr>
              <p:cNvPr id="70" name="Freeform 70"/>
              <p:cNvSpPr/>
              <p:nvPr/>
            </p:nvSpPr>
            <p:spPr>
              <a:xfrm>
                <a:off x="10174288" y="4508500"/>
                <a:ext cx="111125" cy="9525"/>
              </a:xfrm>
              <a:custGeom>
                <a:avLst/>
                <a:gdLst/>
                <a:ahLst/>
                <a:cxnLst/>
                <a:rect l="l" t="t" r="r" b="b"/>
                <a:pathLst>
                  <a:path w="111125" h="9525">
                    <a:moveTo>
                      <a:pt x="0" y="0"/>
                    </a:moveTo>
                    <a:lnTo>
                      <a:pt x="111125" y="0"/>
                    </a:lnTo>
                  </a:path>
                </a:pathLst>
              </a:custGeom>
              <a:noFill/>
              <a:ln w="19050">
                <a:solidFill>
                  <a:srgbClr val="FFFFFF"/>
                </a:solidFill>
              </a:ln>
            </p:spPr>
          </p:sp>
          <p:sp>
            <p:nvSpPr>
              <p:cNvPr id="71" name="Freeform 71"/>
              <p:cNvSpPr/>
              <p:nvPr/>
            </p:nvSpPr>
            <p:spPr>
              <a:xfrm>
                <a:off x="10163175" y="4341812"/>
                <a:ext cx="133350" cy="11113"/>
              </a:xfrm>
              <a:custGeom>
                <a:avLst/>
                <a:gdLst/>
                <a:ahLst/>
                <a:cxnLst/>
                <a:rect l="l" t="t" r="r" b="b"/>
                <a:pathLst>
                  <a:path w="133350" h="11113">
                    <a:moveTo>
                      <a:pt x="0" y="11113"/>
                    </a:moveTo>
                    <a:lnTo>
                      <a:pt x="66675" y="0"/>
                    </a:lnTo>
                    <a:lnTo>
                      <a:pt x="133350" y="11113"/>
                    </a:lnTo>
                  </a:path>
                </a:pathLst>
              </a:custGeom>
              <a:noFill/>
              <a:ln w="19050">
                <a:solidFill>
                  <a:srgbClr val="FFFFFF"/>
                </a:solidFill>
              </a:ln>
            </p:spPr>
          </p:sp>
          <p:sp>
            <p:nvSpPr>
              <p:cNvPr id="72" name="Freeform 72"/>
              <p:cNvSpPr/>
              <p:nvPr/>
            </p:nvSpPr>
            <p:spPr>
              <a:xfrm>
                <a:off x="10229850" y="4319588"/>
                <a:ext cx="9525" cy="188912"/>
              </a:xfrm>
              <a:custGeom>
                <a:avLst/>
                <a:gdLst/>
                <a:ahLst/>
                <a:cxnLst/>
                <a:rect l="l" t="t" r="r" b="b"/>
                <a:pathLst>
                  <a:path w="9525" h="188912">
                    <a:moveTo>
                      <a:pt x="0" y="0"/>
                    </a:moveTo>
                    <a:lnTo>
                      <a:pt x="0" y="188912"/>
                    </a:lnTo>
                  </a:path>
                </a:pathLst>
              </a:custGeom>
              <a:noFill/>
              <a:ln w="19050">
                <a:solidFill>
                  <a:srgbClr val="FFFFFF"/>
                </a:solidFill>
              </a:ln>
            </p:spPr>
          </p:sp>
          <p:sp>
            <p:nvSpPr>
              <p:cNvPr id="73" name="Freeform 73"/>
              <p:cNvSpPr/>
              <p:nvPr/>
            </p:nvSpPr>
            <p:spPr>
              <a:xfrm>
                <a:off x="10129838" y="4352925"/>
                <a:ext cx="66675" cy="100012"/>
              </a:xfrm>
              <a:custGeom>
                <a:avLst/>
                <a:gdLst/>
                <a:ahLst/>
                <a:cxnLst/>
                <a:rect l="l" t="t" r="r" b="b"/>
                <a:pathLst>
                  <a:path w="66675" h="100012">
                    <a:moveTo>
                      <a:pt x="66675" y="66675"/>
                    </a:moveTo>
                    <a:lnTo>
                      <a:pt x="33338" y="0"/>
                    </a:lnTo>
                    <a:lnTo>
                      <a:pt x="0" y="66675"/>
                    </a:lnTo>
                    <a:cubicBezTo>
                      <a:pt x="0" y="85087"/>
                      <a:pt x="14926" y="100012"/>
                      <a:pt x="33338" y="100012"/>
                    </a:cubicBezTo>
                    <a:cubicBezTo>
                      <a:pt x="51749" y="100012"/>
                      <a:pt x="66675" y="85087"/>
                      <a:pt x="66675" y="66675"/>
                    </a:cubicBezTo>
                  </a:path>
                </a:pathLst>
              </a:custGeom>
              <a:noFill/>
              <a:ln w="19050">
                <a:solidFill>
                  <a:srgbClr val="FFFFFF"/>
                </a:solidFill>
              </a:ln>
            </p:spPr>
          </p:sp>
          <p:sp>
            <p:nvSpPr>
              <p:cNvPr id="74" name="Freeform 74"/>
              <p:cNvSpPr/>
              <p:nvPr/>
            </p:nvSpPr>
            <p:spPr>
              <a:xfrm>
                <a:off x="10263188" y="4352925"/>
                <a:ext cx="66675" cy="100012"/>
              </a:xfrm>
              <a:custGeom>
                <a:avLst/>
                <a:gdLst/>
                <a:ahLst/>
                <a:cxnLst/>
                <a:rect l="l" t="t" r="r" b="b"/>
                <a:pathLst>
                  <a:path w="66675" h="100012">
                    <a:moveTo>
                      <a:pt x="66675" y="66675"/>
                    </a:moveTo>
                    <a:lnTo>
                      <a:pt x="33338" y="0"/>
                    </a:lnTo>
                    <a:lnTo>
                      <a:pt x="0" y="66675"/>
                    </a:lnTo>
                    <a:cubicBezTo>
                      <a:pt x="0" y="85087"/>
                      <a:pt x="14926" y="100012"/>
                      <a:pt x="33338" y="100012"/>
                    </a:cubicBezTo>
                    <a:cubicBezTo>
                      <a:pt x="51749" y="100012"/>
                      <a:pt x="66675" y="85087"/>
                      <a:pt x="66675" y="66675"/>
                    </a:cubicBezTo>
                  </a:path>
                </a:pathLst>
              </a:custGeom>
              <a:noFill/>
              <a:ln w="19050">
                <a:solidFill>
                  <a:srgbClr val="FFFFFF"/>
                </a:solidFill>
              </a:ln>
            </p:spPr>
          </p:sp>
        </p:grpSp>
        <p:sp>
          <p:nvSpPr>
            <p:cNvPr id="76" name="TextBox 76"/>
            <p:cNvSpPr txBox="1"/>
            <p:nvPr/>
          </p:nvSpPr>
          <p:spPr>
            <a:xfrm>
              <a:off x="10371575" y="4482941"/>
              <a:ext cx="783350" cy="167640"/>
            </a:xfrm>
            <a:prstGeom prst="rect">
              <a:avLst/>
            </a:prstGeom>
            <a:noFill/>
            <a:ln>
              <a:noFill/>
            </a:ln>
          </p:spPr>
          <p:txBody>
            <a:bodyPr wrap="none" lIns="0" tIns="0" rIns="0" bIns="0" anchor="t" anchorCtr="0">
              <a:spAutoFit/>
            </a:bodyPr>
            <a:lstStyle/>
            <a:p>
              <a:pPr algn="ctr"/>
              <a:r>
                <a:rPr lang="zh-CN" sz="825" b="1" dirty="0">
                  <a:solidFill>
                    <a:srgbClr val="FFFFFF">
                      <a:alphaMod val="85000"/>
                    </a:srgbClr>
                  </a:solidFill>
                  <a:latin typeface="Cambria"/>
                  <a:ea typeface="SimSun"/>
                  <a:cs typeface="Cambria"/>
                </a:rPr>
                <a:t>STEP 05 · OUT</a:t>
              </a:r>
            </a:p>
          </p:txBody>
        </p:sp>
        <p:sp>
          <p:nvSpPr>
            <p:cNvPr id="77" name="TextBox 77"/>
            <p:cNvSpPr txBox="1"/>
            <p:nvPr/>
          </p:nvSpPr>
          <p:spPr>
            <a:xfrm>
              <a:off x="10495978" y="4728210"/>
              <a:ext cx="53454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得重量</a:t>
              </a:r>
            </a:p>
          </p:txBody>
        </p:sp>
        <p:sp>
          <p:nvSpPr>
            <p:cNvPr id="78" name="TextBox 78"/>
            <p:cNvSpPr txBox="1"/>
            <p:nvPr/>
          </p:nvSpPr>
          <p:spPr>
            <a:xfrm>
              <a:off x="10287827" y="4978241"/>
              <a:ext cx="950846" cy="167640"/>
            </a:xfrm>
            <a:prstGeom prst="rect">
              <a:avLst/>
            </a:prstGeom>
            <a:noFill/>
            <a:ln>
              <a:noFill/>
            </a:ln>
          </p:spPr>
          <p:txBody>
            <a:bodyPr wrap="none" lIns="0" tIns="0" rIns="0" bIns="0" anchor="t" anchorCtr="0">
              <a:spAutoFit/>
            </a:bodyPr>
            <a:lstStyle/>
            <a:p>
              <a:pPr algn="ctr"/>
              <a:r>
                <a:rPr lang="zh-CN" sz="825" b="1" dirty="0">
                  <a:solidFill>
                    <a:srgbClr val="FFFFFF">
                      <a:alphaMod val="95000"/>
                    </a:srgbClr>
                  </a:solidFill>
                  <a:latin typeface="Consolas"/>
                  <a:ea typeface="Microsoft YaHei"/>
                  <a:cs typeface="Consolas"/>
                </a:rPr>
                <a:t>weight = kcal / ρ</a:t>
              </a:r>
            </a:p>
          </p:txBody>
        </p:sp>
      </p:grpSp>
      <p:grpSp>
        <p:nvGrpSpPr>
          <p:cNvPr id="94" name="Group 94"/>
          <p:cNvGrpSpPr/>
          <p:nvPr/>
        </p:nvGrpSpPr>
        <p:grpSpPr>
          <a:xfrm>
            <a:off x="748665" y="5363528"/>
            <a:ext cx="10681335" cy="827722"/>
            <a:chOff x="748665" y="5363528"/>
            <a:chExt cx="10681335" cy="827722"/>
          </a:xfrm>
        </p:grpSpPr>
        <p:sp>
          <p:nvSpPr>
            <p:cNvPr id="80" name="TextBox 80"/>
            <p:cNvSpPr txBox="1"/>
            <p:nvPr/>
          </p:nvSpPr>
          <p:spPr>
            <a:xfrm>
              <a:off x="748665" y="5363528"/>
              <a:ext cx="908780" cy="213360"/>
            </a:xfrm>
            <a:prstGeom prst="rect">
              <a:avLst/>
            </a:prstGeom>
            <a:noFill/>
            <a:ln>
              <a:noFill/>
            </a:ln>
          </p:spPr>
          <p:txBody>
            <a:bodyPr wrap="none" lIns="0" tIns="0" rIns="0" bIns="0" anchor="t" anchorCtr="0">
              <a:spAutoFit/>
            </a:bodyPr>
            <a:lstStyle/>
            <a:p>
              <a:pPr algn="l"/>
              <a:r>
                <a:rPr lang="zh-CN" sz="1050" b="1" dirty="0">
                  <a:solidFill>
                    <a:srgbClr val="FFFFFF">
                      <a:alphaMod val="75000"/>
                    </a:srgbClr>
                  </a:solidFill>
                  <a:latin typeface="Cambria"/>
                  <a:ea typeface="SimSun"/>
                  <a:cs typeface="Cambria"/>
                </a:rPr>
                <a:t>反推思路优势</a:t>
              </a:r>
            </a:p>
          </p:txBody>
        </p:sp>
        <p:grpSp>
          <p:nvGrpSpPr>
            <p:cNvPr id="93" name="Group 93"/>
            <p:cNvGrpSpPr/>
            <p:nvPr/>
          </p:nvGrpSpPr>
          <p:grpSpPr>
            <a:xfrm>
              <a:off x="762000" y="5619750"/>
              <a:ext cx="10668000" cy="571500"/>
              <a:chOff x="762000" y="5619750"/>
              <a:chExt cx="10668000" cy="571500"/>
            </a:xfrm>
          </p:grpSpPr>
          <p:sp>
            <p:nvSpPr>
              <p:cNvPr id="81" name="Rectangle 81"/>
              <p:cNvSpPr/>
              <p:nvPr/>
            </p:nvSpPr>
            <p:spPr>
              <a:xfrm>
                <a:off x="762000" y="5619750"/>
                <a:ext cx="3429000" cy="571500"/>
              </a:xfrm>
              <a:prstGeom prst="roundRect">
                <a:avLst>
                  <a:gd name="adj" fmla="val 13333"/>
                </a:avLst>
              </a:prstGeom>
              <a:solidFill>
                <a:srgbClr val="FFFFFF">
                  <a:alpha val="10000"/>
                </a:srgbClr>
              </a:solidFill>
              <a:ln>
                <a:noFill/>
              </a:ln>
            </p:spPr>
          </p:sp>
          <p:sp>
            <p:nvSpPr>
              <p:cNvPr id="82" name="Freeform 82"/>
              <p:cNvSpPr/>
              <p:nvPr/>
            </p:nvSpPr>
            <p:spPr>
              <a:xfrm>
                <a:off x="942975" y="5857875"/>
                <a:ext cx="142875" cy="95250"/>
              </a:xfrm>
              <a:custGeom>
                <a:avLst/>
                <a:gdLst/>
                <a:ahLst/>
                <a:cxnLst/>
                <a:rect l="l" t="t" r="r" b="b"/>
                <a:pathLst>
                  <a:path w="142875" h="95250">
                    <a:moveTo>
                      <a:pt x="0" y="47625"/>
                    </a:moveTo>
                    <a:lnTo>
                      <a:pt x="47625" y="95250"/>
                    </a:lnTo>
                    <a:lnTo>
                      <a:pt x="142875" y="0"/>
                    </a:lnTo>
                  </a:path>
                </a:pathLst>
              </a:custGeom>
              <a:noFill/>
              <a:ln w="19050">
                <a:solidFill>
                  <a:srgbClr val="2E7D32"/>
                </a:solidFill>
              </a:ln>
            </p:spPr>
          </p:sp>
          <p:sp>
            <p:nvSpPr>
              <p:cNvPr id="83" name="TextBox 83"/>
              <p:cNvSpPr txBox="1"/>
              <p:nvPr/>
            </p:nvSpPr>
            <p:spPr>
              <a:xfrm>
                <a:off x="1206818" y="5819299"/>
                <a:ext cx="125341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热量是食物固有属性</a:t>
                </a:r>
              </a:p>
            </p:txBody>
          </p:sp>
          <p:sp>
            <p:nvSpPr>
              <p:cNvPr id="84" name="TextBox 84"/>
              <p:cNvSpPr txBox="1"/>
              <p:nvPr/>
            </p:nvSpPr>
            <p:spPr>
              <a:xfrm>
                <a:off x="1208722" y="6006941"/>
                <a:ext cx="1121092" cy="167640"/>
              </a:xfrm>
              <a:prstGeom prst="rect">
                <a:avLst/>
              </a:prstGeom>
              <a:noFill/>
              <a:ln>
                <a:noFill/>
              </a:ln>
            </p:spPr>
            <p:txBody>
              <a:bodyPr wrap="none" lIns="0" tIns="0" rIns="0" bIns="0" anchor="t" anchorCtr="0">
                <a:spAutoFit/>
              </a:bodyPr>
              <a:lstStyle/>
              <a:p>
                <a:pPr algn="l"/>
                <a:r>
                  <a:rPr lang="zh-CN" sz="825" dirty="0">
                    <a:solidFill>
                      <a:srgbClr val="FFFFFF">
                        <a:alphaMod val="75000"/>
                      </a:srgbClr>
                    </a:solidFill>
                    <a:latin typeface="Arial"/>
                    <a:ea typeface="Microsoft YaHei"/>
                    <a:cs typeface="Arial"/>
                  </a:rPr>
                  <a:t>与拍摄角度、光照无关</a:t>
                </a:r>
              </a:p>
            </p:txBody>
          </p:sp>
          <p:sp>
            <p:nvSpPr>
              <p:cNvPr id="85" name="Rectangle 85"/>
              <p:cNvSpPr/>
              <p:nvPr/>
            </p:nvSpPr>
            <p:spPr>
              <a:xfrm>
                <a:off x="4381500" y="5619750"/>
                <a:ext cx="3429000" cy="571500"/>
              </a:xfrm>
              <a:prstGeom prst="roundRect">
                <a:avLst>
                  <a:gd name="adj" fmla="val 13333"/>
                </a:avLst>
              </a:prstGeom>
              <a:solidFill>
                <a:srgbClr val="FFFFFF">
                  <a:alpha val="10000"/>
                </a:srgbClr>
              </a:solidFill>
              <a:ln>
                <a:noFill/>
              </a:ln>
            </p:spPr>
          </p:sp>
          <p:sp>
            <p:nvSpPr>
              <p:cNvPr id="86" name="Freeform 86"/>
              <p:cNvSpPr/>
              <p:nvPr/>
            </p:nvSpPr>
            <p:spPr>
              <a:xfrm>
                <a:off x="4562475" y="5857875"/>
                <a:ext cx="142875" cy="95250"/>
              </a:xfrm>
              <a:custGeom>
                <a:avLst/>
                <a:gdLst/>
                <a:ahLst/>
                <a:cxnLst/>
                <a:rect l="l" t="t" r="r" b="b"/>
                <a:pathLst>
                  <a:path w="142875" h="95250">
                    <a:moveTo>
                      <a:pt x="0" y="47625"/>
                    </a:moveTo>
                    <a:lnTo>
                      <a:pt x="47625" y="95250"/>
                    </a:lnTo>
                    <a:lnTo>
                      <a:pt x="142875" y="0"/>
                    </a:lnTo>
                  </a:path>
                </a:pathLst>
              </a:custGeom>
              <a:noFill/>
              <a:ln w="19050">
                <a:solidFill>
                  <a:srgbClr val="2E7D32"/>
                </a:solidFill>
              </a:ln>
            </p:spPr>
          </p:sp>
          <p:sp>
            <p:nvSpPr>
              <p:cNvPr id="87" name="TextBox 87"/>
              <p:cNvSpPr txBox="1"/>
              <p:nvPr/>
            </p:nvSpPr>
            <p:spPr>
              <a:xfrm>
                <a:off x="4826318" y="5819299"/>
                <a:ext cx="1389936"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营养库提供标准化先验</a:t>
                </a:r>
              </a:p>
            </p:txBody>
          </p:sp>
          <p:sp>
            <p:nvSpPr>
              <p:cNvPr id="88" name="TextBox 88"/>
              <p:cNvSpPr txBox="1"/>
              <p:nvPr/>
            </p:nvSpPr>
            <p:spPr>
              <a:xfrm>
                <a:off x="4828222" y="6006941"/>
                <a:ext cx="1319117" cy="167640"/>
              </a:xfrm>
              <a:prstGeom prst="rect">
                <a:avLst/>
              </a:prstGeom>
              <a:noFill/>
              <a:ln>
                <a:noFill/>
              </a:ln>
            </p:spPr>
            <p:txBody>
              <a:bodyPr wrap="none" lIns="0" tIns="0" rIns="0" bIns="0" anchor="t" anchorCtr="0">
                <a:spAutoFit/>
              </a:bodyPr>
              <a:lstStyle/>
              <a:p>
                <a:pPr algn="l"/>
                <a:r>
                  <a:rPr lang="zh-CN" sz="825" dirty="0">
                    <a:solidFill>
                      <a:srgbClr val="FFFFFF">
                        <a:alphaMod val="75000"/>
                      </a:srgbClr>
                    </a:solidFill>
                    <a:latin typeface="Arial"/>
                    <a:ea typeface="Microsoft YaHei"/>
                    <a:cs typeface="Arial"/>
                  </a:rPr>
                  <a:t>1,657 条中国食物成分数据</a:t>
                </a:r>
              </a:p>
            </p:txBody>
          </p:sp>
          <p:sp>
            <p:nvSpPr>
              <p:cNvPr id="89" name="Rectangle 89"/>
              <p:cNvSpPr/>
              <p:nvPr/>
            </p:nvSpPr>
            <p:spPr>
              <a:xfrm>
                <a:off x="8001000" y="5619750"/>
                <a:ext cx="3429000" cy="571500"/>
              </a:xfrm>
              <a:prstGeom prst="roundRect">
                <a:avLst>
                  <a:gd name="adj" fmla="val 13333"/>
                </a:avLst>
              </a:prstGeom>
              <a:solidFill>
                <a:srgbClr val="FFFFFF">
                  <a:alpha val="10000"/>
                </a:srgbClr>
              </a:solidFill>
              <a:ln>
                <a:noFill/>
              </a:ln>
            </p:spPr>
          </p:sp>
          <p:sp>
            <p:nvSpPr>
              <p:cNvPr id="90" name="Freeform 90"/>
              <p:cNvSpPr/>
              <p:nvPr/>
            </p:nvSpPr>
            <p:spPr>
              <a:xfrm>
                <a:off x="8181975" y="5857875"/>
                <a:ext cx="142875" cy="95250"/>
              </a:xfrm>
              <a:custGeom>
                <a:avLst/>
                <a:gdLst/>
                <a:ahLst/>
                <a:cxnLst/>
                <a:rect l="l" t="t" r="r" b="b"/>
                <a:pathLst>
                  <a:path w="142875" h="95250">
                    <a:moveTo>
                      <a:pt x="0" y="47625"/>
                    </a:moveTo>
                    <a:lnTo>
                      <a:pt x="47625" y="95250"/>
                    </a:lnTo>
                    <a:lnTo>
                      <a:pt x="142875" y="0"/>
                    </a:lnTo>
                  </a:path>
                </a:pathLst>
              </a:custGeom>
              <a:noFill/>
              <a:ln w="19050">
                <a:solidFill>
                  <a:srgbClr val="2E7D32"/>
                </a:solidFill>
              </a:ln>
            </p:spPr>
          </p:sp>
          <p:sp>
            <p:nvSpPr>
              <p:cNvPr id="91" name="TextBox 91"/>
              <p:cNvSpPr txBox="1"/>
              <p:nvPr/>
            </p:nvSpPr>
            <p:spPr>
              <a:xfrm>
                <a:off x="8445818" y="5819299"/>
                <a:ext cx="1662970"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估相对热量比绝对重量稳定</a:t>
                </a:r>
              </a:p>
            </p:txBody>
          </p:sp>
          <p:sp>
            <p:nvSpPr>
              <p:cNvPr id="92" name="TextBox 92"/>
              <p:cNvSpPr txBox="1"/>
              <p:nvPr/>
            </p:nvSpPr>
            <p:spPr>
              <a:xfrm>
                <a:off x="8447722" y="6006941"/>
                <a:ext cx="901065" cy="167640"/>
              </a:xfrm>
              <a:prstGeom prst="rect">
                <a:avLst/>
              </a:prstGeom>
              <a:noFill/>
              <a:ln>
                <a:noFill/>
              </a:ln>
            </p:spPr>
            <p:txBody>
              <a:bodyPr wrap="none" lIns="0" tIns="0" rIns="0" bIns="0" anchor="t" anchorCtr="0">
                <a:spAutoFit/>
              </a:bodyPr>
              <a:lstStyle/>
              <a:p>
                <a:pPr algn="l"/>
                <a:r>
                  <a:rPr lang="zh-CN" sz="825" dirty="0">
                    <a:solidFill>
                      <a:srgbClr val="FFFFFF">
                        <a:alphaMod val="75000"/>
                      </a:srgbClr>
                    </a:solidFill>
                    <a:latin typeface="Arial"/>
                    <a:ea typeface="Microsoft YaHei"/>
                    <a:cs typeface="Arial"/>
                  </a:rPr>
                  <a:t>更稳定、更易学习</a:t>
                </a:r>
              </a:p>
            </p:txBody>
          </p:sp>
        </p:grpSp>
      </p:grpSp>
      <p:sp>
        <p:nvSpPr>
          <p:cNvPr id="95" name="TextBox 95"/>
          <p:cNvSpPr txBox="1"/>
          <p:nvPr/>
        </p:nvSpPr>
        <p:spPr>
          <a:xfrm>
            <a:off x="4460069" y="6464141"/>
            <a:ext cx="3271861" cy="167640"/>
          </a:xfrm>
          <a:prstGeom prst="rect">
            <a:avLst/>
          </a:prstGeom>
          <a:noFill/>
          <a:ln>
            <a:noFill/>
          </a:ln>
        </p:spPr>
        <p:txBody>
          <a:bodyPr wrap="none" lIns="0" tIns="0" rIns="0" bIns="0" anchor="t" anchorCtr="0">
            <a:spAutoFit/>
          </a:bodyPr>
          <a:lstStyle/>
          <a:p>
            <a:pPr algn="ctr"/>
            <a:r>
              <a:rPr lang="zh-CN" sz="825" dirty="0">
                <a:solidFill>
                  <a:srgbClr val="FFFFFF">
                    <a:alphaMod val="55000"/>
                  </a:srgbClr>
                </a:solidFill>
                <a:latin typeface="Arial"/>
                <a:ea typeface="Microsoft YaHei"/>
                <a:cs typeface="Arial"/>
              </a:rPr>
              <a:t>智能食物营养分析系统答辩 · Chapter 2 · Method Pivot · 13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400"/>
                                        <p:tgtEl>
                                          <p:spTgt spid="23"/>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slide(fromBottom)">
                                      <p:cBhvr>
                                        <p:cTn id="11" dur="400"/>
                                        <p:tgtEl>
                                          <p:spTgt spid="3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image">
                                      <p:cBhvr>
                                        <p:cTn id="15" dur="400"/>
                                        <p:tgtEl>
                                          <p:spTgt spid="79"/>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94"/>
                                        </p:tgtEl>
                                        <p:attrNameLst>
                                          <p:attrName>style.visibility</p:attrName>
                                        </p:attrNameLst>
                                      </p:cBhvr>
                                      <p:to>
                                        <p:strVal val="visible"/>
                                      </p:to>
                                    </p:set>
                                    <p:animEffect transition="in" filter="fade">
                                      <p:cBhvr>
                                        <p:cTn id="19"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3" grpId="0"/>
      <p:bldP spid="79" grpId="0"/>
      <p:bldP spid="9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71500" y="457200"/>
            <a:ext cx="5779520" cy="652462"/>
            <a:chOff x="571500" y="457200"/>
            <a:chExt cx="5779520" cy="652462"/>
          </a:xfrm>
        </p:grpSpPr>
        <p:sp>
          <p:nvSpPr>
            <p:cNvPr id="3" name="Rectangle 3"/>
            <p:cNvSpPr/>
            <p:nvPr/>
          </p:nvSpPr>
          <p:spPr>
            <a:xfrm>
              <a:off x="571500" y="457200"/>
              <a:ext cx="57150" cy="381000"/>
            </a:xfrm>
            <a:prstGeom prst="roundRect">
              <a:avLst>
                <a:gd name="adj" fmla="val 50000"/>
              </a:avLst>
            </a:prstGeom>
            <a:solidFill>
              <a:srgbClr val="1565C0"/>
            </a:solidFill>
            <a:ln>
              <a:noFill/>
            </a:ln>
          </p:spPr>
        </p:sp>
        <p:sp>
          <p:nvSpPr>
            <p:cNvPr id="4" name="TextBox 4"/>
            <p:cNvSpPr txBox="1"/>
            <p:nvPr/>
          </p:nvSpPr>
          <p:spPr>
            <a:xfrm>
              <a:off x="733425" y="500062"/>
              <a:ext cx="5617595"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多模型融合实验 · Exp3 (B_fix+C) 最优</a:t>
              </a:r>
            </a:p>
          </p:txBody>
        </p:sp>
        <p:sp>
          <p:nvSpPr>
            <p:cNvPr id="5" name="TextBox 5"/>
            <p:cNvSpPr txBox="1"/>
            <p:nvPr/>
          </p:nvSpPr>
          <p:spPr>
            <a:xfrm>
              <a:off x="748665" y="896302"/>
              <a:ext cx="3525707"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Q2 · MULTI-MODEL FUSION · MAE &amp; RE COMPARISON</a:t>
              </a:r>
            </a:p>
          </p:txBody>
        </p:sp>
      </p:grpSp>
      <p:sp>
        <p:nvSpPr>
          <p:cNvPr id="7" name="Line 7"/>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grpSp>
        <p:nvGrpSpPr>
          <p:cNvPr id="60" name="Group 60"/>
          <p:cNvGrpSpPr/>
          <p:nvPr/>
        </p:nvGrpSpPr>
        <p:grpSpPr>
          <a:xfrm>
            <a:off x="336042" y="1628775"/>
            <a:ext cx="8807958" cy="4845844"/>
            <a:chOff x="336042" y="1628775"/>
            <a:chExt cx="8807958" cy="4845844"/>
          </a:xfrm>
        </p:grpSpPr>
        <p:sp>
          <p:nvSpPr>
            <p:cNvPr id="8" name="TextBox 8"/>
            <p:cNvSpPr txBox="1"/>
            <p:nvPr/>
          </p:nvSpPr>
          <p:spPr>
            <a:xfrm>
              <a:off x="556260" y="1632585"/>
              <a:ext cx="2718816"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4 实验在 MAE 与 RE 双指标上的对比</a:t>
              </a:r>
            </a:p>
          </p:txBody>
        </p:sp>
        <p:sp>
          <p:nvSpPr>
            <p:cNvPr id="9" name="Rectangle 9"/>
            <p:cNvSpPr/>
            <p:nvPr/>
          </p:nvSpPr>
          <p:spPr>
            <a:xfrm>
              <a:off x="5334000" y="1628775"/>
              <a:ext cx="133350" cy="133350"/>
            </a:xfrm>
            <a:prstGeom prst="roundRect">
              <a:avLst>
                <a:gd name="adj" fmla="val 14286"/>
              </a:avLst>
            </a:prstGeom>
            <a:gradFill>
              <a:gsLst>
                <a:gs pos="0">
                  <a:srgbClr val="C62828"/>
                </a:gs>
                <a:gs pos="100000">
                  <a:srgbClr val="FF8F00"/>
                </a:gs>
              </a:gsLst>
              <a:lin ang="5400000" scaled="1"/>
            </a:gradFill>
            <a:ln>
              <a:noFill/>
            </a:ln>
          </p:spPr>
        </p:sp>
        <p:sp>
          <p:nvSpPr>
            <p:cNvPr id="10" name="TextBox 10"/>
            <p:cNvSpPr txBox="1"/>
            <p:nvPr/>
          </p:nvSpPr>
          <p:spPr>
            <a:xfrm>
              <a:off x="5513070" y="1645920"/>
              <a:ext cx="501720" cy="182880"/>
            </a:xfrm>
            <a:prstGeom prst="rect">
              <a:avLst/>
            </a:prstGeom>
            <a:noFill/>
            <a:ln>
              <a:noFill/>
            </a:ln>
          </p:spPr>
          <p:txBody>
            <a:bodyPr wrap="none" lIns="0" tIns="0" rIns="0" bIns="0" anchor="t" anchorCtr="0">
              <a:spAutoFit/>
            </a:bodyPr>
            <a:lstStyle/>
            <a:p>
              <a:pPr algn="l"/>
              <a:r>
                <a:rPr lang="zh-CN" sz="900" b="1" dirty="0">
                  <a:solidFill>
                    <a:srgbClr val="1A1A1A"/>
                  </a:solidFill>
                  <a:latin typeface="Arial"/>
                  <a:ea typeface="Microsoft YaHei"/>
                  <a:cs typeface="Arial"/>
                </a:rPr>
                <a:t>MAE (g)</a:t>
              </a:r>
            </a:p>
          </p:txBody>
        </p:sp>
        <p:sp>
          <p:nvSpPr>
            <p:cNvPr id="11" name="Rectangle 11"/>
            <p:cNvSpPr/>
            <p:nvPr/>
          </p:nvSpPr>
          <p:spPr>
            <a:xfrm>
              <a:off x="6286500" y="1628775"/>
              <a:ext cx="133350" cy="133350"/>
            </a:xfrm>
            <a:prstGeom prst="roundRect">
              <a:avLst>
                <a:gd name="adj" fmla="val 14286"/>
              </a:avLst>
            </a:prstGeom>
            <a:gradFill>
              <a:gsLst>
                <a:gs pos="0">
                  <a:srgbClr val="1565C0"/>
                </a:gs>
                <a:gs pos="100000">
                  <a:srgbClr val="5C6BC0"/>
                </a:gs>
              </a:gsLst>
              <a:lin ang="5400000" scaled="1"/>
            </a:gradFill>
            <a:ln>
              <a:noFill/>
            </a:ln>
          </p:spPr>
        </p:sp>
        <p:sp>
          <p:nvSpPr>
            <p:cNvPr id="12" name="TextBox 12"/>
            <p:cNvSpPr txBox="1"/>
            <p:nvPr/>
          </p:nvSpPr>
          <p:spPr>
            <a:xfrm>
              <a:off x="6465570" y="1645920"/>
              <a:ext cx="407208" cy="182880"/>
            </a:xfrm>
            <a:prstGeom prst="rect">
              <a:avLst/>
            </a:prstGeom>
            <a:noFill/>
            <a:ln>
              <a:noFill/>
            </a:ln>
          </p:spPr>
          <p:txBody>
            <a:bodyPr wrap="none" lIns="0" tIns="0" rIns="0" bIns="0" anchor="t" anchorCtr="0">
              <a:spAutoFit/>
            </a:bodyPr>
            <a:lstStyle/>
            <a:p>
              <a:pPr algn="l"/>
              <a:r>
                <a:rPr lang="zh-CN" sz="900" b="1" dirty="0">
                  <a:solidFill>
                    <a:srgbClr val="1A1A1A"/>
                  </a:solidFill>
                  <a:latin typeface="Arial"/>
                  <a:ea typeface="Microsoft YaHei"/>
                  <a:cs typeface="Arial"/>
                </a:rPr>
                <a:t>RE (%)</a:t>
              </a:r>
            </a:p>
          </p:txBody>
        </p:sp>
        <p:sp>
          <p:nvSpPr>
            <p:cNvPr id="13" name="Line 13"/>
            <p:cNvSpPr/>
            <p:nvPr/>
          </p:nvSpPr>
          <p:spPr>
            <a:xfrm>
              <a:off x="1333500" y="2143125"/>
              <a:ext cx="9525" cy="3429000"/>
            </a:xfrm>
            <a:custGeom>
              <a:avLst/>
              <a:gdLst/>
              <a:ahLst/>
              <a:cxnLst/>
              <a:rect l="l" t="t" r="r" b="b"/>
              <a:pathLst>
                <a:path w="9525" h="3429000">
                  <a:moveTo>
                    <a:pt x="0" y="0"/>
                  </a:moveTo>
                  <a:lnTo>
                    <a:pt x="0" y="3429000"/>
                  </a:lnTo>
                </a:path>
              </a:pathLst>
            </a:custGeom>
            <a:noFill/>
            <a:ln w="14288">
              <a:solidFill>
                <a:srgbClr val="9AA0A6"/>
              </a:solidFill>
            </a:ln>
          </p:spPr>
        </p:sp>
        <p:sp>
          <p:nvSpPr>
            <p:cNvPr id="14" name="Line 14"/>
            <p:cNvSpPr/>
            <p:nvPr/>
          </p:nvSpPr>
          <p:spPr>
            <a:xfrm>
              <a:off x="1333500" y="5572125"/>
              <a:ext cx="7810500" cy="9525"/>
            </a:xfrm>
            <a:custGeom>
              <a:avLst/>
              <a:gdLst/>
              <a:ahLst/>
              <a:cxnLst/>
              <a:rect l="l" t="t" r="r" b="b"/>
              <a:pathLst>
                <a:path w="7810500" h="9525">
                  <a:moveTo>
                    <a:pt x="0" y="0"/>
                  </a:moveTo>
                  <a:lnTo>
                    <a:pt x="7810500" y="0"/>
                  </a:lnTo>
                </a:path>
              </a:pathLst>
            </a:custGeom>
            <a:noFill/>
            <a:ln w="14288">
              <a:solidFill>
                <a:srgbClr val="9AA0A6"/>
              </a:solidFill>
            </a:ln>
          </p:spPr>
        </p:sp>
        <p:sp>
          <p:nvSpPr>
            <p:cNvPr id="15" name="Line 15"/>
            <p:cNvSpPr/>
            <p:nvPr/>
          </p:nvSpPr>
          <p:spPr>
            <a:xfrm>
              <a:off x="1333500" y="5572125"/>
              <a:ext cx="7810500" cy="9525"/>
            </a:xfrm>
            <a:custGeom>
              <a:avLst/>
              <a:gdLst/>
              <a:ahLst/>
              <a:cxnLst/>
              <a:rect l="l" t="t" r="r" b="b"/>
              <a:pathLst>
                <a:path w="7810500" h="9525">
                  <a:moveTo>
                    <a:pt x="0" y="0"/>
                  </a:moveTo>
                  <a:lnTo>
                    <a:pt x="7810500" y="0"/>
                  </a:lnTo>
                </a:path>
              </a:pathLst>
            </a:custGeom>
            <a:noFill/>
            <a:ln w="9525">
              <a:solidFill>
                <a:srgbClr val="E0E0E0"/>
              </a:solidFill>
            </a:ln>
          </p:spPr>
        </p:sp>
        <p:sp>
          <p:nvSpPr>
            <p:cNvPr id="16" name="Line 16"/>
            <p:cNvSpPr/>
            <p:nvPr/>
          </p:nvSpPr>
          <p:spPr>
            <a:xfrm>
              <a:off x="1333500" y="4886325"/>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17" name="Line 17"/>
            <p:cNvSpPr/>
            <p:nvPr/>
          </p:nvSpPr>
          <p:spPr>
            <a:xfrm>
              <a:off x="1333500" y="4200525"/>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18" name="Line 18"/>
            <p:cNvSpPr/>
            <p:nvPr/>
          </p:nvSpPr>
          <p:spPr>
            <a:xfrm>
              <a:off x="1333500" y="3514725"/>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19" name="Line 19"/>
            <p:cNvSpPr/>
            <p:nvPr/>
          </p:nvSpPr>
          <p:spPr>
            <a:xfrm>
              <a:off x="1333500" y="2828925"/>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20" name="Line 20"/>
            <p:cNvSpPr/>
            <p:nvPr/>
          </p:nvSpPr>
          <p:spPr>
            <a:xfrm>
              <a:off x="1333500" y="2143125"/>
              <a:ext cx="7810500" cy="9525"/>
            </a:xfrm>
            <a:custGeom>
              <a:avLst/>
              <a:gdLst/>
              <a:ahLst/>
              <a:cxnLst/>
              <a:rect l="l" t="t" r="r" b="b"/>
              <a:pathLst>
                <a:path w="7810500" h="9525">
                  <a:moveTo>
                    <a:pt x="0" y="0"/>
                  </a:moveTo>
                  <a:lnTo>
                    <a:pt x="7810500" y="0"/>
                  </a:lnTo>
                </a:path>
              </a:pathLst>
            </a:custGeom>
            <a:noFill/>
            <a:ln w="9525">
              <a:solidFill>
                <a:srgbClr val="E0E0E0"/>
              </a:solidFill>
              <a:prstDash val="dash"/>
            </a:ln>
          </p:spPr>
        </p:sp>
        <p:sp>
          <p:nvSpPr>
            <p:cNvPr id="21" name="TextBox 21"/>
            <p:cNvSpPr txBox="1"/>
            <p:nvPr/>
          </p:nvSpPr>
          <p:spPr>
            <a:xfrm>
              <a:off x="1186315" y="5521166"/>
              <a:ext cx="81463"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0</a:t>
              </a:r>
            </a:p>
          </p:txBody>
        </p:sp>
        <p:sp>
          <p:nvSpPr>
            <p:cNvPr id="22" name="TextBox 22"/>
            <p:cNvSpPr txBox="1"/>
            <p:nvPr/>
          </p:nvSpPr>
          <p:spPr>
            <a:xfrm>
              <a:off x="1125807" y="4835366"/>
              <a:ext cx="141970"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50</a:t>
              </a:r>
            </a:p>
          </p:txBody>
        </p:sp>
        <p:sp>
          <p:nvSpPr>
            <p:cNvPr id="23" name="TextBox 23"/>
            <p:cNvSpPr txBox="1"/>
            <p:nvPr/>
          </p:nvSpPr>
          <p:spPr>
            <a:xfrm>
              <a:off x="1092803" y="4149566"/>
              <a:ext cx="174974"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100</a:t>
              </a:r>
            </a:p>
          </p:txBody>
        </p:sp>
        <p:sp>
          <p:nvSpPr>
            <p:cNvPr id="24" name="TextBox 24"/>
            <p:cNvSpPr txBox="1"/>
            <p:nvPr/>
          </p:nvSpPr>
          <p:spPr>
            <a:xfrm>
              <a:off x="1092803" y="3463766"/>
              <a:ext cx="174974"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150</a:t>
              </a:r>
            </a:p>
          </p:txBody>
        </p:sp>
        <p:sp>
          <p:nvSpPr>
            <p:cNvPr id="25" name="TextBox 25"/>
            <p:cNvSpPr txBox="1"/>
            <p:nvPr/>
          </p:nvSpPr>
          <p:spPr>
            <a:xfrm>
              <a:off x="1065300" y="2777966"/>
              <a:ext cx="202478"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200</a:t>
              </a:r>
            </a:p>
          </p:txBody>
        </p:sp>
        <p:sp>
          <p:nvSpPr>
            <p:cNvPr id="26" name="TextBox 26"/>
            <p:cNvSpPr txBox="1"/>
            <p:nvPr/>
          </p:nvSpPr>
          <p:spPr>
            <a:xfrm>
              <a:off x="1065300" y="2092166"/>
              <a:ext cx="202478"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250</a:t>
              </a:r>
            </a:p>
          </p:txBody>
        </p:sp>
        <p:sp>
          <p:nvSpPr>
            <p:cNvPr id="27" name="Rectangle 27"/>
            <p:cNvSpPr/>
            <p:nvPr/>
          </p:nvSpPr>
          <p:spPr>
            <a:xfrm>
              <a:off x="1714500" y="2771775"/>
              <a:ext cx="762000" cy="2800350"/>
            </a:xfrm>
            <a:prstGeom prst="roundRect">
              <a:avLst>
                <a:gd name="adj" fmla="val 3750"/>
              </a:avLst>
            </a:prstGeom>
            <a:gradFill>
              <a:gsLst>
                <a:gs pos="0">
                  <a:srgbClr val="C62828"/>
                </a:gs>
                <a:gs pos="100000">
                  <a:srgbClr val="FF8F00"/>
                </a:gs>
              </a:gsLst>
              <a:lin ang="5400000" scaled="1"/>
            </a:gradFill>
            <a:ln>
              <a:noFill/>
            </a:ln>
          </p:spPr>
        </p:sp>
        <p:sp>
          <p:nvSpPr>
            <p:cNvPr id="28" name="TextBox 28"/>
            <p:cNvSpPr txBox="1"/>
            <p:nvPr/>
          </p:nvSpPr>
          <p:spPr>
            <a:xfrm>
              <a:off x="1874929" y="2590324"/>
              <a:ext cx="441142" cy="198120"/>
            </a:xfrm>
            <a:prstGeom prst="rect">
              <a:avLst/>
            </a:prstGeom>
            <a:noFill/>
            <a:ln>
              <a:noFill/>
            </a:ln>
          </p:spPr>
          <p:txBody>
            <a:bodyPr wrap="none" lIns="0" tIns="0" rIns="0" bIns="0" anchor="t" anchorCtr="0">
              <a:spAutoFit/>
            </a:bodyPr>
            <a:lstStyle/>
            <a:p>
              <a:pPr algn="ctr"/>
              <a:r>
                <a:rPr lang="zh-CN" sz="975" b="1" dirty="0">
                  <a:solidFill>
                    <a:srgbClr val="C62828"/>
                  </a:solidFill>
                  <a:latin typeface="Cambria"/>
                  <a:ea typeface="SimSun"/>
                  <a:cs typeface="Cambria"/>
                </a:rPr>
                <a:t>204.31</a:t>
              </a:r>
            </a:p>
          </p:txBody>
        </p:sp>
        <p:sp>
          <p:nvSpPr>
            <p:cNvPr id="29" name="Rectangle 29"/>
            <p:cNvSpPr/>
            <p:nvPr/>
          </p:nvSpPr>
          <p:spPr>
            <a:xfrm>
              <a:off x="2571750" y="3886200"/>
              <a:ext cx="762000" cy="1685925"/>
            </a:xfrm>
            <a:prstGeom prst="roundRect">
              <a:avLst>
                <a:gd name="adj" fmla="val 3750"/>
              </a:avLst>
            </a:prstGeom>
            <a:gradFill>
              <a:gsLst>
                <a:gs pos="0">
                  <a:srgbClr val="1565C0"/>
                </a:gs>
                <a:gs pos="100000">
                  <a:srgbClr val="5C6BC0"/>
                </a:gs>
              </a:gsLst>
              <a:lin ang="5400000" scaled="1"/>
            </a:gradFill>
            <a:ln>
              <a:noFill/>
            </a:ln>
          </p:spPr>
        </p:sp>
        <p:sp>
          <p:nvSpPr>
            <p:cNvPr id="30" name="TextBox 30"/>
            <p:cNvSpPr txBox="1"/>
            <p:nvPr/>
          </p:nvSpPr>
          <p:spPr>
            <a:xfrm>
              <a:off x="2732179" y="3704749"/>
              <a:ext cx="441142" cy="198120"/>
            </a:xfrm>
            <a:prstGeom prst="rect">
              <a:avLst/>
            </a:prstGeom>
            <a:noFill/>
            <a:ln>
              <a:noFill/>
            </a:ln>
          </p:spPr>
          <p:txBody>
            <a:bodyPr wrap="none" lIns="0" tIns="0" rIns="0" bIns="0" anchor="t" anchorCtr="0">
              <a:spAutoFit/>
            </a:bodyPr>
            <a:lstStyle/>
            <a:p>
              <a:pPr algn="ctr"/>
              <a:r>
                <a:rPr lang="zh-CN" sz="975" b="1" dirty="0">
                  <a:solidFill>
                    <a:srgbClr val="1565C0"/>
                  </a:solidFill>
                  <a:latin typeface="Cambria"/>
                  <a:ea typeface="SimSun"/>
                  <a:cs typeface="Cambria"/>
                </a:rPr>
                <a:t>123.22</a:t>
              </a:r>
            </a:p>
          </p:txBody>
        </p:sp>
        <p:sp>
          <p:nvSpPr>
            <p:cNvPr id="31" name="TextBox 31"/>
            <p:cNvSpPr txBox="1"/>
            <p:nvPr/>
          </p:nvSpPr>
          <p:spPr>
            <a:xfrm>
              <a:off x="2378638" y="5704999"/>
              <a:ext cx="290973"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Exp1</a:t>
              </a:r>
            </a:p>
          </p:txBody>
        </p:sp>
        <p:sp>
          <p:nvSpPr>
            <p:cNvPr id="32" name="TextBox 32"/>
            <p:cNvSpPr txBox="1"/>
            <p:nvPr/>
          </p:nvSpPr>
          <p:spPr>
            <a:xfrm>
              <a:off x="2362379" y="5883116"/>
              <a:ext cx="323493" cy="167640"/>
            </a:xfrm>
            <a:prstGeom prst="rect">
              <a:avLst/>
            </a:prstGeom>
            <a:noFill/>
            <a:ln>
              <a:noFill/>
            </a:ln>
          </p:spPr>
          <p:txBody>
            <a:bodyPr wrap="none" lIns="0" tIns="0" rIns="0" bIns="0" anchor="t" anchorCtr="0">
              <a:spAutoFit/>
            </a:bodyPr>
            <a:lstStyle/>
            <a:p>
              <a:pPr algn="ctr"/>
              <a:r>
                <a:rPr lang="zh-CN" sz="825" dirty="0">
                  <a:solidFill>
                    <a:srgbClr val="5F6368"/>
                  </a:solidFill>
                  <a:latin typeface="Cambria"/>
                  <a:ea typeface="SimSun"/>
                  <a:cs typeface="Cambria"/>
                </a:rPr>
                <a:t>A+B+C</a:t>
              </a:r>
            </a:p>
          </p:txBody>
        </p:sp>
        <p:sp>
          <p:nvSpPr>
            <p:cNvPr id="33" name="Ellipse 33"/>
            <p:cNvSpPr/>
            <p:nvPr/>
          </p:nvSpPr>
          <p:spPr>
            <a:xfrm>
              <a:off x="3133725" y="6229350"/>
              <a:ext cx="209550" cy="209550"/>
            </a:xfrm>
            <a:prstGeom prst="ellipse">
              <a:avLst/>
            </a:prstGeom>
            <a:solidFill>
              <a:srgbClr val="C62828"/>
            </a:solidFill>
            <a:ln>
              <a:noFill/>
            </a:ln>
          </p:spPr>
        </p:sp>
        <p:sp>
          <p:nvSpPr>
            <p:cNvPr id="34" name="TextBox 34"/>
            <p:cNvSpPr txBox="1"/>
            <p:nvPr/>
          </p:nvSpPr>
          <p:spPr>
            <a:xfrm>
              <a:off x="3196256" y="6283166"/>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Cambria"/>
                  <a:ea typeface="SimSun"/>
                  <a:cs typeface="Cambria"/>
                </a:rPr>
                <a:t>✗</a:t>
              </a:r>
            </a:p>
          </p:txBody>
        </p:sp>
        <p:sp>
          <p:nvSpPr>
            <p:cNvPr id="35" name="Rectangle 35"/>
            <p:cNvSpPr/>
            <p:nvPr/>
          </p:nvSpPr>
          <p:spPr>
            <a:xfrm>
              <a:off x="3619500" y="2838450"/>
              <a:ext cx="762000" cy="2733675"/>
            </a:xfrm>
            <a:prstGeom prst="roundRect">
              <a:avLst>
                <a:gd name="adj" fmla="val 3750"/>
              </a:avLst>
            </a:prstGeom>
            <a:gradFill>
              <a:gsLst>
                <a:gs pos="0">
                  <a:srgbClr val="C62828"/>
                </a:gs>
                <a:gs pos="100000">
                  <a:srgbClr val="FF8F00"/>
                </a:gs>
              </a:gsLst>
              <a:lin ang="5400000" scaled="1"/>
            </a:gradFill>
            <a:ln>
              <a:noFill/>
            </a:ln>
          </p:spPr>
        </p:sp>
        <p:sp>
          <p:nvSpPr>
            <p:cNvPr id="36" name="TextBox 36"/>
            <p:cNvSpPr txBox="1"/>
            <p:nvPr/>
          </p:nvSpPr>
          <p:spPr>
            <a:xfrm>
              <a:off x="3796994" y="2656999"/>
              <a:ext cx="407013" cy="198120"/>
            </a:xfrm>
            <a:prstGeom prst="rect">
              <a:avLst/>
            </a:prstGeom>
            <a:noFill/>
            <a:ln>
              <a:noFill/>
            </a:ln>
          </p:spPr>
          <p:txBody>
            <a:bodyPr wrap="none" lIns="0" tIns="0" rIns="0" bIns="0" anchor="t" anchorCtr="0">
              <a:spAutoFit/>
            </a:bodyPr>
            <a:lstStyle/>
            <a:p>
              <a:pPr algn="ctr"/>
              <a:r>
                <a:rPr lang="zh-CN" sz="975" b="1" dirty="0">
                  <a:solidFill>
                    <a:srgbClr val="C62828"/>
                  </a:solidFill>
                  <a:latin typeface="Cambria"/>
                  <a:ea typeface="SimSun"/>
                  <a:cs typeface="Cambria"/>
                </a:rPr>
                <a:t>199.51</a:t>
              </a:r>
            </a:p>
          </p:txBody>
        </p:sp>
        <p:sp>
          <p:nvSpPr>
            <p:cNvPr id="37" name="Rectangle 37"/>
            <p:cNvSpPr/>
            <p:nvPr/>
          </p:nvSpPr>
          <p:spPr>
            <a:xfrm>
              <a:off x="4476750" y="4076700"/>
              <a:ext cx="762000" cy="1495425"/>
            </a:xfrm>
            <a:prstGeom prst="roundRect">
              <a:avLst>
                <a:gd name="adj" fmla="val 3750"/>
              </a:avLst>
            </a:prstGeom>
            <a:gradFill>
              <a:gsLst>
                <a:gs pos="0">
                  <a:srgbClr val="1565C0"/>
                </a:gs>
                <a:gs pos="100000">
                  <a:srgbClr val="5C6BC0"/>
                </a:gs>
              </a:gsLst>
              <a:lin ang="5400000" scaled="1"/>
            </a:gradFill>
            <a:ln>
              <a:noFill/>
            </a:ln>
          </p:spPr>
        </p:sp>
        <p:sp>
          <p:nvSpPr>
            <p:cNvPr id="38" name="TextBox 38"/>
            <p:cNvSpPr txBox="1"/>
            <p:nvPr/>
          </p:nvSpPr>
          <p:spPr>
            <a:xfrm>
              <a:off x="4637179" y="3895249"/>
              <a:ext cx="441142" cy="198120"/>
            </a:xfrm>
            <a:prstGeom prst="rect">
              <a:avLst/>
            </a:prstGeom>
            <a:noFill/>
            <a:ln>
              <a:noFill/>
            </a:ln>
          </p:spPr>
          <p:txBody>
            <a:bodyPr wrap="none" lIns="0" tIns="0" rIns="0" bIns="0" anchor="t" anchorCtr="0">
              <a:spAutoFit/>
            </a:bodyPr>
            <a:lstStyle/>
            <a:p>
              <a:pPr algn="ctr"/>
              <a:r>
                <a:rPr lang="zh-CN" sz="975" b="1" dirty="0">
                  <a:solidFill>
                    <a:srgbClr val="1565C0"/>
                  </a:solidFill>
                  <a:latin typeface="Cambria"/>
                  <a:ea typeface="SimSun"/>
                  <a:cs typeface="Cambria"/>
                </a:rPr>
                <a:t>109.26</a:t>
              </a:r>
            </a:p>
          </p:txBody>
        </p:sp>
        <p:sp>
          <p:nvSpPr>
            <p:cNvPr id="39" name="TextBox 39"/>
            <p:cNvSpPr txBox="1"/>
            <p:nvPr/>
          </p:nvSpPr>
          <p:spPr>
            <a:xfrm>
              <a:off x="4266574" y="5704999"/>
              <a:ext cx="325103"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Exp2</a:t>
              </a:r>
            </a:p>
          </p:txBody>
        </p:sp>
        <p:sp>
          <p:nvSpPr>
            <p:cNvPr id="40" name="TextBox 40"/>
            <p:cNvSpPr txBox="1"/>
            <p:nvPr/>
          </p:nvSpPr>
          <p:spPr>
            <a:xfrm>
              <a:off x="4160115" y="5883116"/>
              <a:ext cx="538020" cy="167640"/>
            </a:xfrm>
            <a:prstGeom prst="rect">
              <a:avLst/>
            </a:prstGeom>
            <a:noFill/>
            <a:ln>
              <a:noFill/>
            </a:ln>
          </p:spPr>
          <p:txBody>
            <a:bodyPr wrap="none" lIns="0" tIns="0" rIns="0" bIns="0" anchor="t" anchorCtr="0">
              <a:spAutoFit/>
            </a:bodyPr>
            <a:lstStyle/>
            <a:p>
              <a:pPr algn="ctr"/>
              <a:r>
                <a:rPr lang="zh-CN" sz="825" dirty="0">
                  <a:solidFill>
                    <a:srgbClr val="5F6368"/>
                  </a:solidFill>
                  <a:latin typeface="Cambria"/>
                  <a:ea typeface="SimSun"/>
                  <a:cs typeface="Cambria"/>
                </a:rPr>
                <a:t>A+B_fix+C</a:t>
              </a:r>
            </a:p>
          </p:txBody>
        </p:sp>
        <p:sp>
          <p:nvSpPr>
            <p:cNvPr id="41" name="Ellipse 41"/>
            <p:cNvSpPr/>
            <p:nvPr/>
          </p:nvSpPr>
          <p:spPr>
            <a:xfrm>
              <a:off x="5038725" y="6229350"/>
              <a:ext cx="209550" cy="209550"/>
            </a:xfrm>
            <a:prstGeom prst="ellipse">
              <a:avLst/>
            </a:prstGeom>
            <a:solidFill>
              <a:srgbClr val="C62828"/>
            </a:solidFill>
            <a:ln>
              <a:noFill/>
            </a:ln>
          </p:spPr>
        </p:sp>
        <p:sp>
          <p:nvSpPr>
            <p:cNvPr id="42" name="TextBox 42"/>
            <p:cNvSpPr txBox="1"/>
            <p:nvPr/>
          </p:nvSpPr>
          <p:spPr>
            <a:xfrm>
              <a:off x="5101256" y="6283166"/>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Cambria"/>
                  <a:ea typeface="SimSun"/>
                  <a:cs typeface="Cambria"/>
                </a:rPr>
                <a:t>✗</a:t>
              </a:r>
            </a:p>
          </p:txBody>
        </p:sp>
        <p:sp>
          <p:nvSpPr>
            <p:cNvPr id="43" name="Rectangle 43"/>
            <p:cNvSpPr/>
            <p:nvPr/>
          </p:nvSpPr>
          <p:spPr>
            <a:xfrm>
              <a:off x="5524500" y="4895850"/>
              <a:ext cx="762000" cy="676275"/>
            </a:xfrm>
            <a:prstGeom prst="roundRect">
              <a:avLst>
                <a:gd name="adj" fmla="val 4225"/>
              </a:avLst>
            </a:prstGeom>
            <a:gradFill>
              <a:gsLst>
                <a:gs pos="0">
                  <a:srgbClr val="2E7D32"/>
                </a:gs>
                <a:gs pos="100000">
                  <a:srgbClr val="4CAF50"/>
                </a:gs>
              </a:gsLst>
              <a:lin ang="5400000" scaled="1"/>
            </a:gradFill>
            <a:ln>
              <a:noFill/>
            </a:ln>
          </p:spPr>
        </p:sp>
        <p:sp>
          <p:nvSpPr>
            <p:cNvPr id="44" name="TextBox 44"/>
            <p:cNvSpPr txBox="1"/>
            <p:nvPr/>
          </p:nvSpPr>
          <p:spPr>
            <a:xfrm>
              <a:off x="5690015" y="4706302"/>
              <a:ext cx="430971"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Cambria"/>
                  <a:ea typeface="SimSun"/>
                  <a:cs typeface="Cambria"/>
                </a:rPr>
                <a:t>49.43</a:t>
              </a:r>
            </a:p>
          </p:txBody>
        </p:sp>
        <p:sp>
          <p:nvSpPr>
            <p:cNvPr id="45" name="Rectangle 45"/>
            <p:cNvSpPr/>
            <p:nvPr/>
          </p:nvSpPr>
          <p:spPr>
            <a:xfrm>
              <a:off x="6381750" y="5019675"/>
              <a:ext cx="762000" cy="552450"/>
            </a:xfrm>
            <a:prstGeom prst="roundRect">
              <a:avLst>
                <a:gd name="adj" fmla="val 5172"/>
              </a:avLst>
            </a:prstGeom>
            <a:gradFill>
              <a:gsLst>
                <a:gs pos="0">
                  <a:srgbClr val="2E7D32"/>
                </a:gs>
                <a:gs pos="100000">
                  <a:srgbClr val="4CAF50"/>
                </a:gs>
              </a:gsLst>
              <a:lin ang="5400000" scaled="1"/>
            </a:gradFill>
            <a:ln>
              <a:noFill/>
            </a:ln>
          </p:spPr>
        </p:sp>
        <p:sp>
          <p:nvSpPr>
            <p:cNvPr id="46" name="TextBox 46"/>
            <p:cNvSpPr txBox="1"/>
            <p:nvPr/>
          </p:nvSpPr>
          <p:spPr>
            <a:xfrm>
              <a:off x="6547265" y="4830128"/>
              <a:ext cx="430971"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Cambria"/>
                  <a:ea typeface="SimSun"/>
                  <a:cs typeface="Cambria"/>
                </a:rPr>
                <a:t>40.40</a:t>
              </a:r>
            </a:p>
          </p:txBody>
        </p:sp>
        <p:sp>
          <p:nvSpPr>
            <p:cNvPr id="47" name="TextBox 47"/>
            <p:cNvSpPr txBox="1"/>
            <p:nvPr/>
          </p:nvSpPr>
          <p:spPr>
            <a:xfrm>
              <a:off x="6113554" y="5704999"/>
              <a:ext cx="441142"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Exp3 ✓</a:t>
              </a:r>
            </a:p>
          </p:txBody>
        </p:sp>
        <p:sp>
          <p:nvSpPr>
            <p:cNvPr id="48" name="TextBox 48"/>
            <p:cNvSpPr txBox="1"/>
            <p:nvPr/>
          </p:nvSpPr>
          <p:spPr>
            <a:xfrm>
              <a:off x="6125623" y="5883116"/>
              <a:ext cx="417005" cy="167640"/>
            </a:xfrm>
            <a:prstGeom prst="rect">
              <a:avLst/>
            </a:prstGeom>
            <a:noFill/>
            <a:ln>
              <a:noFill/>
            </a:ln>
          </p:spPr>
          <p:txBody>
            <a:bodyPr wrap="none" lIns="0" tIns="0" rIns="0" bIns="0" anchor="t" anchorCtr="0">
              <a:spAutoFit/>
            </a:bodyPr>
            <a:lstStyle/>
            <a:p>
              <a:pPr algn="ctr"/>
              <a:r>
                <a:rPr lang="zh-CN" sz="825" dirty="0">
                  <a:solidFill>
                    <a:srgbClr val="2E7D32"/>
                  </a:solidFill>
                  <a:latin typeface="Cambria"/>
                  <a:ea typeface="SimSun"/>
                  <a:cs typeface="Cambria"/>
                </a:rPr>
                <a:t>B_fix+C</a:t>
              </a:r>
            </a:p>
          </p:txBody>
        </p:sp>
        <p:sp>
          <p:nvSpPr>
            <p:cNvPr id="49" name="Ellipse 49"/>
            <p:cNvSpPr/>
            <p:nvPr/>
          </p:nvSpPr>
          <p:spPr>
            <a:xfrm>
              <a:off x="6924675" y="6210300"/>
              <a:ext cx="247650" cy="247650"/>
            </a:xfrm>
            <a:prstGeom prst="ellipse">
              <a:avLst/>
            </a:prstGeom>
            <a:solidFill>
              <a:srgbClr val="2E7D32"/>
            </a:solidFill>
            <a:ln>
              <a:noFill/>
            </a:ln>
          </p:spPr>
        </p:sp>
        <p:sp>
          <p:nvSpPr>
            <p:cNvPr id="50" name="TextBox 50"/>
            <p:cNvSpPr txBox="1"/>
            <p:nvPr/>
          </p:nvSpPr>
          <p:spPr>
            <a:xfrm>
              <a:off x="6998575" y="6276499"/>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ambria"/>
                  <a:ea typeface="SimSun"/>
                  <a:cs typeface="Cambria"/>
                </a:rPr>
                <a:t>✓</a:t>
              </a:r>
            </a:p>
          </p:txBody>
        </p:sp>
        <p:sp>
          <p:nvSpPr>
            <p:cNvPr id="51" name="Rectangle 51"/>
            <p:cNvSpPr/>
            <p:nvPr/>
          </p:nvSpPr>
          <p:spPr>
            <a:xfrm>
              <a:off x="7429500" y="4486275"/>
              <a:ext cx="762000" cy="1085850"/>
            </a:xfrm>
            <a:prstGeom prst="roundRect">
              <a:avLst>
                <a:gd name="adj" fmla="val 3750"/>
              </a:avLst>
            </a:prstGeom>
            <a:gradFill>
              <a:gsLst>
                <a:gs pos="0">
                  <a:srgbClr val="C62828"/>
                </a:gs>
                <a:gs pos="100000">
                  <a:srgbClr val="FF8F00"/>
                </a:gs>
              </a:gsLst>
              <a:lin ang="5400000" scaled="1"/>
            </a:gradFill>
            <a:ln>
              <a:noFill/>
            </a:ln>
          </p:spPr>
        </p:sp>
        <p:sp>
          <p:nvSpPr>
            <p:cNvPr id="52" name="TextBox 52"/>
            <p:cNvSpPr txBox="1"/>
            <p:nvPr/>
          </p:nvSpPr>
          <p:spPr>
            <a:xfrm>
              <a:off x="7610407" y="4304824"/>
              <a:ext cx="400187" cy="198120"/>
            </a:xfrm>
            <a:prstGeom prst="rect">
              <a:avLst/>
            </a:prstGeom>
            <a:noFill/>
            <a:ln>
              <a:noFill/>
            </a:ln>
          </p:spPr>
          <p:txBody>
            <a:bodyPr wrap="none" lIns="0" tIns="0" rIns="0" bIns="0" anchor="t" anchorCtr="0">
              <a:spAutoFit/>
            </a:bodyPr>
            <a:lstStyle/>
            <a:p>
              <a:pPr algn="ctr"/>
              <a:r>
                <a:rPr lang="zh-CN" sz="975" b="1" dirty="0">
                  <a:solidFill>
                    <a:srgbClr val="C62828"/>
                  </a:solidFill>
                  <a:latin typeface="Cambria"/>
                  <a:ea typeface="SimSun"/>
                  <a:cs typeface="Cambria"/>
                </a:rPr>
                <a:t>79.20</a:t>
              </a:r>
            </a:p>
          </p:txBody>
        </p:sp>
        <p:sp>
          <p:nvSpPr>
            <p:cNvPr id="53" name="Rectangle 53"/>
            <p:cNvSpPr/>
            <p:nvPr/>
          </p:nvSpPr>
          <p:spPr>
            <a:xfrm>
              <a:off x="8286750" y="4924425"/>
              <a:ext cx="762000" cy="647700"/>
            </a:xfrm>
            <a:prstGeom prst="roundRect">
              <a:avLst>
                <a:gd name="adj" fmla="val 4412"/>
              </a:avLst>
            </a:prstGeom>
            <a:gradFill>
              <a:gsLst>
                <a:gs pos="0">
                  <a:srgbClr val="1565C0"/>
                </a:gs>
                <a:gs pos="100000">
                  <a:srgbClr val="5C6BC0"/>
                </a:gs>
              </a:gsLst>
              <a:lin ang="5400000" scaled="1"/>
            </a:gradFill>
            <a:ln>
              <a:noFill/>
            </a:ln>
          </p:spPr>
        </p:sp>
        <p:sp>
          <p:nvSpPr>
            <p:cNvPr id="54" name="TextBox 54"/>
            <p:cNvSpPr txBox="1"/>
            <p:nvPr/>
          </p:nvSpPr>
          <p:spPr>
            <a:xfrm>
              <a:off x="8467657" y="4742974"/>
              <a:ext cx="400187" cy="198120"/>
            </a:xfrm>
            <a:prstGeom prst="rect">
              <a:avLst/>
            </a:prstGeom>
            <a:noFill/>
            <a:ln>
              <a:noFill/>
            </a:ln>
          </p:spPr>
          <p:txBody>
            <a:bodyPr wrap="none" lIns="0" tIns="0" rIns="0" bIns="0" anchor="t" anchorCtr="0">
              <a:spAutoFit/>
            </a:bodyPr>
            <a:lstStyle/>
            <a:p>
              <a:pPr algn="ctr"/>
              <a:r>
                <a:rPr lang="zh-CN" sz="975" b="1" dirty="0">
                  <a:solidFill>
                    <a:srgbClr val="1565C0"/>
                  </a:solidFill>
                  <a:latin typeface="Cambria"/>
                  <a:ea typeface="SimSun"/>
                  <a:cs typeface="Cambria"/>
                </a:rPr>
                <a:t>47.57</a:t>
              </a:r>
            </a:p>
          </p:txBody>
        </p:sp>
        <p:sp>
          <p:nvSpPr>
            <p:cNvPr id="55" name="TextBox 55"/>
            <p:cNvSpPr txBox="1"/>
            <p:nvPr/>
          </p:nvSpPr>
          <p:spPr>
            <a:xfrm>
              <a:off x="8076574" y="5704999"/>
              <a:ext cx="325103"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Exp4</a:t>
              </a:r>
            </a:p>
          </p:txBody>
        </p:sp>
        <p:sp>
          <p:nvSpPr>
            <p:cNvPr id="56" name="TextBox 56"/>
            <p:cNvSpPr txBox="1"/>
            <p:nvPr/>
          </p:nvSpPr>
          <p:spPr>
            <a:xfrm>
              <a:off x="7851850" y="5883116"/>
              <a:ext cx="774549" cy="167640"/>
            </a:xfrm>
            <a:prstGeom prst="rect">
              <a:avLst/>
            </a:prstGeom>
            <a:noFill/>
            <a:ln>
              <a:noFill/>
            </a:ln>
          </p:spPr>
          <p:txBody>
            <a:bodyPr wrap="none" lIns="0" tIns="0" rIns="0" bIns="0" anchor="t" anchorCtr="0">
              <a:spAutoFit/>
            </a:bodyPr>
            <a:lstStyle/>
            <a:p>
              <a:pPr algn="ctr"/>
              <a:r>
                <a:rPr lang="zh-CN" sz="825" dirty="0">
                  <a:solidFill>
                    <a:srgbClr val="5F6368"/>
                  </a:solidFill>
                  <a:latin typeface="Cambria"/>
                  <a:ea typeface="SimSun"/>
                  <a:cs typeface="Cambria"/>
                </a:rPr>
                <a:t>B_fix+C+MLP15</a:t>
              </a:r>
            </a:p>
          </p:txBody>
        </p:sp>
        <p:sp>
          <p:nvSpPr>
            <p:cNvPr id="57" name="Ellipse 57"/>
            <p:cNvSpPr/>
            <p:nvPr/>
          </p:nvSpPr>
          <p:spPr>
            <a:xfrm>
              <a:off x="8848725" y="6229350"/>
              <a:ext cx="209550" cy="209550"/>
            </a:xfrm>
            <a:prstGeom prst="ellipse">
              <a:avLst/>
            </a:prstGeom>
            <a:solidFill>
              <a:srgbClr val="C62828"/>
            </a:solidFill>
            <a:ln>
              <a:noFill/>
            </a:ln>
          </p:spPr>
        </p:sp>
        <p:sp>
          <p:nvSpPr>
            <p:cNvPr id="58" name="TextBox 58"/>
            <p:cNvSpPr txBox="1"/>
            <p:nvPr/>
          </p:nvSpPr>
          <p:spPr>
            <a:xfrm>
              <a:off x="8911256" y="6283166"/>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Cambria"/>
                  <a:ea typeface="SimSun"/>
                  <a:cs typeface="Cambria"/>
                </a:rPr>
                <a:t>✗</a:t>
              </a:r>
            </a:p>
          </p:txBody>
        </p:sp>
        <p:sp>
          <p:nvSpPr>
            <p:cNvPr id="59" name="TextBox 59"/>
            <p:cNvSpPr txBox="1"/>
            <p:nvPr/>
          </p:nvSpPr>
          <p:spPr>
            <a:xfrm rot="-5400000">
              <a:off x="336042" y="3766185"/>
              <a:ext cx="1030986" cy="182880"/>
            </a:xfrm>
            <a:prstGeom prst="rect">
              <a:avLst/>
            </a:prstGeom>
            <a:noFill/>
            <a:ln>
              <a:noFill/>
            </a:ln>
          </p:spPr>
          <p:txBody>
            <a:bodyPr wrap="none" lIns="0" tIns="0" rIns="0" bIns="0" anchor="t" anchorCtr="0">
              <a:spAutoFit/>
            </a:bodyPr>
            <a:lstStyle/>
            <a:p>
              <a:pPr algn="ctr"/>
              <a:r>
                <a:rPr lang="zh-CN" sz="900" b="1" dirty="0">
                  <a:solidFill>
                    <a:srgbClr val="5F6368"/>
                  </a:solidFill>
                  <a:latin typeface="Arial"/>
                  <a:ea typeface="Microsoft YaHei"/>
                  <a:cs typeface="Arial"/>
                </a:rPr>
                <a:t>MAE (g) &amp; RE (%)</a:t>
              </a:r>
            </a:p>
          </p:txBody>
        </p:sp>
      </p:grpSp>
      <p:grpSp>
        <p:nvGrpSpPr>
          <p:cNvPr id="86" name="Group 86"/>
          <p:cNvGrpSpPr/>
          <p:nvPr/>
        </p:nvGrpSpPr>
        <p:grpSpPr>
          <a:xfrm>
            <a:off x="9334500" y="1571625"/>
            <a:ext cx="2286000" cy="4667250"/>
            <a:chOff x="9334500" y="1571625"/>
            <a:chExt cx="2286000" cy="4667250"/>
          </a:xfrm>
        </p:grpSpPr>
        <p:sp>
          <p:nvSpPr>
            <p:cNvPr id="61" name="Rectangle 61"/>
            <p:cNvSpPr/>
            <p:nvPr/>
          </p:nvSpPr>
          <p:spPr>
            <a:xfrm>
              <a:off x="9334500" y="1571625"/>
              <a:ext cx="2286000" cy="4667250"/>
            </a:xfrm>
            <a:prstGeom prst="roundRect">
              <a:avLst>
                <a:gd name="adj" fmla="val 5000"/>
              </a:avLst>
            </a:prstGeom>
            <a:solidFill>
              <a:srgbClr val="F5F7FA"/>
            </a:solidFill>
            <a:ln w="9525">
              <a:solidFill>
                <a:srgbClr val="E0E0E0"/>
              </a:solidFill>
            </a:ln>
            <a:effectLst>
              <a:outerShdw blurRad="114300" dist="38100" dir="5400000" algn="ctr" rotWithShape="0">
                <a:srgbClr val="0F172A">
                  <a:alpha val="7500"/>
                </a:srgbClr>
              </a:outerShdw>
            </a:effectLst>
          </p:spPr>
        </p:sp>
        <p:sp>
          <p:nvSpPr>
            <p:cNvPr id="62" name="Rectangle 62"/>
            <p:cNvSpPr/>
            <p:nvPr/>
          </p:nvSpPr>
          <p:spPr>
            <a:xfrm>
              <a:off x="9334500" y="1571625"/>
              <a:ext cx="2286000" cy="476250"/>
            </a:xfrm>
            <a:prstGeom prst="roundRect">
              <a:avLst>
                <a:gd name="adj" fmla="val 24000"/>
              </a:avLst>
            </a:prstGeom>
            <a:solidFill>
              <a:srgbClr val="1565C0"/>
            </a:solidFill>
            <a:ln>
              <a:noFill/>
            </a:ln>
          </p:spPr>
        </p:sp>
        <p:sp>
          <p:nvSpPr>
            <p:cNvPr id="63" name="Rectangle 63"/>
            <p:cNvSpPr/>
            <p:nvPr/>
          </p:nvSpPr>
          <p:spPr>
            <a:xfrm>
              <a:off x="9334500" y="1933575"/>
              <a:ext cx="2286000" cy="114300"/>
            </a:xfrm>
            <a:prstGeom prst="rect">
              <a:avLst/>
            </a:prstGeom>
            <a:solidFill>
              <a:srgbClr val="1565C0"/>
            </a:solidFill>
            <a:ln>
              <a:noFill/>
            </a:ln>
          </p:spPr>
        </p:sp>
        <p:sp>
          <p:nvSpPr>
            <p:cNvPr id="64" name="TextBox 64"/>
            <p:cNvSpPr txBox="1"/>
            <p:nvPr/>
          </p:nvSpPr>
          <p:spPr>
            <a:xfrm>
              <a:off x="9701965" y="1746885"/>
              <a:ext cx="1551070"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关键发现 · Findings</a:t>
              </a:r>
            </a:p>
          </p:txBody>
        </p:sp>
        <p:sp>
          <p:nvSpPr>
            <p:cNvPr id="65" name="Rectangle 65"/>
            <p:cNvSpPr/>
            <p:nvPr/>
          </p:nvSpPr>
          <p:spPr>
            <a:xfrm>
              <a:off x="9525000" y="2238375"/>
              <a:ext cx="1905000" cy="952500"/>
            </a:xfrm>
            <a:prstGeom prst="roundRect">
              <a:avLst>
                <a:gd name="adj" fmla="val 8000"/>
              </a:avLst>
            </a:prstGeom>
            <a:solidFill>
              <a:srgbClr val="FFFFFF"/>
            </a:solidFill>
            <a:ln>
              <a:noFill/>
            </a:ln>
          </p:spPr>
        </p:sp>
        <p:sp>
          <p:nvSpPr>
            <p:cNvPr id="66" name="Rectangle 66"/>
            <p:cNvSpPr/>
            <p:nvPr/>
          </p:nvSpPr>
          <p:spPr>
            <a:xfrm>
              <a:off x="9525000" y="2238375"/>
              <a:ext cx="57150" cy="952500"/>
            </a:xfrm>
            <a:prstGeom prst="roundRect">
              <a:avLst>
                <a:gd name="adj" fmla="val 50000"/>
              </a:avLst>
            </a:prstGeom>
            <a:solidFill>
              <a:srgbClr val="C62828"/>
            </a:solidFill>
            <a:ln>
              <a:noFill/>
            </a:ln>
          </p:spPr>
        </p:sp>
        <p:sp>
          <p:nvSpPr>
            <p:cNvPr id="67" name="TextBox 67"/>
            <p:cNvSpPr txBox="1"/>
            <p:nvPr/>
          </p:nvSpPr>
          <p:spPr>
            <a:xfrm>
              <a:off x="9703118" y="2342674"/>
              <a:ext cx="959907"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A 模型污染效应</a:t>
              </a:r>
            </a:p>
          </p:txBody>
        </p:sp>
        <p:sp>
          <p:nvSpPr>
            <p:cNvPr id="68" name="TextBox 68"/>
            <p:cNvSpPr txBox="1"/>
            <p:nvPr/>
          </p:nvSpPr>
          <p:spPr>
            <a:xfrm>
              <a:off x="9703118" y="2609374"/>
              <a:ext cx="1240417" cy="198120"/>
            </a:xfrm>
            <a:prstGeom prst="rect">
              <a:avLst/>
            </a:prstGeom>
            <a:noFill/>
            <a:ln>
              <a:noFill/>
            </a:ln>
          </p:spPr>
          <p:txBody>
            <a:bodyPr wrap="none" lIns="0" tIns="0" rIns="0" bIns="0" anchor="t" anchorCtr="0">
              <a:spAutoFit/>
            </a:bodyPr>
            <a:lstStyle/>
            <a:p>
              <a:pPr algn="l"/>
              <a:r>
                <a:rPr lang="zh-CN" sz="975" dirty="0">
                  <a:solidFill>
                    <a:srgbClr val="5F6368"/>
                  </a:solidFill>
                  <a:latin typeface="Cambria"/>
                  <a:ea typeface="SimSun"/>
                  <a:cs typeface="Cambria"/>
                </a:rPr>
                <a:t>含 A 方案 MAE ~200g</a:t>
              </a:r>
            </a:p>
          </p:txBody>
        </p:sp>
        <p:sp>
          <p:nvSpPr>
            <p:cNvPr id="69" name="TextBox 69"/>
            <p:cNvSpPr txBox="1"/>
            <p:nvPr/>
          </p:nvSpPr>
          <p:spPr>
            <a:xfrm>
              <a:off x="9703118" y="2799874"/>
              <a:ext cx="1324928" cy="198120"/>
            </a:xfrm>
            <a:prstGeom prst="rect">
              <a:avLst/>
            </a:prstGeom>
            <a:noFill/>
            <a:ln>
              <a:noFill/>
            </a:ln>
          </p:spPr>
          <p:txBody>
            <a:bodyPr wrap="none" lIns="0" tIns="0" rIns="0" bIns="0" anchor="t" anchorCtr="0">
              <a:spAutoFit/>
            </a:bodyPr>
            <a:lstStyle/>
            <a:p>
              <a:pPr algn="l"/>
              <a:r>
                <a:rPr lang="zh-CN" sz="975" dirty="0">
                  <a:solidFill>
                    <a:srgbClr val="5F6368"/>
                  </a:solidFill>
                  <a:latin typeface="Cambria"/>
                  <a:ea typeface="SimSun"/>
                  <a:cs typeface="Cambria"/>
                </a:rPr>
                <a:t>STD 超 2000,极端异常</a:t>
              </a:r>
            </a:p>
          </p:txBody>
        </p:sp>
        <p:sp>
          <p:nvSpPr>
            <p:cNvPr id="70" name="TextBox 70"/>
            <p:cNvSpPr txBox="1"/>
            <p:nvPr/>
          </p:nvSpPr>
          <p:spPr>
            <a:xfrm>
              <a:off x="9705022" y="3006566"/>
              <a:ext cx="1121092" cy="167640"/>
            </a:xfrm>
            <a:prstGeom prst="rect">
              <a:avLst/>
            </a:prstGeom>
            <a:noFill/>
            <a:ln>
              <a:noFill/>
            </a:ln>
          </p:spPr>
          <p:txBody>
            <a:bodyPr wrap="none" lIns="0" tIns="0" rIns="0" bIns="0" anchor="t" anchorCtr="0">
              <a:spAutoFit/>
            </a:bodyPr>
            <a:lstStyle/>
            <a:p>
              <a:pPr algn="l"/>
              <a:r>
                <a:rPr lang="zh-CN" sz="825" i="1" dirty="0">
                  <a:solidFill>
                    <a:srgbClr val="C62828"/>
                  </a:solidFill>
                  <a:latin typeface="Cambria"/>
                  <a:ea typeface="SimSun"/>
                  <a:cs typeface="Cambria"/>
                </a:rPr>
                <a:t>异常值是融合隐形杀手</a:t>
              </a:r>
            </a:p>
          </p:txBody>
        </p:sp>
        <p:sp>
          <p:nvSpPr>
            <p:cNvPr id="71" name="Rectangle 71"/>
            <p:cNvSpPr/>
            <p:nvPr/>
          </p:nvSpPr>
          <p:spPr>
            <a:xfrm>
              <a:off x="9525000" y="3324225"/>
              <a:ext cx="1905000" cy="952500"/>
            </a:xfrm>
            <a:prstGeom prst="roundRect">
              <a:avLst>
                <a:gd name="adj" fmla="val 8000"/>
              </a:avLst>
            </a:prstGeom>
            <a:solidFill>
              <a:srgbClr val="FFFFFF"/>
            </a:solidFill>
            <a:ln>
              <a:noFill/>
            </a:ln>
          </p:spPr>
        </p:sp>
        <p:sp>
          <p:nvSpPr>
            <p:cNvPr id="72" name="Rectangle 72"/>
            <p:cNvSpPr/>
            <p:nvPr/>
          </p:nvSpPr>
          <p:spPr>
            <a:xfrm>
              <a:off x="9525000" y="3324225"/>
              <a:ext cx="57150" cy="952500"/>
            </a:xfrm>
            <a:prstGeom prst="roundRect">
              <a:avLst>
                <a:gd name="adj" fmla="val 50000"/>
              </a:avLst>
            </a:prstGeom>
            <a:solidFill>
              <a:srgbClr val="FF8F00"/>
            </a:solidFill>
            <a:ln>
              <a:noFill/>
            </a:ln>
          </p:spPr>
        </p:sp>
        <p:sp>
          <p:nvSpPr>
            <p:cNvPr id="73" name="TextBox 73"/>
            <p:cNvSpPr txBox="1"/>
            <p:nvPr/>
          </p:nvSpPr>
          <p:spPr>
            <a:xfrm>
              <a:off x="9703118" y="3428524"/>
              <a:ext cx="843867"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精简优于复杂</a:t>
              </a:r>
            </a:p>
          </p:txBody>
        </p:sp>
        <p:sp>
          <p:nvSpPr>
            <p:cNvPr id="74" name="TextBox 74"/>
            <p:cNvSpPr txBox="1"/>
            <p:nvPr/>
          </p:nvSpPr>
          <p:spPr>
            <a:xfrm>
              <a:off x="9703118" y="3695224"/>
              <a:ext cx="1539454" cy="198120"/>
            </a:xfrm>
            <a:prstGeom prst="rect">
              <a:avLst/>
            </a:prstGeom>
            <a:noFill/>
            <a:ln>
              <a:noFill/>
            </a:ln>
          </p:spPr>
          <p:txBody>
            <a:bodyPr wrap="none" lIns="0" tIns="0" rIns="0" bIns="0" anchor="t" anchorCtr="0">
              <a:spAutoFit/>
            </a:bodyPr>
            <a:lstStyle/>
            <a:p>
              <a:pPr algn="l"/>
              <a:r>
                <a:rPr lang="zh-CN" sz="975" dirty="0">
                  <a:solidFill>
                    <a:srgbClr val="5F6368"/>
                  </a:solidFill>
                  <a:latin typeface="Cambria"/>
                  <a:ea typeface="SimSun"/>
                  <a:cs typeface="Cambria"/>
                </a:rPr>
                <a:t>Exp3 49.43 &gt; Exp4 79.20</a:t>
              </a:r>
            </a:p>
          </p:txBody>
        </p:sp>
        <p:sp>
          <p:nvSpPr>
            <p:cNvPr id="75" name="TextBox 75"/>
            <p:cNvSpPr txBox="1"/>
            <p:nvPr/>
          </p:nvSpPr>
          <p:spPr>
            <a:xfrm>
              <a:off x="9703118" y="3885724"/>
              <a:ext cx="1233916" cy="198120"/>
            </a:xfrm>
            <a:prstGeom prst="rect">
              <a:avLst/>
            </a:prstGeom>
            <a:noFill/>
            <a:ln>
              <a:noFill/>
            </a:ln>
          </p:spPr>
          <p:txBody>
            <a:bodyPr wrap="none" lIns="0" tIns="0" rIns="0" bIns="0" anchor="t" anchorCtr="0">
              <a:spAutoFit/>
            </a:bodyPr>
            <a:lstStyle/>
            <a:p>
              <a:pPr algn="l"/>
              <a:r>
                <a:rPr lang="zh-CN" sz="975" dirty="0">
                  <a:solidFill>
                    <a:srgbClr val="5F6368"/>
                  </a:solidFill>
                  <a:latin typeface="Cambria"/>
                  <a:ea typeface="SimSun"/>
                  <a:cs typeface="Cambria"/>
                </a:rPr>
                <a:t>剔除劣质 &gt; 引入 MLP</a:t>
              </a:r>
            </a:p>
          </p:txBody>
        </p:sp>
        <p:sp>
          <p:nvSpPr>
            <p:cNvPr id="76" name="TextBox 76"/>
            <p:cNvSpPr txBox="1"/>
            <p:nvPr/>
          </p:nvSpPr>
          <p:spPr>
            <a:xfrm>
              <a:off x="9705022" y="4092416"/>
              <a:ext cx="697540" cy="167640"/>
            </a:xfrm>
            <a:prstGeom prst="rect">
              <a:avLst/>
            </a:prstGeom>
            <a:noFill/>
            <a:ln>
              <a:noFill/>
            </a:ln>
          </p:spPr>
          <p:txBody>
            <a:bodyPr wrap="none" lIns="0" tIns="0" rIns="0" bIns="0" anchor="t" anchorCtr="0">
              <a:spAutoFit/>
            </a:bodyPr>
            <a:lstStyle/>
            <a:p>
              <a:pPr algn="l"/>
              <a:r>
                <a:rPr lang="zh-CN" sz="825" i="1" dirty="0">
                  <a:solidFill>
                    <a:srgbClr val="FF8F00"/>
                  </a:solidFill>
                  <a:latin typeface="Cambria"/>
                  <a:ea typeface="SimSun"/>
                  <a:cs typeface="Cambria"/>
                </a:rPr>
                <a:t>复杂度 ≠ 效果</a:t>
              </a:r>
            </a:p>
          </p:txBody>
        </p:sp>
        <p:sp>
          <p:nvSpPr>
            <p:cNvPr id="77" name="Rectangle 77"/>
            <p:cNvSpPr/>
            <p:nvPr/>
          </p:nvSpPr>
          <p:spPr>
            <a:xfrm>
              <a:off x="9525000" y="4410075"/>
              <a:ext cx="1905000" cy="952500"/>
            </a:xfrm>
            <a:prstGeom prst="roundRect">
              <a:avLst>
                <a:gd name="adj" fmla="val 8000"/>
              </a:avLst>
            </a:prstGeom>
            <a:solidFill>
              <a:srgbClr val="FFFFFF"/>
            </a:solidFill>
            <a:ln>
              <a:noFill/>
            </a:ln>
          </p:spPr>
        </p:sp>
        <p:sp>
          <p:nvSpPr>
            <p:cNvPr id="78" name="Rectangle 78"/>
            <p:cNvSpPr/>
            <p:nvPr/>
          </p:nvSpPr>
          <p:spPr>
            <a:xfrm>
              <a:off x="9525000" y="4410075"/>
              <a:ext cx="57150" cy="952500"/>
            </a:xfrm>
            <a:prstGeom prst="roundRect">
              <a:avLst>
                <a:gd name="adj" fmla="val 50000"/>
              </a:avLst>
            </a:prstGeom>
            <a:solidFill>
              <a:srgbClr val="5C6BC0"/>
            </a:solidFill>
            <a:ln>
              <a:noFill/>
            </a:ln>
          </p:spPr>
        </p:sp>
        <p:sp>
          <p:nvSpPr>
            <p:cNvPr id="79" name="TextBox 79"/>
            <p:cNvSpPr txBox="1"/>
            <p:nvPr/>
          </p:nvSpPr>
          <p:spPr>
            <a:xfrm>
              <a:off x="9703118" y="4514374"/>
              <a:ext cx="980384"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置信度融合有效</a:t>
              </a:r>
            </a:p>
          </p:txBody>
        </p:sp>
        <p:sp>
          <p:nvSpPr>
            <p:cNvPr id="80" name="TextBox 80"/>
            <p:cNvSpPr txBox="1"/>
            <p:nvPr/>
          </p:nvSpPr>
          <p:spPr>
            <a:xfrm>
              <a:off x="9703118" y="4781074"/>
              <a:ext cx="1058394" cy="198120"/>
            </a:xfrm>
            <a:prstGeom prst="rect">
              <a:avLst/>
            </a:prstGeom>
            <a:noFill/>
            <a:ln>
              <a:noFill/>
            </a:ln>
          </p:spPr>
          <p:txBody>
            <a:bodyPr wrap="none" lIns="0" tIns="0" rIns="0" bIns="0" anchor="t" anchorCtr="0">
              <a:spAutoFit/>
            </a:bodyPr>
            <a:lstStyle/>
            <a:p>
              <a:pPr algn="l"/>
              <a:r>
                <a:rPr lang="zh-CN" sz="975" dirty="0">
                  <a:solidFill>
                    <a:srgbClr val="5F6368"/>
                  </a:solidFill>
                  <a:latin typeface="Cambria"/>
                  <a:ea typeface="SimSun"/>
                  <a:cs typeface="Cambria"/>
                </a:rPr>
                <a:t>B+C 异向偏差互补</a:t>
              </a:r>
            </a:p>
          </p:txBody>
        </p:sp>
        <p:sp>
          <p:nvSpPr>
            <p:cNvPr id="81" name="TextBox 81"/>
            <p:cNvSpPr txBox="1"/>
            <p:nvPr/>
          </p:nvSpPr>
          <p:spPr>
            <a:xfrm>
              <a:off x="9703118" y="4971574"/>
              <a:ext cx="954381" cy="198120"/>
            </a:xfrm>
            <a:prstGeom prst="rect">
              <a:avLst/>
            </a:prstGeom>
            <a:noFill/>
            <a:ln>
              <a:noFill/>
            </a:ln>
          </p:spPr>
          <p:txBody>
            <a:bodyPr wrap="none" lIns="0" tIns="0" rIns="0" bIns="0" anchor="t" anchorCtr="0">
              <a:spAutoFit/>
            </a:bodyPr>
            <a:lstStyle/>
            <a:p>
              <a:pPr algn="l"/>
              <a:r>
                <a:rPr lang="zh-CN" sz="975" dirty="0">
                  <a:solidFill>
                    <a:srgbClr val="5F6368"/>
                  </a:solidFill>
                  <a:latin typeface="Cambria"/>
                  <a:ea typeface="SimSun"/>
                  <a:cs typeface="Cambria"/>
                </a:rPr>
                <a:t>加权 &gt; 简单平均</a:t>
              </a:r>
            </a:p>
          </p:txBody>
        </p:sp>
        <p:sp>
          <p:nvSpPr>
            <p:cNvPr id="82" name="TextBox 82"/>
            <p:cNvSpPr txBox="1"/>
            <p:nvPr/>
          </p:nvSpPr>
          <p:spPr>
            <a:xfrm>
              <a:off x="9705022" y="5178266"/>
              <a:ext cx="681038" cy="167640"/>
            </a:xfrm>
            <a:prstGeom prst="rect">
              <a:avLst/>
            </a:prstGeom>
            <a:noFill/>
            <a:ln>
              <a:noFill/>
            </a:ln>
          </p:spPr>
          <p:txBody>
            <a:bodyPr wrap="none" lIns="0" tIns="0" rIns="0" bIns="0" anchor="t" anchorCtr="0">
              <a:spAutoFit/>
            </a:bodyPr>
            <a:lstStyle/>
            <a:p>
              <a:pPr algn="l"/>
              <a:r>
                <a:rPr lang="zh-CN" sz="825" i="1" dirty="0">
                  <a:solidFill>
                    <a:srgbClr val="5C6BC0"/>
                  </a:solidFill>
                  <a:latin typeface="Cambria"/>
                  <a:ea typeface="SimSun"/>
                  <a:cs typeface="Cambria"/>
                </a:rPr>
                <a:t>互补性是关键</a:t>
              </a:r>
            </a:p>
          </p:txBody>
        </p:sp>
        <p:sp>
          <p:nvSpPr>
            <p:cNvPr id="83" name="Rectangle 83"/>
            <p:cNvSpPr/>
            <p:nvPr/>
          </p:nvSpPr>
          <p:spPr>
            <a:xfrm>
              <a:off x="9525000" y="5495925"/>
              <a:ext cx="1905000" cy="571500"/>
            </a:xfrm>
            <a:prstGeom prst="roundRect">
              <a:avLst>
                <a:gd name="adj" fmla="val 13333"/>
              </a:avLst>
            </a:prstGeom>
            <a:solidFill>
              <a:srgbClr val="2E7D32"/>
            </a:solidFill>
            <a:ln>
              <a:noFill/>
            </a:ln>
          </p:spPr>
        </p:sp>
        <p:sp>
          <p:nvSpPr>
            <p:cNvPr id="84" name="TextBox 84"/>
            <p:cNvSpPr txBox="1"/>
            <p:nvPr/>
          </p:nvSpPr>
          <p:spPr>
            <a:xfrm>
              <a:off x="9816661" y="5619274"/>
              <a:ext cx="132167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Exp3 (B_fix+C) 最优</a:t>
              </a:r>
            </a:p>
          </p:txBody>
        </p:sp>
        <p:sp>
          <p:nvSpPr>
            <p:cNvPr id="85" name="TextBox 85"/>
            <p:cNvSpPr txBox="1"/>
            <p:nvPr/>
          </p:nvSpPr>
          <p:spPr>
            <a:xfrm>
              <a:off x="9787985" y="5836920"/>
              <a:ext cx="1379029" cy="182880"/>
            </a:xfrm>
            <a:prstGeom prst="rect">
              <a:avLst/>
            </a:prstGeom>
            <a:noFill/>
            <a:ln>
              <a:noFill/>
            </a:ln>
          </p:spPr>
          <p:txBody>
            <a:bodyPr wrap="none" lIns="0" tIns="0" rIns="0" bIns="0" anchor="t" anchorCtr="0">
              <a:spAutoFit/>
            </a:bodyPr>
            <a:lstStyle/>
            <a:p>
              <a:pPr algn="ctr"/>
              <a:r>
                <a:rPr lang="zh-CN" sz="900" i="1" dirty="0">
                  <a:solidFill>
                    <a:srgbClr val="FFFFFF">
                      <a:alphaMod val="85000"/>
                    </a:srgbClr>
                  </a:solidFill>
                  <a:latin typeface="Cambria"/>
                  <a:ea typeface="SimSun"/>
                  <a:cs typeface="Cambria"/>
                </a:rPr>
                <a:t>MAE 49.43g · RE 40.40%</a:t>
              </a:r>
            </a:p>
          </p:txBody>
        </p:sp>
      </p:grpSp>
      <p:sp>
        <p:nvSpPr>
          <p:cNvPr id="87" name="TextBox 87"/>
          <p:cNvSpPr txBox="1"/>
          <p:nvPr/>
        </p:nvSpPr>
        <p:spPr>
          <a:xfrm>
            <a:off x="561022" y="6578441"/>
            <a:ext cx="3480612"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2 · Q2 Fusion Experiments</a:t>
            </a:r>
          </a:p>
        </p:txBody>
      </p:sp>
      <p:sp>
        <p:nvSpPr>
          <p:cNvPr id="88" name="TextBox 88"/>
          <p:cNvSpPr txBox="1"/>
          <p:nvPr/>
        </p:nvSpPr>
        <p:spPr>
          <a:xfrm>
            <a:off x="11251928" y="6578441"/>
            <a:ext cx="379050"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14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400"/>
                                        <p:tgtEl>
                                          <p:spTgt spid="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wipe(left)">
                                      <p:cBhvr>
                                        <p:cTn id="11" dur="400"/>
                                        <p:tgtEl>
                                          <p:spTgt spid="60"/>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86"/>
                                        </p:tgtEl>
                                        <p:attrNameLst>
                                          <p:attrName>style.visibility</p:attrName>
                                        </p:attrNameLst>
                                      </p:cBhvr>
                                      <p:to>
                                        <p:strVal val="visible"/>
                                      </p:to>
                                    </p:set>
                                    <p:animEffect transition="in" filter="slide(fromBottom)">
                                      <p:cBhvr>
                                        <p:cTn id="15" dur="4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0" grpId="0"/>
      <p:bldP spid="8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1206733" cy="652462"/>
            <a:chOff x="571500" y="457200"/>
            <a:chExt cx="11206733" cy="652462"/>
          </a:xfrm>
        </p:grpSpPr>
        <p:sp>
          <p:nvSpPr>
            <p:cNvPr id="3" name="Rectangle 3"/>
            <p:cNvSpPr/>
            <p:nvPr/>
          </p:nvSpPr>
          <p:spPr>
            <a:xfrm>
              <a:off x="571500" y="457200"/>
              <a:ext cx="57150" cy="381000"/>
            </a:xfrm>
            <a:prstGeom prst="roundRect">
              <a:avLst>
                <a:gd name="adj" fmla="val 50000"/>
              </a:avLst>
            </a:prstGeom>
            <a:solidFill>
              <a:srgbClr val="2E7D32"/>
            </a:solidFill>
            <a:ln>
              <a:noFill/>
            </a:ln>
          </p:spPr>
        </p:sp>
        <p:sp>
          <p:nvSpPr>
            <p:cNvPr id="4" name="TextBox 4"/>
            <p:cNvSpPr txBox="1"/>
            <p:nvPr/>
          </p:nvSpPr>
          <p:spPr>
            <a:xfrm>
              <a:off x="733425" y="500062"/>
              <a:ext cx="5349812"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CalorieCLIP + 类别校准 · MAE 21.34g</a:t>
              </a:r>
            </a:p>
          </p:txBody>
        </p:sp>
        <p:sp>
          <p:nvSpPr>
            <p:cNvPr id="5" name="TextBox 5"/>
            <p:cNvSpPr txBox="1"/>
            <p:nvPr/>
          </p:nvSpPr>
          <p:spPr>
            <a:xfrm>
              <a:off x="748665" y="896302"/>
              <a:ext cx="3996166"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Q2 · BEST SOLUTION · CALORIE-BASED WEIGHT ESTIMATION</a:t>
              </a:r>
            </a:p>
          </p:txBody>
        </p:sp>
        <p:grpSp>
          <p:nvGrpSpPr>
            <p:cNvPr id="9" name="Group 9"/>
            <p:cNvGrpSpPr/>
            <p:nvPr/>
          </p:nvGrpSpPr>
          <p:grpSpPr>
            <a:xfrm>
              <a:off x="9715500" y="476250"/>
              <a:ext cx="2062733" cy="571500"/>
              <a:chOff x="9715500" y="476250"/>
              <a:chExt cx="2062733" cy="571500"/>
            </a:xfrm>
          </p:grpSpPr>
          <p:sp>
            <p:nvSpPr>
              <p:cNvPr id="6" name="Rectangle 6"/>
              <p:cNvSpPr/>
              <p:nvPr/>
            </p:nvSpPr>
            <p:spPr>
              <a:xfrm>
                <a:off x="9715500" y="476250"/>
                <a:ext cx="1905000" cy="571500"/>
              </a:xfrm>
              <a:prstGeom prst="roundRect">
                <a:avLst>
                  <a:gd name="adj" fmla="val 50000"/>
                </a:avLst>
              </a:prstGeom>
              <a:solidFill>
                <a:srgbClr val="2E7D32"/>
              </a:solidFill>
              <a:ln>
                <a:noFill/>
              </a:ln>
            </p:spPr>
          </p:sp>
          <p:sp>
            <p:nvSpPr>
              <p:cNvPr id="7" name="Freeform 7"/>
              <p:cNvSpPr/>
              <p:nvPr/>
            </p:nvSpPr>
            <p:spPr>
              <a:xfrm>
                <a:off x="9912350" y="698500"/>
                <a:ext cx="190500" cy="127000"/>
              </a:xfrm>
              <a:custGeom>
                <a:avLst/>
                <a:gdLst/>
                <a:ahLst/>
                <a:cxnLst/>
                <a:rect l="l" t="t" r="r" b="b"/>
                <a:pathLst>
                  <a:path w="190500" h="127000">
                    <a:moveTo>
                      <a:pt x="0" y="63500"/>
                    </a:moveTo>
                    <a:lnTo>
                      <a:pt x="63500" y="127000"/>
                    </a:lnTo>
                    <a:lnTo>
                      <a:pt x="190500" y="0"/>
                    </a:lnTo>
                  </a:path>
                </a:pathLst>
              </a:custGeom>
              <a:noFill/>
              <a:ln w="19050">
                <a:solidFill>
                  <a:srgbClr val="FFFFFF"/>
                </a:solidFill>
              </a:ln>
            </p:spPr>
          </p:sp>
          <p:sp>
            <p:nvSpPr>
              <p:cNvPr id="8" name="TextBox 8"/>
              <p:cNvSpPr txBox="1"/>
              <p:nvPr/>
            </p:nvSpPr>
            <p:spPr>
              <a:xfrm>
                <a:off x="9938767" y="692468"/>
                <a:ext cx="183946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BEST · MAE 降 83.2%</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2" name="TextBox 12"/>
          <p:cNvSpPr txBox="1"/>
          <p:nvPr/>
        </p:nvSpPr>
        <p:spPr>
          <a:xfrm>
            <a:off x="3681365" y="1505902"/>
            <a:ext cx="4829270"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方法: CalorieCLIP 估热(kcal)→ 除类别密度系数 → 重量(g) → 类别级线性校准</a:t>
            </a:r>
          </a:p>
        </p:txBody>
      </p:sp>
      <p:grpSp>
        <p:nvGrpSpPr>
          <p:cNvPr id="41" name="Group 41"/>
          <p:cNvGrpSpPr/>
          <p:nvPr/>
        </p:nvGrpSpPr>
        <p:grpSpPr>
          <a:xfrm>
            <a:off x="351794" y="1918335"/>
            <a:ext cx="7077706" cy="4456271"/>
            <a:chOff x="351794" y="1918335"/>
            <a:chExt cx="7077706" cy="4456271"/>
          </a:xfrm>
        </p:grpSpPr>
        <p:sp>
          <p:nvSpPr>
            <p:cNvPr id="13" name="TextBox 13"/>
            <p:cNvSpPr txBox="1"/>
            <p:nvPr/>
          </p:nvSpPr>
          <p:spPr>
            <a:xfrm>
              <a:off x="556260" y="1918335"/>
              <a:ext cx="2769222"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CalorieCLIP 校准前后 MAE / RE 对比</a:t>
              </a:r>
            </a:p>
          </p:txBody>
        </p:sp>
        <p:sp>
          <p:nvSpPr>
            <p:cNvPr id="14" name="Line 14"/>
            <p:cNvSpPr/>
            <p:nvPr/>
          </p:nvSpPr>
          <p:spPr>
            <a:xfrm>
              <a:off x="1333500" y="2428875"/>
              <a:ext cx="9525" cy="3429000"/>
            </a:xfrm>
            <a:custGeom>
              <a:avLst/>
              <a:gdLst/>
              <a:ahLst/>
              <a:cxnLst/>
              <a:rect l="l" t="t" r="r" b="b"/>
              <a:pathLst>
                <a:path w="9525" h="3429000">
                  <a:moveTo>
                    <a:pt x="0" y="0"/>
                  </a:moveTo>
                  <a:lnTo>
                    <a:pt x="0" y="3429000"/>
                  </a:lnTo>
                </a:path>
              </a:pathLst>
            </a:custGeom>
            <a:noFill/>
            <a:ln w="14288">
              <a:solidFill>
                <a:srgbClr val="9AA0A6"/>
              </a:solidFill>
            </a:ln>
          </p:spPr>
        </p:sp>
        <p:sp>
          <p:nvSpPr>
            <p:cNvPr id="15" name="Line 15"/>
            <p:cNvSpPr/>
            <p:nvPr/>
          </p:nvSpPr>
          <p:spPr>
            <a:xfrm>
              <a:off x="1333500" y="5857875"/>
              <a:ext cx="5905500" cy="9525"/>
            </a:xfrm>
            <a:custGeom>
              <a:avLst/>
              <a:gdLst/>
              <a:ahLst/>
              <a:cxnLst/>
              <a:rect l="l" t="t" r="r" b="b"/>
              <a:pathLst>
                <a:path w="5905500" h="9525">
                  <a:moveTo>
                    <a:pt x="0" y="0"/>
                  </a:moveTo>
                  <a:lnTo>
                    <a:pt x="5905500" y="0"/>
                  </a:lnTo>
                </a:path>
              </a:pathLst>
            </a:custGeom>
            <a:noFill/>
            <a:ln w="14288">
              <a:solidFill>
                <a:srgbClr val="9AA0A6"/>
              </a:solidFill>
            </a:ln>
          </p:spPr>
        </p:sp>
        <p:sp>
          <p:nvSpPr>
            <p:cNvPr id="16" name="Line 16"/>
            <p:cNvSpPr/>
            <p:nvPr/>
          </p:nvSpPr>
          <p:spPr>
            <a:xfrm>
              <a:off x="1333500" y="5857875"/>
              <a:ext cx="5905500" cy="9525"/>
            </a:xfrm>
            <a:custGeom>
              <a:avLst/>
              <a:gdLst/>
              <a:ahLst/>
              <a:cxnLst/>
              <a:rect l="l" t="t" r="r" b="b"/>
              <a:pathLst>
                <a:path w="5905500" h="9525">
                  <a:moveTo>
                    <a:pt x="0" y="0"/>
                  </a:moveTo>
                  <a:lnTo>
                    <a:pt x="5905500" y="0"/>
                  </a:lnTo>
                </a:path>
              </a:pathLst>
            </a:custGeom>
            <a:noFill/>
            <a:ln w="9525">
              <a:solidFill>
                <a:srgbClr val="E0E0E0"/>
              </a:solidFill>
            </a:ln>
          </p:spPr>
        </p:sp>
        <p:sp>
          <p:nvSpPr>
            <p:cNvPr id="17" name="Line 17"/>
            <p:cNvSpPr/>
            <p:nvPr/>
          </p:nvSpPr>
          <p:spPr>
            <a:xfrm>
              <a:off x="1333500" y="5000625"/>
              <a:ext cx="5905500" cy="9525"/>
            </a:xfrm>
            <a:custGeom>
              <a:avLst/>
              <a:gdLst/>
              <a:ahLst/>
              <a:cxnLst/>
              <a:rect l="l" t="t" r="r" b="b"/>
              <a:pathLst>
                <a:path w="5905500" h="9525">
                  <a:moveTo>
                    <a:pt x="0" y="0"/>
                  </a:moveTo>
                  <a:lnTo>
                    <a:pt x="5905500" y="0"/>
                  </a:lnTo>
                </a:path>
              </a:pathLst>
            </a:custGeom>
            <a:noFill/>
            <a:ln w="9525">
              <a:solidFill>
                <a:srgbClr val="E0E0E0"/>
              </a:solidFill>
              <a:prstDash val="dash"/>
            </a:ln>
          </p:spPr>
        </p:sp>
        <p:sp>
          <p:nvSpPr>
            <p:cNvPr id="18" name="Line 18"/>
            <p:cNvSpPr/>
            <p:nvPr/>
          </p:nvSpPr>
          <p:spPr>
            <a:xfrm>
              <a:off x="1333500" y="4143375"/>
              <a:ext cx="5905500" cy="9525"/>
            </a:xfrm>
            <a:custGeom>
              <a:avLst/>
              <a:gdLst/>
              <a:ahLst/>
              <a:cxnLst/>
              <a:rect l="l" t="t" r="r" b="b"/>
              <a:pathLst>
                <a:path w="5905500" h="9525">
                  <a:moveTo>
                    <a:pt x="0" y="0"/>
                  </a:moveTo>
                  <a:lnTo>
                    <a:pt x="5905500" y="0"/>
                  </a:lnTo>
                </a:path>
              </a:pathLst>
            </a:custGeom>
            <a:noFill/>
            <a:ln w="9525">
              <a:solidFill>
                <a:srgbClr val="E0E0E0"/>
              </a:solidFill>
              <a:prstDash val="dash"/>
            </a:ln>
          </p:spPr>
        </p:sp>
        <p:sp>
          <p:nvSpPr>
            <p:cNvPr id="19" name="Line 19"/>
            <p:cNvSpPr/>
            <p:nvPr/>
          </p:nvSpPr>
          <p:spPr>
            <a:xfrm>
              <a:off x="1333500" y="3286125"/>
              <a:ext cx="5905500" cy="9525"/>
            </a:xfrm>
            <a:custGeom>
              <a:avLst/>
              <a:gdLst/>
              <a:ahLst/>
              <a:cxnLst/>
              <a:rect l="l" t="t" r="r" b="b"/>
              <a:pathLst>
                <a:path w="5905500" h="9525">
                  <a:moveTo>
                    <a:pt x="0" y="0"/>
                  </a:moveTo>
                  <a:lnTo>
                    <a:pt x="5905500" y="0"/>
                  </a:lnTo>
                </a:path>
              </a:pathLst>
            </a:custGeom>
            <a:noFill/>
            <a:ln w="9525">
              <a:solidFill>
                <a:srgbClr val="E0E0E0"/>
              </a:solidFill>
              <a:prstDash val="dash"/>
            </a:ln>
          </p:spPr>
        </p:sp>
        <p:sp>
          <p:nvSpPr>
            <p:cNvPr id="20" name="Line 20"/>
            <p:cNvSpPr/>
            <p:nvPr/>
          </p:nvSpPr>
          <p:spPr>
            <a:xfrm>
              <a:off x="1333500" y="2428875"/>
              <a:ext cx="5905500" cy="9525"/>
            </a:xfrm>
            <a:custGeom>
              <a:avLst/>
              <a:gdLst/>
              <a:ahLst/>
              <a:cxnLst/>
              <a:rect l="l" t="t" r="r" b="b"/>
              <a:pathLst>
                <a:path w="5905500" h="9525">
                  <a:moveTo>
                    <a:pt x="0" y="0"/>
                  </a:moveTo>
                  <a:lnTo>
                    <a:pt x="5905500" y="0"/>
                  </a:lnTo>
                </a:path>
              </a:pathLst>
            </a:custGeom>
            <a:noFill/>
            <a:ln w="9525">
              <a:solidFill>
                <a:srgbClr val="E0E0E0"/>
              </a:solidFill>
              <a:prstDash val="dash"/>
            </a:ln>
          </p:spPr>
        </p:sp>
        <p:sp>
          <p:nvSpPr>
            <p:cNvPr id="21" name="TextBox 21"/>
            <p:cNvSpPr txBox="1"/>
            <p:nvPr/>
          </p:nvSpPr>
          <p:spPr>
            <a:xfrm>
              <a:off x="1186315" y="5806916"/>
              <a:ext cx="81463"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0</a:t>
              </a:r>
            </a:p>
          </p:txBody>
        </p:sp>
        <p:sp>
          <p:nvSpPr>
            <p:cNvPr id="22" name="TextBox 22"/>
            <p:cNvSpPr txBox="1"/>
            <p:nvPr/>
          </p:nvSpPr>
          <p:spPr>
            <a:xfrm>
              <a:off x="1125807" y="4949666"/>
              <a:ext cx="141970"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40</a:t>
              </a:r>
            </a:p>
          </p:txBody>
        </p:sp>
        <p:sp>
          <p:nvSpPr>
            <p:cNvPr id="23" name="TextBox 23"/>
            <p:cNvSpPr txBox="1"/>
            <p:nvPr/>
          </p:nvSpPr>
          <p:spPr>
            <a:xfrm>
              <a:off x="1125807" y="4092416"/>
              <a:ext cx="141970"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80</a:t>
              </a:r>
            </a:p>
          </p:txBody>
        </p:sp>
        <p:sp>
          <p:nvSpPr>
            <p:cNvPr id="24" name="TextBox 24"/>
            <p:cNvSpPr txBox="1"/>
            <p:nvPr/>
          </p:nvSpPr>
          <p:spPr>
            <a:xfrm>
              <a:off x="1092803" y="3235166"/>
              <a:ext cx="174974"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120</a:t>
              </a:r>
            </a:p>
          </p:txBody>
        </p:sp>
        <p:sp>
          <p:nvSpPr>
            <p:cNvPr id="25" name="TextBox 25"/>
            <p:cNvSpPr txBox="1"/>
            <p:nvPr/>
          </p:nvSpPr>
          <p:spPr>
            <a:xfrm>
              <a:off x="1092803" y="2377916"/>
              <a:ext cx="174974" cy="167640"/>
            </a:xfrm>
            <a:prstGeom prst="rect">
              <a:avLst/>
            </a:prstGeom>
            <a:noFill/>
            <a:ln>
              <a:noFill/>
            </a:ln>
          </p:spPr>
          <p:txBody>
            <a:bodyPr wrap="none" lIns="0" tIns="0" rIns="0" bIns="0" anchor="t" anchorCtr="0">
              <a:spAutoFit/>
            </a:bodyPr>
            <a:lstStyle/>
            <a:p>
              <a:pPr algn="r"/>
              <a:r>
                <a:rPr lang="zh-CN" sz="825" dirty="0">
                  <a:solidFill>
                    <a:srgbClr val="9AA0A6"/>
                  </a:solidFill>
                  <a:latin typeface="Cambria"/>
                  <a:ea typeface="SimSun"/>
                  <a:cs typeface="Cambria"/>
                </a:rPr>
                <a:t>160</a:t>
              </a:r>
            </a:p>
          </p:txBody>
        </p:sp>
        <p:sp>
          <p:nvSpPr>
            <p:cNvPr id="26" name="Rectangle 26"/>
            <p:cNvSpPr/>
            <p:nvPr/>
          </p:nvSpPr>
          <p:spPr>
            <a:xfrm>
              <a:off x="1714500" y="3133725"/>
              <a:ext cx="1143000" cy="2724150"/>
            </a:xfrm>
            <a:prstGeom prst="roundRect">
              <a:avLst>
                <a:gd name="adj" fmla="val 3333"/>
              </a:avLst>
            </a:prstGeom>
            <a:gradFill>
              <a:gsLst>
                <a:gs pos="0">
                  <a:srgbClr val="C62828"/>
                </a:gs>
                <a:gs pos="100000">
                  <a:srgbClr val="FF8F00"/>
                </a:gs>
              </a:gsLst>
              <a:lin ang="5400000" scaled="1"/>
            </a:gradFill>
            <a:ln>
              <a:noFill/>
            </a:ln>
          </p:spPr>
        </p:sp>
        <p:sp>
          <p:nvSpPr>
            <p:cNvPr id="27" name="TextBox 27"/>
            <p:cNvSpPr txBox="1"/>
            <p:nvPr/>
          </p:nvSpPr>
          <p:spPr>
            <a:xfrm>
              <a:off x="1968322" y="2908935"/>
              <a:ext cx="635356"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126.96g</a:t>
              </a:r>
            </a:p>
          </p:txBody>
        </p:sp>
        <p:sp>
          <p:nvSpPr>
            <p:cNvPr id="28" name="Rectangle 28"/>
            <p:cNvSpPr/>
            <p:nvPr/>
          </p:nvSpPr>
          <p:spPr>
            <a:xfrm>
              <a:off x="3048000" y="2752725"/>
              <a:ext cx="1143000" cy="3105150"/>
            </a:xfrm>
            <a:prstGeom prst="roundRect">
              <a:avLst>
                <a:gd name="adj" fmla="val 3333"/>
              </a:avLst>
            </a:prstGeom>
            <a:solidFill>
              <a:srgbClr val="FFB300">
                <a:alpha val="85000"/>
              </a:srgbClr>
            </a:solidFill>
            <a:ln>
              <a:noFill/>
            </a:ln>
          </p:spPr>
        </p:sp>
        <p:sp>
          <p:nvSpPr>
            <p:cNvPr id="29" name="TextBox 29"/>
            <p:cNvSpPr txBox="1"/>
            <p:nvPr/>
          </p:nvSpPr>
          <p:spPr>
            <a:xfrm>
              <a:off x="3301822" y="2527935"/>
              <a:ext cx="635356" cy="243840"/>
            </a:xfrm>
            <a:prstGeom prst="rect">
              <a:avLst/>
            </a:prstGeom>
            <a:noFill/>
            <a:ln>
              <a:noFill/>
            </a:ln>
          </p:spPr>
          <p:txBody>
            <a:bodyPr wrap="none" lIns="0" tIns="0" rIns="0" bIns="0" anchor="t" anchorCtr="0">
              <a:spAutoFit/>
            </a:bodyPr>
            <a:lstStyle/>
            <a:p>
              <a:pPr algn="ctr"/>
              <a:r>
                <a:rPr lang="zh-CN" sz="1200" b="1" dirty="0">
                  <a:solidFill>
                    <a:srgbClr val="FF8F00"/>
                  </a:solidFill>
                  <a:latin typeface="Cambria"/>
                  <a:ea typeface="SimSun"/>
                  <a:cs typeface="Cambria"/>
                </a:rPr>
                <a:t>145.08%</a:t>
              </a:r>
            </a:p>
          </p:txBody>
        </p:sp>
        <p:sp>
          <p:nvSpPr>
            <p:cNvPr id="30" name="TextBox 30"/>
            <p:cNvSpPr txBox="1"/>
            <p:nvPr/>
          </p:nvSpPr>
          <p:spPr>
            <a:xfrm>
              <a:off x="2667333" y="6019324"/>
              <a:ext cx="570833" cy="198120"/>
            </a:xfrm>
            <a:prstGeom prst="rect">
              <a:avLst/>
            </a:prstGeom>
            <a:noFill/>
            <a:ln>
              <a:noFill/>
            </a:ln>
          </p:spPr>
          <p:txBody>
            <a:bodyPr wrap="none" lIns="0" tIns="0" rIns="0" bIns="0" anchor="t" anchorCtr="0">
              <a:spAutoFit/>
            </a:bodyPr>
            <a:lstStyle/>
            <a:p>
              <a:pPr algn="ctr"/>
              <a:r>
                <a:rPr lang="zh-CN" sz="975" b="1" dirty="0">
                  <a:solidFill>
                    <a:srgbClr val="C62828"/>
                  </a:solidFill>
                  <a:latin typeface="Arial"/>
                  <a:ea typeface="Microsoft YaHei"/>
                  <a:cs typeface="Arial"/>
                </a:rPr>
                <a:t>原始预测</a:t>
              </a:r>
            </a:p>
          </p:txBody>
        </p:sp>
        <p:sp>
          <p:nvSpPr>
            <p:cNvPr id="31" name="TextBox 31"/>
            <p:cNvSpPr txBox="1"/>
            <p:nvPr/>
          </p:nvSpPr>
          <p:spPr>
            <a:xfrm>
              <a:off x="2532471" y="6206966"/>
              <a:ext cx="840557" cy="167640"/>
            </a:xfrm>
            <a:prstGeom prst="rect">
              <a:avLst/>
            </a:prstGeom>
            <a:noFill/>
            <a:ln>
              <a:noFill/>
            </a:ln>
          </p:spPr>
          <p:txBody>
            <a:bodyPr wrap="none" lIns="0" tIns="0" rIns="0" bIns="0" anchor="t" anchorCtr="0">
              <a:spAutoFit/>
            </a:bodyPr>
            <a:lstStyle/>
            <a:p>
              <a:pPr algn="ctr"/>
              <a:r>
                <a:rPr lang="zh-CN" sz="825" dirty="0">
                  <a:solidFill>
                    <a:srgbClr val="5F6368"/>
                  </a:solidFill>
                  <a:latin typeface="Cambria"/>
                  <a:ea typeface="SimSun"/>
                  <a:cs typeface="Cambria"/>
                </a:rPr>
                <a:t>Raw CalorieCLIP</a:t>
              </a:r>
            </a:p>
          </p:txBody>
        </p:sp>
        <p:sp>
          <p:nvSpPr>
            <p:cNvPr id="32" name="Rectangle 32"/>
            <p:cNvSpPr/>
            <p:nvPr/>
          </p:nvSpPr>
          <p:spPr>
            <a:xfrm>
              <a:off x="4953000" y="5400675"/>
              <a:ext cx="1143000" cy="457200"/>
            </a:xfrm>
            <a:prstGeom prst="roundRect">
              <a:avLst>
                <a:gd name="adj" fmla="val 8333"/>
              </a:avLst>
            </a:prstGeom>
            <a:gradFill>
              <a:gsLst>
                <a:gs pos="0">
                  <a:srgbClr val="2E7D32"/>
                </a:gs>
                <a:gs pos="100000">
                  <a:srgbClr val="4CAF50"/>
                </a:gs>
              </a:gsLst>
              <a:lin ang="5400000" scaled="1"/>
            </a:gradFill>
            <a:ln>
              <a:noFill/>
            </a:ln>
          </p:spPr>
        </p:sp>
        <p:sp>
          <p:nvSpPr>
            <p:cNvPr id="33" name="TextBox 33"/>
            <p:cNvSpPr txBox="1"/>
            <p:nvPr/>
          </p:nvSpPr>
          <p:spPr>
            <a:xfrm>
              <a:off x="5219094" y="5159692"/>
              <a:ext cx="610812" cy="274320"/>
            </a:xfrm>
            <a:prstGeom prst="rect">
              <a:avLst/>
            </a:prstGeom>
            <a:noFill/>
            <a:ln>
              <a:noFill/>
            </a:ln>
          </p:spPr>
          <p:txBody>
            <a:bodyPr wrap="none" lIns="0" tIns="0" rIns="0" bIns="0" anchor="t" anchorCtr="0">
              <a:spAutoFit/>
            </a:bodyPr>
            <a:lstStyle/>
            <a:p>
              <a:pPr algn="ctr"/>
              <a:r>
                <a:rPr lang="zh-CN" sz="1350" b="1" dirty="0">
                  <a:solidFill>
                    <a:srgbClr val="2E7D32"/>
                  </a:solidFill>
                  <a:latin typeface="Cambria"/>
                  <a:ea typeface="SimSun"/>
                  <a:cs typeface="Cambria"/>
                </a:rPr>
                <a:t>21.34g</a:t>
              </a:r>
            </a:p>
          </p:txBody>
        </p:sp>
        <p:sp>
          <p:nvSpPr>
            <p:cNvPr id="34" name="Rectangle 34"/>
            <p:cNvSpPr/>
            <p:nvPr/>
          </p:nvSpPr>
          <p:spPr>
            <a:xfrm>
              <a:off x="6286500" y="5553075"/>
              <a:ext cx="1143000" cy="304800"/>
            </a:xfrm>
            <a:prstGeom prst="roundRect">
              <a:avLst>
                <a:gd name="adj" fmla="val 12500"/>
              </a:avLst>
            </a:prstGeom>
            <a:solidFill>
              <a:srgbClr val="2E7D32">
                <a:alpha val="85000"/>
              </a:srgbClr>
            </a:solidFill>
            <a:ln>
              <a:noFill/>
            </a:ln>
          </p:spPr>
        </p:sp>
        <p:sp>
          <p:nvSpPr>
            <p:cNvPr id="35" name="TextBox 35"/>
            <p:cNvSpPr txBox="1"/>
            <p:nvPr/>
          </p:nvSpPr>
          <p:spPr>
            <a:xfrm>
              <a:off x="6586528" y="5328285"/>
              <a:ext cx="542944"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Cambria"/>
                  <a:ea typeface="SimSun"/>
                  <a:cs typeface="Cambria"/>
                </a:rPr>
                <a:t>14.34%</a:t>
              </a:r>
            </a:p>
          </p:txBody>
        </p:sp>
        <p:sp>
          <p:nvSpPr>
            <p:cNvPr id="36" name="TextBox 36"/>
            <p:cNvSpPr txBox="1"/>
            <p:nvPr/>
          </p:nvSpPr>
          <p:spPr>
            <a:xfrm>
              <a:off x="5916072" y="6019324"/>
              <a:ext cx="550356"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校准后 ✓</a:t>
              </a:r>
            </a:p>
          </p:txBody>
        </p:sp>
        <p:sp>
          <p:nvSpPr>
            <p:cNvPr id="37" name="TextBox 37"/>
            <p:cNvSpPr txBox="1"/>
            <p:nvPr/>
          </p:nvSpPr>
          <p:spPr>
            <a:xfrm>
              <a:off x="5721465" y="6206966"/>
              <a:ext cx="939570" cy="167640"/>
            </a:xfrm>
            <a:prstGeom prst="rect">
              <a:avLst/>
            </a:prstGeom>
            <a:noFill/>
            <a:ln>
              <a:noFill/>
            </a:ln>
          </p:spPr>
          <p:txBody>
            <a:bodyPr wrap="none" lIns="0" tIns="0" rIns="0" bIns="0" anchor="t" anchorCtr="0">
              <a:spAutoFit/>
            </a:bodyPr>
            <a:lstStyle/>
            <a:p>
              <a:pPr algn="ctr"/>
              <a:r>
                <a:rPr lang="zh-CN" sz="825" dirty="0">
                  <a:solidFill>
                    <a:srgbClr val="2E7D32"/>
                  </a:solidFill>
                  <a:latin typeface="Cambria"/>
                  <a:ea typeface="SimSun"/>
                  <a:cs typeface="Cambria"/>
                </a:rPr>
                <a:t>After Calibration</a:t>
              </a:r>
            </a:p>
          </p:txBody>
        </p:sp>
        <p:sp>
          <p:nvSpPr>
            <p:cNvPr id="38" name="Freeform 38"/>
            <p:cNvSpPr/>
            <p:nvPr/>
          </p:nvSpPr>
          <p:spPr>
            <a:xfrm>
              <a:off x="4191000" y="4191000"/>
              <a:ext cx="762000" cy="714375"/>
            </a:xfrm>
            <a:custGeom>
              <a:avLst/>
              <a:gdLst/>
              <a:ahLst/>
              <a:cxnLst/>
              <a:rect l="l" t="t" r="r" b="b"/>
              <a:pathLst>
                <a:path w="762000" h="714375">
                  <a:moveTo>
                    <a:pt x="0" y="0"/>
                  </a:moveTo>
                  <a:cubicBezTo>
                    <a:pt x="508000" y="0"/>
                    <a:pt x="762000" y="238125"/>
                    <a:pt x="762000" y="714375"/>
                  </a:cubicBezTo>
                </a:path>
              </a:pathLst>
            </a:custGeom>
            <a:noFill/>
            <a:ln w="23812">
              <a:solidFill>
                <a:srgbClr val="FF8F00"/>
              </a:solidFill>
              <a:prstDash val="dash"/>
            </a:ln>
          </p:spPr>
        </p:sp>
        <p:sp>
          <p:nvSpPr>
            <p:cNvPr id="39" name="Polygon 39"/>
            <p:cNvSpPr/>
            <p:nvPr/>
          </p:nvSpPr>
          <p:spPr>
            <a:xfrm>
              <a:off x="4905375" y="4857750"/>
              <a:ext cx="95250" cy="142875"/>
            </a:xfrm>
            <a:custGeom>
              <a:avLst/>
              <a:gdLst/>
              <a:ahLst/>
              <a:cxnLst/>
              <a:rect l="l" t="t" r="r" b="b"/>
              <a:pathLst>
                <a:path w="95250" h="142875">
                  <a:moveTo>
                    <a:pt x="0" y="0"/>
                  </a:moveTo>
                  <a:lnTo>
                    <a:pt x="95250" y="95250"/>
                  </a:lnTo>
                  <a:lnTo>
                    <a:pt x="47625" y="142875"/>
                  </a:lnTo>
                  <a:close/>
                </a:path>
              </a:pathLst>
            </a:custGeom>
            <a:solidFill>
              <a:srgbClr val="FF8F00"/>
            </a:solidFill>
            <a:ln>
              <a:noFill/>
            </a:ln>
          </p:spPr>
        </p:sp>
        <p:sp>
          <p:nvSpPr>
            <p:cNvPr id="40" name="TextBox 40"/>
            <p:cNvSpPr txBox="1"/>
            <p:nvPr/>
          </p:nvSpPr>
          <p:spPr>
            <a:xfrm rot="-5400000">
              <a:off x="351794" y="4051935"/>
              <a:ext cx="999482" cy="182880"/>
            </a:xfrm>
            <a:prstGeom prst="rect">
              <a:avLst/>
            </a:prstGeom>
            <a:noFill/>
            <a:ln>
              <a:noFill/>
            </a:ln>
          </p:spPr>
          <p:txBody>
            <a:bodyPr wrap="none" lIns="0" tIns="0" rIns="0" bIns="0" anchor="t" anchorCtr="0">
              <a:spAutoFit/>
            </a:bodyPr>
            <a:lstStyle/>
            <a:p>
              <a:pPr algn="ctr"/>
              <a:r>
                <a:rPr lang="zh-CN" sz="900" b="1" dirty="0">
                  <a:solidFill>
                    <a:srgbClr val="5F6368"/>
                  </a:solidFill>
                  <a:latin typeface="Arial"/>
                  <a:ea typeface="Microsoft YaHei"/>
                  <a:cs typeface="Arial"/>
                </a:rPr>
                <a:t>MAE (g) | RE (%)</a:t>
              </a:r>
            </a:p>
          </p:txBody>
        </p:sp>
      </p:grpSp>
      <p:grpSp>
        <p:nvGrpSpPr>
          <p:cNvPr id="61" name="Group 61"/>
          <p:cNvGrpSpPr/>
          <p:nvPr/>
        </p:nvGrpSpPr>
        <p:grpSpPr>
          <a:xfrm>
            <a:off x="7810500" y="1857375"/>
            <a:ext cx="3810000" cy="2667000"/>
            <a:chOff x="7810500" y="1857375"/>
            <a:chExt cx="3810000" cy="2667000"/>
          </a:xfrm>
        </p:grpSpPr>
        <p:sp>
          <p:nvSpPr>
            <p:cNvPr id="42" name="Rectangle 42"/>
            <p:cNvSpPr/>
            <p:nvPr/>
          </p:nvSpPr>
          <p:spPr>
            <a:xfrm>
              <a:off x="7810500" y="1857375"/>
              <a:ext cx="3810000" cy="2667000"/>
            </a:xfrm>
            <a:prstGeom prst="roundRect">
              <a:avLst>
                <a:gd name="adj" fmla="val 4286"/>
              </a:avLst>
            </a:prstGeom>
            <a:solidFill>
              <a:srgbClr val="0D2A4F"/>
            </a:solidFill>
            <a:ln>
              <a:noFill/>
            </a:ln>
            <a:effectLst>
              <a:outerShdw blurRad="114300" dist="38100" dir="5400000" algn="ctr" rotWithShape="0">
                <a:srgbClr val="0F172A">
                  <a:alpha val="7500"/>
                </a:srgbClr>
              </a:outerShdw>
            </a:effectLst>
          </p:spPr>
        </p:sp>
        <p:sp>
          <p:nvSpPr>
            <p:cNvPr id="43" name="TextBox 43"/>
            <p:cNvSpPr txBox="1"/>
            <p:nvPr/>
          </p:nvSpPr>
          <p:spPr>
            <a:xfrm>
              <a:off x="8847749" y="2092642"/>
              <a:ext cx="173550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类别级线性校准公式</a:t>
              </a:r>
            </a:p>
          </p:txBody>
        </p:sp>
        <p:sp>
          <p:nvSpPr>
            <p:cNvPr id="44" name="Line 44"/>
            <p:cNvSpPr/>
            <p:nvPr/>
          </p:nvSpPr>
          <p:spPr>
            <a:xfrm>
              <a:off x="8572500" y="2390775"/>
              <a:ext cx="2286000" cy="9525"/>
            </a:xfrm>
            <a:custGeom>
              <a:avLst/>
              <a:gdLst/>
              <a:ahLst/>
              <a:cxnLst/>
              <a:rect l="l" t="t" r="r" b="b"/>
              <a:pathLst>
                <a:path w="2286000" h="9525">
                  <a:moveTo>
                    <a:pt x="0" y="0"/>
                  </a:moveTo>
                  <a:lnTo>
                    <a:pt x="2286000" y="0"/>
                  </a:lnTo>
                </a:path>
              </a:pathLst>
            </a:custGeom>
            <a:noFill/>
            <a:ln w="19050">
              <a:solidFill>
                <a:srgbClr val="FF8F00"/>
              </a:solidFill>
            </a:ln>
          </p:spPr>
        </p:sp>
        <p:sp>
          <p:nvSpPr>
            <p:cNvPr id="45" name="Rectangle 45"/>
            <p:cNvSpPr/>
            <p:nvPr/>
          </p:nvSpPr>
          <p:spPr>
            <a:xfrm>
              <a:off x="8191500" y="2619375"/>
              <a:ext cx="3048000" cy="952500"/>
            </a:xfrm>
            <a:prstGeom prst="roundRect">
              <a:avLst>
                <a:gd name="adj" fmla="val 10000"/>
              </a:avLst>
            </a:prstGeom>
            <a:solidFill>
              <a:srgbClr val="FFFFFF">
                <a:alpha val="8000"/>
              </a:srgbClr>
            </a:solidFill>
            <a:ln>
              <a:noFill/>
            </a:ln>
          </p:spPr>
        </p:sp>
        <p:sp>
          <p:nvSpPr>
            <p:cNvPr id="46" name="Rectangle 46"/>
            <p:cNvSpPr/>
            <p:nvPr/>
          </p:nvSpPr>
          <p:spPr>
            <a:xfrm>
              <a:off x="8191500" y="2619375"/>
              <a:ext cx="3048000" cy="952500"/>
            </a:xfrm>
            <a:prstGeom prst="roundRect">
              <a:avLst>
                <a:gd name="adj" fmla="val 10000"/>
              </a:avLst>
            </a:prstGeom>
            <a:noFill/>
            <a:ln w="9525">
              <a:solidFill>
                <a:srgbClr val="FFFFFF">
                  <a:alpha val="25000"/>
                </a:srgbClr>
              </a:solidFill>
            </a:ln>
          </p:spPr>
        </p:sp>
        <p:sp>
          <p:nvSpPr>
            <p:cNvPr id="47" name="TextBox 47"/>
            <p:cNvSpPr txBox="1"/>
            <p:nvPr/>
          </p:nvSpPr>
          <p:spPr>
            <a:xfrm>
              <a:off x="9592608" y="2788920"/>
              <a:ext cx="245783" cy="487680"/>
            </a:xfrm>
            <a:prstGeom prst="rect">
              <a:avLst/>
            </a:prstGeom>
            <a:noFill/>
            <a:ln>
              <a:noFill/>
            </a:ln>
          </p:spPr>
          <p:txBody>
            <a:bodyPr wrap="none" lIns="0" tIns="0" rIns="0" bIns="0" anchor="t" anchorCtr="0">
              <a:spAutoFit/>
            </a:bodyPr>
            <a:lstStyle/>
            <a:p>
              <a:pPr algn="ctr"/>
              <a:r>
                <a:rPr lang="zh-CN" sz="2400" b="1" dirty="0">
                  <a:solidFill>
                    <a:srgbClr val="FFB300"/>
                  </a:solidFill>
                  <a:latin typeface="Cambria"/>
                  <a:ea typeface="SimSun"/>
                  <a:cs typeface="Cambria"/>
                </a:rPr>
                <a:t>ŷ</a:t>
              </a:r>
            </a:p>
          </p:txBody>
        </p:sp>
        <p:sp>
          <p:nvSpPr>
            <p:cNvPr id="48" name="TextBox 48"/>
            <p:cNvSpPr txBox="1"/>
            <p:nvPr/>
          </p:nvSpPr>
          <p:spPr>
            <a:xfrm>
              <a:off x="9886950" y="2886075"/>
              <a:ext cx="153614"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ambria"/>
                  <a:ea typeface="SimSun"/>
                  <a:cs typeface="Cambria"/>
                </a:rPr>
                <a:t>=</a:t>
              </a:r>
            </a:p>
          </p:txBody>
        </p:sp>
        <p:sp>
          <p:nvSpPr>
            <p:cNvPr id="49" name="TextBox 49"/>
            <p:cNvSpPr txBox="1"/>
            <p:nvPr/>
          </p:nvSpPr>
          <p:spPr>
            <a:xfrm>
              <a:off x="10069830" y="2821305"/>
              <a:ext cx="215060" cy="426720"/>
            </a:xfrm>
            <a:prstGeom prst="rect">
              <a:avLst/>
            </a:prstGeom>
            <a:noFill/>
            <a:ln>
              <a:noFill/>
            </a:ln>
          </p:spPr>
          <p:txBody>
            <a:bodyPr wrap="none" lIns="0" tIns="0" rIns="0" bIns="0" anchor="t" anchorCtr="0">
              <a:spAutoFit/>
            </a:bodyPr>
            <a:lstStyle/>
            <a:p>
              <a:pPr algn="l"/>
              <a:r>
                <a:rPr lang="zh-CN" sz="2100" b="1" dirty="0">
                  <a:solidFill>
                    <a:srgbClr val="5C6BC0"/>
                  </a:solidFill>
                  <a:latin typeface="Cambria"/>
                  <a:ea typeface="SimSun"/>
                  <a:cs typeface="Cambria"/>
                </a:rPr>
                <a:t>α</a:t>
              </a:r>
            </a:p>
          </p:txBody>
        </p:sp>
        <p:sp>
          <p:nvSpPr>
            <p:cNvPr id="50" name="TextBox 50"/>
            <p:cNvSpPr txBox="1"/>
            <p:nvPr/>
          </p:nvSpPr>
          <p:spPr>
            <a:xfrm>
              <a:off x="10197465" y="3058478"/>
              <a:ext cx="103680" cy="213360"/>
            </a:xfrm>
            <a:prstGeom prst="rect">
              <a:avLst/>
            </a:prstGeom>
            <a:noFill/>
            <a:ln>
              <a:noFill/>
            </a:ln>
          </p:spPr>
          <p:txBody>
            <a:bodyPr wrap="none" lIns="0" tIns="0" rIns="0" bIns="0" anchor="t" anchorCtr="0">
              <a:spAutoFit/>
            </a:bodyPr>
            <a:lstStyle/>
            <a:p>
              <a:pPr algn="l"/>
              <a:r>
                <a:rPr lang="zh-CN" sz="1050" dirty="0">
                  <a:solidFill>
                    <a:srgbClr val="5C6BC0"/>
                  </a:solidFill>
                  <a:latin typeface="Cambria"/>
                  <a:ea typeface="SimSun"/>
                  <a:cs typeface="Cambria"/>
                </a:rPr>
                <a:t>c</a:t>
              </a:r>
            </a:p>
          </p:txBody>
        </p:sp>
        <p:sp>
          <p:nvSpPr>
            <p:cNvPr id="51" name="TextBox 51"/>
            <p:cNvSpPr txBox="1"/>
            <p:nvPr/>
          </p:nvSpPr>
          <p:spPr>
            <a:xfrm>
              <a:off x="10315575" y="2886075"/>
              <a:ext cx="153614"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ambria"/>
                  <a:ea typeface="SimSun"/>
                  <a:cs typeface="Cambria"/>
                </a:rPr>
                <a:t>·</a:t>
              </a:r>
            </a:p>
          </p:txBody>
        </p:sp>
        <p:sp>
          <p:nvSpPr>
            <p:cNvPr id="52" name="TextBox 52"/>
            <p:cNvSpPr txBox="1"/>
            <p:nvPr/>
          </p:nvSpPr>
          <p:spPr>
            <a:xfrm>
              <a:off x="10450830" y="2821305"/>
              <a:ext cx="215060"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Cambria"/>
                  <a:ea typeface="SimSun"/>
                  <a:cs typeface="Cambria"/>
                </a:rPr>
                <a:t>y</a:t>
              </a:r>
            </a:p>
          </p:txBody>
        </p:sp>
        <p:sp>
          <p:nvSpPr>
            <p:cNvPr id="53" name="TextBox 53"/>
            <p:cNvSpPr txBox="1"/>
            <p:nvPr/>
          </p:nvSpPr>
          <p:spPr>
            <a:xfrm>
              <a:off x="10578465" y="3058478"/>
              <a:ext cx="68675" cy="213360"/>
            </a:xfrm>
            <a:prstGeom prst="rect">
              <a:avLst/>
            </a:prstGeom>
            <a:noFill/>
            <a:ln>
              <a:noFill/>
            </a:ln>
          </p:spPr>
          <p:txBody>
            <a:bodyPr wrap="none" lIns="0" tIns="0" rIns="0" bIns="0" anchor="t" anchorCtr="0">
              <a:spAutoFit/>
            </a:bodyPr>
            <a:lstStyle/>
            <a:p>
              <a:pPr algn="l"/>
              <a:r>
                <a:rPr lang="zh-CN" sz="1050" dirty="0">
                  <a:solidFill>
                    <a:srgbClr val="5C6BC0"/>
                  </a:solidFill>
                  <a:latin typeface="Cambria"/>
                  <a:ea typeface="SimSun"/>
                  <a:cs typeface="Cambria"/>
                </a:rPr>
                <a:t>i</a:t>
              </a:r>
            </a:p>
          </p:txBody>
        </p:sp>
        <p:sp>
          <p:nvSpPr>
            <p:cNvPr id="54" name="TextBox 54"/>
            <p:cNvSpPr txBox="1"/>
            <p:nvPr/>
          </p:nvSpPr>
          <p:spPr>
            <a:xfrm>
              <a:off x="10791825" y="2886075"/>
              <a:ext cx="153614"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ambria"/>
                  <a:ea typeface="SimSun"/>
                  <a:cs typeface="Cambria"/>
                </a:rPr>
                <a:t>+</a:t>
              </a:r>
            </a:p>
          </p:txBody>
        </p:sp>
        <p:sp>
          <p:nvSpPr>
            <p:cNvPr id="55" name="TextBox 55"/>
            <p:cNvSpPr txBox="1"/>
            <p:nvPr/>
          </p:nvSpPr>
          <p:spPr>
            <a:xfrm>
              <a:off x="11022330" y="2821305"/>
              <a:ext cx="215060" cy="426720"/>
            </a:xfrm>
            <a:prstGeom prst="rect">
              <a:avLst/>
            </a:prstGeom>
            <a:noFill/>
            <a:ln>
              <a:noFill/>
            </a:ln>
          </p:spPr>
          <p:txBody>
            <a:bodyPr wrap="none" lIns="0" tIns="0" rIns="0" bIns="0" anchor="t" anchorCtr="0">
              <a:spAutoFit/>
            </a:bodyPr>
            <a:lstStyle/>
            <a:p>
              <a:pPr algn="l"/>
              <a:r>
                <a:rPr lang="zh-CN" sz="2100" b="1" dirty="0">
                  <a:solidFill>
                    <a:srgbClr val="5C6BC0"/>
                  </a:solidFill>
                  <a:latin typeface="Cambria"/>
                  <a:ea typeface="SimSun"/>
                  <a:cs typeface="Cambria"/>
                </a:rPr>
                <a:t>β</a:t>
              </a:r>
            </a:p>
          </p:txBody>
        </p:sp>
        <p:sp>
          <p:nvSpPr>
            <p:cNvPr id="56" name="TextBox 56"/>
            <p:cNvSpPr txBox="1"/>
            <p:nvPr/>
          </p:nvSpPr>
          <p:spPr>
            <a:xfrm>
              <a:off x="11149965" y="3058478"/>
              <a:ext cx="103680" cy="213360"/>
            </a:xfrm>
            <a:prstGeom prst="rect">
              <a:avLst/>
            </a:prstGeom>
            <a:noFill/>
            <a:ln>
              <a:noFill/>
            </a:ln>
          </p:spPr>
          <p:txBody>
            <a:bodyPr wrap="none" lIns="0" tIns="0" rIns="0" bIns="0" anchor="t" anchorCtr="0">
              <a:spAutoFit/>
            </a:bodyPr>
            <a:lstStyle/>
            <a:p>
              <a:pPr algn="l"/>
              <a:r>
                <a:rPr lang="zh-CN" sz="1050" dirty="0">
                  <a:solidFill>
                    <a:srgbClr val="5C6BC0"/>
                  </a:solidFill>
                  <a:latin typeface="Cambria"/>
                  <a:ea typeface="SimSun"/>
                  <a:cs typeface="Cambria"/>
                </a:rPr>
                <a:t>c</a:t>
              </a:r>
            </a:p>
          </p:txBody>
        </p:sp>
        <p:sp>
          <p:nvSpPr>
            <p:cNvPr id="57" name="TextBox 57"/>
            <p:cNvSpPr txBox="1"/>
            <p:nvPr/>
          </p:nvSpPr>
          <p:spPr>
            <a:xfrm>
              <a:off x="8632936" y="3379470"/>
              <a:ext cx="2165128" cy="182880"/>
            </a:xfrm>
            <a:prstGeom prst="rect">
              <a:avLst/>
            </a:prstGeom>
            <a:noFill/>
            <a:ln>
              <a:noFill/>
            </a:ln>
          </p:spPr>
          <p:txBody>
            <a:bodyPr wrap="none" lIns="0" tIns="0" rIns="0" bIns="0" anchor="t" anchorCtr="0">
              <a:spAutoFit/>
            </a:bodyPr>
            <a:lstStyle/>
            <a:p>
              <a:pPr algn="ctr"/>
              <a:r>
                <a:rPr lang="zh-CN" sz="900" i="1" dirty="0">
                  <a:solidFill>
                    <a:srgbClr val="FFFFFF">
                      <a:alphaMod val="75000"/>
                    </a:srgbClr>
                  </a:solidFill>
                  <a:latin typeface="Cambria"/>
                  <a:ea typeface="SimSun"/>
                  <a:cs typeface="Cambria"/>
                </a:rPr>
                <a:t>ŷ_i = α_c · y_i + β_c · 类别 c 专属校准</a:t>
              </a:r>
            </a:p>
          </p:txBody>
        </p:sp>
        <p:sp>
          <p:nvSpPr>
            <p:cNvPr id="58" name="TextBox 58"/>
            <p:cNvSpPr txBox="1"/>
            <p:nvPr/>
          </p:nvSpPr>
          <p:spPr>
            <a:xfrm>
              <a:off x="8179118" y="3847624"/>
              <a:ext cx="1923002" cy="198120"/>
            </a:xfrm>
            <a:prstGeom prst="rect">
              <a:avLst/>
            </a:prstGeom>
            <a:noFill/>
            <a:ln>
              <a:noFill/>
            </a:ln>
          </p:spPr>
          <p:txBody>
            <a:bodyPr wrap="none" lIns="0" tIns="0" rIns="0" bIns="0" anchor="t" anchorCtr="0">
              <a:spAutoFit/>
            </a:bodyPr>
            <a:lstStyle/>
            <a:p>
              <a:pPr algn="l"/>
              <a:r>
                <a:rPr lang="zh-CN" sz="975" dirty="0">
                  <a:solidFill>
                    <a:srgbClr val="FFFFFF">
                      <a:alphaMod val="85000"/>
                    </a:srgbClr>
                  </a:solidFill>
                  <a:latin typeface="Arial"/>
                  <a:ea typeface="Microsoft YaHei"/>
                  <a:cs typeface="Arial"/>
                </a:rPr>
                <a:t>α_c, β_c 为类别 c 专属校准参数</a:t>
              </a:r>
            </a:p>
          </p:txBody>
        </p:sp>
        <p:sp>
          <p:nvSpPr>
            <p:cNvPr id="59" name="TextBox 59"/>
            <p:cNvSpPr txBox="1"/>
            <p:nvPr/>
          </p:nvSpPr>
          <p:spPr>
            <a:xfrm>
              <a:off x="8179118" y="4076224"/>
              <a:ext cx="1786485" cy="198120"/>
            </a:xfrm>
            <a:prstGeom prst="rect">
              <a:avLst/>
            </a:prstGeom>
            <a:noFill/>
            <a:ln>
              <a:noFill/>
            </a:ln>
          </p:spPr>
          <p:txBody>
            <a:bodyPr wrap="none" lIns="0" tIns="0" rIns="0" bIns="0" anchor="t" anchorCtr="0">
              <a:spAutoFit/>
            </a:bodyPr>
            <a:lstStyle/>
            <a:p>
              <a:pPr algn="l"/>
              <a:r>
                <a:rPr lang="zh-CN" sz="975" dirty="0">
                  <a:solidFill>
                    <a:srgbClr val="FFFFFF">
                      <a:alphaMod val="85000"/>
                    </a:srgbClr>
                  </a:solidFill>
                  <a:latin typeface="Arial"/>
                  <a:ea typeface="Microsoft YaHei"/>
                  <a:cs typeface="Arial"/>
                </a:rPr>
                <a:t>仅在训练集估计,测试集不参与</a:t>
              </a:r>
            </a:p>
          </p:txBody>
        </p:sp>
        <p:sp>
          <p:nvSpPr>
            <p:cNvPr id="60" name="TextBox 60"/>
            <p:cNvSpPr txBox="1"/>
            <p:nvPr/>
          </p:nvSpPr>
          <p:spPr>
            <a:xfrm>
              <a:off x="8180070" y="4312920"/>
              <a:ext cx="844963" cy="182880"/>
            </a:xfrm>
            <a:prstGeom prst="rect">
              <a:avLst/>
            </a:prstGeom>
            <a:noFill/>
            <a:ln>
              <a:noFill/>
            </a:ln>
          </p:spPr>
          <p:txBody>
            <a:bodyPr wrap="none" lIns="0" tIns="0" rIns="0" bIns="0" anchor="t" anchorCtr="0">
              <a:spAutoFit/>
            </a:bodyPr>
            <a:lstStyle/>
            <a:p>
              <a:pPr algn="l"/>
              <a:r>
                <a:rPr lang="zh-CN" sz="900" i="1" dirty="0">
                  <a:solidFill>
                    <a:srgbClr val="FFB300"/>
                  </a:solidFill>
                  <a:latin typeface="Cambria"/>
                  <a:ea typeface="SimSun"/>
                  <a:cs typeface="Cambria"/>
                </a:rPr>
                <a:t>✓ 避免数据泄漏</a:t>
              </a:r>
            </a:p>
          </p:txBody>
        </p:sp>
      </p:grpSp>
      <p:grpSp>
        <p:nvGrpSpPr>
          <p:cNvPr id="74" name="Group 74"/>
          <p:cNvGrpSpPr/>
          <p:nvPr/>
        </p:nvGrpSpPr>
        <p:grpSpPr>
          <a:xfrm>
            <a:off x="7810500" y="4667250"/>
            <a:ext cx="3810000" cy="1533525"/>
            <a:chOff x="7810500" y="4667250"/>
            <a:chExt cx="3810000" cy="1533525"/>
          </a:xfrm>
        </p:grpSpPr>
        <p:sp>
          <p:nvSpPr>
            <p:cNvPr id="62" name="Rectangle 62"/>
            <p:cNvSpPr/>
            <p:nvPr/>
          </p:nvSpPr>
          <p:spPr>
            <a:xfrm>
              <a:off x="7810500" y="4667250"/>
              <a:ext cx="3810000" cy="1524000"/>
            </a:xfrm>
            <a:prstGeom prst="roundRect">
              <a:avLst>
                <a:gd name="adj" fmla="val 7500"/>
              </a:avLst>
            </a:prstGeom>
            <a:solidFill>
              <a:srgbClr val="FFF8E1"/>
            </a:solidFill>
            <a:ln w="14288">
              <a:solidFill>
                <a:srgbClr val="FF8F00"/>
              </a:solidFill>
            </a:ln>
            <a:effectLst>
              <a:outerShdw blurRad="114300" dist="38100" dir="5400000" algn="ctr" rotWithShape="0">
                <a:srgbClr val="0F172A">
                  <a:alpha val="7500"/>
                </a:srgbClr>
              </a:outerShdw>
            </a:effectLst>
          </p:spPr>
        </p:sp>
        <p:sp>
          <p:nvSpPr>
            <p:cNvPr id="63" name="Rectangle 63"/>
            <p:cNvSpPr/>
            <p:nvPr/>
          </p:nvSpPr>
          <p:spPr>
            <a:xfrm>
              <a:off x="7810500" y="4667250"/>
              <a:ext cx="3810000" cy="381000"/>
            </a:xfrm>
            <a:prstGeom prst="roundRect">
              <a:avLst>
                <a:gd name="adj" fmla="val 30000"/>
              </a:avLst>
            </a:prstGeom>
            <a:solidFill>
              <a:srgbClr val="FF8F00"/>
            </a:solidFill>
            <a:ln>
              <a:noFill/>
            </a:ln>
          </p:spPr>
        </p:sp>
        <p:sp>
          <p:nvSpPr>
            <p:cNvPr id="64" name="Rectangle 64"/>
            <p:cNvSpPr/>
            <p:nvPr/>
          </p:nvSpPr>
          <p:spPr>
            <a:xfrm>
              <a:off x="7810500" y="4933950"/>
              <a:ext cx="3810000" cy="114300"/>
            </a:xfrm>
            <a:prstGeom prst="rect">
              <a:avLst/>
            </a:prstGeom>
            <a:solidFill>
              <a:srgbClr val="FF8F00"/>
            </a:solidFill>
            <a:ln>
              <a:noFill/>
            </a:ln>
          </p:spPr>
        </p:sp>
        <p:sp>
          <p:nvSpPr>
            <p:cNvPr id="65" name="TextBox 65"/>
            <p:cNvSpPr txBox="1"/>
            <p:nvPr/>
          </p:nvSpPr>
          <p:spPr>
            <a:xfrm>
              <a:off x="8435902" y="4785360"/>
              <a:ext cx="255919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性能提升 · PERFORMANCE BOOST</a:t>
              </a:r>
            </a:p>
          </p:txBody>
        </p:sp>
        <p:sp>
          <p:nvSpPr>
            <p:cNvPr id="66" name="TextBox 66"/>
            <p:cNvSpPr txBox="1"/>
            <p:nvPr/>
          </p:nvSpPr>
          <p:spPr>
            <a:xfrm>
              <a:off x="8179118" y="5285899"/>
              <a:ext cx="591311"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MAE 降低</a:t>
              </a:r>
            </a:p>
          </p:txBody>
        </p:sp>
        <p:sp>
          <p:nvSpPr>
            <p:cNvPr id="67" name="TextBox 67"/>
            <p:cNvSpPr txBox="1"/>
            <p:nvPr/>
          </p:nvSpPr>
          <p:spPr>
            <a:xfrm>
              <a:off x="9821216" y="5251132"/>
              <a:ext cx="677239" cy="335280"/>
            </a:xfrm>
            <a:prstGeom prst="rect">
              <a:avLst/>
            </a:prstGeom>
            <a:noFill/>
            <a:ln>
              <a:noFill/>
            </a:ln>
          </p:spPr>
          <p:txBody>
            <a:bodyPr wrap="none" lIns="0" tIns="0" rIns="0" bIns="0" anchor="t" anchorCtr="0">
              <a:spAutoFit/>
            </a:bodyPr>
            <a:lstStyle/>
            <a:p>
              <a:pPr algn="r"/>
              <a:r>
                <a:rPr lang="zh-CN" sz="1650" b="1" dirty="0">
                  <a:solidFill>
                    <a:srgbClr val="2E7D32"/>
                  </a:solidFill>
                  <a:latin typeface="Cambria"/>
                  <a:ea typeface="SimSun"/>
                  <a:cs typeface="Cambria"/>
                </a:rPr>
                <a:t>83.2%</a:t>
              </a:r>
            </a:p>
          </p:txBody>
        </p:sp>
        <p:sp>
          <p:nvSpPr>
            <p:cNvPr id="68" name="TextBox 68"/>
            <p:cNvSpPr txBox="1"/>
            <p:nvPr/>
          </p:nvSpPr>
          <p:spPr>
            <a:xfrm>
              <a:off x="10562272" y="5340191"/>
              <a:ext cx="939570"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(126.96 → 21.34g)</a:t>
              </a:r>
            </a:p>
          </p:txBody>
        </p:sp>
        <p:sp>
          <p:nvSpPr>
            <p:cNvPr id="69" name="Line 69"/>
            <p:cNvSpPr/>
            <p:nvPr/>
          </p:nvSpPr>
          <p:spPr>
            <a:xfrm>
              <a:off x="8191500" y="5619750"/>
              <a:ext cx="3048000" cy="9525"/>
            </a:xfrm>
            <a:custGeom>
              <a:avLst/>
              <a:gdLst/>
              <a:ahLst/>
              <a:cxnLst/>
              <a:rect l="l" t="t" r="r" b="b"/>
              <a:pathLst>
                <a:path w="3048000" h="9525">
                  <a:moveTo>
                    <a:pt x="0" y="0"/>
                  </a:moveTo>
                  <a:lnTo>
                    <a:pt x="3048000" y="0"/>
                  </a:lnTo>
                </a:path>
              </a:pathLst>
            </a:custGeom>
            <a:noFill/>
            <a:ln w="9525">
              <a:solidFill>
                <a:srgbClr val="E0E0E0"/>
              </a:solidFill>
              <a:custDash>
                <a:ds d="300000" sp="300000"/>
              </a:custDash>
            </a:ln>
          </p:spPr>
        </p:sp>
        <p:sp>
          <p:nvSpPr>
            <p:cNvPr id="70" name="TextBox 70"/>
            <p:cNvSpPr txBox="1"/>
            <p:nvPr/>
          </p:nvSpPr>
          <p:spPr>
            <a:xfrm>
              <a:off x="8179118" y="5762149"/>
              <a:ext cx="48892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RE 降低</a:t>
              </a:r>
            </a:p>
          </p:txBody>
        </p:sp>
        <p:sp>
          <p:nvSpPr>
            <p:cNvPr id="71" name="TextBox 71"/>
            <p:cNvSpPr txBox="1"/>
            <p:nvPr/>
          </p:nvSpPr>
          <p:spPr>
            <a:xfrm>
              <a:off x="9878973" y="5727382"/>
              <a:ext cx="619482" cy="335280"/>
            </a:xfrm>
            <a:prstGeom prst="rect">
              <a:avLst/>
            </a:prstGeom>
            <a:noFill/>
            <a:ln>
              <a:noFill/>
            </a:ln>
          </p:spPr>
          <p:txBody>
            <a:bodyPr wrap="none" lIns="0" tIns="0" rIns="0" bIns="0" anchor="t" anchorCtr="0">
              <a:spAutoFit/>
            </a:bodyPr>
            <a:lstStyle/>
            <a:p>
              <a:pPr algn="r"/>
              <a:r>
                <a:rPr lang="zh-CN" sz="1650" b="1" dirty="0">
                  <a:solidFill>
                    <a:srgbClr val="2E7D32"/>
                  </a:solidFill>
                  <a:latin typeface="Cambria"/>
                  <a:ea typeface="SimSun"/>
                  <a:cs typeface="Cambria"/>
                </a:rPr>
                <a:t>90.1%</a:t>
              </a:r>
            </a:p>
          </p:txBody>
        </p:sp>
        <p:sp>
          <p:nvSpPr>
            <p:cNvPr id="72" name="TextBox 72"/>
            <p:cNvSpPr txBox="1"/>
            <p:nvPr/>
          </p:nvSpPr>
          <p:spPr>
            <a:xfrm>
              <a:off x="10562272" y="5816441"/>
              <a:ext cx="939570"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(145.08 → 14.34%)</a:t>
              </a:r>
            </a:p>
          </p:txBody>
        </p:sp>
        <p:sp>
          <p:nvSpPr>
            <p:cNvPr id="73" name="TextBox 73"/>
            <p:cNvSpPr txBox="1"/>
            <p:nvPr/>
          </p:nvSpPr>
          <p:spPr>
            <a:xfrm>
              <a:off x="8932974" y="6017895"/>
              <a:ext cx="1565053" cy="182880"/>
            </a:xfrm>
            <a:prstGeom prst="rect">
              <a:avLst/>
            </a:prstGeom>
            <a:noFill/>
            <a:ln>
              <a:noFill/>
            </a:ln>
          </p:spPr>
          <p:txBody>
            <a:bodyPr wrap="none" lIns="0" tIns="0" rIns="0" bIns="0" anchor="t" anchorCtr="0">
              <a:spAutoFit/>
            </a:bodyPr>
            <a:lstStyle/>
            <a:p>
              <a:pPr algn="ctr"/>
              <a:r>
                <a:rPr lang="zh-CN" sz="900" i="1" dirty="0">
                  <a:solidFill>
                    <a:srgbClr val="FF8F00"/>
                  </a:solidFill>
                  <a:latin typeface="Cambria"/>
                  <a:ea typeface="SimSun"/>
                  <a:cs typeface="Cambria"/>
                </a:rPr>
                <a:t>✓ 类别先验知识带来巨大提升</a:t>
              </a:r>
            </a:p>
          </p:txBody>
        </p:sp>
      </p:grpSp>
      <p:sp>
        <p:nvSpPr>
          <p:cNvPr id="75" name="TextBox 75"/>
          <p:cNvSpPr txBox="1"/>
          <p:nvPr/>
        </p:nvSpPr>
        <p:spPr>
          <a:xfrm>
            <a:off x="561022" y="6578441"/>
            <a:ext cx="3139845"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2 · Q2 Best Solution</a:t>
            </a:r>
          </a:p>
        </p:txBody>
      </p:sp>
      <p:sp>
        <p:nvSpPr>
          <p:cNvPr id="76" name="TextBox 76"/>
          <p:cNvSpPr txBox="1"/>
          <p:nvPr/>
        </p:nvSpPr>
        <p:spPr>
          <a:xfrm>
            <a:off x="11251928" y="6578441"/>
            <a:ext cx="379050"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15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400"/>
                                        <p:tgtEl>
                                          <p:spTgt spid="4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slide(fromBottom)">
                                      <p:cBhvr>
                                        <p:cTn id="15" dur="400"/>
                                        <p:tgtEl>
                                          <p:spTgt spid="61"/>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74"/>
                                        </p:tgtEl>
                                        <p:attrNameLst>
                                          <p:attrName>style.visibility</p:attrName>
                                        </p:attrNameLst>
                                      </p:cBhvr>
                                      <p:to>
                                        <p:strVal val="visible"/>
                                      </p:to>
                                    </p:set>
                                    <p:animEffect transition="in" filter="image">
                                      <p:cBhvr>
                                        <p:cTn id="19"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1" grpId="0"/>
      <p:bldP spid="61" grpId="0"/>
      <p:bldP spid="7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71500" y="457200"/>
            <a:ext cx="7244453" cy="652462"/>
            <a:chOff x="571500" y="457200"/>
            <a:chExt cx="7244453" cy="652462"/>
          </a:xfrm>
        </p:grpSpPr>
        <p:sp>
          <p:nvSpPr>
            <p:cNvPr id="3" name="Rectangle 3"/>
            <p:cNvSpPr/>
            <p:nvPr/>
          </p:nvSpPr>
          <p:spPr>
            <a:xfrm>
              <a:off x="571500" y="457200"/>
              <a:ext cx="57150" cy="381000"/>
            </a:xfrm>
            <a:prstGeom prst="roundRect">
              <a:avLst>
                <a:gd name="adj" fmla="val 50000"/>
              </a:avLst>
            </a:prstGeom>
            <a:solidFill>
              <a:srgbClr val="1565C0"/>
            </a:solidFill>
            <a:ln>
              <a:noFill/>
            </a:ln>
          </p:spPr>
        </p:sp>
        <p:sp>
          <p:nvSpPr>
            <p:cNvPr id="4" name="TextBox 4"/>
            <p:cNvSpPr txBox="1"/>
            <p:nvPr/>
          </p:nvSpPr>
          <p:spPr>
            <a:xfrm>
              <a:off x="733425" y="500062"/>
              <a:ext cx="7082528"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第二问小结 · 轻量专用 + 领域先验优于通用大模型</a:t>
              </a:r>
            </a:p>
          </p:txBody>
        </p:sp>
        <p:sp>
          <p:nvSpPr>
            <p:cNvPr id="5" name="TextBox 5"/>
            <p:cNvSpPr txBox="1"/>
            <p:nvPr/>
          </p:nvSpPr>
          <p:spPr>
            <a:xfrm>
              <a:off x="748665" y="896302"/>
              <a:ext cx="5084102"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Q2 · SUMMARY · LIGHTWEIGHT SPECIALIZED + DOMAIN PRIOR &gt; GENERAL LMM</a:t>
              </a:r>
            </a:p>
          </p:txBody>
        </p:sp>
      </p:grpSp>
      <p:sp>
        <p:nvSpPr>
          <p:cNvPr id="7" name="Line 7"/>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8" name="TextBox 8"/>
          <p:cNvSpPr txBox="1"/>
          <p:nvPr/>
        </p:nvSpPr>
        <p:spPr>
          <a:xfrm>
            <a:off x="556260" y="1489710"/>
            <a:ext cx="2407977"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1. 各方案分量估计精度对比总结</a:t>
            </a:r>
          </a:p>
        </p:txBody>
      </p:sp>
      <p:grpSp>
        <p:nvGrpSpPr>
          <p:cNvPr id="43" name="Group 43"/>
          <p:cNvGrpSpPr/>
          <p:nvPr/>
        </p:nvGrpSpPr>
        <p:grpSpPr>
          <a:xfrm>
            <a:off x="571500" y="1762125"/>
            <a:ext cx="11049000" cy="2952750"/>
            <a:chOff x="571500" y="1762125"/>
            <a:chExt cx="11049000" cy="2952750"/>
          </a:xfrm>
        </p:grpSpPr>
        <p:sp>
          <p:nvSpPr>
            <p:cNvPr id="9" name="Rectangle 9"/>
            <p:cNvSpPr/>
            <p:nvPr/>
          </p:nvSpPr>
          <p:spPr>
            <a:xfrm>
              <a:off x="571500" y="1762125"/>
              <a:ext cx="11049000" cy="476250"/>
            </a:xfrm>
            <a:prstGeom prst="roundRect">
              <a:avLst>
                <a:gd name="adj" fmla="val 16000"/>
              </a:avLst>
            </a:prstGeom>
            <a:solidFill>
              <a:srgbClr val="1565C0"/>
            </a:solidFill>
            <a:ln>
              <a:noFill/>
            </a:ln>
          </p:spPr>
        </p:sp>
        <p:sp>
          <p:nvSpPr>
            <p:cNvPr id="10" name="TextBox 10"/>
            <p:cNvSpPr txBox="1"/>
            <p:nvPr/>
          </p:nvSpPr>
          <p:spPr>
            <a:xfrm>
              <a:off x="1597628" y="193452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方案类型</a:t>
              </a:r>
            </a:p>
          </p:txBody>
        </p:sp>
        <p:sp>
          <p:nvSpPr>
            <p:cNvPr id="11" name="TextBox 11"/>
            <p:cNvSpPr txBox="1"/>
            <p:nvPr/>
          </p:nvSpPr>
          <p:spPr>
            <a:xfrm>
              <a:off x="3883628" y="193452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代表方案</a:t>
              </a:r>
            </a:p>
          </p:txBody>
        </p:sp>
        <p:sp>
          <p:nvSpPr>
            <p:cNvPr id="12" name="TextBox 12"/>
            <p:cNvSpPr txBox="1"/>
            <p:nvPr/>
          </p:nvSpPr>
          <p:spPr>
            <a:xfrm>
              <a:off x="6184330" y="1934528"/>
              <a:ext cx="58534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MAE (g)</a:t>
              </a:r>
            </a:p>
          </p:txBody>
        </p:sp>
        <p:sp>
          <p:nvSpPr>
            <p:cNvPr id="13" name="TextBox 13"/>
            <p:cNvSpPr txBox="1"/>
            <p:nvPr/>
          </p:nvSpPr>
          <p:spPr>
            <a:xfrm>
              <a:off x="7953962" y="1934528"/>
              <a:ext cx="47507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RE (%)</a:t>
              </a:r>
            </a:p>
          </p:txBody>
        </p:sp>
        <p:sp>
          <p:nvSpPr>
            <p:cNvPr id="14" name="TextBox 14"/>
            <p:cNvSpPr txBox="1"/>
            <p:nvPr/>
          </p:nvSpPr>
          <p:spPr>
            <a:xfrm>
              <a:off x="10126647" y="1934528"/>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结论</a:t>
              </a:r>
            </a:p>
          </p:txBody>
        </p:sp>
        <p:sp>
          <p:nvSpPr>
            <p:cNvPr id="15" name="Rectangle 15"/>
            <p:cNvSpPr/>
            <p:nvPr/>
          </p:nvSpPr>
          <p:spPr>
            <a:xfrm>
              <a:off x="571500" y="2295525"/>
              <a:ext cx="11049000" cy="533400"/>
            </a:xfrm>
            <a:prstGeom prst="roundRect">
              <a:avLst>
                <a:gd name="adj" fmla="val 10714"/>
              </a:avLst>
            </a:prstGeom>
            <a:solidFill>
              <a:srgbClr val="FFEBEE"/>
            </a:solidFill>
            <a:ln>
              <a:noFill/>
            </a:ln>
          </p:spPr>
        </p:sp>
        <p:sp>
          <p:nvSpPr>
            <p:cNvPr id="16" name="TextBox 16"/>
            <p:cNvSpPr txBox="1"/>
            <p:nvPr/>
          </p:nvSpPr>
          <p:spPr>
            <a:xfrm>
              <a:off x="1551325" y="2495074"/>
              <a:ext cx="707350" cy="198120"/>
            </a:xfrm>
            <a:prstGeom prst="rect">
              <a:avLst/>
            </a:prstGeom>
            <a:noFill/>
            <a:ln>
              <a:noFill/>
            </a:ln>
          </p:spPr>
          <p:txBody>
            <a:bodyPr wrap="none" lIns="0" tIns="0" rIns="0" bIns="0" anchor="t" anchorCtr="0">
              <a:spAutoFit/>
            </a:bodyPr>
            <a:lstStyle/>
            <a:p>
              <a:pPr algn="ctr"/>
              <a:r>
                <a:rPr lang="zh-CN" sz="975" b="1" dirty="0">
                  <a:solidFill>
                    <a:srgbClr val="C62828"/>
                  </a:solidFill>
                  <a:latin typeface="Arial"/>
                  <a:ea typeface="Microsoft YaHei"/>
                  <a:cs typeface="Arial"/>
                </a:rPr>
                <a:t>通用大模型</a:t>
              </a:r>
            </a:p>
          </p:txBody>
        </p:sp>
        <p:sp>
          <p:nvSpPr>
            <p:cNvPr id="17" name="TextBox 17"/>
            <p:cNvSpPr txBox="1"/>
            <p:nvPr/>
          </p:nvSpPr>
          <p:spPr>
            <a:xfrm>
              <a:off x="3808071" y="2495074"/>
              <a:ext cx="765858"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Arial"/>
                  <a:ea typeface="Microsoft YaHei"/>
                  <a:cs typeface="Arial"/>
                </a:rPr>
                <a:t>SAM + MiDaS</a:t>
              </a:r>
            </a:p>
          </p:txBody>
        </p:sp>
        <p:sp>
          <p:nvSpPr>
            <p:cNvPr id="18" name="TextBox 18"/>
            <p:cNvSpPr txBox="1"/>
            <p:nvPr/>
          </p:nvSpPr>
          <p:spPr>
            <a:xfrm>
              <a:off x="6251734" y="2470785"/>
              <a:ext cx="450533"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&gt; 200</a:t>
              </a:r>
            </a:p>
          </p:txBody>
        </p:sp>
        <p:sp>
          <p:nvSpPr>
            <p:cNvPr id="19" name="TextBox 19"/>
            <p:cNvSpPr txBox="1"/>
            <p:nvPr/>
          </p:nvSpPr>
          <p:spPr>
            <a:xfrm>
              <a:off x="7966234" y="2470785"/>
              <a:ext cx="450533"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&gt; 200</a:t>
              </a:r>
            </a:p>
          </p:txBody>
        </p:sp>
        <p:sp>
          <p:nvSpPr>
            <p:cNvPr id="20" name="Rectangle 20"/>
            <p:cNvSpPr/>
            <p:nvPr/>
          </p:nvSpPr>
          <p:spPr>
            <a:xfrm>
              <a:off x="9715500" y="2428875"/>
              <a:ext cx="1143000" cy="266700"/>
            </a:xfrm>
            <a:prstGeom prst="roundRect">
              <a:avLst>
                <a:gd name="adj" fmla="val 50000"/>
              </a:avLst>
            </a:prstGeom>
            <a:solidFill>
              <a:srgbClr val="C62828"/>
            </a:solidFill>
            <a:ln>
              <a:noFill/>
            </a:ln>
          </p:spPr>
        </p:sp>
        <p:sp>
          <p:nvSpPr>
            <p:cNvPr id="21" name="TextBox 21"/>
            <p:cNvSpPr txBox="1"/>
            <p:nvPr/>
          </p:nvSpPr>
          <p:spPr>
            <a:xfrm>
              <a:off x="10080081" y="2495074"/>
              <a:ext cx="41383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ambria"/>
                  <a:ea typeface="SimSun"/>
                  <a:cs typeface="Cambria"/>
                </a:rPr>
                <a:t>✗ 失败</a:t>
              </a:r>
            </a:p>
          </p:txBody>
        </p:sp>
        <p:sp>
          <p:nvSpPr>
            <p:cNvPr id="22" name="Rectangle 22"/>
            <p:cNvSpPr/>
            <p:nvPr/>
          </p:nvSpPr>
          <p:spPr>
            <a:xfrm>
              <a:off x="571500" y="2886075"/>
              <a:ext cx="11049000" cy="533400"/>
            </a:xfrm>
            <a:prstGeom prst="roundRect">
              <a:avLst>
                <a:gd name="adj" fmla="val 10714"/>
              </a:avLst>
            </a:prstGeom>
            <a:solidFill>
              <a:srgbClr val="FFFFFF"/>
            </a:solidFill>
            <a:ln>
              <a:noFill/>
            </a:ln>
          </p:spPr>
        </p:sp>
        <p:sp>
          <p:nvSpPr>
            <p:cNvPr id="23" name="TextBox 23"/>
            <p:cNvSpPr txBox="1"/>
            <p:nvPr/>
          </p:nvSpPr>
          <p:spPr>
            <a:xfrm>
              <a:off x="1551325" y="3085624"/>
              <a:ext cx="707350" cy="198120"/>
            </a:xfrm>
            <a:prstGeom prst="rect">
              <a:avLst/>
            </a:prstGeom>
            <a:noFill/>
            <a:ln>
              <a:noFill/>
            </a:ln>
          </p:spPr>
          <p:txBody>
            <a:bodyPr wrap="none" lIns="0" tIns="0" rIns="0" bIns="0" anchor="t" anchorCtr="0">
              <a:spAutoFit/>
            </a:bodyPr>
            <a:lstStyle/>
            <a:p>
              <a:pPr algn="ctr"/>
              <a:r>
                <a:rPr lang="zh-CN" sz="975" b="1" dirty="0">
                  <a:solidFill>
                    <a:srgbClr val="C62828"/>
                  </a:solidFill>
                  <a:latin typeface="Arial"/>
                  <a:ea typeface="Microsoft YaHei"/>
                  <a:cs typeface="Arial"/>
                </a:rPr>
                <a:t>通用大模型</a:t>
              </a:r>
            </a:p>
          </p:txBody>
        </p:sp>
        <p:sp>
          <p:nvSpPr>
            <p:cNvPr id="24" name="TextBox 24"/>
            <p:cNvSpPr txBox="1"/>
            <p:nvPr/>
          </p:nvSpPr>
          <p:spPr>
            <a:xfrm>
              <a:off x="3902333" y="3085624"/>
              <a:ext cx="577334"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Arial"/>
                  <a:ea typeface="Microsoft YaHei"/>
                  <a:cs typeface="Arial"/>
                </a:rPr>
                <a:t>Qwen-VL</a:t>
              </a:r>
            </a:p>
          </p:txBody>
        </p:sp>
        <p:sp>
          <p:nvSpPr>
            <p:cNvPr id="25" name="TextBox 25"/>
            <p:cNvSpPr txBox="1"/>
            <p:nvPr/>
          </p:nvSpPr>
          <p:spPr>
            <a:xfrm>
              <a:off x="6113116" y="3061335"/>
              <a:ext cx="727767"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~100-200</a:t>
              </a:r>
            </a:p>
          </p:txBody>
        </p:sp>
        <p:sp>
          <p:nvSpPr>
            <p:cNvPr id="26" name="TextBox 26"/>
            <p:cNvSpPr txBox="1"/>
            <p:nvPr/>
          </p:nvSpPr>
          <p:spPr>
            <a:xfrm>
              <a:off x="7827616" y="3061335"/>
              <a:ext cx="727767"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~100-200</a:t>
              </a:r>
            </a:p>
          </p:txBody>
        </p:sp>
        <p:sp>
          <p:nvSpPr>
            <p:cNvPr id="27" name="Rectangle 27"/>
            <p:cNvSpPr/>
            <p:nvPr/>
          </p:nvSpPr>
          <p:spPr>
            <a:xfrm>
              <a:off x="9715500" y="3019425"/>
              <a:ext cx="1143000" cy="266700"/>
            </a:xfrm>
            <a:prstGeom prst="roundRect">
              <a:avLst>
                <a:gd name="adj" fmla="val 50000"/>
              </a:avLst>
            </a:prstGeom>
            <a:solidFill>
              <a:srgbClr val="C62828"/>
            </a:solidFill>
            <a:ln>
              <a:noFill/>
            </a:ln>
          </p:spPr>
        </p:sp>
        <p:sp>
          <p:nvSpPr>
            <p:cNvPr id="28" name="TextBox 28"/>
            <p:cNvSpPr txBox="1"/>
            <p:nvPr/>
          </p:nvSpPr>
          <p:spPr>
            <a:xfrm>
              <a:off x="10080081" y="3085624"/>
              <a:ext cx="41383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ambria"/>
                  <a:ea typeface="SimSun"/>
                  <a:cs typeface="Cambria"/>
                </a:rPr>
                <a:t>✗ 失败</a:t>
              </a:r>
            </a:p>
          </p:txBody>
        </p:sp>
        <p:sp>
          <p:nvSpPr>
            <p:cNvPr id="29" name="Rectangle 29"/>
            <p:cNvSpPr/>
            <p:nvPr/>
          </p:nvSpPr>
          <p:spPr>
            <a:xfrm>
              <a:off x="571500" y="3476625"/>
              <a:ext cx="11049000" cy="533400"/>
            </a:xfrm>
            <a:prstGeom prst="roundRect">
              <a:avLst>
                <a:gd name="adj" fmla="val 10714"/>
              </a:avLst>
            </a:prstGeom>
            <a:solidFill>
              <a:srgbClr val="E3F2FD"/>
            </a:solidFill>
            <a:ln>
              <a:noFill/>
            </a:ln>
          </p:spPr>
        </p:sp>
        <p:sp>
          <p:nvSpPr>
            <p:cNvPr id="30" name="TextBox 30"/>
            <p:cNvSpPr txBox="1"/>
            <p:nvPr/>
          </p:nvSpPr>
          <p:spPr>
            <a:xfrm>
              <a:off x="1407982" y="3676174"/>
              <a:ext cx="994036" cy="198120"/>
            </a:xfrm>
            <a:prstGeom prst="rect">
              <a:avLst/>
            </a:prstGeom>
            <a:noFill/>
            <a:ln>
              <a:noFill/>
            </a:ln>
          </p:spPr>
          <p:txBody>
            <a:bodyPr wrap="none" lIns="0" tIns="0" rIns="0" bIns="0" anchor="t" anchorCtr="0">
              <a:spAutoFit/>
            </a:bodyPr>
            <a:lstStyle/>
            <a:p>
              <a:pPr algn="ctr"/>
              <a:r>
                <a:rPr lang="zh-CN" sz="975" b="1" dirty="0">
                  <a:solidFill>
                    <a:srgbClr val="1565C0"/>
                  </a:solidFill>
                  <a:latin typeface="Arial"/>
                  <a:ea typeface="Microsoft YaHei"/>
                  <a:cs typeface="Arial"/>
                </a:rPr>
                <a:t>轻量专用(直接)</a:t>
              </a:r>
            </a:p>
          </p:txBody>
        </p:sp>
        <p:sp>
          <p:nvSpPr>
            <p:cNvPr id="31" name="TextBox 31"/>
            <p:cNvSpPr txBox="1"/>
            <p:nvPr/>
          </p:nvSpPr>
          <p:spPr>
            <a:xfrm>
              <a:off x="3886081" y="3676174"/>
              <a:ext cx="609838"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Arial"/>
                  <a:ea typeface="Microsoft YaHei"/>
                  <a:cs typeface="Arial"/>
                </a:rPr>
                <a:t>Exp3 融合</a:t>
              </a:r>
            </a:p>
          </p:txBody>
        </p:sp>
        <p:sp>
          <p:nvSpPr>
            <p:cNvPr id="32" name="TextBox 32"/>
            <p:cNvSpPr txBox="1"/>
            <p:nvPr/>
          </p:nvSpPr>
          <p:spPr>
            <a:xfrm>
              <a:off x="6230731" y="3651885"/>
              <a:ext cx="492538"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Cambria"/>
                  <a:ea typeface="SimSun"/>
                  <a:cs typeface="Cambria"/>
                </a:rPr>
                <a:t>49.43</a:t>
              </a:r>
            </a:p>
          </p:txBody>
        </p:sp>
        <p:sp>
          <p:nvSpPr>
            <p:cNvPr id="33" name="TextBox 33"/>
            <p:cNvSpPr txBox="1"/>
            <p:nvPr/>
          </p:nvSpPr>
          <p:spPr>
            <a:xfrm>
              <a:off x="7945231" y="3651885"/>
              <a:ext cx="492538"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Cambria"/>
                  <a:ea typeface="SimSun"/>
                  <a:cs typeface="Cambria"/>
                </a:rPr>
                <a:t>40.40</a:t>
              </a:r>
            </a:p>
          </p:txBody>
        </p:sp>
        <p:sp>
          <p:nvSpPr>
            <p:cNvPr id="34" name="Rectangle 34"/>
            <p:cNvSpPr/>
            <p:nvPr/>
          </p:nvSpPr>
          <p:spPr>
            <a:xfrm>
              <a:off x="9715500" y="3609975"/>
              <a:ext cx="1143000" cy="266700"/>
            </a:xfrm>
            <a:prstGeom prst="roundRect">
              <a:avLst>
                <a:gd name="adj" fmla="val 50000"/>
              </a:avLst>
            </a:prstGeom>
            <a:solidFill>
              <a:srgbClr val="5C6BC0"/>
            </a:solidFill>
            <a:ln>
              <a:noFill/>
            </a:ln>
          </p:spPr>
        </p:sp>
        <p:sp>
          <p:nvSpPr>
            <p:cNvPr id="35" name="TextBox 35"/>
            <p:cNvSpPr txBox="1"/>
            <p:nvPr/>
          </p:nvSpPr>
          <p:spPr>
            <a:xfrm>
              <a:off x="10080081" y="3676174"/>
              <a:ext cx="41383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ambria"/>
                  <a:ea typeface="SimSun"/>
                  <a:cs typeface="Cambria"/>
                </a:rPr>
                <a:t>✓ 有效</a:t>
              </a:r>
            </a:p>
          </p:txBody>
        </p:sp>
        <p:sp>
          <p:nvSpPr>
            <p:cNvPr id="36" name="Rectangle 36"/>
            <p:cNvSpPr/>
            <p:nvPr/>
          </p:nvSpPr>
          <p:spPr>
            <a:xfrm>
              <a:off x="571500" y="4067175"/>
              <a:ext cx="11049000" cy="647700"/>
            </a:xfrm>
            <a:prstGeom prst="roundRect">
              <a:avLst>
                <a:gd name="adj" fmla="val 8824"/>
              </a:avLst>
            </a:prstGeom>
            <a:solidFill>
              <a:srgbClr val="E8F5E9"/>
            </a:solidFill>
            <a:ln w="19050">
              <a:solidFill>
                <a:srgbClr val="2E7D32"/>
              </a:solidFill>
            </a:ln>
          </p:spPr>
        </p:sp>
        <p:sp>
          <p:nvSpPr>
            <p:cNvPr id="37" name="TextBox 37"/>
            <p:cNvSpPr txBox="1"/>
            <p:nvPr/>
          </p:nvSpPr>
          <p:spPr>
            <a:xfrm>
              <a:off x="1271465" y="4323874"/>
              <a:ext cx="1267070"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轻量专用(热量反推)</a:t>
              </a:r>
            </a:p>
          </p:txBody>
        </p:sp>
        <p:sp>
          <p:nvSpPr>
            <p:cNvPr id="38" name="TextBox 38"/>
            <p:cNvSpPr txBox="1"/>
            <p:nvPr/>
          </p:nvSpPr>
          <p:spPr>
            <a:xfrm>
              <a:off x="3601833" y="4323874"/>
              <a:ext cx="1178334"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CalorieCLIP + 校准</a:t>
              </a:r>
            </a:p>
          </p:txBody>
        </p:sp>
        <p:sp>
          <p:nvSpPr>
            <p:cNvPr id="39" name="TextBox 39"/>
            <p:cNvSpPr txBox="1"/>
            <p:nvPr/>
          </p:nvSpPr>
          <p:spPr>
            <a:xfrm>
              <a:off x="6223575" y="4283392"/>
              <a:ext cx="506849" cy="274320"/>
            </a:xfrm>
            <a:prstGeom prst="rect">
              <a:avLst/>
            </a:prstGeom>
            <a:noFill/>
            <a:ln>
              <a:noFill/>
            </a:ln>
          </p:spPr>
          <p:txBody>
            <a:bodyPr wrap="none" lIns="0" tIns="0" rIns="0" bIns="0" anchor="t" anchorCtr="0">
              <a:spAutoFit/>
            </a:bodyPr>
            <a:lstStyle/>
            <a:p>
              <a:pPr algn="ctr"/>
              <a:r>
                <a:rPr lang="zh-CN" sz="1350" b="1" dirty="0">
                  <a:solidFill>
                    <a:srgbClr val="2E7D32"/>
                  </a:solidFill>
                  <a:latin typeface="Cambria"/>
                  <a:ea typeface="SimSun"/>
                  <a:cs typeface="Cambria"/>
                </a:rPr>
                <a:t>21.34</a:t>
              </a:r>
            </a:p>
          </p:txBody>
        </p:sp>
        <p:sp>
          <p:nvSpPr>
            <p:cNvPr id="40" name="TextBox 40"/>
            <p:cNvSpPr txBox="1"/>
            <p:nvPr/>
          </p:nvSpPr>
          <p:spPr>
            <a:xfrm>
              <a:off x="7938075" y="4283392"/>
              <a:ext cx="506849" cy="274320"/>
            </a:xfrm>
            <a:prstGeom prst="rect">
              <a:avLst/>
            </a:prstGeom>
            <a:noFill/>
            <a:ln>
              <a:noFill/>
            </a:ln>
          </p:spPr>
          <p:txBody>
            <a:bodyPr wrap="none" lIns="0" tIns="0" rIns="0" bIns="0" anchor="t" anchorCtr="0">
              <a:spAutoFit/>
            </a:bodyPr>
            <a:lstStyle/>
            <a:p>
              <a:pPr algn="ctr"/>
              <a:r>
                <a:rPr lang="zh-CN" sz="1350" b="1" dirty="0">
                  <a:solidFill>
                    <a:srgbClr val="2E7D32"/>
                  </a:solidFill>
                  <a:latin typeface="Cambria"/>
                  <a:ea typeface="SimSun"/>
                  <a:cs typeface="Cambria"/>
                </a:rPr>
                <a:t>14.34</a:t>
              </a:r>
            </a:p>
          </p:txBody>
        </p:sp>
        <p:sp>
          <p:nvSpPr>
            <p:cNvPr id="41" name="Rectangle 41"/>
            <p:cNvSpPr/>
            <p:nvPr/>
          </p:nvSpPr>
          <p:spPr>
            <a:xfrm>
              <a:off x="9620250" y="4219575"/>
              <a:ext cx="1333500" cy="304800"/>
            </a:xfrm>
            <a:prstGeom prst="roundRect">
              <a:avLst>
                <a:gd name="adj" fmla="val 50000"/>
              </a:avLst>
            </a:prstGeom>
            <a:solidFill>
              <a:srgbClr val="2E7D32"/>
            </a:solidFill>
            <a:ln>
              <a:noFill/>
            </a:ln>
          </p:spPr>
        </p:sp>
        <p:sp>
          <p:nvSpPr>
            <p:cNvPr id="42" name="TextBox 42"/>
            <p:cNvSpPr txBox="1"/>
            <p:nvPr/>
          </p:nvSpPr>
          <p:spPr>
            <a:xfrm>
              <a:off x="10064164" y="4315778"/>
              <a:ext cx="44567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Cambria"/>
                  <a:ea typeface="SimSun"/>
                  <a:cs typeface="Cambria"/>
                </a:rPr>
                <a:t>★ 最优</a:t>
              </a:r>
            </a:p>
          </p:txBody>
        </p:sp>
      </p:grpSp>
      <p:sp>
        <p:nvSpPr>
          <p:cNvPr id="44" name="Line 44"/>
          <p:cNvSpPr/>
          <p:nvPr/>
        </p:nvSpPr>
        <p:spPr>
          <a:xfrm>
            <a:off x="571500" y="3886200"/>
            <a:ext cx="11049000" cy="9525"/>
          </a:xfrm>
          <a:custGeom>
            <a:avLst/>
            <a:gdLst/>
            <a:ahLst/>
            <a:cxnLst/>
            <a:rect l="l" t="t" r="r" b="b"/>
            <a:pathLst>
              <a:path w="11049000" h="9525">
                <a:moveTo>
                  <a:pt x="0" y="0"/>
                </a:moveTo>
                <a:lnTo>
                  <a:pt x="11049000" y="0"/>
                </a:lnTo>
              </a:path>
            </a:pathLst>
          </a:custGeom>
          <a:noFill/>
          <a:ln w="9525">
            <a:solidFill>
              <a:srgbClr val="E0E0E0"/>
            </a:solidFill>
            <a:prstDash val="dash"/>
          </a:ln>
        </p:spPr>
      </p:sp>
      <p:sp>
        <p:nvSpPr>
          <p:cNvPr id="45" name="TextBox 45"/>
          <p:cNvSpPr txBox="1"/>
          <p:nvPr/>
        </p:nvSpPr>
        <p:spPr>
          <a:xfrm>
            <a:off x="556260" y="4042410"/>
            <a:ext cx="937793"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2. 核心结论</a:t>
            </a:r>
          </a:p>
        </p:txBody>
      </p:sp>
      <p:grpSp>
        <p:nvGrpSpPr>
          <p:cNvPr id="88" name="Group 88"/>
          <p:cNvGrpSpPr/>
          <p:nvPr/>
        </p:nvGrpSpPr>
        <p:grpSpPr>
          <a:xfrm>
            <a:off x="571500" y="4381500"/>
            <a:ext cx="11049000" cy="2095500"/>
            <a:chOff x="571500" y="4381500"/>
            <a:chExt cx="11049000" cy="2095500"/>
          </a:xfrm>
        </p:grpSpPr>
        <p:sp>
          <p:nvSpPr>
            <p:cNvPr id="46" name="Rectangle 46"/>
            <p:cNvSpPr/>
            <p:nvPr/>
          </p:nvSpPr>
          <p:spPr>
            <a:xfrm>
              <a:off x="571500" y="4381500"/>
              <a:ext cx="3524250" cy="2095500"/>
            </a:xfrm>
            <a:prstGeom prst="roundRect">
              <a:avLst>
                <a:gd name="adj" fmla="val 5455"/>
              </a:avLst>
            </a:prstGeom>
            <a:solidFill>
              <a:srgbClr val="FFF8E1"/>
            </a:solidFill>
            <a:ln w="14288">
              <a:solidFill>
                <a:srgbClr val="FF8F00"/>
              </a:solidFill>
            </a:ln>
            <a:effectLst>
              <a:outerShdw blurRad="95250" dist="28575" dir="5400000" algn="ctr" rotWithShape="0">
                <a:srgbClr val="0F172A">
                  <a:alpha val="6000"/>
                </a:srgbClr>
              </a:outerShdw>
            </a:effectLst>
          </p:spPr>
        </p:sp>
        <p:sp>
          <p:nvSpPr>
            <p:cNvPr id="47" name="Rectangle 47"/>
            <p:cNvSpPr/>
            <p:nvPr/>
          </p:nvSpPr>
          <p:spPr>
            <a:xfrm>
              <a:off x="571500" y="4381500"/>
              <a:ext cx="3524250" cy="476250"/>
            </a:xfrm>
            <a:prstGeom prst="roundRect">
              <a:avLst>
                <a:gd name="adj" fmla="val 24000"/>
              </a:avLst>
            </a:prstGeom>
            <a:solidFill>
              <a:srgbClr val="FF8F00"/>
            </a:solidFill>
            <a:ln>
              <a:noFill/>
            </a:ln>
          </p:spPr>
        </p:sp>
        <p:sp>
          <p:nvSpPr>
            <p:cNvPr id="48" name="Rectangle 48"/>
            <p:cNvSpPr/>
            <p:nvPr/>
          </p:nvSpPr>
          <p:spPr>
            <a:xfrm>
              <a:off x="571500" y="4743450"/>
              <a:ext cx="3524250" cy="114300"/>
            </a:xfrm>
            <a:prstGeom prst="rect">
              <a:avLst/>
            </a:prstGeom>
            <a:solidFill>
              <a:srgbClr val="FF8F00"/>
            </a:solidFill>
            <a:ln>
              <a:noFill/>
            </a:ln>
          </p:spPr>
        </p:sp>
        <p:sp>
          <p:nvSpPr>
            <p:cNvPr id="49" name="TextBox 49"/>
            <p:cNvSpPr txBox="1"/>
            <p:nvPr/>
          </p:nvSpPr>
          <p:spPr>
            <a:xfrm>
              <a:off x="746760" y="4556760"/>
              <a:ext cx="1853508"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mbria"/>
                  <a:ea typeface="SimSun"/>
                  <a:cs typeface="Cambria"/>
                </a:rPr>
                <a:t>核心启示 · IMPLICATION</a:t>
              </a:r>
            </a:p>
          </p:txBody>
        </p:sp>
        <p:sp>
          <p:nvSpPr>
            <p:cNvPr id="50" name="TextBox 50"/>
            <p:cNvSpPr txBox="1"/>
            <p:nvPr/>
          </p:nvSpPr>
          <p:spPr>
            <a:xfrm>
              <a:off x="748665" y="5030152"/>
              <a:ext cx="1871751"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物理量估计任务中,充分利用</a:t>
              </a:r>
            </a:p>
          </p:txBody>
        </p:sp>
        <p:sp>
          <p:nvSpPr>
            <p:cNvPr id="51" name="TextBox 51"/>
            <p:cNvSpPr txBox="1"/>
            <p:nvPr/>
          </p:nvSpPr>
          <p:spPr>
            <a:xfrm>
              <a:off x="748665" y="5220652"/>
              <a:ext cx="1805592"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领域先验知识(密度、热量)</a:t>
              </a:r>
            </a:p>
          </p:txBody>
        </p:sp>
        <p:sp>
          <p:nvSpPr>
            <p:cNvPr id="52" name="TextBox 52"/>
            <p:cNvSpPr txBox="1"/>
            <p:nvPr/>
          </p:nvSpPr>
          <p:spPr>
            <a:xfrm>
              <a:off x="748665" y="5411152"/>
              <a:ext cx="1790891" cy="213360"/>
            </a:xfrm>
            <a:prstGeom prst="rect">
              <a:avLst/>
            </a:prstGeom>
            <a:noFill/>
            <a:ln>
              <a:noFill/>
            </a:ln>
          </p:spPr>
          <p:txBody>
            <a:bodyPr wrap="none" lIns="0" tIns="0" rIns="0" bIns="0" anchor="t" anchorCtr="0">
              <a:spAutoFit/>
            </a:bodyPr>
            <a:lstStyle/>
            <a:p>
              <a:pPr algn="l"/>
              <a:r>
                <a:rPr lang="zh-CN" sz="1050" b="1" dirty="0">
                  <a:solidFill>
                    <a:srgbClr val="FF8F00"/>
                  </a:solidFill>
                  <a:latin typeface="Arial"/>
                  <a:ea typeface="Microsoft YaHei"/>
                  <a:cs typeface="Arial"/>
                </a:rPr>
                <a:t>比追求更大模型容量更重要</a:t>
              </a:r>
            </a:p>
          </p:txBody>
        </p:sp>
        <p:sp>
          <p:nvSpPr>
            <p:cNvPr id="53" name="Line 53"/>
            <p:cNvSpPr/>
            <p:nvPr/>
          </p:nvSpPr>
          <p:spPr>
            <a:xfrm>
              <a:off x="762000" y="5715000"/>
              <a:ext cx="3143250" cy="9525"/>
            </a:xfrm>
            <a:custGeom>
              <a:avLst/>
              <a:gdLst/>
              <a:ahLst/>
              <a:cxnLst/>
              <a:rect l="l" t="t" r="r" b="b"/>
              <a:pathLst>
                <a:path w="3143250" h="9525">
                  <a:moveTo>
                    <a:pt x="0" y="0"/>
                  </a:moveTo>
                  <a:lnTo>
                    <a:pt x="3143250" y="0"/>
                  </a:lnTo>
                </a:path>
              </a:pathLst>
            </a:custGeom>
            <a:noFill/>
            <a:ln w="9525">
              <a:solidFill>
                <a:srgbClr val="E0E0E0"/>
              </a:solidFill>
              <a:custDash>
                <a:ds d="300000" sp="300000"/>
              </a:custDash>
            </a:ln>
          </p:spPr>
        </p:sp>
        <p:sp>
          <p:nvSpPr>
            <p:cNvPr id="54" name="TextBox 54"/>
            <p:cNvSpPr txBox="1"/>
            <p:nvPr/>
          </p:nvSpPr>
          <p:spPr>
            <a:xfrm>
              <a:off x="750570" y="5827395"/>
              <a:ext cx="1595056" cy="182880"/>
            </a:xfrm>
            <a:prstGeom prst="rect">
              <a:avLst/>
            </a:prstGeom>
            <a:noFill/>
            <a:ln>
              <a:noFill/>
            </a:ln>
          </p:spPr>
          <p:txBody>
            <a:bodyPr wrap="none" lIns="0" tIns="0" rIns="0" bIns="0" anchor="t" anchorCtr="0">
              <a:spAutoFit/>
            </a:bodyPr>
            <a:lstStyle/>
            <a:p>
              <a:pPr algn="l"/>
              <a:r>
                <a:rPr lang="zh-CN" sz="900" i="1" dirty="0">
                  <a:solidFill>
                    <a:srgbClr val="5F6368"/>
                  </a:solidFill>
                  <a:latin typeface="Cambria"/>
                  <a:ea typeface="SimSun"/>
                  <a:cs typeface="Cambria"/>
                </a:rPr>
                <a:t>通用大模型"泛化能力"在此类</a:t>
              </a:r>
            </a:p>
          </p:txBody>
        </p:sp>
        <p:sp>
          <p:nvSpPr>
            <p:cNvPr id="55" name="TextBox 55"/>
            <p:cNvSpPr txBox="1"/>
            <p:nvPr/>
          </p:nvSpPr>
          <p:spPr>
            <a:xfrm>
              <a:off x="750570" y="5998845"/>
              <a:ext cx="1102995" cy="182880"/>
            </a:xfrm>
            <a:prstGeom prst="rect">
              <a:avLst/>
            </a:prstGeom>
            <a:noFill/>
            <a:ln>
              <a:noFill/>
            </a:ln>
          </p:spPr>
          <p:txBody>
            <a:bodyPr wrap="none" lIns="0" tIns="0" rIns="0" bIns="0" anchor="t" anchorCtr="0">
              <a:spAutoFit/>
            </a:bodyPr>
            <a:lstStyle/>
            <a:p>
              <a:pPr algn="l"/>
              <a:r>
                <a:rPr lang="zh-CN" sz="900" i="1" dirty="0">
                  <a:solidFill>
                    <a:srgbClr val="5F6368"/>
                  </a:solidFill>
                  <a:latin typeface="Cambria"/>
                  <a:ea typeface="SimSun"/>
                  <a:cs typeface="Cambria"/>
                </a:rPr>
                <a:t>任务中反而成为弱点</a:t>
              </a:r>
            </a:p>
          </p:txBody>
        </p:sp>
        <p:sp>
          <p:nvSpPr>
            <p:cNvPr id="56" name="TextBox 56"/>
            <p:cNvSpPr txBox="1"/>
            <p:nvPr/>
          </p:nvSpPr>
          <p:spPr>
            <a:xfrm>
              <a:off x="751522" y="6235541"/>
              <a:ext cx="1621655" cy="167640"/>
            </a:xfrm>
            <a:prstGeom prst="rect">
              <a:avLst/>
            </a:prstGeom>
            <a:noFill/>
            <a:ln>
              <a:noFill/>
            </a:ln>
          </p:spPr>
          <p:txBody>
            <a:bodyPr wrap="none" lIns="0" tIns="0" rIns="0" bIns="0" anchor="t" anchorCtr="0">
              <a:spAutoFit/>
            </a:bodyPr>
            <a:lstStyle/>
            <a:p>
              <a:pPr algn="l"/>
              <a:r>
                <a:rPr lang="zh-CN" sz="825" dirty="0">
                  <a:solidFill>
                    <a:srgbClr val="9AA0A6"/>
                  </a:solidFill>
                  <a:latin typeface="Cambria"/>
                  <a:ea typeface="SimSun"/>
                  <a:cs typeface="Cambria"/>
                </a:rPr>
                <a:t>学到语义统计规律,而非物理映射</a:t>
              </a:r>
            </a:p>
          </p:txBody>
        </p:sp>
        <p:sp>
          <p:nvSpPr>
            <p:cNvPr id="57" name="Rectangle 57"/>
            <p:cNvSpPr/>
            <p:nvPr/>
          </p:nvSpPr>
          <p:spPr>
            <a:xfrm>
              <a:off x="4286250" y="4381500"/>
              <a:ext cx="3524250" cy="2095500"/>
            </a:xfrm>
            <a:prstGeom prst="roundRect">
              <a:avLst>
                <a:gd name="adj" fmla="val 5455"/>
              </a:avLst>
            </a:prstGeom>
            <a:solidFill>
              <a:srgbClr val="FFFFFF"/>
            </a:solidFill>
            <a:ln w="14288">
              <a:solidFill>
                <a:srgbClr val="5C6BC0"/>
              </a:solidFill>
            </a:ln>
            <a:effectLst>
              <a:outerShdw blurRad="95250" dist="28575" dir="5400000" algn="ctr" rotWithShape="0">
                <a:srgbClr val="0F172A">
                  <a:alpha val="6000"/>
                </a:srgbClr>
              </a:outerShdw>
            </a:effectLst>
          </p:spPr>
        </p:sp>
        <p:sp>
          <p:nvSpPr>
            <p:cNvPr id="58" name="Rectangle 58"/>
            <p:cNvSpPr/>
            <p:nvPr/>
          </p:nvSpPr>
          <p:spPr>
            <a:xfrm>
              <a:off x="4286250" y="4381500"/>
              <a:ext cx="3524250" cy="476250"/>
            </a:xfrm>
            <a:prstGeom prst="roundRect">
              <a:avLst>
                <a:gd name="adj" fmla="val 24000"/>
              </a:avLst>
            </a:prstGeom>
            <a:solidFill>
              <a:srgbClr val="5C6BC0"/>
            </a:solidFill>
            <a:ln>
              <a:noFill/>
            </a:ln>
          </p:spPr>
        </p:sp>
        <p:sp>
          <p:nvSpPr>
            <p:cNvPr id="59" name="Rectangle 59"/>
            <p:cNvSpPr/>
            <p:nvPr/>
          </p:nvSpPr>
          <p:spPr>
            <a:xfrm>
              <a:off x="4286250" y="4743450"/>
              <a:ext cx="3524250" cy="114300"/>
            </a:xfrm>
            <a:prstGeom prst="rect">
              <a:avLst/>
            </a:prstGeom>
            <a:solidFill>
              <a:srgbClr val="5C6BC0"/>
            </a:solidFill>
            <a:ln>
              <a:noFill/>
            </a:ln>
          </p:spPr>
        </p:sp>
        <p:sp>
          <p:nvSpPr>
            <p:cNvPr id="60" name="TextBox 60"/>
            <p:cNvSpPr txBox="1"/>
            <p:nvPr/>
          </p:nvSpPr>
          <p:spPr>
            <a:xfrm>
              <a:off x="4461510" y="4556760"/>
              <a:ext cx="151746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mbria"/>
                  <a:ea typeface="SimSun"/>
                  <a:cs typeface="Cambria"/>
                </a:rPr>
                <a:t>方法论转向 · PIVOT</a:t>
              </a:r>
            </a:p>
          </p:txBody>
        </p:sp>
        <p:sp>
          <p:nvSpPr>
            <p:cNvPr id="61" name="TextBox 61"/>
            <p:cNvSpPr txBox="1"/>
            <p:nvPr/>
          </p:nvSpPr>
          <p:spPr>
            <a:xfrm>
              <a:off x="4464368" y="5038249"/>
              <a:ext cx="843867"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从端到端黑箱</a:t>
              </a:r>
            </a:p>
          </p:txBody>
        </p:sp>
        <p:grpSp>
          <p:nvGrpSpPr>
            <p:cNvPr id="65" name="Group 65"/>
            <p:cNvGrpSpPr/>
            <p:nvPr/>
          </p:nvGrpSpPr>
          <p:grpSpPr>
            <a:xfrm>
              <a:off x="5468938" y="5076825"/>
              <a:ext cx="111125" cy="95250"/>
              <a:chOff x="5468938" y="5076825"/>
              <a:chExt cx="111125" cy="95250"/>
            </a:xfrm>
          </p:grpSpPr>
          <p:sp>
            <p:nvSpPr>
              <p:cNvPr id="62" name="Freeform 62"/>
              <p:cNvSpPr/>
              <p:nvPr/>
            </p:nvSpPr>
            <p:spPr>
              <a:xfrm>
                <a:off x="5468938" y="5124450"/>
                <a:ext cx="111125" cy="9525"/>
              </a:xfrm>
              <a:custGeom>
                <a:avLst/>
                <a:gdLst/>
                <a:ahLst/>
                <a:cxnLst/>
                <a:rect l="l" t="t" r="r" b="b"/>
                <a:pathLst>
                  <a:path w="111125" h="9525">
                    <a:moveTo>
                      <a:pt x="0" y="0"/>
                    </a:moveTo>
                    <a:lnTo>
                      <a:pt x="111125" y="0"/>
                    </a:lnTo>
                  </a:path>
                </a:pathLst>
              </a:custGeom>
              <a:noFill/>
              <a:ln w="19050">
                <a:solidFill>
                  <a:srgbClr val="5C6BC0"/>
                </a:solidFill>
              </a:ln>
            </p:spPr>
          </p:sp>
          <p:sp>
            <p:nvSpPr>
              <p:cNvPr id="63" name="Freeform 63"/>
              <p:cNvSpPr/>
              <p:nvPr/>
            </p:nvSpPr>
            <p:spPr>
              <a:xfrm>
                <a:off x="5532438" y="5124450"/>
                <a:ext cx="47625" cy="47625"/>
              </a:xfrm>
              <a:custGeom>
                <a:avLst/>
                <a:gdLst/>
                <a:ahLst/>
                <a:cxnLst/>
                <a:rect l="l" t="t" r="r" b="b"/>
                <a:pathLst>
                  <a:path w="47625" h="47625">
                    <a:moveTo>
                      <a:pt x="0" y="47625"/>
                    </a:moveTo>
                    <a:lnTo>
                      <a:pt x="47625" y="0"/>
                    </a:lnTo>
                  </a:path>
                </a:pathLst>
              </a:custGeom>
              <a:noFill/>
              <a:ln w="19050">
                <a:solidFill>
                  <a:srgbClr val="5C6BC0"/>
                </a:solidFill>
              </a:ln>
            </p:spPr>
          </p:sp>
          <p:sp>
            <p:nvSpPr>
              <p:cNvPr id="64" name="Freeform 64"/>
              <p:cNvSpPr/>
              <p:nvPr/>
            </p:nvSpPr>
            <p:spPr>
              <a:xfrm>
                <a:off x="5532438" y="5076825"/>
                <a:ext cx="47625" cy="47625"/>
              </a:xfrm>
              <a:custGeom>
                <a:avLst/>
                <a:gdLst/>
                <a:ahLst/>
                <a:cxnLst/>
                <a:rect l="l" t="t" r="r" b="b"/>
                <a:pathLst>
                  <a:path w="47625" h="47625">
                    <a:moveTo>
                      <a:pt x="0" y="0"/>
                    </a:moveTo>
                    <a:lnTo>
                      <a:pt x="47625" y="47625"/>
                    </a:lnTo>
                  </a:path>
                </a:pathLst>
              </a:custGeom>
              <a:noFill/>
              <a:ln w="19050">
                <a:solidFill>
                  <a:srgbClr val="5C6BC0"/>
                </a:solidFill>
              </a:ln>
            </p:spPr>
          </p:sp>
        </p:grpSp>
        <p:sp>
          <p:nvSpPr>
            <p:cNvPr id="66" name="TextBox 66"/>
            <p:cNvSpPr txBox="1"/>
            <p:nvPr/>
          </p:nvSpPr>
          <p:spPr>
            <a:xfrm>
              <a:off x="5702618" y="5038249"/>
              <a:ext cx="1253419"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物理约束分阶段估计</a:t>
              </a:r>
            </a:p>
          </p:txBody>
        </p:sp>
        <p:sp>
          <p:nvSpPr>
            <p:cNvPr id="67" name="TextBox 67"/>
            <p:cNvSpPr txBox="1"/>
            <p:nvPr/>
          </p:nvSpPr>
          <p:spPr>
            <a:xfrm>
              <a:off x="4464368" y="5419249"/>
              <a:ext cx="843867"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从通用大模型</a:t>
              </a:r>
            </a:p>
          </p:txBody>
        </p:sp>
        <p:grpSp>
          <p:nvGrpSpPr>
            <p:cNvPr id="71" name="Group 71"/>
            <p:cNvGrpSpPr/>
            <p:nvPr/>
          </p:nvGrpSpPr>
          <p:grpSpPr>
            <a:xfrm>
              <a:off x="5468938" y="5457825"/>
              <a:ext cx="111125" cy="95250"/>
              <a:chOff x="5468938" y="5457825"/>
              <a:chExt cx="111125" cy="95250"/>
            </a:xfrm>
          </p:grpSpPr>
          <p:sp>
            <p:nvSpPr>
              <p:cNvPr id="68" name="Freeform 68"/>
              <p:cNvSpPr/>
              <p:nvPr/>
            </p:nvSpPr>
            <p:spPr>
              <a:xfrm>
                <a:off x="5468938" y="5505450"/>
                <a:ext cx="111125" cy="9525"/>
              </a:xfrm>
              <a:custGeom>
                <a:avLst/>
                <a:gdLst/>
                <a:ahLst/>
                <a:cxnLst/>
                <a:rect l="l" t="t" r="r" b="b"/>
                <a:pathLst>
                  <a:path w="111125" h="9525">
                    <a:moveTo>
                      <a:pt x="0" y="0"/>
                    </a:moveTo>
                    <a:lnTo>
                      <a:pt x="111125" y="0"/>
                    </a:lnTo>
                  </a:path>
                </a:pathLst>
              </a:custGeom>
              <a:noFill/>
              <a:ln w="19050">
                <a:solidFill>
                  <a:srgbClr val="5C6BC0"/>
                </a:solidFill>
              </a:ln>
            </p:spPr>
          </p:sp>
          <p:sp>
            <p:nvSpPr>
              <p:cNvPr id="69" name="Freeform 69"/>
              <p:cNvSpPr/>
              <p:nvPr/>
            </p:nvSpPr>
            <p:spPr>
              <a:xfrm>
                <a:off x="5532438" y="5505450"/>
                <a:ext cx="47625" cy="47625"/>
              </a:xfrm>
              <a:custGeom>
                <a:avLst/>
                <a:gdLst/>
                <a:ahLst/>
                <a:cxnLst/>
                <a:rect l="l" t="t" r="r" b="b"/>
                <a:pathLst>
                  <a:path w="47625" h="47625">
                    <a:moveTo>
                      <a:pt x="0" y="47625"/>
                    </a:moveTo>
                    <a:lnTo>
                      <a:pt x="47625" y="0"/>
                    </a:lnTo>
                  </a:path>
                </a:pathLst>
              </a:custGeom>
              <a:noFill/>
              <a:ln w="19050">
                <a:solidFill>
                  <a:srgbClr val="5C6BC0"/>
                </a:solidFill>
              </a:ln>
            </p:spPr>
          </p:sp>
          <p:sp>
            <p:nvSpPr>
              <p:cNvPr id="70" name="Freeform 70"/>
              <p:cNvSpPr/>
              <p:nvPr/>
            </p:nvSpPr>
            <p:spPr>
              <a:xfrm>
                <a:off x="5532438" y="5457825"/>
                <a:ext cx="47625" cy="47625"/>
              </a:xfrm>
              <a:custGeom>
                <a:avLst/>
                <a:gdLst/>
                <a:ahLst/>
                <a:cxnLst/>
                <a:rect l="l" t="t" r="r" b="b"/>
                <a:pathLst>
                  <a:path w="47625" h="47625">
                    <a:moveTo>
                      <a:pt x="0" y="0"/>
                    </a:moveTo>
                    <a:lnTo>
                      <a:pt x="47625" y="47625"/>
                    </a:lnTo>
                  </a:path>
                </a:pathLst>
              </a:custGeom>
              <a:noFill/>
              <a:ln w="19050">
                <a:solidFill>
                  <a:srgbClr val="5C6BC0"/>
                </a:solidFill>
              </a:ln>
            </p:spPr>
          </p:sp>
        </p:grpSp>
        <p:sp>
          <p:nvSpPr>
            <p:cNvPr id="72" name="TextBox 72"/>
            <p:cNvSpPr txBox="1"/>
            <p:nvPr/>
          </p:nvSpPr>
          <p:spPr>
            <a:xfrm>
              <a:off x="5702618" y="5419249"/>
              <a:ext cx="1273896"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轻量专用 + 领域先验</a:t>
              </a:r>
            </a:p>
          </p:txBody>
        </p:sp>
        <p:sp>
          <p:nvSpPr>
            <p:cNvPr id="73" name="Line 73"/>
            <p:cNvSpPr/>
            <p:nvPr/>
          </p:nvSpPr>
          <p:spPr>
            <a:xfrm>
              <a:off x="4476750" y="5810250"/>
              <a:ext cx="3143250" cy="9525"/>
            </a:xfrm>
            <a:custGeom>
              <a:avLst/>
              <a:gdLst/>
              <a:ahLst/>
              <a:cxnLst/>
              <a:rect l="l" t="t" r="r" b="b"/>
              <a:pathLst>
                <a:path w="3143250" h="9525">
                  <a:moveTo>
                    <a:pt x="0" y="0"/>
                  </a:moveTo>
                  <a:lnTo>
                    <a:pt x="3143250" y="0"/>
                  </a:lnTo>
                </a:path>
              </a:pathLst>
            </a:custGeom>
            <a:noFill/>
            <a:ln w="9525">
              <a:solidFill>
                <a:srgbClr val="E0E0E0"/>
              </a:solidFill>
              <a:custDash>
                <a:ds d="300000" sp="300000"/>
              </a:custDash>
            </a:ln>
          </p:spPr>
        </p:sp>
        <p:sp>
          <p:nvSpPr>
            <p:cNvPr id="74" name="Rectangle 74"/>
            <p:cNvSpPr/>
            <p:nvPr/>
          </p:nvSpPr>
          <p:spPr>
            <a:xfrm>
              <a:off x="4476750" y="5962650"/>
              <a:ext cx="3143250" cy="381000"/>
            </a:xfrm>
            <a:prstGeom prst="roundRect">
              <a:avLst>
                <a:gd name="adj" fmla="val 20000"/>
              </a:avLst>
            </a:prstGeom>
            <a:solidFill>
              <a:srgbClr val="F5F7FA"/>
            </a:solidFill>
            <a:ln>
              <a:noFill/>
            </a:ln>
          </p:spPr>
        </p:sp>
        <p:sp>
          <p:nvSpPr>
            <p:cNvPr id="75" name="TextBox 75"/>
            <p:cNvSpPr txBox="1"/>
            <p:nvPr/>
          </p:nvSpPr>
          <p:spPr>
            <a:xfrm>
              <a:off x="5380808" y="6020752"/>
              <a:ext cx="1335134" cy="213360"/>
            </a:xfrm>
            <a:prstGeom prst="rect">
              <a:avLst/>
            </a:prstGeom>
            <a:noFill/>
            <a:ln>
              <a:noFill/>
            </a:ln>
          </p:spPr>
          <p:txBody>
            <a:bodyPr wrap="none" lIns="0" tIns="0" rIns="0" bIns="0" anchor="t" anchorCtr="0">
              <a:spAutoFit/>
            </a:bodyPr>
            <a:lstStyle/>
            <a:p>
              <a:pPr algn="ctr"/>
              <a:r>
                <a:rPr lang="zh-CN" sz="1050" b="1" dirty="0">
                  <a:solidFill>
                    <a:srgbClr val="5C6BC0"/>
                  </a:solidFill>
                  <a:latin typeface="Cambria"/>
                  <a:ea typeface="SimSun"/>
                  <a:cs typeface="Cambria"/>
                </a:rPr>
                <a:t>21-49g vs 100-200g</a:t>
              </a:r>
            </a:p>
          </p:txBody>
        </p:sp>
        <p:sp>
          <p:nvSpPr>
            <p:cNvPr id="76" name="TextBox 76"/>
            <p:cNvSpPr txBox="1"/>
            <p:nvPr/>
          </p:nvSpPr>
          <p:spPr>
            <a:xfrm>
              <a:off x="5322808" y="6197441"/>
              <a:ext cx="1451134" cy="167640"/>
            </a:xfrm>
            <a:prstGeom prst="rect">
              <a:avLst/>
            </a:prstGeom>
            <a:noFill/>
            <a:ln>
              <a:noFill/>
            </a:ln>
          </p:spPr>
          <p:txBody>
            <a:bodyPr wrap="none" lIns="0" tIns="0" rIns="0" bIns="0" anchor="t" anchorCtr="0">
              <a:spAutoFit/>
            </a:bodyPr>
            <a:lstStyle/>
            <a:p>
              <a:pPr algn="ctr"/>
              <a:r>
                <a:rPr lang="zh-CN" sz="825" dirty="0">
                  <a:solidFill>
                    <a:srgbClr val="5F6368"/>
                  </a:solidFill>
                  <a:latin typeface="Arial"/>
                  <a:ea typeface="Microsoft YaHei"/>
                  <a:cs typeface="Arial"/>
                </a:rPr>
                <a:t>轻量专用显著优于通用大模型</a:t>
              </a:r>
            </a:p>
          </p:txBody>
        </p:sp>
        <p:sp>
          <p:nvSpPr>
            <p:cNvPr id="77" name="Rectangle 77"/>
            <p:cNvSpPr/>
            <p:nvPr/>
          </p:nvSpPr>
          <p:spPr>
            <a:xfrm>
              <a:off x="8001000" y="4381500"/>
              <a:ext cx="3619500" cy="2095500"/>
            </a:xfrm>
            <a:prstGeom prst="roundRect">
              <a:avLst>
                <a:gd name="adj" fmla="val 5455"/>
              </a:avLst>
            </a:prstGeom>
            <a:solidFill>
              <a:srgbClr val="FFFFFF"/>
            </a:solidFill>
            <a:ln w="14288">
              <a:solidFill>
                <a:srgbClr val="2E7D32"/>
              </a:solidFill>
            </a:ln>
            <a:effectLst>
              <a:outerShdw blurRad="95250" dist="28575" dir="5400000" algn="ctr" rotWithShape="0">
                <a:srgbClr val="0F172A">
                  <a:alpha val="6000"/>
                </a:srgbClr>
              </a:outerShdw>
            </a:effectLst>
          </p:spPr>
        </p:sp>
        <p:sp>
          <p:nvSpPr>
            <p:cNvPr id="78" name="Rectangle 78"/>
            <p:cNvSpPr/>
            <p:nvPr/>
          </p:nvSpPr>
          <p:spPr>
            <a:xfrm>
              <a:off x="8001000" y="4381500"/>
              <a:ext cx="3619500" cy="476250"/>
            </a:xfrm>
            <a:prstGeom prst="roundRect">
              <a:avLst>
                <a:gd name="adj" fmla="val 24000"/>
              </a:avLst>
            </a:prstGeom>
            <a:solidFill>
              <a:srgbClr val="2E7D32"/>
            </a:solidFill>
            <a:ln>
              <a:noFill/>
            </a:ln>
          </p:spPr>
        </p:sp>
        <p:sp>
          <p:nvSpPr>
            <p:cNvPr id="79" name="Rectangle 79"/>
            <p:cNvSpPr/>
            <p:nvPr/>
          </p:nvSpPr>
          <p:spPr>
            <a:xfrm>
              <a:off x="8001000" y="4743450"/>
              <a:ext cx="3619500" cy="114300"/>
            </a:xfrm>
            <a:prstGeom prst="rect">
              <a:avLst/>
            </a:prstGeom>
            <a:solidFill>
              <a:srgbClr val="2E7D32"/>
            </a:solidFill>
            <a:ln>
              <a:noFill/>
            </a:ln>
          </p:spPr>
        </p:sp>
        <p:sp>
          <p:nvSpPr>
            <p:cNvPr id="80" name="TextBox 80"/>
            <p:cNvSpPr txBox="1"/>
            <p:nvPr/>
          </p:nvSpPr>
          <p:spPr>
            <a:xfrm>
              <a:off x="8176260" y="4556760"/>
              <a:ext cx="1937518"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mbria"/>
                  <a:ea typeface="SimSun"/>
                  <a:cs typeface="Cambria"/>
                </a:rPr>
                <a:t>最优方案 · BEST METHOD</a:t>
              </a:r>
            </a:p>
          </p:txBody>
        </p:sp>
        <p:sp>
          <p:nvSpPr>
            <p:cNvPr id="81" name="TextBox 81"/>
            <p:cNvSpPr txBox="1"/>
            <p:nvPr/>
          </p:nvSpPr>
          <p:spPr>
            <a:xfrm>
              <a:off x="8178165" y="5030152"/>
              <a:ext cx="1710030"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CalorieCLIP + 类别级校准</a:t>
              </a:r>
            </a:p>
          </p:txBody>
        </p:sp>
        <p:sp>
          <p:nvSpPr>
            <p:cNvPr id="82" name="Rectangle 82"/>
            <p:cNvSpPr/>
            <p:nvPr/>
          </p:nvSpPr>
          <p:spPr>
            <a:xfrm>
              <a:off x="8191500" y="5314950"/>
              <a:ext cx="3238500" cy="361950"/>
            </a:xfrm>
            <a:prstGeom prst="roundRect">
              <a:avLst>
                <a:gd name="adj" fmla="val 21053"/>
              </a:avLst>
            </a:prstGeom>
            <a:solidFill>
              <a:srgbClr val="E8F5E9"/>
            </a:solidFill>
            <a:ln>
              <a:noFill/>
            </a:ln>
          </p:spPr>
        </p:sp>
        <p:sp>
          <p:nvSpPr>
            <p:cNvPr id="83" name="TextBox 83"/>
            <p:cNvSpPr txBox="1"/>
            <p:nvPr/>
          </p:nvSpPr>
          <p:spPr>
            <a:xfrm>
              <a:off x="8369618" y="5438299"/>
              <a:ext cx="734654"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Cambria"/>
                  <a:ea typeface="SimSun"/>
                  <a:cs typeface="Cambria"/>
                </a:rPr>
                <a:t>MAE 21.34g</a:t>
              </a:r>
            </a:p>
          </p:txBody>
        </p:sp>
        <p:sp>
          <p:nvSpPr>
            <p:cNvPr id="84" name="TextBox 84"/>
            <p:cNvSpPr txBox="1"/>
            <p:nvPr/>
          </p:nvSpPr>
          <p:spPr>
            <a:xfrm>
              <a:off x="10084118" y="5438299"/>
              <a:ext cx="632266"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Cambria"/>
                  <a:ea typeface="SimSun"/>
                  <a:cs typeface="Cambria"/>
                </a:rPr>
                <a:t>RE 14.34%</a:t>
              </a:r>
            </a:p>
          </p:txBody>
        </p:sp>
        <p:sp>
          <p:nvSpPr>
            <p:cNvPr id="85" name="TextBox 85"/>
            <p:cNvSpPr txBox="1"/>
            <p:nvPr/>
          </p:nvSpPr>
          <p:spPr>
            <a:xfrm>
              <a:off x="8179118" y="5781199"/>
              <a:ext cx="1435441"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利用密度先验反推重量</a:t>
              </a:r>
            </a:p>
          </p:txBody>
        </p:sp>
        <p:sp>
          <p:nvSpPr>
            <p:cNvPr id="86" name="TextBox 86"/>
            <p:cNvSpPr txBox="1"/>
            <p:nvPr/>
          </p:nvSpPr>
          <p:spPr>
            <a:xfrm>
              <a:off x="8179118" y="5990749"/>
              <a:ext cx="1305425"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类别级线性校准参数</a:t>
              </a:r>
            </a:p>
          </p:txBody>
        </p:sp>
        <p:sp>
          <p:nvSpPr>
            <p:cNvPr id="87" name="TextBox 87"/>
            <p:cNvSpPr txBox="1"/>
            <p:nvPr/>
          </p:nvSpPr>
          <p:spPr>
            <a:xfrm>
              <a:off x="8179118" y="6200299"/>
              <a:ext cx="1636966"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训练集估计,测试集不参与</a:t>
              </a:r>
            </a:p>
          </p:txBody>
        </p:sp>
      </p:grpSp>
      <p:sp>
        <p:nvSpPr>
          <p:cNvPr id="89" name="TextBox 89"/>
          <p:cNvSpPr txBox="1"/>
          <p:nvPr/>
        </p:nvSpPr>
        <p:spPr>
          <a:xfrm>
            <a:off x="561022" y="6578441"/>
            <a:ext cx="2891489"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2 · Q2 Summary</a:t>
            </a:r>
          </a:p>
        </p:txBody>
      </p:sp>
      <p:sp>
        <p:nvSpPr>
          <p:cNvPr id="90" name="TextBox 90"/>
          <p:cNvSpPr txBox="1"/>
          <p:nvPr/>
        </p:nvSpPr>
        <p:spPr>
          <a:xfrm>
            <a:off x="11251928" y="6578441"/>
            <a:ext cx="379050"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16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left)">
                                      <p:cBhvr>
                                        <p:cTn id="11" dur="400"/>
                                        <p:tgtEl>
                                          <p:spTgt spid="4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88"/>
                                        </p:tgtEl>
                                        <p:attrNameLst>
                                          <p:attrName>style.visibility</p:attrName>
                                        </p:attrNameLst>
                                      </p:cBhvr>
                                      <p:to>
                                        <p:strVal val="visible"/>
                                      </p:to>
                                    </p:set>
                                    <p:animEffect transition="in" filter="fade">
                                      <p:cBhvr>
                                        <p:cTn id="15" dur="4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3" grpId="0"/>
      <p:bldP spid="8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D2A4F"/>
              </a:gs>
              <a:gs pos="55000">
                <a:srgbClr val="1565C0"/>
              </a:gs>
              <a:gs pos="100000">
                <a:srgbClr val="5C6BC0"/>
              </a:gs>
            </a:gsLst>
            <a:lin ang="2700000" scaled="1"/>
          </a:gradFill>
          <a:ln>
            <a:noFill/>
          </a:ln>
        </p:spPr>
      </p:sp>
      <p:sp>
        <p:nvSpPr>
          <p:cNvPr id="3" name="Rectangle 3"/>
          <p:cNvSpPr/>
          <p:nvPr/>
        </p:nvSpPr>
        <p:spPr>
          <a:xfrm>
            <a:off x="0" y="0"/>
            <a:ext cx="12192000" cy="6858000"/>
          </a:xfrm>
          <a:prstGeom prst="rect">
            <a:avLst/>
          </a:prstGeom>
          <a:gradFill>
            <a:gsLst>
              <a:gs pos="0">
                <a:srgbClr val="FF8F00">
                  <a:alpha val="18000"/>
                </a:srgbClr>
              </a:gs>
              <a:gs pos="100000">
                <a:srgbClr val="FF8F00">
                  <a:alpha val="0"/>
                </a:srgbClr>
              </a:gs>
            </a:gsLst>
            <a:path path="circle">
              <a:fillToRect l="50000" t="50000" r="50000" b="50000"/>
            </a:path>
          </a:gradFill>
          <a:ln>
            <a:noFill/>
          </a:ln>
        </p:spPr>
      </p:sp>
      <p:sp>
        <p:nvSpPr>
          <p:cNvPr id="4" name="Ellipse 4"/>
          <p:cNvSpPr/>
          <p:nvPr/>
        </p:nvSpPr>
        <p:spPr>
          <a:xfrm>
            <a:off x="10258425" y="1685925"/>
            <a:ext cx="57150" cy="57150"/>
          </a:xfrm>
          <a:prstGeom prst="ellipse">
            <a:avLst/>
          </a:prstGeom>
          <a:solidFill>
            <a:srgbClr val="FFFFFF">
              <a:alpha val="20000"/>
            </a:srgbClr>
          </a:solidFill>
          <a:ln>
            <a:noFill/>
          </a:ln>
        </p:spPr>
      </p:sp>
      <p:sp>
        <p:nvSpPr>
          <p:cNvPr id="5" name="Ellipse 5"/>
          <p:cNvSpPr/>
          <p:nvPr/>
        </p:nvSpPr>
        <p:spPr>
          <a:xfrm>
            <a:off x="10648950" y="1981200"/>
            <a:ext cx="38100" cy="38100"/>
          </a:xfrm>
          <a:prstGeom prst="ellipse">
            <a:avLst/>
          </a:prstGeom>
          <a:solidFill>
            <a:srgbClr val="FFFFFF">
              <a:alpha val="16000"/>
            </a:srgbClr>
          </a:solidFill>
          <a:ln>
            <a:noFill/>
          </a:ln>
        </p:spPr>
      </p:sp>
      <p:sp>
        <p:nvSpPr>
          <p:cNvPr id="6" name="Ellipse 6"/>
          <p:cNvSpPr/>
          <p:nvPr/>
        </p:nvSpPr>
        <p:spPr>
          <a:xfrm>
            <a:off x="10929938" y="1500188"/>
            <a:ext cx="47625" cy="47625"/>
          </a:xfrm>
          <a:prstGeom prst="ellipse">
            <a:avLst/>
          </a:prstGeom>
          <a:solidFill>
            <a:srgbClr val="FF8F00">
              <a:alpha val="30000"/>
            </a:srgbClr>
          </a:solidFill>
          <a:ln>
            <a:noFill/>
          </a:ln>
        </p:spPr>
      </p:sp>
      <p:sp>
        <p:nvSpPr>
          <p:cNvPr id="7" name="Ellipse 7"/>
          <p:cNvSpPr/>
          <p:nvPr/>
        </p:nvSpPr>
        <p:spPr>
          <a:xfrm>
            <a:off x="1685925" y="5114925"/>
            <a:ext cx="57150" cy="57150"/>
          </a:xfrm>
          <a:prstGeom prst="ellipse">
            <a:avLst/>
          </a:prstGeom>
          <a:solidFill>
            <a:srgbClr val="FFFFFF">
              <a:alpha val="18000"/>
            </a:srgbClr>
          </a:solidFill>
          <a:ln>
            <a:noFill/>
          </a:ln>
        </p:spPr>
      </p:sp>
      <p:sp>
        <p:nvSpPr>
          <p:cNvPr id="8" name="Ellipse 8"/>
          <p:cNvSpPr/>
          <p:nvPr/>
        </p:nvSpPr>
        <p:spPr>
          <a:xfrm>
            <a:off x="1314450" y="5410200"/>
            <a:ext cx="38100" cy="38100"/>
          </a:xfrm>
          <a:prstGeom prst="ellipse">
            <a:avLst/>
          </a:prstGeom>
          <a:solidFill>
            <a:srgbClr val="FF8F00">
              <a:alpha val="25000"/>
            </a:srgbClr>
          </a:solidFill>
          <a:ln>
            <a:noFill/>
          </a:ln>
        </p:spPr>
      </p:sp>
      <p:sp>
        <p:nvSpPr>
          <p:cNvPr id="9" name="TextBox 9"/>
          <p:cNvSpPr txBox="1"/>
          <p:nvPr/>
        </p:nvSpPr>
        <p:spPr>
          <a:xfrm>
            <a:off x="4212098" y="781050"/>
            <a:ext cx="3767804" cy="4267200"/>
          </a:xfrm>
          <a:prstGeom prst="rect">
            <a:avLst/>
          </a:prstGeom>
          <a:noFill/>
          <a:ln>
            <a:noFill/>
          </a:ln>
        </p:spPr>
        <p:txBody>
          <a:bodyPr wrap="none" lIns="0" tIns="0" rIns="0" bIns="0" anchor="t" anchorCtr="0">
            <a:spAutoFit/>
          </a:bodyPr>
          <a:lstStyle/>
          <a:p>
            <a:pPr algn="ctr"/>
            <a:r>
              <a:rPr lang="zh-CN" sz="21000" b="1" dirty="0">
                <a:solidFill>
                  <a:srgbClr val="FFFFFF">
                    <a:alphaMod val="7000"/>
                  </a:srgbClr>
                </a:solidFill>
                <a:latin typeface="Cambria"/>
                <a:ea typeface="SimSun"/>
                <a:cs typeface="Cambria"/>
              </a:rPr>
              <a:t>03</a:t>
            </a:r>
          </a:p>
        </p:txBody>
      </p:sp>
      <p:sp>
        <p:nvSpPr>
          <p:cNvPr id="10" name="TextBox 10"/>
          <p:cNvSpPr txBox="1"/>
          <p:nvPr/>
        </p:nvSpPr>
        <p:spPr>
          <a:xfrm>
            <a:off x="4182123" y="2204085"/>
            <a:ext cx="3827755" cy="243840"/>
          </a:xfrm>
          <a:prstGeom prst="rect">
            <a:avLst/>
          </a:prstGeom>
          <a:noFill/>
          <a:ln>
            <a:noFill/>
          </a:ln>
        </p:spPr>
        <p:txBody>
          <a:bodyPr wrap="none" lIns="0" tIns="0" rIns="0" bIns="0" anchor="t" anchorCtr="0">
            <a:spAutoFit/>
          </a:bodyPr>
          <a:lstStyle/>
          <a:p>
            <a:pPr algn="ctr"/>
            <a:r>
              <a:rPr lang="zh-CN" sz="1200" b="1" dirty="0">
                <a:solidFill>
                  <a:srgbClr val="FFFFFF">
                    <a:alphaMod val="70000"/>
                  </a:srgbClr>
                </a:solidFill>
                <a:latin typeface="Cambria"/>
                <a:ea typeface="SimSun"/>
                <a:cs typeface="Cambria"/>
              </a:rPr>
              <a:t>CHAPTER 03 / 06 · MULTI-DISH NUTRITION SYSTEM</a:t>
            </a:r>
          </a:p>
        </p:txBody>
      </p:sp>
      <p:sp>
        <p:nvSpPr>
          <p:cNvPr id="11" name="Line 11"/>
          <p:cNvSpPr/>
          <p:nvPr/>
        </p:nvSpPr>
        <p:spPr>
          <a:xfrm>
            <a:off x="5143500" y="2571750"/>
            <a:ext cx="1905000" cy="9525"/>
          </a:xfrm>
          <a:custGeom>
            <a:avLst/>
            <a:gdLst/>
            <a:ahLst/>
            <a:cxnLst/>
            <a:rect l="l" t="t" r="r" b="b"/>
            <a:pathLst>
              <a:path w="1905000" h="9525">
                <a:moveTo>
                  <a:pt x="0" y="0"/>
                </a:moveTo>
                <a:lnTo>
                  <a:pt x="1905000" y="0"/>
                </a:lnTo>
              </a:path>
            </a:pathLst>
          </a:custGeom>
          <a:noFill/>
          <a:ln w="19050" cap="rnd">
            <a:solidFill>
              <a:srgbClr val="FF8F00"/>
            </a:solidFill>
          </a:ln>
        </p:spPr>
      </p:sp>
      <p:sp>
        <p:nvSpPr>
          <p:cNvPr id="12" name="TextBox 12"/>
          <p:cNvSpPr txBox="1"/>
          <p:nvPr/>
        </p:nvSpPr>
        <p:spPr>
          <a:xfrm>
            <a:off x="3810714" y="3082290"/>
            <a:ext cx="4570571" cy="1280160"/>
          </a:xfrm>
          <a:prstGeom prst="rect">
            <a:avLst/>
          </a:prstGeom>
          <a:noFill/>
          <a:ln>
            <a:noFill/>
          </a:ln>
        </p:spPr>
        <p:txBody>
          <a:bodyPr wrap="none" lIns="0" tIns="0" rIns="0" bIns="0" anchor="t" anchorCtr="0">
            <a:spAutoFit/>
          </a:bodyPr>
          <a:lstStyle/>
          <a:p>
            <a:pPr algn="ctr"/>
            <a:r>
              <a:rPr lang="zh-CN" sz="6300" b="1" dirty="0">
                <a:gradFill>
                  <a:gsLst>
                    <a:gs pos="0">
                      <a:srgbClr val="FFFFFF"/>
                    </a:gs>
                    <a:gs pos="100000">
                      <a:srgbClr val="FFB300"/>
                    </a:gs>
                  </a:gsLst>
                  <a:lin ang="0" scaled="1"/>
                </a:gradFill>
                <a:latin typeface="Cambria"/>
                <a:ea typeface="SimSun"/>
                <a:cs typeface="Cambria"/>
              </a:rPr>
              <a:t>第三、四问</a:t>
            </a:r>
          </a:p>
        </p:txBody>
      </p:sp>
      <p:sp>
        <p:nvSpPr>
          <p:cNvPr id="13" name="TextBox 13"/>
          <p:cNvSpPr txBox="1"/>
          <p:nvPr/>
        </p:nvSpPr>
        <p:spPr>
          <a:xfrm>
            <a:off x="3321391" y="4075748"/>
            <a:ext cx="5549217" cy="396240"/>
          </a:xfrm>
          <a:prstGeom prst="rect">
            <a:avLst/>
          </a:prstGeom>
          <a:noFill/>
          <a:ln>
            <a:noFill/>
          </a:ln>
        </p:spPr>
        <p:txBody>
          <a:bodyPr wrap="none" lIns="0" tIns="0" rIns="0" bIns="0" anchor="t" anchorCtr="0">
            <a:spAutoFit/>
          </a:bodyPr>
          <a:lstStyle/>
          <a:p>
            <a:pPr algn="ctr"/>
            <a:r>
              <a:rPr lang="zh-CN" sz="1950" dirty="0">
                <a:solidFill>
                  <a:srgbClr val="FFFFFF">
                    <a:alphaMod val="92000"/>
                  </a:srgbClr>
                </a:solidFill>
                <a:latin typeface="Arial"/>
                <a:ea typeface="Microsoft YaHei"/>
                <a:cs typeface="Arial"/>
              </a:rPr>
              <a:t>多盘菜营养分析系统 · 检测、分割、问答一体化</a:t>
            </a:r>
          </a:p>
        </p:txBody>
      </p:sp>
      <p:sp>
        <p:nvSpPr>
          <p:cNvPr id="14" name="TextBox 14"/>
          <p:cNvSpPr txBox="1"/>
          <p:nvPr/>
        </p:nvSpPr>
        <p:spPr>
          <a:xfrm>
            <a:off x="3797677" y="4498181"/>
            <a:ext cx="4596646" cy="228600"/>
          </a:xfrm>
          <a:prstGeom prst="rect">
            <a:avLst/>
          </a:prstGeom>
          <a:noFill/>
          <a:ln>
            <a:noFill/>
          </a:ln>
        </p:spPr>
        <p:txBody>
          <a:bodyPr wrap="none" lIns="0" tIns="0" rIns="0" bIns="0" anchor="t" anchorCtr="0">
            <a:spAutoFit/>
          </a:bodyPr>
          <a:lstStyle/>
          <a:p>
            <a:pPr algn="ctr"/>
            <a:r>
              <a:rPr lang="zh-CN" sz="1125" i="1" dirty="0">
                <a:solidFill>
                  <a:srgbClr val="FFFFFF">
                    <a:alphaMod val="65000"/>
                  </a:srgbClr>
                </a:solidFill>
                <a:latin typeface="Cambria"/>
                <a:ea typeface="SimSun"/>
                <a:cs typeface="Cambria"/>
              </a:rPr>
              <a:t>Multi-Dish Nutrition Analysis · Detection + Segmentation + Q&amp;A</a:t>
            </a:r>
          </a:p>
        </p:txBody>
      </p:sp>
      <p:sp>
        <p:nvSpPr>
          <p:cNvPr id="15" name="Line 15"/>
          <p:cNvSpPr/>
          <p:nvPr/>
        </p:nvSpPr>
        <p:spPr>
          <a:xfrm>
            <a:off x="5715000" y="5286375"/>
            <a:ext cx="762000" cy="9525"/>
          </a:xfrm>
          <a:custGeom>
            <a:avLst/>
            <a:gdLst/>
            <a:ahLst/>
            <a:cxnLst/>
            <a:rect l="l" t="t" r="r" b="b"/>
            <a:pathLst>
              <a:path w="762000" h="9525">
                <a:moveTo>
                  <a:pt x="0" y="0"/>
                </a:moveTo>
                <a:lnTo>
                  <a:pt x="762000" y="0"/>
                </a:lnTo>
              </a:path>
            </a:pathLst>
          </a:custGeom>
          <a:noFill/>
          <a:ln w="9525">
            <a:solidFill>
              <a:srgbClr val="FFFFFF">
                <a:alpha val="35000"/>
              </a:srgbClr>
            </a:solidFill>
          </a:ln>
        </p:spPr>
      </p:sp>
      <p:grpSp>
        <p:nvGrpSpPr>
          <p:cNvPr id="21" name="Group 21"/>
          <p:cNvGrpSpPr/>
          <p:nvPr/>
        </p:nvGrpSpPr>
        <p:grpSpPr>
          <a:xfrm>
            <a:off x="4065842" y="5593556"/>
            <a:ext cx="3907819" cy="228600"/>
            <a:chOff x="4065842" y="5593556"/>
            <a:chExt cx="3907819" cy="228600"/>
          </a:xfrm>
        </p:grpSpPr>
        <p:sp>
          <p:nvSpPr>
            <p:cNvPr id="16" name="TextBox 16"/>
            <p:cNvSpPr txBox="1"/>
            <p:nvPr/>
          </p:nvSpPr>
          <p:spPr>
            <a:xfrm>
              <a:off x="4065842" y="5601652"/>
              <a:ext cx="614744" cy="213360"/>
            </a:xfrm>
            <a:prstGeom prst="rect">
              <a:avLst/>
            </a:prstGeom>
            <a:noFill/>
            <a:ln>
              <a:noFill/>
            </a:ln>
          </p:spPr>
          <p:txBody>
            <a:bodyPr wrap="none" lIns="0" tIns="0" rIns="0" bIns="0" anchor="t" anchorCtr="0">
              <a:spAutoFit/>
            </a:bodyPr>
            <a:lstStyle/>
            <a:p>
              <a:pPr algn="r"/>
              <a:r>
                <a:rPr lang="zh-CN" sz="1050" b="1" dirty="0">
                  <a:solidFill>
                    <a:srgbClr val="FFFFFF">
                      <a:alphaMod val="75000"/>
                    </a:srgbClr>
                  </a:solidFill>
                  <a:latin typeface="Arial"/>
                  <a:ea typeface="Microsoft YaHei"/>
                  <a:cs typeface="Arial"/>
                </a:rPr>
                <a:t>章节范围</a:t>
              </a:r>
            </a:p>
          </p:txBody>
        </p:sp>
        <p:sp>
          <p:nvSpPr>
            <p:cNvPr id="17" name="TextBox 17"/>
            <p:cNvSpPr txBox="1"/>
            <p:nvPr/>
          </p:nvSpPr>
          <p:spPr>
            <a:xfrm>
              <a:off x="4843462" y="5593556"/>
              <a:ext cx="690158" cy="228600"/>
            </a:xfrm>
            <a:prstGeom prst="rect">
              <a:avLst/>
            </a:prstGeom>
            <a:noFill/>
            <a:ln>
              <a:noFill/>
            </a:ln>
          </p:spPr>
          <p:txBody>
            <a:bodyPr wrap="none" lIns="0" tIns="0" rIns="0" bIns="0" anchor="t" anchorCtr="0">
              <a:spAutoFit/>
            </a:bodyPr>
            <a:lstStyle/>
            <a:p>
              <a:pPr algn="l"/>
              <a:r>
                <a:rPr lang="zh-CN" sz="1125" b="1" dirty="0">
                  <a:solidFill>
                    <a:srgbClr val="FFB300"/>
                  </a:solidFill>
                  <a:latin typeface="Cambria"/>
                  <a:ea typeface="SimSun"/>
                  <a:cs typeface="Cambria"/>
                </a:rPr>
                <a:t>P17 — P22</a:t>
              </a:r>
            </a:p>
          </p:txBody>
        </p:sp>
        <p:sp>
          <p:nvSpPr>
            <p:cNvPr id="18" name="TextBox 18"/>
            <p:cNvSpPr txBox="1"/>
            <p:nvPr/>
          </p:nvSpPr>
          <p:spPr>
            <a:xfrm>
              <a:off x="6061662" y="5601652"/>
              <a:ext cx="68675" cy="213360"/>
            </a:xfrm>
            <a:prstGeom prst="rect">
              <a:avLst/>
            </a:prstGeom>
            <a:noFill/>
            <a:ln>
              <a:noFill/>
            </a:ln>
          </p:spPr>
          <p:txBody>
            <a:bodyPr wrap="none" lIns="0" tIns="0" rIns="0" bIns="0" anchor="t" anchorCtr="0">
              <a:spAutoFit/>
            </a:bodyPr>
            <a:lstStyle/>
            <a:p>
              <a:pPr algn="ctr"/>
              <a:r>
                <a:rPr lang="zh-CN" sz="1050" dirty="0">
                  <a:solidFill>
                    <a:srgbClr val="FFFFFF">
                      <a:alphaMod val="45000"/>
                    </a:srgbClr>
                  </a:solidFill>
                  <a:latin typeface="Cambria"/>
                  <a:ea typeface="SimSun"/>
                  <a:cs typeface="Cambria"/>
                </a:rPr>
                <a:t>|</a:t>
              </a:r>
            </a:p>
          </p:txBody>
        </p:sp>
        <p:sp>
          <p:nvSpPr>
            <p:cNvPr id="19" name="TextBox 19"/>
            <p:cNvSpPr txBox="1"/>
            <p:nvPr/>
          </p:nvSpPr>
          <p:spPr>
            <a:xfrm>
              <a:off x="6225540" y="5601652"/>
              <a:ext cx="489778" cy="213360"/>
            </a:xfrm>
            <a:prstGeom prst="rect">
              <a:avLst/>
            </a:prstGeom>
            <a:noFill/>
            <a:ln>
              <a:noFill/>
            </a:ln>
          </p:spPr>
          <p:txBody>
            <a:bodyPr wrap="none" lIns="0" tIns="0" rIns="0" bIns="0" anchor="t" anchorCtr="0">
              <a:spAutoFit/>
            </a:bodyPr>
            <a:lstStyle/>
            <a:p>
              <a:pPr algn="l"/>
              <a:r>
                <a:rPr lang="zh-CN" sz="1050" b="1" dirty="0">
                  <a:solidFill>
                    <a:srgbClr val="FFFFFF">
                      <a:alphaMod val="75000"/>
                    </a:srgbClr>
                  </a:solidFill>
                  <a:latin typeface="Arial"/>
                  <a:ea typeface="Microsoft YaHei"/>
                  <a:cs typeface="Arial"/>
                </a:rPr>
                <a:t>共 6 页</a:t>
              </a:r>
            </a:p>
          </p:txBody>
        </p:sp>
        <p:sp>
          <p:nvSpPr>
            <p:cNvPr id="20" name="TextBox 20"/>
            <p:cNvSpPr txBox="1"/>
            <p:nvPr/>
          </p:nvSpPr>
          <p:spPr>
            <a:xfrm>
              <a:off x="6939915" y="5601652"/>
              <a:ext cx="1033746" cy="213360"/>
            </a:xfrm>
            <a:prstGeom prst="rect">
              <a:avLst/>
            </a:prstGeom>
            <a:noFill/>
            <a:ln>
              <a:noFill/>
            </a:ln>
          </p:spPr>
          <p:txBody>
            <a:bodyPr wrap="none" lIns="0" tIns="0" rIns="0" bIns="0" anchor="t" anchorCtr="0">
              <a:spAutoFit/>
            </a:bodyPr>
            <a:lstStyle/>
            <a:p>
              <a:pPr algn="l"/>
              <a:r>
                <a:rPr lang="zh-CN" sz="1050" b="1" dirty="0">
                  <a:solidFill>
                    <a:srgbClr val="FFB300"/>
                  </a:solidFill>
                  <a:latin typeface="Cambria"/>
                  <a:ea typeface="SimSun"/>
                  <a:cs typeface="Cambria"/>
                </a:rPr>
                <a:t>· 端到端一体化</a:t>
              </a:r>
            </a:p>
          </p:txBody>
        </p:sp>
      </p:grpSp>
      <p:grpSp>
        <p:nvGrpSpPr>
          <p:cNvPr id="26" name="Group 26"/>
          <p:cNvGrpSpPr/>
          <p:nvPr/>
        </p:nvGrpSpPr>
        <p:grpSpPr>
          <a:xfrm>
            <a:off x="838200" y="800100"/>
            <a:ext cx="304800" cy="381000"/>
            <a:chOff x="838200" y="800100"/>
            <a:chExt cx="304800" cy="381000"/>
          </a:xfrm>
        </p:grpSpPr>
        <p:sp>
          <p:nvSpPr>
            <p:cNvPr id="22" name="Freeform 22"/>
            <p:cNvSpPr/>
            <p:nvPr/>
          </p:nvSpPr>
          <p:spPr>
            <a:xfrm>
              <a:off x="838200" y="800100"/>
              <a:ext cx="304800" cy="152400"/>
            </a:xfrm>
            <a:custGeom>
              <a:avLst/>
              <a:gdLst/>
              <a:ahLst/>
              <a:cxnLst/>
              <a:rect l="l" t="t" r="r" b="b"/>
              <a:pathLst>
                <a:path w="304800" h="152400">
                  <a:moveTo>
                    <a:pt x="152400" y="0"/>
                  </a:moveTo>
                  <a:lnTo>
                    <a:pt x="0" y="76200"/>
                  </a:lnTo>
                  <a:lnTo>
                    <a:pt x="152400" y="152400"/>
                  </a:lnTo>
                  <a:lnTo>
                    <a:pt x="304800" y="76200"/>
                  </a:lnTo>
                  <a:lnTo>
                    <a:pt x="152400" y="0"/>
                  </a:lnTo>
                </a:path>
              </a:pathLst>
            </a:custGeom>
            <a:noFill/>
            <a:ln w="19050">
              <a:solidFill>
                <a:srgbClr val="FF8F00"/>
              </a:solidFill>
            </a:ln>
          </p:spPr>
        </p:sp>
        <p:sp>
          <p:nvSpPr>
            <p:cNvPr id="23" name="Freeform 23"/>
            <p:cNvSpPr/>
            <p:nvPr/>
          </p:nvSpPr>
          <p:spPr>
            <a:xfrm>
              <a:off x="838200" y="952500"/>
              <a:ext cx="304800" cy="76200"/>
            </a:xfrm>
            <a:custGeom>
              <a:avLst/>
              <a:gdLst/>
              <a:ahLst/>
              <a:cxnLst/>
              <a:rect l="l" t="t" r="r" b="b"/>
              <a:pathLst>
                <a:path w="304800" h="76200">
                  <a:moveTo>
                    <a:pt x="0" y="0"/>
                  </a:moveTo>
                  <a:lnTo>
                    <a:pt x="152400" y="76200"/>
                  </a:lnTo>
                  <a:lnTo>
                    <a:pt x="304800" y="0"/>
                  </a:lnTo>
                </a:path>
              </a:pathLst>
            </a:custGeom>
            <a:noFill/>
            <a:ln w="19050">
              <a:solidFill>
                <a:srgbClr val="FF8F00"/>
              </a:solidFill>
            </a:ln>
          </p:spPr>
        </p:sp>
        <p:sp>
          <p:nvSpPr>
            <p:cNvPr id="24" name="Freeform 24"/>
            <p:cNvSpPr/>
            <p:nvPr/>
          </p:nvSpPr>
          <p:spPr>
            <a:xfrm>
              <a:off x="838200" y="1104900"/>
              <a:ext cx="304800" cy="76200"/>
            </a:xfrm>
            <a:custGeom>
              <a:avLst/>
              <a:gdLst/>
              <a:ahLst/>
              <a:cxnLst/>
              <a:rect l="l" t="t" r="r" b="b"/>
              <a:pathLst>
                <a:path w="304800" h="76200">
                  <a:moveTo>
                    <a:pt x="0" y="0"/>
                  </a:moveTo>
                  <a:lnTo>
                    <a:pt x="152400" y="76200"/>
                  </a:lnTo>
                  <a:lnTo>
                    <a:pt x="304800" y="0"/>
                  </a:lnTo>
                </a:path>
              </a:pathLst>
            </a:custGeom>
            <a:noFill/>
            <a:ln w="19050">
              <a:solidFill>
                <a:srgbClr val="FF8F00"/>
              </a:solidFill>
            </a:ln>
          </p:spPr>
        </p:sp>
        <p:sp>
          <p:nvSpPr>
            <p:cNvPr id="25" name="Freeform 25"/>
            <p:cNvSpPr/>
            <p:nvPr/>
          </p:nvSpPr>
          <p:spPr>
            <a:xfrm>
              <a:off x="838200" y="1028700"/>
              <a:ext cx="304800" cy="76200"/>
            </a:xfrm>
            <a:custGeom>
              <a:avLst/>
              <a:gdLst/>
              <a:ahLst/>
              <a:cxnLst/>
              <a:rect l="l" t="t" r="r" b="b"/>
              <a:pathLst>
                <a:path w="304800" h="76200">
                  <a:moveTo>
                    <a:pt x="0" y="0"/>
                  </a:moveTo>
                  <a:lnTo>
                    <a:pt x="152400" y="76200"/>
                  </a:lnTo>
                  <a:lnTo>
                    <a:pt x="304800" y="0"/>
                  </a:lnTo>
                </a:path>
              </a:pathLst>
            </a:custGeom>
            <a:noFill/>
            <a:ln w="19050">
              <a:solidFill>
                <a:srgbClr val="FF8F00"/>
              </a:solidFill>
            </a:ln>
          </p:spPr>
        </p:sp>
      </p:grpSp>
      <p:sp>
        <p:nvSpPr>
          <p:cNvPr id="27" name="TextBox 27"/>
          <p:cNvSpPr txBox="1"/>
          <p:nvPr/>
        </p:nvSpPr>
        <p:spPr>
          <a:xfrm>
            <a:off x="1321118" y="990124"/>
            <a:ext cx="1253419" cy="198120"/>
          </a:xfrm>
          <a:prstGeom prst="rect">
            <a:avLst/>
          </a:prstGeom>
          <a:noFill/>
          <a:ln>
            <a:noFill/>
          </a:ln>
        </p:spPr>
        <p:txBody>
          <a:bodyPr wrap="none" lIns="0" tIns="0" rIns="0" bIns="0" anchor="t" anchorCtr="0">
            <a:spAutoFit/>
          </a:bodyPr>
          <a:lstStyle/>
          <a:p>
            <a:pPr algn="l"/>
            <a:r>
              <a:rPr lang="zh-CN" sz="975" b="1" dirty="0">
                <a:solidFill>
                  <a:srgbClr val="FFFFFF">
                    <a:alphaMod val="65000"/>
                  </a:srgbClr>
                </a:solidFill>
                <a:latin typeface="Cambria"/>
                <a:ea typeface="SimSun"/>
                <a:cs typeface="Cambria"/>
              </a:rPr>
              <a:t>MULTI-DISH SYSTEM</a:t>
            </a:r>
          </a:p>
        </p:txBody>
      </p:sp>
      <p:sp>
        <p:nvSpPr>
          <p:cNvPr id="28" name="TextBox 28"/>
          <p:cNvSpPr txBox="1"/>
          <p:nvPr/>
        </p:nvSpPr>
        <p:spPr>
          <a:xfrm>
            <a:off x="4594836" y="6197441"/>
            <a:ext cx="3002328" cy="167640"/>
          </a:xfrm>
          <a:prstGeom prst="rect">
            <a:avLst/>
          </a:prstGeom>
          <a:noFill/>
          <a:ln>
            <a:noFill/>
          </a:ln>
        </p:spPr>
        <p:txBody>
          <a:bodyPr wrap="none" lIns="0" tIns="0" rIns="0" bIns="0" anchor="t" anchorCtr="0">
            <a:spAutoFit/>
          </a:bodyPr>
          <a:lstStyle/>
          <a:p>
            <a:pPr algn="ctr"/>
            <a:r>
              <a:rPr lang="zh-CN" sz="825" dirty="0">
                <a:solidFill>
                  <a:srgbClr val="FFFFFF">
                    <a:alphaMod val="55000"/>
                  </a:srgbClr>
                </a:solidFill>
                <a:latin typeface="Arial"/>
                <a:ea typeface="Microsoft YaHei"/>
                <a:cs typeface="Arial"/>
              </a:rPr>
              <a:t>SMART FOOD NUTRITION ANALYSIS · DEFENSE PRESENTATION</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1049000" cy="685800"/>
            <a:chOff x="571500" y="457200"/>
            <a:chExt cx="11049000" cy="685800"/>
          </a:xfrm>
        </p:grpSpPr>
        <p:sp>
          <p:nvSpPr>
            <p:cNvPr id="3" name="Rectangle 3"/>
            <p:cNvSpPr/>
            <p:nvPr/>
          </p:nvSpPr>
          <p:spPr>
            <a:xfrm>
              <a:off x="571500" y="457200"/>
              <a:ext cx="57150" cy="381000"/>
            </a:xfrm>
            <a:prstGeom prst="roundRect">
              <a:avLst>
                <a:gd name="adj" fmla="val 50000"/>
              </a:avLst>
            </a:prstGeom>
            <a:solidFill>
              <a:srgbClr val="1565C0"/>
            </a:solidFill>
            <a:ln>
              <a:noFill/>
            </a:ln>
          </p:spPr>
        </p:sp>
        <p:sp>
          <p:nvSpPr>
            <p:cNvPr id="4" name="TextBox 4"/>
            <p:cNvSpPr txBox="1"/>
            <p:nvPr/>
          </p:nvSpPr>
          <p:spPr>
            <a:xfrm>
              <a:off x="733425" y="500062"/>
              <a:ext cx="3884878"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系统架构 · 四层端到端设计</a:t>
              </a:r>
            </a:p>
          </p:txBody>
        </p:sp>
        <p:sp>
          <p:nvSpPr>
            <p:cNvPr id="5" name="TextBox 5"/>
            <p:cNvSpPr txBox="1"/>
            <p:nvPr/>
          </p:nvSpPr>
          <p:spPr>
            <a:xfrm>
              <a:off x="748665" y="896302"/>
              <a:ext cx="3930008"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Q3/4 · SYSTEM ARCHITECTURE · FOUR-LAYER END-TO-END</a:t>
              </a:r>
            </a:p>
          </p:txBody>
        </p:sp>
        <p:grpSp>
          <p:nvGrpSpPr>
            <p:cNvPr id="9" name="Group 9"/>
            <p:cNvGrpSpPr/>
            <p:nvPr/>
          </p:nvGrpSpPr>
          <p:grpSpPr>
            <a:xfrm>
              <a:off x="9715500" y="571500"/>
              <a:ext cx="1905000" cy="571500"/>
              <a:chOff x="9715500" y="571500"/>
              <a:chExt cx="1905000" cy="571500"/>
            </a:xfrm>
          </p:grpSpPr>
          <p:sp>
            <p:nvSpPr>
              <p:cNvPr id="6" name="Rectangle 6"/>
              <p:cNvSpPr/>
              <p:nvPr/>
            </p:nvSpPr>
            <p:spPr>
              <a:xfrm>
                <a:off x="9715500" y="571500"/>
                <a:ext cx="1905000" cy="571500"/>
              </a:xfrm>
              <a:prstGeom prst="roundRect">
                <a:avLst>
                  <a:gd name="adj" fmla="val 16667"/>
                </a:avLst>
              </a:prstGeom>
              <a:solidFill>
                <a:srgbClr val="F5F7FA"/>
              </a:solidFill>
              <a:ln>
                <a:noFill/>
              </a:ln>
            </p:spPr>
          </p:sp>
          <p:sp>
            <p:nvSpPr>
              <p:cNvPr id="7" name="TextBox 7"/>
              <p:cNvSpPr txBox="1"/>
              <p:nvPr/>
            </p:nvSpPr>
            <p:spPr>
              <a:xfrm>
                <a:off x="10097961" y="692468"/>
                <a:ext cx="1140078"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Cambria"/>
                    <a:ea typeface="SimSun"/>
                    <a:cs typeface="Cambria"/>
                  </a:rPr>
                  <a:t>4 层 · 4 模块</a:t>
                </a:r>
              </a:p>
            </p:txBody>
          </p:sp>
          <p:sp>
            <p:nvSpPr>
              <p:cNvPr id="8" name="TextBox 8"/>
              <p:cNvSpPr txBox="1"/>
              <p:nvPr/>
            </p:nvSpPr>
            <p:spPr>
              <a:xfrm>
                <a:off x="10134820" y="958691"/>
                <a:ext cx="1066361"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END-TO-END DESIGN</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2" name="TextBox 12"/>
          <p:cNvSpPr txBox="1"/>
          <p:nvPr/>
        </p:nvSpPr>
        <p:spPr>
          <a:xfrm>
            <a:off x="3110794" y="1505902"/>
            <a:ext cx="5970413"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从图像输入到营养问答的端到端方案: 自顶向下 — 用户交互 → 智能体核心 → 视觉分析 → 数据支撑</a:t>
            </a:r>
          </a:p>
        </p:txBody>
      </p:sp>
      <p:grpSp>
        <p:nvGrpSpPr>
          <p:cNvPr id="16" name="Group 16"/>
          <p:cNvGrpSpPr/>
          <p:nvPr/>
        </p:nvGrpSpPr>
        <p:grpSpPr>
          <a:xfrm>
            <a:off x="-100728" y="1857375"/>
            <a:ext cx="610079" cy="4191000"/>
            <a:chOff x="-100728" y="1857375"/>
            <a:chExt cx="610079" cy="4191000"/>
          </a:xfrm>
        </p:grpSpPr>
        <p:sp>
          <p:nvSpPr>
            <p:cNvPr id="13" name="Rectangle 13"/>
            <p:cNvSpPr/>
            <p:nvPr/>
          </p:nvSpPr>
          <p:spPr>
            <a:xfrm>
              <a:off x="342900" y="1857375"/>
              <a:ext cx="57150" cy="4191000"/>
            </a:xfrm>
            <a:prstGeom prst="roundRect">
              <a:avLst>
                <a:gd name="adj" fmla="val 50000"/>
              </a:avLst>
            </a:prstGeom>
            <a:solidFill>
              <a:srgbClr val="1565C0">
                <a:alpha val="20000"/>
              </a:srgbClr>
            </a:solidFill>
            <a:ln>
              <a:noFill/>
            </a:ln>
          </p:spPr>
        </p:sp>
        <p:sp>
          <p:nvSpPr>
            <p:cNvPr id="14" name="Polygon 14"/>
            <p:cNvSpPr/>
            <p:nvPr/>
          </p:nvSpPr>
          <p:spPr>
            <a:xfrm>
              <a:off x="314325" y="5953125"/>
              <a:ext cx="114300" cy="95250"/>
            </a:xfrm>
            <a:custGeom>
              <a:avLst/>
              <a:gdLst/>
              <a:ahLst/>
              <a:cxnLst/>
              <a:rect l="l" t="t" r="r" b="b"/>
              <a:pathLst>
                <a:path w="114300" h="95250">
                  <a:moveTo>
                    <a:pt x="57150" y="95250"/>
                  </a:moveTo>
                  <a:lnTo>
                    <a:pt x="0" y="0"/>
                  </a:lnTo>
                  <a:lnTo>
                    <a:pt x="114300" y="0"/>
                  </a:lnTo>
                  <a:close/>
                </a:path>
              </a:pathLst>
            </a:custGeom>
            <a:solidFill>
              <a:srgbClr val="1565C0">
                <a:alpha val="40000"/>
              </a:srgbClr>
            </a:solidFill>
            <a:ln>
              <a:noFill/>
            </a:ln>
          </p:spPr>
        </p:sp>
        <p:sp>
          <p:nvSpPr>
            <p:cNvPr id="15" name="TextBox 15"/>
            <p:cNvSpPr txBox="1"/>
            <p:nvPr/>
          </p:nvSpPr>
          <p:spPr>
            <a:xfrm rot="-5400000">
              <a:off x="-100728" y="3869055"/>
              <a:ext cx="610079"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Cambria"/>
                  <a:ea typeface="SimSun"/>
                  <a:cs typeface="Cambria"/>
                </a:rPr>
                <a:t>DATA FLOW</a:t>
              </a:r>
            </a:p>
          </p:txBody>
        </p:sp>
      </p:grpSp>
      <p:grpSp>
        <p:nvGrpSpPr>
          <p:cNvPr id="55" name="Group 55"/>
          <p:cNvGrpSpPr/>
          <p:nvPr/>
        </p:nvGrpSpPr>
        <p:grpSpPr>
          <a:xfrm>
            <a:off x="762000" y="1857375"/>
            <a:ext cx="10858500" cy="952500"/>
            <a:chOff x="762000" y="1857375"/>
            <a:chExt cx="10858500" cy="952500"/>
          </a:xfrm>
        </p:grpSpPr>
        <p:sp>
          <p:nvSpPr>
            <p:cNvPr id="17" name="Rectangle 17"/>
            <p:cNvSpPr/>
            <p:nvPr/>
          </p:nvSpPr>
          <p:spPr>
            <a:xfrm>
              <a:off x="762000" y="1857375"/>
              <a:ext cx="10858500" cy="952500"/>
            </a:xfrm>
            <a:prstGeom prst="roundRect">
              <a:avLst>
                <a:gd name="adj" fmla="val 10000"/>
              </a:avLst>
            </a:prstGeom>
            <a:gradFill>
              <a:gsLst>
                <a:gs pos="0">
                  <a:srgbClr val="1565C0"/>
                </a:gs>
                <a:gs pos="100000">
                  <a:srgbClr val="5C6BC0"/>
                </a:gs>
              </a:gsLst>
              <a:lin ang="0" scaled="1"/>
            </a:gradFill>
            <a:ln>
              <a:noFill/>
            </a:ln>
            <a:effectLst>
              <a:outerShdw blurRad="76200" dist="19050" dir="5400000" algn="ctr" rotWithShape="0">
                <a:srgbClr val="0F172A">
                  <a:alpha val="7500"/>
                </a:srgbClr>
              </a:outerShdw>
            </a:effectLst>
          </p:spPr>
        </p:sp>
        <p:sp>
          <p:nvSpPr>
            <p:cNvPr id="18" name="Rectangle 18"/>
            <p:cNvSpPr/>
            <p:nvPr/>
          </p:nvSpPr>
          <p:spPr>
            <a:xfrm>
              <a:off x="762000" y="1857375"/>
              <a:ext cx="1143000" cy="952500"/>
            </a:xfrm>
            <a:prstGeom prst="roundRect">
              <a:avLst>
                <a:gd name="adj" fmla="val 10000"/>
              </a:avLst>
            </a:prstGeom>
            <a:solidFill>
              <a:srgbClr val="0D2A4F"/>
            </a:solidFill>
            <a:ln>
              <a:noFill/>
            </a:ln>
          </p:spPr>
        </p:sp>
        <p:grpSp>
          <p:nvGrpSpPr>
            <p:cNvPr id="23" name="Group 23"/>
            <p:cNvGrpSpPr/>
            <p:nvPr/>
          </p:nvGrpSpPr>
          <p:grpSpPr>
            <a:xfrm>
              <a:off x="1162050" y="2105025"/>
              <a:ext cx="342900" cy="342900"/>
              <a:chOff x="1162050" y="2105025"/>
              <a:chExt cx="342900" cy="342900"/>
            </a:xfrm>
          </p:grpSpPr>
          <p:sp>
            <p:nvSpPr>
              <p:cNvPr id="19" name="Freeform 19"/>
              <p:cNvSpPr/>
              <p:nvPr/>
            </p:nvSpPr>
            <p:spPr>
              <a:xfrm>
                <a:off x="1200150" y="2105025"/>
                <a:ext cx="152400" cy="152400"/>
              </a:xfrm>
              <a:custGeom>
                <a:avLst/>
                <a:gdLst/>
                <a:ahLst/>
                <a:cxnLst/>
                <a:rect l="l" t="t" r="r" b="b"/>
                <a:pathLst>
                  <a:path w="152400" h="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path>
                </a:pathLst>
              </a:custGeom>
              <a:noFill/>
              <a:ln w="19050">
                <a:solidFill>
                  <a:srgbClr val="FFFFFF"/>
                </a:solidFill>
              </a:ln>
            </p:spPr>
          </p:sp>
          <p:sp>
            <p:nvSpPr>
              <p:cNvPr id="20" name="Freeform 20"/>
              <p:cNvSpPr/>
              <p:nvPr/>
            </p:nvSpPr>
            <p:spPr>
              <a:xfrm>
                <a:off x="1162050" y="2333625"/>
                <a:ext cx="228600" cy="114300"/>
              </a:xfrm>
              <a:custGeom>
                <a:avLst/>
                <a:gdLst/>
                <a:ahLst/>
                <a:cxnLst/>
                <a:rect l="l" t="t" r="r" b="b"/>
                <a:pathLst>
                  <a:path w="228600" h="114300">
                    <a:moveTo>
                      <a:pt x="0" y="114300"/>
                    </a:moveTo>
                    <a:lnTo>
                      <a:pt x="0" y="76200"/>
                    </a:lnTo>
                    <a:cubicBezTo>
                      <a:pt x="0" y="34116"/>
                      <a:pt x="34116" y="0"/>
                      <a:pt x="76200" y="0"/>
                    </a:cubicBezTo>
                    <a:lnTo>
                      <a:pt x="152400" y="0"/>
                    </a:lnTo>
                    <a:cubicBezTo>
                      <a:pt x="194484" y="0"/>
                      <a:pt x="228600" y="34116"/>
                      <a:pt x="228600" y="76200"/>
                    </a:cubicBezTo>
                    <a:lnTo>
                      <a:pt x="228600" y="114300"/>
                    </a:lnTo>
                  </a:path>
                </a:pathLst>
              </a:custGeom>
              <a:noFill/>
              <a:ln w="19050">
                <a:solidFill>
                  <a:srgbClr val="FFFFFF"/>
                </a:solidFill>
              </a:ln>
            </p:spPr>
          </p:sp>
          <p:sp>
            <p:nvSpPr>
              <p:cNvPr id="21" name="Freeform 21"/>
              <p:cNvSpPr/>
              <p:nvPr/>
            </p:nvSpPr>
            <p:spPr>
              <a:xfrm>
                <a:off x="1409700" y="2107502"/>
                <a:ext cx="57299" cy="147638"/>
              </a:xfrm>
              <a:custGeom>
                <a:avLst/>
                <a:gdLst/>
                <a:ahLst/>
                <a:cxnLst/>
                <a:rect l="l" t="t" r="r" b="b"/>
                <a:pathLst>
                  <a:path w="57299" h="147638">
                    <a:moveTo>
                      <a:pt x="0" y="0"/>
                    </a:moveTo>
                    <a:cubicBezTo>
                      <a:pt x="33717" y="8633"/>
                      <a:pt x="57299" y="39014"/>
                      <a:pt x="57299" y="73819"/>
                    </a:cubicBezTo>
                    <a:cubicBezTo>
                      <a:pt x="57299" y="108623"/>
                      <a:pt x="33717" y="139005"/>
                      <a:pt x="0" y="147638"/>
                    </a:cubicBezTo>
                  </a:path>
                </a:pathLst>
              </a:custGeom>
              <a:noFill/>
              <a:ln w="19050">
                <a:solidFill>
                  <a:srgbClr val="FFFFFF"/>
                </a:solidFill>
              </a:ln>
            </p:spPr>
          </p:sp>
          <p:sp>
            <p:nvSpPr>
              <p:cNvPr id="22" name="Freeform 22"/>
              <p:cNvSpPr/>
              <p:nvPr/>
            </p:nvSpPr>
            <p:spPr>
              <a:xfrm>
                <a:off x="1447800" y="2336482"/>
                <a:ext cx="57150" cy="111442"/>
              </a:xfrm>
              <a:custGeom>
                <a:avLst/>
                <a:gdLst/>
                <a:ahLst/>
                <a:cxnLst/>
                <a:rect l="l" t="t" r="r" b="b"/>
                <a:pathLst>
                  <a:path w="57150" h="111442">
                    <a:moveTo>
                      <a:pt x="57150" y="111442"/>
                    </a:moveTo>
                    <a:lnTo>
                      <a:pt x="57150" y="73342"/>
                    </a:lnTo>
                    <a:cubicBezTo>
                      <a:pt x="56951" y="38759"/>
                      <a:pt x="33486" y="8646"/>
                      <a:pt x="0" y="0"/>
                    </a:cubicBezTo>
                  </a:path>
                </a:pathLst>
              </a:custGeom>
              <a:noFill/>
              <a:ln w="19050">
                <a:solidFill>
                  <a:srgbClr val="FFFFFF"/>
                </a:solidFill>
              </a:ln>
            </p:spPr>
          </p:sp>
        </p:grpSp>
        <p:sp>
          <p:nvSpPr>
            <p:cNvPr id="24" name="TextBox 24"/>
            <p:cNvSpPr txBox="1"/>
            <p:nvPr/>
          </p:nvSpPr>
          <p:spPr>
            <a:xfrm>
              <a:off x="1076339" y="2560320"/>
              <a:ext cx="514321" cy="182880"/>
            </a:xfrm>
            <a:prstGeom prst="rect">
              <a:avLst/>
            </a:prstGeom>
            <a:noFill/>
            <a:ln>
              <a:noFill/>
            </a:ln>
          </p:spPr>
          <p:txBody>
            <a:bodyPr wrap="none" lIns="0" tIns="0" rIns="0" bIns="0" anchor="t" anchorCtr="0">
              <a:spAutoFit/>
            </a:bodyPr>
            <a:lstStyle/>
            <a:p>
              <a:pPr algn="ctr"/>
              <a:r>
                <a:rPr lang="zh-CN" sz="900" b="1" dirty="0">
                  <a:solidFill>
                    <a:srgbClr val="FFFFFF">
                      <a:alphaMod val="85000"/>
                    </a:srgbClr>
                  </a:solidFill>
                  <a:latin typeface="Arial"/>
                  <a:ea typeface="Microsoft YaHei"/>
                  <a:cs typeface="Arial"/>
                </a:rPr>
                <a:t>LAYER 01</a:t>
              </a:r>
            </a:p>
          </p:txBody>
        </p:sp>
        <p:sp>
          <p:nvSpPr>
            <p:cNvPr id="25" name="TextBox 25"/>
            <p:cNvSpPr txBox="1"/>
            <p:nvPr/>
          </p:nvSpPr>
          <p:spPr>
            <a:xfrm>
              <a:off x="2076450" y="2000250"/>
              <a:ext cx="1088231"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ambria"/>
                  <a:ea typeface="SimSun"/>
                  <a:cs typeface="Cambria"/>
                </a:rPr>
                <a:t>用户交互层</a:t>
              </a:r>
            </a:p>
          </p:txBody>
        </p:sp>
        <p:sp>
          <p:nvSpPr>
            <p:cNvPr id="26" name="TextBox 26"/>
            <p:cNvSpPr txBox="1"/>
            <p:nvPr/>
          </p:nvSpPr>
          <p:spPr>
            <a:xfrm>
              <a:off x="3036570" y="2065020"/>
              <a:ext cx="1379029" cy="182880"/>
            </a:xfrm>
            <a:prstGeom prst="rect">
              <a:avLst/>
            </a:prstGeom>
            <a:noFill/>
            <a:ln>
              <a:noFill/>
            </a:ln>
          </p:spPr>
          <p:txBody>
            <a:bodyPr wrap="none" lIns="0" tIns="0" rIns="0" bIns="0" anchor="t" anchorCtr="0">
              <a:spAutoFit/>
            </a:bodyPr>
            <a:lstStyle/>
            <a:p>
              <a:pPr algn="l"/>
              <a:r>
                <a:rPr lang="zh-CN" sz="900" dirty="0">
                  <a:solidFill>
                    <a:srgbClr val="FFFFFF">
                      <a:alphaMod val="85000"/>
                    </a:srgbClr>
                  </a:solidFill>
                  <a:latin typeface="Arial"/>
                  <a:ea typeface="Microsoft YaHei"/>
                  <a:cs typeface="Arial"/>
                </a:rPr>
                <a:t>USER INTERACTION LAYER</a:t>
              </a:r>
            </a:p>
          </p:txBody>
        </p:sp>
        <p:sp>
          <p:nvSpPr>
            <p:cNvPr id="27" name="Rectangle 27"/>
            <p:cNvSpPr/>
            <p:nvPr/>
          </p:nvSpPr>
          <p:spPr>
            <a:xfrm>
              <a:off x="2095500" y="2333625"/>
              <a:ext cx="2286000" cy="381000"/>
            </a:xfrm>
            <a:prstGeom prst="roundRect">
              <a:avLst>
                <a:gd name="adj" fmla="val 15000"/>
              </a:avLst>
            </a:prstGeom>
            <a:solidFill>
              <a:srgbClr val="FFFFFF">
                <a:alpha val="18000"/>
              </a:srgbClr>
            </a:solidFill>
            <a:ln>
              <a:noFill/>
            </a:ln>
          </p:spPr>
        </p:sp>
        <p:grpSp>
          <p:nvGrpSpPr>
            <p:cNvPr id="31" name="Group 31"/>
            <p:cNvGrpSpPr/>
            <p:nvPr/>
          </p:nvGrpSpPr>
          <p:grpSpPr>
            <a:xfrm>
              <a:off x="2228850" y="2447925"/>
              <a:ext cx="152400" cy="152400"/>
              <a:chOff x="2228850" y="2447925"/>
              <a:chExt cx="152400" cy="152400"/>
            </a:xfrm>
          </p:grpSpPr>
          <p:sp>
            <p:nvSpPr>
              <p:cNvPr id="28" name="Freeform 28"/>
              <p:cNvSpPr/>
              <p:nvPr/>
            </p:nvSpPr>
            <p:spPr>
              <a:xfrm>
                <a:off x="2228850" y="2447925"/>
                <a:ext cx="57150" cy="47625"/>
              </a:xfrm>
              <a:custGeom>
                <a:avLst/>
                <a:gdLst/>
                <a:ahLst/>
                <a:cxnLst/>
                <a:rect l="l" t="t" r="r" b="b"/>
                <a:pathLst>
                  <a:path w="57150" h="47625">
                    <a:moveTo>
                      <a:pt x="0" y="19050"/>
                    </a:moveTo>
                    <a:cubicBezTo>
                      <a:pt x="0" y="8529"/>
                      <a:pt x="8529" y="0"/>
                      <a:pt x="19050" y="0"/>
                    </a:cubicBezTo>
                    <a:lnTo>
                      <a:pt x="38100" y="0"/>
                    </a:lnTo>
                    <a:cubicBezTo>
                      <a:pt x="48621" y="0"/>
                      <a:pt x="57150" y="8529"/>
                      <a:pt x="57150" y="19050"/>
                    </a:cubicBezTo>
                    <a:lnTo>
                      <a:pt x="57150" y="28575"/>
                    </a:lnTo>
                    <a:cubicBezTo>
                      <a:pt x="57150" y="39096"/>
                      <a:pt x="48621" y="47625"/>
                      <a:pt x="38100" y="47625"/>
                    </a:cubicBezTo>
                    <a:lnTo>
                      <a:pt x="19050" y="47625"/>
                    </a:lnTo>
                    <a:cubicBezTo>
                      <a:pt x="8529" y="47625"/>
                      <a:pt x="0" y="39096"/>
                      <a:pt x="0" y="28575"/>
                    </a:cubicBezTo>
                    <a:lnTo>
                      <a:pt x="0" y="19050"/>
                    </a:lnTo>
                  </a:path>
                </a:pathLst>
              </a:custGeom>
              <a:noFill/>
              <a:ln w="19050">
                <a:solidFill>
                  <a:srgbClr val="FFFFFF"/>
                </a:solidFill>
              </a:ln>
            </p:spPr>
          </p:sp>
          <p:sp>
            <p:nvSpPr>
              <p:cNvPr id="29" name="Freeform 29"/>
              <p:cNvSpPr/>
              <p:nvPr/>
            </p:nvSpPr>
            <p:spPr>
              <a:xfrm>
                <a:off x="2228850" y="2533650"/>
                <a:ext cx="57150" cy="66675"/>
              </a:xfrm>
              <a:custGeom>
                <a:avLst/>
                <a:gdLst/>
                <a:ahLst/>
                <a:cxnLst/>
                <a:rect l="l" t="t" r="r" b="b"/>
                <a:pathLst>
                  <a:path w="57150" h="66675">
                    <a:moveTo>
                      <a:pt x="0" y="19050"/>
                    </a:moveTo>
                    <a:cubicBezTo>
                      <a:pt x="0" y="8529"/>
                      <a:pt x="8529" y="0"/>
                      <a:pt x="19050" y="0"/>
                    </a:cubicBezTo>
                    <a:lnTo>
                      <a:pt x="38100" y="0"/>
                    </a:lnTo>
                    <a:cubicBezTo>
                      <a:pt x="48621" y="0"/>
                      <a:pt x="57150" y="8529"/>
                      <a:pt x="57150" y="19050"/>
                    </a:cubicBezTo>
                    <a:lnTo>
                      <a:pt x="57150" y="47625"/>
                    </a:lnTo>
                    <a:cubicBezTo>
                      <a:pt x="57150" y="58146"/>
                      <a:pt x="48621" y="66675"/>
                      <a:pt x="38100" y="66675"/>
                    </a:cubicBezTo>
                    <a:lnTo>
                      <a:pt x="19050" y="66675"/>
                    </a:lnTo>
                    <a:cubicBezTo>
                      <a:pt x="8529" y="66675"/>
                      <a:pt x="0" y="58146"/>
                      <a:pt x="0" y="47625"/>
                    </a:cubicBezTo>
                    <a:lnTo>
                      <a:pt x="0" y="19050"/>
                    </a:lnTo>
                  </a:path>
                </a:pathLst>
              </a:custGeom>
              <a:noFill/>
              <a:ln w="19050">
                <a:solidFill>
                  <a:srgbClr val="FFFFFF"/>
                </a:solidFill>
              </a:ln>
            </p:spPr>
          </p:sp>
          <p:sp>
            <p:nvSpPr>
              <p:cNvPr id="30" name="Freeform 30"/>
              <p:cNvSpPr/>
              <p:nvPr/>
            </p:nvSpPr>
            <p:spPr>
              <a:xfrm>
                <a:off x="2324100" y="2447925"/>
                <a:ext cx="57150" cy="152400"/>
              </a:xfrm>
              <a:custGeom>
                <a:avLst/>
                <a:gdLst/>
                <a:ahLst/>
                <a:cxnLst/>
                <a:rect l="l" t="t" r="r" b="b"/>
                <a:pathLst>
                  <a:path w="57150" h="152400">
                    <a:moveTo>
                      <a:pt x="0" y="19050"/>
                    </a:moveTo>
                    <a:cubicBezTo>
                      <a:pt x="0" y="8529"/>
                      <a:pt x="8529" y="0"/>
                      <a:pt x="19050" y="0"/>
                    </a:cubicBezTo>
                    <a:lnTo>
                      <a:pt x="38100" y="0"/>
                    </a:lnTo>
                    <a:cubicBezTo>
                      <a:pt x="48621" y="0"/>
                      <a:pt x="57150" y="8529"/>
                      <a:pt x="57150" y="19050"/>
                    </a:cubicBezTo>
                    <a:lnTo>
                      <a:pt x="57150" y="133350"/>
                    </a:lnTo>
                    <a:cubicBezTo>
                      <a:pt x="57150" y="143871"/>
                      <a:pt x="48621" y="152400"/>
                      <a:pt x="38100" y="152400"/>
                    </a:cubicBezTo>
                    <a:lnTo>
                      <a:pt x="19050" y="152400"/>
                    </a:lnTo>
                    <a:cubicBezTo>
                      <a:pt x="8529" y="152400"/>
                      <a:pt x="0" y="143871"/>
                      <a:pt x="0" y="133350"/>
                    </a:cubicBezTo>
                    <a:lnTo>
                      <a:pt x="0" y="19050"/>
                    </a:lnTo>
                  </a:path>
                </a:pathLst>
              </a:custGeom>
              <a:noFill/>
              <a:ln w="19050">
                <a:solidFill>
                  <a:srgbClr val="FFFFFF"/>
                </a:solidFill>
              </a:ln>
            </p:spPr>
          </p:sp>
        </p:grpSp>
        <p:sp>
          <p:nvSpPr>
            <p:cNvPr id="32" name="TextBox 32"/>
            <p:cNvSpPr txBox="1"/>
            <p:nvPr/>
          </p:nvSpPr>
          <p:spPr>
            <a:xfrm>
              <a:off x="2464118" y="2456974"/>
              <a:ext cx="707350"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命令行交互</a:t>
              </a:r>
            </a:p>
          </p:txBody>
        </p:sp>
        <p:sp>
          <p:nvSpPr>
            <p:cNvPr id="33" name="TextBox 33"/>
            <p:cNvSpPr txBox="1"/>
            <p:nvPr/>
          </p:nvSpPr>
          <p:spPr>
            <a:xfrm>
              <a:off x="4371022" y="2473166"/>
              <a:ext cx="1203603" cy="167640"/>
            </a:xfrm>
            <a:prstGeom prst="rect">
              <a:avLst/>
            </a:prstGeom>
            <a:noFill/>
            <a:ln>
              <a:noFill/>
            </a:ln>
          </p:spPr>
          <p:txBody>
            <a:bodyPr wrap="none" lIns="0" tIns="0" rIns="0" bIns="0" anchor="t" anchorCtr="0">
              <a:spAutoFit/>
            </a:bodyPr>
            <a:lstStyle/>
            <a:p>
              <a:pPr algn="l"/>
              <a:r>
                <a:rPr lang="zh-CN" sz="825" i="1" dirty="0">
                  <a:solidFill>
                    <a:srgbClr val="FFFFFF">
                      <a:alphaMod val="70000"/>
                    </a:srgbClr>
                  </a:solidFill>
                  <a:latin typeface="Cambria"/>
                  <a:ea typeface="SimSun"/>
                  <a:cs typeface="Cambria"/>
                </a:rPr>
                <a:t>python food_agent.py</a:t>
              </a:r>
            </a:p>
          </p:txBody>
        </p:sp>
        <p:sp>
          <p:nvSpPr>
            <p:cNvPr id="34" name="Rectangle 34"/>
            <p:cNvSpPr/>
            <p:nvPr/>
          </p:nvSpPr>
          <p:spPr>
            <a:xfrm>
              <a:off x="4953000" y="2333625"/>
              <a:ext cx="2286000" cy="381000"/>
            </a:xfrm>
            <a:prstGeom prst="roundRect">
              <a:avLst>
                <a:gd name="adj" fmla="val 15000"/>
              </a:avLst>
            </a:prstGeom>
            <a:solidFill>
              <a:srgbClr val="FFFFFF">
                <a:alpha val="18000"/>
              </a:srgbClr>
            </a:solidFill>
            <a:ln>
              <a:noFill/>
            </a:ln>
          </p:spPr>
        </p:sp>
        <p:grpSp>
          <p:nvGrpSpPr>
            <p:cNvPr id="39" name="Group 39"/>
            <p:cNvGrpSpPr/>
            <p:nvPr/>
          </p:nvGrpSpPr>
          <p:grpSpPr>
            <a:xfrm>
              <a:off x="5086350" y="2447925"/>
              <a:ext cx="152400" cy="152400"/>
              <a:chOff x="5086350" y="2447925"/>
              <a:chExt cx="152400" cy="152400"/>
            </a:xfrm>
          </p:grpSpPr>
          <p:sp>
            <p:nvSpPr>
              <p:cNvPr id="35" name="Freeform 35"/>
              <p:cNvSpPr/>
              <p:nvPr/>
            </p:nvSpPr>
            <p:spPr>
              <a:xfrm>
                <a:off x="5086350" y="2447925"/>
                <a:ext cx="57150" cy="57150"/>
              </a:xfrm>
              <a:custGeom>
                <a:avLst/>
                <a:gdLst/>
                <a:ahLst/>
                <a:cxnLst/>
                <a:rect l="l" t="t" r="r" b="b"/>
                <a:pathLst>
                  <a:path w="57150" h="57150">
                    <a:moveTo>
                      <a:pt x="0" y="9525"/>
                    </a:moveTo>
                    <a:cubicBezTo>
                      <a:pt x="0" y="4264"/>
                      <a:pt x="4264" y="0"/>
                      <a:pt x="9525" y="0"/>
                    </a:cubicBezTo>
                    <a:lnTo>
                      <a:pt x="47625" y="0"/>
                    </a:lnTo>
                    <a:cubicBezTo>
                      <a:pt x="52886" y="0"/>
                      <a:pt x="57150" y="4264"/>
                      <a:pt x="57150" y="9525"/>
                    </a:cubicBezTo>
                    <a:lnTo>
                      <a:pt x="57150" y="47625"/>
                    </a:lnTo>
                    <a:cubicBezTo>
                      <a:pt x="57150" y="52886"/>
                      <a:pt x="52886" y="57150"/>
                      <a:pt x="47625" y="57150"/>
                    </a:cubicBezTo>
                    <a:lnTo>
                      <a:pt x="9525" y="57150"/>
                    </a:lnTo>
                    <a:cubicBezTo>
                      <a:pt x="4264" y="57150"/>
                      <a:pt x="0" y="52886"/>
                      <a:pt x="0" y="47625"/>
                    </a:cubicBezTo>
                    <a:lnTo>
                      <a:pt x="0" y="9525"/>
                    </a:lnTo>
                  </a:path>
                </a:pathLst>
              </a:custGeom>
              <a:noFill/>
              <a:ln w="19050">
                <a:solidFill>
                  <a:srgbClr val="FFFFFF"/>
                </a:solidFill>
              </a:ln>
            </p:spPr>
          </p:sp>
          <p:sp>
            <p:nvSpPr>
              <p:cNvPr id="36" name="Freeform 36"/>
              <p:cNvSpPr/>
              <p:nvPr/>
            </p:nvSpPr>
            <p:spPr>
              <a:xfrm>
                <a:off x="5181600" y="2447925"/>
                <a:ext cx="57150" cy="57150"/>
              </a:xfrm>
              <a:custGeom>
                <a:avLst/>
                <a:gdLst/>
                <a:ahLst/>
                <a:cxnLst/>
                <a:rect l="l" t="t" r="r" b="b"/>
                <a:pathLst>
                  <a:path w="57150" h="57150">
                    <a:moveTo>
                      <a:pt x="0" y="9525"/>
                    </a:moveTo>
                    <a:cubicBezTo>
                      <a:pt x="0" y="4264"/>
                      <a:pt x="4264" y="0"/>
                      <a:pt x="9525" y="0"/>
                    </a:cubicBezTo>
                    <a:lnTo>
                      <a:pt x="47625" y="0"/>
                    </a:lnTo>
                    <a:cubicBezTo>
                      <a:pt x="52886" y="0"/>
                      <a:pt x="57150" y="4264"/>
                      <a:pt x="57150" y="9525"/>
                    </a:cubicBezTo>
                    <a:lnTo>
                      <a:pt x="57150" y="47625"/>
                    </a:lnTo>
                    <a:cubicBezTo>
                      <a:pt x="57150" y="52886"/>
                      <a:pt x="52886" y="57150"/>
                      <a:pt x="47625" y="57150"/>
                    </a:cubicBezTo>
                    <a:lnTo>
                      <a:pt x="9525" y="57150"/>
                    </a:lnTo>
                    <a:cubicBezTo>
                      <a:pt x="4264" y="57150"/>
                      <a:pt x="0" y="52886"/>
                      <a:pt x="0" y="47625"/>
                    </a:cubicBezTo>
                    <a:lnTo>
                      <a:pt x="0" y="9525"/>
                    </a:lnTo>
                  </a:path>
                </a:pathLst>
              </a:custGeom>
              <a:noFill/>
              <a:ln w="19050">
                <a:solidFill>
                  <a:srgbClr val="FFFFFF"/>
                </a:solidFill>
              </a:ln>
            </p:spPr>
          </p:sp>
          <p:sp>
            <p:nvSpPr>
              <p:cNvPr id="37" name="Freeform 37"/>
              <p:cNvSpPr/>
              <p:nvPr/>
            </p:nvSpPr>
            <p:spPr>
              <a:xfrm>
                <a:off x="5086350" y="2543175"/>
                <a:ext cx="57150" cy="57150"/>
              </a:xfrm>
              <a:custGeom>
                <a:avLst/>
                <a:gdLst/>
                <a:ahLst/>
                <a:cxnLst/>
                <a:rect l="l" t="t" r="r" b="b"/>
                <a:pathLst>
                  <a:path w="57150" h="57150">
                    <a:moveTo>
                      <a:pt x="0" y="9525"/>
                    </a:moveTo>
                    <a:cubicBezTo>
                      <a:pt x="0" y="4264"/>
                      <a:pt x="4264" y="0"/>
                      <a:pt x="9525" y="0"/>
                    </a:cubicBezTo>
                    <a:lnTo>
                      <a:pt x="47625" y="0"/>
                    </a:lnTo>
                    <a:cubicBezTo>
                      <a:pt x="52886" y="0"/>
                      <a:pt x="57150" y="4264"/>
                      <a:pt x="57150" y="9525"/>
                    </a:cubicBezTo>
                    <a:lnTo>
                      <a:pt x="57150" y="47625"/>
                    </a:lnTo>
                    <a:cubicBezTo>
                      <a:pt x="57150" y="52886"/>
                      <a:pt x="52886" y="57150"/>
                      <a:pt x="47625" y="57150"/>
                    </a:cubicBezTo>
                    <a:lnTo>
                      <a:pt x="9525" y="57150"/>
                    </a:lnTo>
                    <a:cubicBezTo>
                      <a:pt x="4264" y="57150"/>
                      <a:pt x="0" y="52886"/>
                      <a:pt x="0" y="47625"/>
                    </a:cubicBezTo>
                    <a:lnTo>
                      <a:pt x="0" y="9525"/>
                    </a:lnTo>
                  </a:path>
                </a:pathLst>
              </a:custGeom>
              <a:noFill/>
              <a:ln w="19050">
                <a:solidFill>
                  <a:srgbClr val="FFFFFF"/>
                </a:solidFill>
              </a:ln>
            </p:spPr>
          </p:sp>
          <p:sp>
            <p:nvSpPr>
              <p:cNvPr id="38" name="Freeform 38"/>
              <p:cNvSpPr/>
              <p:nvPr/>
            </p:nvSpPr>
            <p:spPr>
              <a:xfrm>
                <a:off x="5181600" y="2543175"/>
                <a:ext cx="57150" cy="57150"/>
              </a:xfrm>
              <a:custGeom>
                <a:avLst/>
                <a:gdLst/>
                <a:ahLst/>
                <a:cxnLst/>
                <a:rect l="l" t="t" r="r" b="b"/>
                <a:pathLst>
                  <a:path w="57150" h="57150">
                    <a:moveTo>
                      <a:pt x="0" y="9525"/>
                    </a:moveTo>
                    <a:cubicBezTo>
                      <a:pt x="0" y="4264"/>
                      <a:pt x="4264" y="0"/>
                      <a:pt x="9525" y="0"/>
                    </a:cubicBezTo>
                    <a:lnTo>
                      <a:pt x="47625" y="0"/>
                    </a:lnTo>
                    <a:cubicBezTo>
                      <a:pt x="52886" y="0"/>
                      <a:pt x="57150" y="4264"/>
                      <a:pt x="57150" y="9525"/>
                    </a:cubicBezTo>
                    <a:lnTo>
                      <a:pt x="57150" y="47625"/>
                    </a:lnTo>
                    <a:cubicBezTo>
                      <a:pt x="57150" y="52886"/>
                      <a:pt x="52886" y="57150"/>
                      <a:pt x="47625" y="57150"/>
                    </a:cubicBezTo>
                    <a:lnTo>
                      <a:pt x="9525" y="57150"/>
                    </a:lnTo>
                    <a:cubicBezTo>
                      <a:pt x="4264" y="57150"/>
                      <a:pt x="0" y="52886"/>
                      <a:pt x="0" y="47625"/>
                    </a:cubicBezTo>
                    <a:lnTo>
                      <a:pt x="0" y="9525"/>
                    </a:lnTo>
                  </a:path>
                </a:pathLst>
              </a:custGeom>
              <a:noFill/>
              <a:ln w="19050">
                <a:solidFill>
                  <a:srgbClr val="FFFFFF"/>
                </a:solidFill>
              </a:ln>
            </p:spPr>
          </p:sp>
        </p:grpSp>
        <p:sp>
          <p:nvSpPr>
            <p:cNvPr id="40" name="TextBox 40"/>
            <p:cNvSpPr txBox="1"/>
            <p:nvPr/>
          </p:nvSpPr>
          <p:spPr>
            <a:xfrm>
              <a:off x="5321618" y="2456974"/>
              <a:ext cx="104864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Gradio Web 界面</a:t>
              </a:r>
            </a:p>
          </p:txBody>
        </p:sp>
        <p:sp>
          <p:nvSpPr>
            <p:cNvPr id="41" name="TextBox 41"/>
            <p:cNvSpPr txBox="1"/>
            <p:nvPr/>
          </p:nvSpPr>
          <p:spPr>
            <a:xfrm>
              <a:off x="7228522" y="2473166"/>
              <a:ext cx="345496" cy="167640"/>
            </a:xfrm>
            <a:prstGeom prst="rect">
              <a:avLst/>
            </a:prstGeom>
            <a:noFill/>
            <a:ln>
              <a:noFill/>
            </a:ln>
          </p:spPr>
          <p:txBody>
            <a:bodyPr wrap="none" lIns="0" tIns="0" rIns="0" bIns="0" anchor="t" anchorCtr="0">
              <a:spAutoFit/>
            </a:bodyPr>
            <a:lstStyle/>
            <a:p>
              <a:pPr algn="l"/>
              <a:r>
                <a:rPr lang="zh-CN" sz="825" i="1" dirty="0">
                  <a:solidFill>
                    <a:srgbClr val="FFFFFF">
                      <a:alphaMod val="70000"/>
                    </a:srgbClr>
                  </a:solidFill>
                  <a:latin typeface="Cambria"/>
                  <a:ea typeface="SimSun"/>
                  <a:cs typeface="Cambria"/>
                </a:rPr>
                <a:t>--web</a:t>
              </a:r>
            </a:p>
          </p:txBody>
        </p:sp>
        <p:sp>
          <p:nvSpPr>
            <p:cNvPr id="42" name="Rectangle 42"/>
            <p:cNvSpPr/>
            <p:nvPr/>
          </p:nvSpPr>
          <p:spPr>
            <a:xfrm>
              <a:off x="7810500" y="2333625"/>
              <a:ext cx="2667000" cy="381000"/>
            </a:xfrm>
            <a:prstGeom prst="roundRect">
              <a:avLst>
                <a:gd name="adj" fmla="val 15000"/>
              </a:avLst>
            </a:prstGeom>
            <a:solidFill>
              <a:srgbClr val="FFFFFF">
                <a:alpha val="18000"/>
              </a:srgbClr>
            </a:solidFill>
            <a:ln>
              <a:noFill/>
            </a:ln>
          </p:spPr>
        </p:sp>
        <p:grpSp>
          <p:nvGrpSpPr>
            <p:cNvPr id="52" name="Group 52"/>
            <p:cNvGrpSpPr/>
            <p:nvPr/>
          </p:nvGrpSpPr>
          <p:grpSpPr>
            <a:xfrm>
              <a:off x="7953375" y="2428875"/>
              <a:ext cx="133350" cy="180975"/>
              <a:chOff x="7953375" y="2428875"/>
              <a:chExt cx="133350" cy="180975"/>
            </a:xfrm>
          </p:grpSpPr>
          <p:sp>
            <p:nvSpPr>
              <p:cNvPr id="43" name="Freeform 43"/>
              <p:cNvSpPr/>
              <p:nvPr/>
            </p:nvSpPr>
            <p:spPr>
              <a:xfrm>
                <a:off x="7962900" y="2447925"/>
                <a:ext cx="114300" cy="76200"/>
              </a:xfrm>
              <a:custGeom>
                <a:avLst/>
                <a:gdLst/>
                <a:ahLst/>
                <a:cxnLst/>
                <a:rect l="l" t="t" r="r" b="b"/>
                <a:pathLst>
                  <a:path w="114300" h="76200">
                    <a:moveTo>
                      <a:pt x="0" y="19050"/>
                    </a:moveTo>
                    <a:cubicBezTo>
                      <a:pt x="0" y="8529"/>
                      <a:pt x="8529" y="0"/>
                      <a:pt x="19050" y="0"/>
                    </a:cubicBezTo>
                    <a:lnTo>
                      <a:pt x="95250" y="0"/>
                    </a:lnTo>
                    <a:cubicBezTo>
                      <a:pt x="105771" y="0"/>
                      <a:pt x="114300" y="8529"/>
                      <a:pt x="114300" y="19050"/>
                    </a:cubicBezTo>
                    <a:lnTo>
                      <a:pt x="114300" y="57150"/>
                    </a:lnTo>
                    <a:cubicBezTo>
                      <a:pt x="114300" y="67671"/>
                      <a:pt x="105771" y="76200"/>
                      <a:pt x="95250" y="76200"/>
                    </a:cubicBezTo>
                    <a:lnTo>
                      <a:pt x="19050" y="76200"/>
                    </a:lnTo>
                    <a:cubicBezTo>
                      <a:pt x="8529" y="76200"/>
                      <a:pt x="0" y="67671"/>
                      <a:pt x="0" y="57150"/>
                    </a:cubicBezTo>
                    <a:lnTo>
                      <a:pt x="0" y="19050"/>
                    </a:lnTo>
                  </a:path>
                </a:pathLst>
              </a:custGeom>
              <a:noFill/>
              <a:ln w="19050">
                <a:solidFill>
                  <a:srgbClr val="FFFFFF"/>
                </a:solidFill>
              </a:ln>
            </p:spPr>
          </p:sp>
          <p:sp>
            <p:nvSpPr>
              <p:cNvPr id="44" name="Freeform 44"/>
              <p:cNvSpPr/>
              <p:nvPr/>
            </p:nvSpPr>
            <p:spPr>
              <a:xfrm>
                <a:off x="8020050" y="2428875"/>
                <a:ext cx="9525" cy="19050"/>
              </a:xfrm>
              <a:custGeom>
                <a:avLst/>
                <a:gdLst/>
                <a:ahLst/>
                <a:cxnLst/>
                <a:rect l="l" t="t" r="r" b="b"/>
                <a:pathLst>
                  <a:path w="9525" h="19050">
                    <a:moveTo>
                      <a:pt x="0" y="0"/>
                    </a:moveTo>
                    <a:lnTo>
                      <a:pt x="0" y="19050"/>
                    </a:lnTo>
                  </a:path>
                </a:pathLst>
              </a:custGeom>
              <a:noFill/>
              <a:ln w="19050">
                <a:solidFill>
                  <a:srgbClr val="FFFFFF"/>
                </a:solidFill>
              </a:ln>
            </p:spPr>
          </p:sp>
          <p:sp>
            <p:nvSpPr>
              <p:cNvPr id="45" name="Freeform 45"/>
              <p:cNvSpPr/>
              <p:nvPr/>
            </p:nvSpPr>
            <p:spPr>
              <a:xfrm>
                <a:off x="7991475" y="2524125"/>
                <a:ext cx="9525" cy="85725"/>
              </a:xfrm>
              <a:custGeom>
                <a:avLst/>
                <a:gdLst/>
                <a:ahLst/>
                <a:cxnLst/>
                <a:rect l="l" t="t" r="r" b="b"/>
                <a:pathLst>
                  <a:path w="9525" h="85725">
                    <a:moveTo>
                      <a:pt x="0" y="0"/>
                    </a:moveTo>
                    <a:lnTo>
                      <a:pt x="0" y="85725"/>
                    </a:lnTo>
                  </a:path>
                </a:pathLst>
              </a:custGeom>
              <a:noFill/>
              <a:ln w="19050">
                <a:solidFill>
                  <a:srgbClr val="FFFFFF"/>
                </a:solidFill>
              </a:ln>
            </p:spPr>
          </p:sp>
          <p:sp>
            <p:nvSpPr>
              <p:cNvPr id="46" name="Freeform 46"/>
              <p:cNvSpPr/>
              <p:nvPr/>
            </p:nvSpPr>
            <p:spPr>
              <a:xfrm>
                <a:off x="8048625" y="2524125"/>
                <a:ext cx="9525" cy="85725"/>
              </a:xfrm>
              <a:custGeom>
                <a:avLst/>
                <a:gdLst/>
                <a:ahLst/>
                <a:cxnLst/>
                <a:rect l="l" t="t" r="r" b="b"/>
                <a:pathLst>
                  <a:path w="9525" h="85725">
                    <a:moveTo>
                      <a:pt x="0" y="0"/>
                    </a:moveTo>
                    <a:lnTo>
                      <a:pt x="0" y="85725"/>
                    </a:lnTo>
                  </a:path>
                </a:pathLst>
              </a:custGeom>
              <a:noFill/>
              <a:ln w="19050">
                <a:solidFill>
                  <a:srgbClr val="FFFFFF"/>
                </a:solidFill>
              </a:ln>
            </p:spPr>
          </p:sp>
          <p:sp>
            <p:nvSpPr>
              <p:cNvPr id="47" name="Freeform 47"/>
              <p:cNvSpPr/>
              <p:nvPr/>
            </p:nvSpPr>
            <p:spPr>
              <a:xfrm>
                <a:off x="7953375" y="2543175"/>
                <a:ext cx="38100" cy="19050"/>
              </a:xfrm>
              <a:custGeom>
                <a:avLst/>
                <a:gdLst/>
                <a:ahLst/>
                <a:cxnLst/>
                <a:rect l="l" t="t" r="r" b="b"/>
                <a:pathLst>
                  <a:path w="38100" h="19050">
                    <a:moveTo>
                      <a:pt x="0" y="19050"/>
                    </a:moveTo>
                    <a:lnTo>
                      <a:pt x="38100" y="0"/>
                    </a:lnTo>
                  </a:path>
                </a:pathLst>
              </a:custGeom>
              <a:noFill/>
              <a:ln w="19050">
                <a:solidFill>
                  <a:srgbClr val="FFFFFF"/>
                </a:solidFill>
              </a:ln>
            </p:spPr>
          </p:sp>
          <p:sp>
            <p:nvSpPr>
              <p:cNvPr id="48" name="Freeform 48"/>
              <p:cNvSpPr/>
              <p:nvPr/>
            </p:nvSpPr>
            <p:spPr>
              <a:xfrm>
                <a:off x="8048625" y="2543175"/>
                <a:ext cx="38100" cy="19050"/>
              </a:xfrm>
              <a:custGeom>
                <a:avLst/>
                <a:gdLst/>
                <a:ahLst/>
                <a:cxnLst/>
                <a:rect l="l" t="t" r="r" b="b"/>
                <a:pathLst>
                  <a:path w="38100" h="19050">
                    <a:moveTo>
                      <a:pt x="0" y="0"/>
                    </a:moveTo>
                    <a:lnTo>
                      <a:pt x="38100" y="19050"/>
                    </a:lnTo>
                  </a:path>
                </a:pathLst>
              </a:custGeom>
              <a:noFill/>
              <a:ln w="19050">
                <a:solidFill>
                  <a:srgbClr val="FFFFFF"/>
                </a:solidFill>
              </a:ln>
            </p:spPr>
          </p:sp>
          <p:sp>
            <p:nvSpPr>
              <p:cNvPr id="49" name="Freeform 49"/>
              <p:cNvSpPr/>
              <p:nvPr/>
            </p:nvSpPr>
            <p:spPr>
              <a:xfrm>
                <a:off x="7991475" y="2581275"/>
                <a:ext cx="57150" cy="9525"/>
              </a:xfrm>
              <a:custGeom>
                <a:avLst/>
                <a:gdLst/>
                <a:ahLst/>
                <a:cxnLst/>
                <a:rect l="l" t="t" r="r" b="b"/>
                <a:pathLst>
                  <a:path w="57150" h="9525">
                    <a:moveTo>
                      <a:pt x="0" y="0"/>
                    </a:moveTo>
                    <a:lnTo>
                      <a:pt x="57150" y="0"/>
                    </a:lnTo>
                  </a:path>
                </a:pathLst>
              </a:custGeom>
              <a:noFill/>
              <a:ln w="19050">
                <a:solidFill>
                  <a:srgbClr val="FFFFFF"/>
                </a:solidFill>
              </a:ln>
            </p:spPr>
          </p:sp>
          <p:sp>
            <p:nvSpPr>
              <p:cNvPr id="50" name="Freeform 50"/>
              <p:cNvSpPr/>
              <p:nvPr/>
            </p:nvSpPr>
            <p:spPr>
              <a:xfrm>
                <a:off x="8001000" y="2486025"/>
                <a:ext cx="9525" cy="9525"/>
              </a:xfrm>
              <a:custGeom>
                <a:avLst/>
                <a:gdLst/>
                <a:ahLst/>
                <a:cxnLst/>
                <a:rect l="l" t="t" r="r" b="b"/>
                <a:pathLst>
                  <a:path w="9525" h="9525">
                    <a:moveTo>
                      <a:pt x="0" y="0"/>
                    </a:moveTo>
                    <a:lnTo>
                      <a:pt x="0" y="95"/>
                    </a:lnTo>
                  </a:path>
                </a:pathLst>
              </a:custGeom>
              <a:noFill/>
              <a:ln w="19050">
                <a:solidFill>
                  <a:srgbClr val="FFFFFF"/>
                </a:solidFill>
              </a:ln>
            </p:spPr>
          </p:sp>
          <p:sp>
            <p:nvSpPr>
              <p:cNvPr id="51" name="Freeform 51"/>
              <p:cNvSpPr/>
              <p:nvPr/>
            </p:nvSpPr>
            <p:spPr>
              <a:xfrm>
                <a:off x="8039100" y="2486025"/>
                <a:ext cx="9525" cy="9525"/>
              </a:xfrm>
              <a:custGeom>
                <a:avLst/>
                <a:gdLst/>
                <a:ahLst/>
                <a:cxnLst/>
                <a:rect l="l" t="t" r="r" b="b"/>
                <a:pathLst>
                  <a:path w="9525" h="9525">
                    <a:moveTo>
                      <a:pt x="0" y="0"/>
                    </a:moveTo>
                    <a:lnTo>
                      <a:pt x="0" y="95"/>
                    </a:lnTo>
                  </a:path>
                </a:pathLst>
              </a:custGeom>
              <a:noFill/>
              <a:ln w="19050">
                <a:solidFill>
                  <a:srgbClr val="FFFFFF"/>
                </a:solidFill>
              </a:ln>
            </p:spPr>
          </p:sp>
        </p:grpSp>
        <p:sp>
          <p:nvSpPr>
            <p:cNvPr id="53" name="TextBox 53"/>
            <p:cNvSpPr txBox="1"/>
            <p:nvPr/>
          </p:nvSpPr>
          <p:spPr>
            <a:xfrm>
              <a:off x="8179118" y="2456974"/>
              <a:ext cx="1512801"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Ollama + Qwen2.5 对话</a:t>
              </a:r>
            </a:p>
          </p:txBody>
        </p:sp>
        <p:sp>
          <p:nvSpPr>
            <p:cNvPr id="54" name="TextBox 54"/>
            <p:cNvSpPr txBox="1"/>
            <p:nvPr/>
          </p:nvSpPr>
          <p:spPr>
            <a:xfrm>
              <a:off x="10276522" y="2473166"/>
              <a:ext cx="240982" cy="167640"/>
            </a:xfrm>
            <a:prstGeom prst="rect">
              <a:avLst/>
            </a:prstGeom>
            <a:noFill/>
            <a:ln>
              <a:noFill/>
            </a:ln>
          </p:spPr>
          <p:txBody>
            <a:bodyPr wrap="none" lIns="0" tIns="0" rIns="0" bIns="0" anchor="t" anchorCtr="0">
              <a:spAutoFit/>
            </a:bodyPr>
            <a:lstStyle/>
            <a:p>
              <a:pPr algn="l"/>
              <a:r>
                <a:rPr lang="zh-CN" sz="825" i="1" dirty="0">
                  <a:solidFill>
                    <a:srgbClr val="FFFFFF">
                      <a:alphaMod val="70000"/>
                    </a:srgbClr>
                  </a:solidFill>
                  <a:latin typeface="Cambria"/>
                  <a:ea typeface="SimSun"/>
                  <a:cs typeface="Cambria"/>
                </a:rPr>
                <a:t>小营</a:t>
              </a:r>
            </a:p>
          </p:txBody>
        </p:sp>
      </p:grpSp>
      <p:sp>
        <p:nvSpPr>
          <p:cNvPr id="56" name="Freeform 56"/>
          <p:cNvSpPr/>
          <p:nvPr/>
        </p:nvSpPr>
        <p:spPr>
          <a:xfrm>
            <a:off x="6096000" y="2857500"/>
            <a:ext cx="381000" cy="190500"/>
          </a:xfrm>
          <a:custGeom>
            <a:avLst/>
            <a:gdLst/>
            <a:ahLst/>
            <a:cxnLst/>
            <a:rect l="l" t="t" r="r" b="b"/>
            <a:pathLst>
              <a:path w="381000" h="190500">
                <a:moveTo>
                  <a:pt x="95250" y="0"/>
                </a:moveTo>
                <a:lnTo>
                  <a:pt x="95250" y="47625"/>
                </a:lnTo>
                <a:lnTo>
                  <a:pt x="0" y="47625"/>
                </a:lnTo>
                <a:lnTo>
                  <a:pt x="190500" y="190500"/>
                </a:lnTo>
                <a:lnTo>
                  <a:pt x="381000" y="47625"/>
                </a:lnTo>
                <a:lnTo>
                  <a:pt x="285750" y="47625"/>
                </a:lnTo>
                <a:lnTo>
                  <a:pt x="285750" y="0"/>
                </a:lnTo>
                <a:close/>
              </a:path>
            </a:pathLst>
          </a:custGeom>
          <a:solidFill>
            <a:srgbClr val="5C6BC0"/>
          </a:solidFill>
          <a:ln>
            <a:noFill/>
          </a:ln>
        </p:spPr>
      </p:sp>
      <p:grpSp>
        <p:nvGrpSpPr>
          <p:cNvPr id="85" name="Group 85"/>
          <p:cNvGrpSpPr/>
          <p:nvPr/>
        </p:nvGrpSpPr>
        <p:grpSpPr>
          <a:xfrm>
            <a:off x="762000" y="3048000"/>
            <a:ext cx="10858500" cy="952500"/>
            <a:chOff x="762000" y="3048000"/>
            <a:chExt cx="10858500" cy="952500"/>
          </a:xfrm>
        </p:grpSpPr>
        <p:sp>
          <p:nvSpPr>
            <p:cNvPr id="57" name="Rectangle 57"/>
            <p:cNvSpPr/>
            <p:nvPr/>
          </p:nvSpPr>
          <p:spPr>
            <a:xfrm>
              <a:off x="762000" y="3048000"/>
              <a:ext cx="10858500" cy="952500"/>
            </a:xfrm>
            <a:prstGeom prst="roundRect">
              <a:avLst>
                <a:gd name="adj" fmla="val 10000"/>
              </a:avLst>
            </a:prstGeom>
            <a:gradFill>
              <a:gsLst>
                <a:gs pos="0">
                  <a:srgbClr val="5C6BC0"/>
                </a:gs>
                <a:gs pos="100000">
                  <a:srgbClr val="7986CB"/>
                </a:gs>
              </a:gsLst>
              <a:lin ang="0" scaled="1"/>
            </a:gradFill>
            <a:ln>
              <a:noFill/>
            </a:ln>
            <a:effectLst>
              <a:outerShdw blurRad="76200" dist="19050" dir="5400000" algn="ctr" rotWithShape="0">
                <a:srgbClr val="0F172A">
                  <a:alpha val="7500"/>
                </a:srgbClr>
              </a:outerShdw>
            </a:effectLst>
          </p:spPr>
        </p:sp>
        <p:sp>
          <p:nvSpPr>
            <p:cNvPr id="58" name="Rectangle 58"/>
            <p:cNvSpPr/>
            <p:nvPr/>
          </p:nvSpPr>
          <p:spPr>
            <a:xfrm>
              <a:off x="762000" y="3048000"/>
              <a:ext cx="1143000" cy="952500"/>
            </a:xfrm>
            <a:prstGeom prst="roundRect">
              <a:avLst>
                <a:gd name="adj" fmla="val 10000"/>
              </a:avLst>
            </a:prstGeom>
            <a:solidFill>
              <a:srgbClr val="311B92"/>
            </a:solidFill>
            <a:ln>
              <a:noFill/>
            </a:ln>
          </p:spPr>
        </p:sp>
        <p:grpSp>
          <p:nvGrpSpPr>
            <p:cNvPr id="64" name="Group 64"/>
            <p:cNvGrpSpPr/>
            <p:nvPr/>
          </p:nvGrpSpPr>
          <p:grpSpPr>
            <a:xfrm>
              <a:off x="1162050" y="3295650"/>
              <a:ext cx="342900" cy="342900"/>
              <a:chOff x="1162050" y="3295650"/>
              <a:chExt cx="342900" cy="342900"/>
            </a:xfrm>
          </p:grpSpPr>
          <p:sp>
            <p:nvSpPr>
              <p:cNvPr id="59" name="Freeform 59"/>
              <p:cNvSpPr/>
              <p:nvPr/>
            </p:nvSpPr>
            <p:spPr>
              <a:xfrm>
                <a:off x="1295400" y="32956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FFFFFF"/>
                </a:solidFill>
              </a:ln>
            </p:spPr>
          </p:sp>
          <p:sp>
            <p:nvSpPr>
              <p:cNvPr id="60" name="Freeform 60"/>
              <p:cNvSpPr/>
              <p:nvPr/>
            </p:nvSpPr>
            <p:spPr>
              <a:xfrm>
                <a:off x="1162050" y="35623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FFFFFF"/>
                </a:solidFill>
              </a:ln>
            </p:spPr>
          </p:sp>
          <p:sp>
            <p:nvSpPr>
              <p:cNvPr id="61" name="Freeform 61"/>
              <p:cNvSpPr/>
              <p:nvPr/>
            </p:nvSpPr>
            <p:spPr>
              <a:xfrm>
                <a:off x="1428750" y="35623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FFFFFF"/>
                </a:solidFill>
              </a:ln>
            </p:spPr>
          </p:sp>
          <p:sp>
            <p:nvSpPr>
              <p:cNvPr id="62" name="Freeform 62"/>
              <p:cNvSpPr/>
              <p:nvPr/>
            </p:nvSpPr>
            <p:spPr>
              <a:xfrm>
                <a:off x="1228725" y="3486150"/>
                <a:ext cx="209550" cy="85725"/>
              </a:xfrm>
              <a:custGeom>
                <a:avLst/>
                <a:gdLst/>
                <a:ahLst/>
                <a:cxnLst/>
                <a:rect l="l" t="t" r="r" b="b"/>
                <a:pathLst>
                  <a:path w="209550" h="85725">
                    <a:moveTo>
                      <a:pt x="0" y="85725"/>
                    </a:moveTo>
                    <a:lnTo>
                      <a:pt x="104775" y="0"/>
                    </a:lnTo>
                    <a:lnTo>
                      <a:pt x="209550" y="85725"/>
                    </a:lnTo>
                  </a:path>
                </a:pathLst>
              </a:custGeom>
              <a:noFill/>
              <a:ln w="19050">
                <a:solidFill>
                  <a:srgbClr val="FFFFFF"/>
                </a:solidFill>
              </a:ln>
            </p:spPr>
          </p:sp>
          <p:sp>
            <p:nvSpPr>
              <p:cNvPr id="63" name="Freeform 63"/>
              <p:cNvSpPr/>
              <p:nvPr/>
            </p:nvSpPr>
            <p:spPr>
              <a:xfrm>
                <a:off x="1333500" y="3371850"/>
                <a:ext cx="9525" cy="114300"/>
              </a:xfrm>
              <a:custGeom>
                <a:avLst/>
                <a:gdLst/>
                <a:ahLst/>
                <a:cxnLst/>
                <a:rect l="l" t="t" r="r" b="b"/>
                <a:pathLst>
                  <a:path w="9525" h="114300">
                    <a:moveTo>
                      <a:pt x="0" y="0"/>
                    </a:moveTo>
                    <a:lnTo>
                      <a:pt x="0" y="114300"/>
                    </a:lnTo>
                  </a:path>
                </a:pathLst>
              </a:custGeom>
              <a:noFill/>
              <a:ln w="19050">
                <a:solidFill>
                  <a:srgbClr val="FFFFFF"/>
                </a:solidFill>
              </a:ln>
            </p:spPr>
          </p:sp>
        </p:grpSp>
        <p:sp>
          <p:nvSpPr>
            <p:cNvPr id="65" name="TextBox 65"/>
            <p:cNvSpPr txBox="1"/>
            <p:nvPr/>
          </p:nvSpPr>
          <p:spPr>
            <a:xfrm>
              <a:off x="1060587" y="3750945"/>
              <a:ext cx="545825" cy="182880"/>
            </a:xfrm>
            <a:prstGeom prst="rect">
              <a:avLst/>
            </a:prstGeom>
            <a:noFill/>
            <a:ln>
              <a:noFill/>
            </a:ln>
          </p:spPr>
          <p:txBody>
            <a:bodyPr wrap="none" lIns="0" tIns="0" rIns="0" bIns="0" anchor="t" anchorCtr="0">
              <a:spAutoFit/>
            </a:bodyPr>
            <a:lstStyle/>
            <a:p>
              <a:pPr algn="ctr"/>
              <a:r>
                <a:rPr lang="zh-CN" sz="900" b="1" dirty="0">
                  <a:solidFill>
                    <a:srgbClr val="FFFFFF">
                      <a:alphaMod val="85000"/>
                    </a:srgbClr>
                  </a:solidFill>
                  <a:latin typeface="Arial"/>
                  <a:ea typeface="Microsoft YaHei"/>
                  <a:cs typeface="Arial"/>
                </a:rPr>
                <a:t>LAYER 02</a:t>
              </a:r>
            </a:p>
          </p:txBody>
        </p:sp>
        <p:sp>
          <p:nvSpPr>
            <p:cNvPr id="66" name="TextBox 66"/>
            <p:cNvSpPr txBox="1"/>
            <p:nvPr/>
          </p:nvSpPr>
          <p:spPr>
            <a:xfrm>
              <a:off x="2076450" y="3190875"/>
              <a:ext cx="1298258"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ambria"/>
                  <a:ea typeface="SimSun"/>
                  <a:cs typeface="Cambria"/>
                </a:rPr>
                <a:t>智能体核心层</a:t>
              </a:r>
            </a:p>
          </p:txBody>
        </p:sp>
        <p:sp>
          <p:nvSpPr>
            <p:cNvPr id="67" name="TextBox 67"/>
            <p:cNvSpPr txBox="1"/>
            <p:nvPr/>
          </p:nvSpPr>
          <p:spPr>
            <a:xfrm>
              <a:off x="3227070" y="3255645"/>
              <a:ext cx="2309146" cy="182880"/>
            </a:xfrm>
            <a:prstGeom prst="rect">
              <a:avLst/>
            </a:prstGeom>
            <a:noFill/>
            <a:ln>
              <a:noFill/>
            </a:ln>
          </p:spPr>
          <p:txBody>
            <a:bodyPr wrap="none" lIns="0" tIns="0" rIns="0" bIns="0" anchor="t" anchorCtr="0">
              <a:spAutoFit/>
            </a:bodyPr>
            <a:lstStyle/>
            <a:p>
              <a:pPr algn="l"/>
              <a:r>
                <a:rPr lang="zh-CN" sz="900" dirty="0">
                  <a:solidFill>
                    <a:srgbClr val="FFFFFF">
                      <a:alphaMod val="85000"/>
                    </a:srgbClr>
                  </a:solidFill>
                  <a:latin typeface="Arial"/>
                  <a:ea typeface="Microsoft YaHei"/>
                  <a:cs typeface="Arial"/>
                </a:rPr>
                <a:t>AGENT CORE LAYER · FoodNutritionAgent</a:t>
              </a:r>
            </a:p>
          </p:txBody>
        </p:sp>
        <p:sp>
          <p:nvSpPr>
            <p:cNvPr id="68" name="Rectangle 68"/>
            <p:cNvSpPr/>
            <p:nvPr/>
          </p:nvSpPr>
          <p:spPr>
            <a:xfrm>
              <a:off x="2095500" y="3524250"/>
              <a:ext cx="3048000" cy="381000"/>
            </a:xfrm>
            <a:prstGeom prst="roundRect">
              <a:avLst>
                <a:gd name="adj" fmla="val 15000"/>
              </a:avLst>
            </a:prstGeom>
            <a:solidFill>
              <a:srgbClr val="FFFFFF">
                <a:alpha val="18000"/>
              </a:srgbClr>
            </a:solidFill>
            <a:ln>
              <a:noFill/>
            </a:ln>
          </p:spPr>
        </p:sp>
        <p:grpSp>
          <p:nvGrpSpPr>
            <p:cNvPr id="72" name="Group 72"/>
            <p:cNvGrpSpPr/>
            <p:nvPr/>
          </p:nvGrpSpPr>
          <p:grpSpPr>
            <a:xfrm>
              <a:off x="2219325" y="3638550"/>
              <a:ext cx="171450" cy="161925"/>
              <a:chOff x="2219325" y="3638550"/>
              <a:chExt cx="171450" cy="161925"/>
            </a:xfrm>
          </p:grpSpPr>
          <p:sp>
            <p:nvSpPr>
              <p:cNvPr id="69" name="Freeform 69"/>
              <p:cNvSpPr/>
              <p:nvPr/>
            </p:nvSpPr>
            <p:spPr>
              <a:xfrm>
                <a:off x="2266950" y="3686175"/>
                <a:ext cx="76200" cy="9525"/>
              </a:xfrm>
              <a:custGeom>
                <a:avLst/>
                <a:gdLst/>
                <a:ahLst/>
                <a:cxnLst/>
                <a:rect l="l" t="t" r="r" b="b"/>
                <a:pathLst>
                  <a:path w="76200" h="9525">
                    <a:moveTo>
                      <a:pt x="0" y="0"/>
                    </a:moveTo>
                    <a:lnTo>
                      <a:pt x="76200" y="0"/>
                    </a:lnTo>
                  </a:path>
                </a:pathLst>
              </a:custGeom>
              <a:noFill/>
              <a:ln w="19050">
                <a:solidFill>
                  <a:srgbClr val="FFFFFF"/>
                </a:solidFill>
              </a:ln>
            </p:spPr>
          </p:sp>
          <p:sp>
            <p:nvSpPr>
              <p:cNvPr id="70" name="Freeform 70"/>
              <p:cNvSpPr/>
              <p:nvPr/>
            </p:nvSpPr>
            <p:spPr>
              <a:xfrm>
                <a:off x="2266950" y="3724275"/>
                <a:ext cx="57150" cy="9525"/>
              </a:xfrm>
              <a:custGeom>
                <a:avLst/>
                <a:gdLst/>
                <a:ahLst/>
                <a:cxnLst/>
                <a:rect l="l" t="t" r="r" b="b"/>
                <a:pathLst>
                  <a:path w="57150" h="9525">
                    <a:moveTo>
                      <a:pt x="0" y="0"/>
                    </a:moveTo>
                    <a:lnTo>
                      <a:pt x="57150" y="0"/>
                    </a:lnTo>
                  </a:path>
                </a:pathLst>
              </a:custGeom>
              <a:noFill/>
              <a:ln w="19050">
                <a:solidFill>
                  <a:srgbClr val="FFFFFF"/>
                </a:solidFill>
              </a:ln>
            </p:spPr>
          </p:sp>
          <p:sp>
            <p:nvSpPr>
              <p:cNvPr id="71" name="Freeform 71"/>
              <p:cNvSpPr/>
              <p:nvPr/>
            </p:nvSpPr>
            <p:spPr>
              <a:xfrm>
                <a:off x="2219325" y="3638550"/>
                <a:ext cx="171450" cy="161925"/>
              </a:xfrm>
              <a:custGeom>
                <a:avLst/>
                <a:gdLst/>
                <a:ahLst/>
                <a:cxnLst/>
                <a:rect l="l" t="t" r="r" b="b"/>
                <a:pathLst>
                  <a:path w="171450" h="161925">
                    <a:moveTo>
                      <a:pt x="142875" y="0"/>
                    </a:moveTo>
                    <a:cubicBezTo>
                      <a:pt x="158657" y="0"/>
                      <a:pt x="171450" y="12793"/>
                      <a:pt x="171450" y="28575"/>
                    </a:cubicBezTo>
                    <a:lnTo>
                      <a:pt x="171450" y="104775"/>
                    </a:lnTo>
                    <a:cubicBezTo>
                      <a:pt x="171450" y="120557"/>
                      <a:pt x="158657" y="133350"/>
                      <a:pt x="142875" y="133350"/>
                    </a:cubicBezTo>
                    <a:lnTo>
                      <a:pt x="95250" y="133350"/>
                    </a:lnTo>
                    <a:lnTo>
                      <a:pt x="47625" y="161925"/>
                    </a:lnTo>
                    <a:lnTo>
                      <a:pt x="47625" y="133350"/>
                    </a:lnTo>
                    <a:lnTo>
                      <a:pt x="28575" y="133350"/>
                    </a:lnTo>
                    <a:cubicBezTo>
                      <a:pt x="12793" y="133350"/>
                      <a:pt x="0" y="120557"/>
                      <a:pt x="0" y="104775"/>
                    </a:cubicBezTo>
                    <a:lnTo>
                      <a:pt x="0" y="28575"/>
                    </a:lnTo>
                    <a:cubicBezTo>
                      <a:pt x="0" y="12793"/>
                      <a:pt x="12793" y="0"/>
                      <a:pt x="28575" y="0"/>
                    </a:cubicBezTo>
                    <a:lnTo>
                      <a:pt x="142875" y="0"/>
                    </a:lnTo>
                  </a:path>
                </a:pathLst>
              </a:custGeom>
              <a:noFill/>
              <a:ln w="19050">
                <a:solidFill>
                  <a:srgbClr val="FFFFFF"/>
                </a:solidFill>
              </a:ln>
            </p:spPr>
          </p:sp>
        </p:grpSp>
        <p:sp>
          <p:nvSpPr>
            <p:cNvPr id="73" name="TextBox 73"/>
            <p:cNvSpPr txBox="1"/>
            <p:nvPr/>
          </p:nvSpPr>
          <p:spPr>
            <a:xfrm>
              <a:off x="2464118" y="3647599"/>
              <a:ext cx="2372858"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对话记忆管理 · ConversationMemory</a:t>
              </a:r>
            </a:p>
          </p:txBody>
        </p:sp>
        <p:sp>
          <p:nvSpPr>
            <p:cNvPr id="74" name="Rectangle 74"/>
            <p:cNvSpPr/>
            <p:nvPr/>
          </p:nvSpPr>
          <p:spPr>
            <a:xfrm>
              <a:off x="5334000" y="3524250"/>
              <a:ext cx="2857500" cy="381000"/>
            </a:xfrm>
            <a:prstGeom prst="roundRect">
              <a:avLst>
                <a:gd name="adj" fmla="val 15000"/>
              </a:avLst>
            </a:prstGeom>
            <a:solidFill>
              <a:srgbClr val="FFFFFF">
                <a:alpha val="18000"/>
              </a:srgbClr>
            </a:solidFill>
            <a:ln>
              <a:noFill/>
            </a:ln>
          </p:spPr>
        </p:sp>
        <p:grpSp>
          <p:nvGrpSpPr>
            <p:cNvPr id="78" name="Group 78"/>
            <p:cNvGrpSpPr/>
            <p:nvPr/>
          </p:nvGrpSpPr>
          <p:grpSpPr>
            <a:xfrm>
              <a:off x="5457825" y="3629025"/>
              <a:ext cx="171450" cy="171450"/>
              <a:chOff x="5457825" y="3629025"/>
              <a:chExt cx="171450" cy="171450"/>
            </a:xfrm>
          </p:grpSpPr>
          <p:sp>
            <p:nvSpPr>
              <p:cNvPr id="75" name="Freeform 75"/>
              <p:cNvSpPr/>
              <p:nvPr/>
            </p:nvSpPr>
            <p:spPr>
              <a:xfrm>
                <a:off x="5457825" y="3629025"/>
                <a:ext cx="171450" cy="85725"/>
              </a:xfrm>
              <a:custGeom>
                <a:avLst/>
                <a:gdLst/>
                <a:ahLst/>
                <a:cxnLst/>
                <a:rect l="l" t="t" r="r" b="b"/>
                <a:pathLst>
                  <a:path w="171450" h="85725">
                    <a:moveTo>
                      <a:pt x="0" y="85725"/>
                    </a:moveTo>
                    <a:lnTo>
                      <a:pt x="9525" y="85725"/>
                    </a:lnTo>
                    <a:moveTo>
                      <a:pt x="85725" y="0"/>
                    </a:moveTo>
                    <a:lnTo>
                      <a:pt x="85725" y="9525"/>
                    </a:lnTo>
                    <a:moveTo>
                      <a:pt x="161925" y="85725"/>
                    </a:moveTo>
                    <a:lnTo>
                      <a:pt x="171450" y="85725"/>
                    </a:lnTo>
                    <a:moveTo>
                      <a:pt x="24765" y="24765"/>
                    </a:moveTo>
                    <a:lnTo>
                      <a:pt x="31432" y="31433"/>
                    </a:lnTo>
                    <a:moveTo>
                      <a:pt x="146685" y="24765"/>
                    </a:moveTo>
                    <a:lnTo>
                      <a:pt x="140018" y="31433"/>
                    </a:lnTo>
                  </a:path>
                </a:pathLst>
              </a:custGeom>
              <a:noFill/>
              <a:ln w="19050">
                <a:solidFill>
                  <a:srgbClr val="FFFFFF"/>
                </a:solidFill>
              </a:ln>
            </p:spPr>
          </p:sp>
          <p:sp>
            <p:nvSpPr>
              <p:cNvPr id="76" name="Freeform 76"/>
              <p:cNvSpPr/>
              <p:nvPr/>
            </p:nvSpPr>
            <p:spPr>
              <a:xfrm>
                <a:off x="5491887" y="3667125"/>
                <a:ext cx="103327" cy="133350"/>
              </a:xfrm>
              <a:custGeom>
                <a:avLst/>
                <a:gdLst/>
                <a:ahLst/>
                <a:cxnLst/>
                <a:rect l="l" t="t" r="r" b="b"/>
                <a:pathLst>
                  <a:path w="103327" h="133350">
                    <a:moveTo>
                      <a:pt x="23088" y="85725"/>
                    </a:moveTo>
                    <a:cubicBezTo>
                      <a:pt x="6689" y="73425"/>
                      <a:pt x="0" y="52012"/>
                      <a:pt x="6482" y="32565"/>
                    </a:cubicBezTo>
                    <a:cubicBezTo>
                      <a:pt x="12965" y="13117"/>
                      <a:pt x="31164" y="0"/>
                      <a:pt x="51663" y="0"/>
                    </a:cubicBezTo>
                    <a:cubicBezTo>
                      <a:pt x="72163" y="0"/>
                      <a:pt x="90362" y="13117"/>
                      <a:pt x="96845" y="32565"/>
                    </a:cubicBezTo>
                    <a:cubicBezTo>
                      <a:pt x="103327" y="52012"/>
                      <a:pt x="96638" y="73425"/>
                      <a:pt x="80238" y="85725"/>
                    </a:cubicBezTo>
                    <a:cubicBezTo>
                      <a:pt x="72696" y="93191"/>
                      <a:pt x="69159" y="103802"/>
                      <a:pt x="70713" y="114300"/>
                    </a:cubicBezTo>
                    <a:cubicBezTo>
                      <a:pt x="70713" y="124821"/>
                      <a:pt x="62184" y="133350"/>
                      <a:pt x="51663" y="133350"/>
                    </a:cubicBezTo>
                    <a:cubicBezTo>
                      <a:pt x="41142" y="133350"/>
                      <a:pt x="32613" y="124821"/>
                      <a:pt x="32613" y="114300"/>
                    </a:cubicBezTo>
                    <a:cubicBezTo>
                      <a:pt x="34168" y="103802"/>
                      <a:pt x="30631" y="93191"/>
                      <a:pt x="23088" y="85725"/>
                    </a:cubicBezTo>
                  </a:path>
                </a:pathLst>
              </a:custGeom>
              <a:noFill/>
              <a:ln w="19050">
                <a:solidFill>
                  <a:srgbClr val="FFFFFF"/>
                </a:solidFill>
              </a:ln>
            </p:spPr>
          </p:sp>
          <p:sp>
            <p:nvSpPr>
              <p:cNvPr id="77" name="Freeform 77"/>
              <p:cNvSpPr/>
              <p:nvPr/>
            </p:nvSpPr>
            <p:spPr>
              <a:xfrm>
                <a:off x="5521642" y="3762375"/>
                <a:ext cx="43815" cy="9525"/>
              </a:xfrm>
              <a:custGeom>
                <a:avLst/>
                <a:gdLst/>
                <a:ahLst/>
                <a:cxnLst/>
                <a:rect l="l" t="t" r="r" b="b"/>
                <a:pathLst>
                  <a:path w="43815" h="9525">
                    <a:moveTo>
                      <a:pt x="0" y="0"/>
                    </a:moveTo>
                    <a:lnTo>
                      <a:pt x="43815" y="0"/>
                    </a:lnTo>
                  </a:path>
                </a:pathLst>
              </a:custGeom>
              <a:noFill/>
              <a:ln w="19050">
                <a:solidFill>
                  <a:srgbClr val="FFFFFF"/>
                </a:solidFill>
              </a:ln>
            </p:spPr>
          </p:sp>
        </p:grpSp>
        <p:sp>
          <p:nvSpPr>
            <p:cNvPr id="79" name="TextBox 79"/>
            <p:cNvSpPr txBox="1"/>
            <p:nvPr/>
          </p:nvSpPr>
          <p:spPr>
            <a:xfrm>
              <a:off x="5702618" y="3647599"/>
              <a:ext cx="141041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上下文理解 · 指代消解</a:t>
              </a:r>
            </a:p>
          </p:txBody>
        </p:sp>
        <p:sp>
          <p:nvSpPr>
            <p:cNvPr id="80" name="Rectangle 80"/>
            <p:cNvSpPr/>
            <p:nvPr/>
          </p:nvSpPr>
          <p:spPr>
            <a:xfrm>
              <a:off x="8382000" y="3524250"/>
              <a:ext cx="2667000" cy="381000"/>
            </a:xfrm>
            <a:prstGeom prst="roundRect">
              <a:avLst>
                <a:gd name="adj" fmla="val 15000"/>
              </a:avLst>
            </a:prstGeom>
            <a:solidFill>
              <a:srgbClr val="FFFFFF">
                <a:alpha val="18000"/>
              </a:srgbClr>
            </a:solidFill>
            <a:ln>
              <a:noFill/>
            </a:ln>
          </p:spPr>
        </p:sp>
        <p:grpSp>
          <p:nvGrpSpPr>
            <p:cNvPr id="83" name="Group 83"/>
            <p:cNvGrpSpPr/>
            <p:nvPr/>
          </p:nvGrpSpPr>
          <p:grpSpPr>
            <a:xfrm>
              <a:off x="8501644" y="3624844"/>
              <a:ext cx="179813" cy="179813"/>
              <a:chOff x="8501644" y="3624844"/>
              <a:chExt cx="179813" cy="179813"/>
            </a:xfrm>
          </p:grpSpPr>
          <p:sp>
            <p:nvSpPr>
              <p:cNvPr id="81" name="Freeform 81"/>
              <p:cNvSpPr/>
              <p:nvPr/>
            </p:nvSpPr>
            <p:spPr>
              <a:xfrm>
                <a:off x="8501644" y="3624844"/>
                <a:ext cx="179813" cy="179813"/>
              </a:xfrm>
              <a:custGeom>
                <a:avLst/>
                <a:gdLst/>
                <a:ahLst/>
                <a:cxnLst/>
                <a:rect l="l" t="t" r="r" b="b"/>
                <a:pathLst>
                  <a:path w="179813" h="179813">
                    <a:moveTo>
                      <a:pt x="73952" y="16726"/>
                    </a:moveTo>
                    <a:cubicBezTo>
                      <a:pt x="78010" y="0"/>
                      <a:pt x="101803" y="0"/>
                      <a:pt x="105861" y="16726"/>
                    </a:cubicBezTo>
                    <a:cubicBezTo>
                      <a:pt x="107096" y="21822"/>
                      <a:pt x="110690" y="26023"/>
                      <a:pt x="115535" y="28030"/>
                    </a:cubicBezTo>
                    <a:cubicBezTo>
                      <a:pt x="120380" y="30037"/>
                      <a:pt x="125891" y="29609"/>
                      <a:pt x="130369" y="26880"/>
                    </a:cubicBezTo>
                    <a:cubicBezTo>
                      <a:pt x="145066" y="17926"/>
                      <a:pt x="161896" y="34747"/>
                      <a:pt x="152943" y="49454"/>
                    </a:cubicBezTo>
                    <a:cubicBezTo>
                      <a:pt x="150217" y="53929"/>
                      <a:pt x="149791" y="59437"/>
                      <a:pt x="151795" y="64278"/>
                    </a:cubicBezTo>
                    <a:cubicBezTo>
                      <a:pt x="153800" y="69120"/>
                      <a:pt x="157995" y="72714"/>
                      <a:pt x="163087" y="73952"/>
                    </a:cubicBezTo>
                    <a:cubicBezTo>
                      <a:pt x="179813" y="78010"/>
                      <a:pt x="179813" y="101803"/>
                      <a:pt x="163087" y="105861"/>
                    </a:cubicBezTo>
                    <a:cubicBezTo>
                      <a:pt x="157991" y="107096"/>
                      <a:pt x="153790" y="110690"/>
                      <a:pt x="151783" y="115535"/>
                    </a:cubicBezTo>
                    <a:cubicBezTo>
                      <a:pt x="149776" y="120380"/>
                      <a:pt x="150204" y="125891"/>
                      <a:pt x="152933" y="130369"/>
                    </a:cubicBezTo>
                    <a:cubicBezTo>
                      <a:pt x="161887" y="145066"/>
                      <a:pt x="145066" y="161896"/>
                      <a:pt x="130359" y="152943"/>
                    </a:cubicBezTo>
                    <a:cubicBezTo>
                      <a:pt x="125884" y="150217"/>
                      <a:pt x="120376" y="149791"/>
                      <a:pt x="115535" y="151795"/>
                    </a:cubicBezTo>
                    <a:cubicBezTo>
                      <a:pt x="110693" y="153800"/>
                      <a:pt x="107099" y="157995"/>
                      <a:pt x="105861" y="163087"/>
                    </a:cubicBezTo>
                    <a:cubicBezTo>
                      <a:pt x="101803" y="179813"/>
                      <a:pt x="78010" y="179813"/>
                      <a:pt x="73952" y="163087"/>
                    </a:cubicBezTo>
                    <a:cubicBezTo>
                      <a:pt x="72717" y="157991"/>
                      <a:pt x="69123" y="153790"/>
                      <a:pt x="64278" y="151783"/>
                    </a:cubicBezTo>
                    <a:cubicBezTo>
                      <a:pt x="59433" y="149776"/>
                      <a:pt x="53922" y="150204"/>
                      <a:pt x="49444" y="152933"/>
                    </a:cubicBezTo>
                    <a:cubicBezTo>
                      <a:pt x="34747" y="161887"/>
                      <a:pt x="17917" y="145066"/>
                      <a:pt x="26870" y="130359"/>
                    </a:cubicBezTo>
                    <a:cubicBezTo>
                      <a:pt x="29596" y="125884"/>
                      <a:pt x="30022" y="120376"/>
                      <a:pt x="28018" y="115535"/>
                    </a:cubicBezTo>
                    <a:cubicBezTo>
                      <a:pt x="26013" y="110693"/>
                      <a:pt x="21818" y="107099"/>
                      <a:pt x="16726" y="105861"/>
                    </a:cubicBezTo>
                    <a:cubicBezTo>
                      <a:pt x="0" y="101803"/>
                      <a:pt x="0" y="78010"/>
                      <a:pt x="16726" y="73952"/>
                    </a:cubicBezTo>
                    <a:cubicBezTo>
                      <a:pt x="21822" y="72717"/>
                      <a:pt x="26023" y="69123"/>
                      <a:pt x="28030" y="64278"/>
                    </a:cubicBezTo>
                    <a:cubicBezTo>
                      <a:pt x="30037" y="59433"/>
                      <a:pt x="29609" y="53922"/>
                      <a:pt x="26880" y="49444"/>
                    </a:cubicBezTo>
                    <a:cubicBezTo>
                      <a:pt x="17926" y="34747"/>
                      <a:pt x="34747" y="17917"/>
                      <a:pt x="49454" y="26870"/>
                    </a:cubicBezTo>
                    <a:cubicBezTo>
                      <a:pt x="58979" y="32661"/>
                      <a:pt x="71323" y="27537"/>
                      <a:pt x="73952" y="16726"/>
                    </a:cubicBezTo>
                  </a:path>
                </a:pathLst>
              </a:custGeom>
              <a:noFill/>
              <a:ln w="19050">
                <a:solidFill>
                  <a:srgbClr val="FFFFFF"/>
                </a:solidFill>
              </a:ln>
            </p:spPr>
          </p:sp>
          <p:sp>
            <p:nvSpPr>
              <p:cNvPr id="82" name="Freeform 82"/>
              <p:cNvSpPr/>
              <p:nvPr/>
            </p:nvSpPr>
            <p:spPr>
              <a:xfrm>
                <a:off x="8562975" y="368617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FFFFFF"/>
                </a:solidFill>
              </a:ln>
            </p:spPr>
          </p:sp>
        </p:grpSp>
        <p:sp>
          <p:nvSpPr>
            <p:cNvPr id="84" name="TextBox 84"/>
            <p:cNvSpPr txBox="1"/>
            <p:nvPr/>
          </p:nvSpPr>
          <p:spPr>
            <a:xfrm>
              <a:off x="8750618" y="3647599"/>
              <a:ext cx="980384"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个性化建议生成</a:t>
              </a:r>
            </a:p>
          </p:txBody>
        </p:sp>
      </p:grpSp>
      <p:sp>
        <p:nvSpPr>
          <p:cNvPr id="86" name="Freeform 86"/>
          <p:cNvSpPr/>
          <p:nvPr/>
        </p:nvSpPr>
        <p:spPr>
          <a:xfrm>
            <a:off x="6096000" y="4048125"/>
            <a:ext cx="381000" cy="190500"/>
          </a:xfrm>
          <a:custGeom>
            <a:avLst/>
            <a:gdLst/>
            <a:ahLst/>
            <a:cxnLst/>
            <a:rect l="l" t="t" r="r" b="b"/>
            <a:pathLst>
              <a:path w="381000" h="190500">
                <a:moveTo>
                  <a:pt x="95250" y="0"/>
                </a:moveTo>
                <a:lnTo>
                  <a:pt x="95250" y="47625"/>
                </a:lnTo>
                <a:lnTo>
                  <a:pt x="0" y="47625"/>
                </a:lnTo>
                <a:lnTo>
                  <a:pt x="190500" y="190500"/>
                </a:lnTo>
                <a:lnTo>
                  <a:pt x="381000" y="47625"/>
                </a:lnTo>
                <a:lnTo>
                  <a:pt x="285750" y="47625"/>
                </a:lnTo>
                <a:lnTo>
                  <a:pt x="285750" y="0"/>
                </a:lnTo>
                <a:close/>
              </a:path>
            </a:pathLst>
          </a:custGeom>
          <a:solidFill>
            <a:srgbClr val="5C6BC0"/>
          </a:solidFill>
          <a:ln>
            <a:noFill/>
          </a:ln>
        </p:spPr>
      </p:sp>
      <p:grpSp>
        <p:nvGrpSpPr>
          <p:cNvPr id="113" name="Group 113"/>
          <p:cNvGrpSpPr/>
          <p:nvPr/>
        </p:nvGrpSpPr>
        <p:grpSpPr>
          <a:xfrm>
            <a:off x="762000" y="4238625"/>
            <a:ext cx="10858500" cy="952500"/>
            <a:chOff x="762000" y="4238625"/>
            <a:chExt cx="10858500" cy="952500"/>
          </a:xfrm>
        </p:grpSpPr>
        <p:sp>
          <p:nvSpPr>
            <p:cNvPr id="87" name="Rectangle 87"/>
            <p:cNvSpPr/>
            <p:nvPr/>
          </p:nvSpPr>
          <p:spPr>
            <a:xfrm>
              <a:off x="762000" y="4238625"/>
              <a:ext cx="10858500" cy="952500"/>
            </a:xfrm>
            <a:prstGeom prst="roundRect">
              <a:avLst>
                <a:gd name="adj" fmla="val 10000"/>
              </a:avLst>
            </a:prstGeom>
            <a:gradFill>
              <a:gsLst>
                <a:gs pos="0">
                  <a:srgbClr val="7986CB"/>
                </a:gs>
                <a:gs pos="100000">
                  <a:srgbClr val="9FA8DA"/>
                </a:gs>
              </a:gsLst>
              <a:lin ang="0" scaled="1"/>
            </a:gradFill>
            <a:ln>
              <a:noFill/>
            </a:ln>
            <a:effectLst>
              <a:outerShdw blurRad="76200" dist="19050" dir="5400000" algn="ctr" rotWithShape="0">
                <a:srgbClr val="0F172A">
                  <a:alpha val="7500"/>
                </a:srgbClr>
              </a:outerShdw>
            </a:effectLst>
          </p:spPr>
        </p:sp>
        <p:sp>
          <p:nvSpPr>
            <p:cNvPr id="88" name="Rectangle 88"/>
            <p:cNvSpPr/>
            <p:nvPr/>
          </p:nvSpPr>
          <p:spPr>
            <a:xfrm>
              <a:off x="762000" y="4238625"/>
              <a:ext cx="1143000" cy="952500"/>
            </a:xfrm>
            <a:prstGeom prst="roundRect">
              <a:avLst>
                <a:gd name="adj" fmla="val 10000"/>
              </a:avLst>
            </a:prstGeom>
            <a:solidFill>
              <a:srgbClr val="1B5E20"/>
            </a:solidFill>
            <a:ln>
              <a:noFill/>
            </a:ln>
          </p:spPr>
        </p:sp>
        <p:grpSp>
          <p:nvGrpSpPr>
            <p:cNvPr id="94" name="Group 94"/>
            <p:cNvGrpSpPr/>
            <p:nvPr/>
          </p:nvGrpSpPr>
          <p:grpSpPr>
            <a:xfrm>
              <a:off x="1181100" y="4505325"/>
              <a:ext cx="304800" cy="304800"/>
              <a:chOff x="1181100" y="4505325"/>
              <a:chExt cx="304800" cy="304800"/>
            </a:xfrm>
          </p:grpSpPr>
          <p:sp>
            <p:nvSpPr>
              <p:cNvPr id="89" name="Freeform 89"/>
              <p:cNvSpPr/>
              <p:nvPr/>
            </p:nvSpPr>
            <p:spPr>
              <a:xfrm>
                <a:off x="1181100" y="4505325"/>
                <a:ext cx="76200" cy="57150"/>
              </a:xfrm>
              <a:custGeom>
                <a:avLst/>
                <a:gdLst/>
                <a:ahLst/>
                <a:cxnLst/>
                <a:rect l="l" t="t" r="r" b="b"/>
                <a:pathLst>
                  <a:path w="76200" h="57150">
                    <a:moveTo>
                      <a:pt x="0" y="57150"/>
                    </a:moveTo>
                    <a:lnTo>
                      <a:pt x="0" y="38100"/>
                    </a:lnTo>
                    <a:cubicBezTo>
                      <a:pt x="0" y="17058"/>
                      <a:pt x="17058" y="0"/>
                      <a:pt x="38100" y="0"/>
                    </a:cubicBezTo>
                    <a:lnTo>
                      <a:pt x="76200" y="0"/>
                    </a:lnTo>
                  </a:path>
                </a:pathLst>
              </a:custGeom>
              <a:noFill/>
              <a:ln w="19050">
                <a:solidFill>
                  <a:srgbClr val="FFFFFF"/>
                </a:solidFill>
              </a:ln>
            </p:spPr>
          </p:sp>
          <p:sp>
            <p:nvSpPr>
              <p:cNvPr id="90" name="Freeform 90"/>
              <p:cNvSpPr/>
              <p:nvPr/>
            </p:nvSpPr>
            <p:spPr>
              <a:xfrm>
                <a:off x="1181100" y="4752975"/>
                <a:ext cx="76200" cy="57150"/>
              </a:xfrm>
              <a:custGeom>
                <a:avLst/>
                <a:gdLst/>
                <a:ahLst/>
                <a:cxnLst/>
                <a:rect l="l" t="t" r="r" b="b"/>
                <a:pathLst>
                  <a:path w="76200" h="57150">
                    <a:moveTo>
                      <a:pt x="0" y="0"/>
                    </a:moveTo>
                    <a:lnTo>
                      <a:pt x="0" y="19050"/>
                    </a:lnTo>
                    <a:cubicBezTo>
                      <a:pt x="0" y="40092"/>
                      <a:pt x="17058" y="57150"/>
                      <a:pt x="38100" y="57150"/>
                    </a:cubicBezTo>
                    <a:lnTo>
                      <a:pt x="76200" y="57150"/>
                    </a:lnTo>
                  </a:path>
                </a:pathLst>
              </a:custGeom>
              <a:noFill/>
              <a:ln w="19050">
                <a:solidFill>
                  <a:srgbClr val="FFFFFF"/>
                </a:solidFill>
              </a:ln>
            </p:spPr>
          </p:sp>
          <p:sp>
            <p:nvSpPr>
              <p:cNvPr id="91" name="Freeform 91"/>
              <p:cNvSpPr/>
              <p:nvPr/>
            </p:nvSpPr>
            <p:spPr>
              <a:xfrm>
                <a:off x="1409700" y="4505325"/>
                <a:ext cx="76200" cy="57150"/>
              </a:xfrm>
              <a:custGeom>
                <a:avLst/>
                <a:gdLst/>
                <a:ahLst/>
                <a:cxnLst/>
                <a:rect l="l" t="t" r="r" b="b"/>
                <a:pathLst>
                  <a:path w="76200" h="57150">
                    <a:moveTo>
                      <a:pt x="0" y="0"/>
                    </a:moveTo>
                    <a:lnTo>
                      <a:pt x="38100" y="0"/>
                    </a:lnTo>
                    <a:cubicBezTo>
                      <a:pt x="59142" y="0"/>
                      <a:pt x="76200" y="17058"/>
                      <a:pt x="76200" y="38100"/>
                    </a:cubicBezTo>
                    <a:lnTo>
                      <a:pt x="76200" y="57150"/>
                    </a:lnTo>
                  </a:path>
                </a:pathLst>
              </a:custGeom>
              <a:noFill/>
              <a:ln w="19050">
                <a:solidFill>
                  <a:srgbClr val="FFFFFF"/>
                </a:solidFill>
              </a:ln>
            </p:spPr>
          </p:sp>
          <p:sp>
            <p:nvSpPr>
              <p:cNvPr id="92" name="Freeform 92"/>
              <p:cNvSpPr/>
              <p:nvPr/>
            </p:nvSpPr>
            <p:spPr>
              <a:xfrm>
                <a:off x="1409700" y="4752975"/>
                <a:ext cx="76200" cy="57150"/>
              </a:xfrm>
              <a:custGeom>
                <a:avLst/>
                <a:gdLst/>
                <a:ahLst/>
                <a:cxnLst/>
                <a:rect l="l" t="t" r="r" b="b"/>
                <a:pathLst>
                  <a:path w="76200" h="57150">
                    <a:moveTo>
                      <a:pt x="0" y="57150"/>
                    </a:moveTo>
                    <a:lnTo>
                      <a:pt x="38100" y="57150"/>
                    </a:lnTo>
                    <a:cubicBezTo>
                      <a:pt x="59142" y="57150"/>
                      <a:pt x="76200" y="40092"/>
                      <a:pt x="76200" y="19050"/>
                    </a:cubicBezTo>
                    <a:lnTo>
                      <a:pt x="76200" y="0"/>
                    </a:lnTo>
                  </a:path>
                </a:pathLst>
              </a:custGeom>
              <a:noFill/>
              <a:ln w="19050">
                <a:solidFill>
                  <a:srgbClr val="FFFFFF"/>
                </a:solidFill>
              </a:ln>
            </p:spPr>
          </p:sp>
          <p:sp>
            <p:nvSpPr>
              <p:cNvPr id="93" name="Freeform 93"/>
              <p:cNvSpPr/>
              <p:nvPr/>
            </p:nvSpPr>
            <p:spPr>
              <a:xfrm>
                <a:off x="1200150" y="4657725"/>
                <a:ext cx="266700" cy="9525"/>
              </a:xfrm>
              <a:custGeom>
                <a:avLst/>
                <a:gdLst/>
                <a:ahLst/>
                <a:cxnLst/>
                <a:rect l="l" t="t" r="r" b="b"/>
                <a:pathLst>
                  <a:path w="266700" h="9525">
                    <a:moveTo>
                      <a:pt x="0" y="0"/>
                    </a:moveTo>
                    <a:lnTo>
                      <a:pt x="266700" y="0"/>
                    </a:lnTo>
                  </a:path>
                </a:pathLst>
              </a:custGeom>
              <a:noFill/>
              <a:ln w="19050">
                <a:solidFill>
                  <a:srgbClr val="FFFFFF"/>
                </a:solidFill>
              </a:ln>
            </p:spPr>
          </p:sp>
        </p:grpSp>
        <p:sp>
          <p:nvSpPr>
            <p:cNvPr id="95" name="TextBox 95"/>
            <p:cNvSpPr txBox="1"/>
            <p:nvPr/>
          </p:nvSpPr>
          <p:spPr>
            <a:xfrm>
              <a:off x="1060587" y="4941570"/>
              <a:ext cx="545825" cy="182880"/>
            </a:xfrm>
            <a:prstGeom prst="rect">
              <a:avLst/>
            </a:prstGeom>
            <a:noFill/>
            <a:ln>
              <a:noFill/>
            </a:ln>
          </p:spPr>
          <p:txBody>
            <a:bodyPr wrap="none" lIns="0" tIns="0" rIns="0" bIns="0" anchor="t" anchorCtr="0">
              <a:spAutoFit/>
            </a:bodyPr>
            <a:lstStyle/>
            <a:p>
              <a:pPr algn="ctr"/>
              <a:r>
                <a:rPr lang="zh-CN" sz="900" b="1" dirty="0">
                  <a:solidFill>
                    <a:srgbClr val="FFFFFF">
                      <a:alphaMod val="85000"/>
                    </a:srgbClr>
                  </a:solidFill>
                  <a:latin typeface="Arial"/>
                  <a:ea typeface="Microsoft YaHei"/>
                  <a:cs typeface="Arial"/>
                </a:rPr>
                <a:t>LAYER 03</a:t>
              </a:r>
            </a:p>
          </p:txBody>
        </p:sp>
        <p:sp>
          <p:nvSpPr>
            <p:cNvPr id="96" name="TextBox 96"/>
            <p:cNvSpPr txBox="1"/>
            <p:nvPr/>
          </p:nvSpPr>
          <p:spPr>
            <a:xfrm>
              <a:off x="2076450" y="4381500"/>
              <a:ext cx="1088231"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ambria"/>
                  <a:ea typeface="SimSun"/>
                  <a:cs typeface="Cambria"/>
                </a:rPr>
                <a:t>视觉分析层</a:t>
              </a:r>
            </a:p>
          </p:txBody>
        </p:sp>
        <p:sp>
          <p:nvSpPr>
            <p:cNvPr id="97" name="TextBox 97"/>
            <p:cNvSpPr txBox="1"/>
            <p:nvPr/>
          </p:nvSpPr>
          <p:spPr>
            <a:xfrm>
              <a:off x="3036570" y="4446270"/>
              <a:ext cx="1283017" cy="182880"/>
            </a:xfrm>
            <a:prstGeom prst="rect">
              <a:avLst/>
            </a:prstGeom>
            <a:noFill/>
            <a:ln>
              <a:noFill/>
            </a:ln>
          </p:spPr>
          <p:txBody>
            <a:bodyPr wrap="none" lIns="0" tIns="0" rIns="0" bIns="0" anchor="t" anchorCtr="0">
              <a:spAutoFit/>
            </a:bodyPr>
            <a:lstStyle/>
            <a:p>
              <a:pPr algn="l"/>
              <a:r>
                <a:rPr lang="zh-CN" sz="900" dirty="0">
                  <a:solidFill>
                    <a:srgbClr val="FFFFFF">
                      <a:alphaMod val="85000"/>
                    </a:srgbClr>
                  </a:solidFill>
                  <a:latin typeface="Arial"/>
                  <a:ea typeface="Microsoft YaHei"/>
                  <a:cs typeface="Arial"/>
                </a:rPr>
                <a:t>VISION ANALYSIS LAYER</a:t>
              </a:r>
            </a:p>
          </p:txBody>
        </p:sp>
        <p:sp>
          <p:nvSpPr>
            <p:cNvPr id="98" name="Rectangle 98"/>
            <p:cNvSpPr/>
            <p:nvPr/>
          </p:nvSpPr>
          <p:spPr>
            <a:xfrm>
              <a:off x="2095500" y="4714875"/>
              <a:ext cx="2857500" cy="381000"/>
            </a:xfrm>
            <a:prstGeom prst="roundRect">
              <a:avLst>
                <a:gd name="adj" fmla="val 15000"/>
              </a:avLst>
            </a:prstGeom>
            <a:solidFill>
              <a:srgbClr val="FFFFFF">
                <a:alpha val="20000"/>
              </a:srgbClr>
            </a:solidFill>
            <a:ln>
              <a:noFill/>
            </a:ln>
          </p:spPr>
        </p:sp>
        <p:grpSp>
          <p:nvGrpSpPr>
            <p:cNvPr id="101" name="Group 101"/>
            <p:cNvGrpSpPr/>
            <p:nvPr/>
          </p:nvGrpSpPr>
          <p:grpSpPr>
            <a:xfrm>
              <a:off x="2219325" y="4848225"/>
              <a:ext cx="171450" cy="114300"/>
              <a:chOff x="2219325" y="4848225"/>
              <a:chExt cx="171450" cy="114300"/>
            </a:xfrm>
          </p:grpSpPr>
          <p:sp>
            <p:nvSpPr>
              <p:cNvPr id="99" name="Freeform 99"/>
              <p:cNvSpPr/>
              <p:nvPr/>
            </p:nvSpPr>
            <p:spPr>
              <a:xfrm>
                <a:off x="2286000" y="4886325"/>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rgbClr val="FFFFFF"/>
                </a:solidFill>
              </a:ln>
            </p:spPr>
          </p:sp>
          <p:sp>
            <p:nvSpPr>
              <p:cNvPr id="100" name="Freeform 100"/>
              <p:cNvSpPr/>
              <p:nvPr/>
            </p:nvSpPr>
            <p:spPr>
              <a:xfrm>
                <a:off x="2219325" y="4848225"/>
                <a:ext cx="171450" cy="114300"/>
              </a:xfrm>
              <a:custGeom>
                <a:avLst/>
                <a:gdLst/>
                <a:ahLst/>
                <a:cxnLst/>
                <a:rect l="l" t="t" r="r" b="b"/>
                <a:pathLst>
                  <a:path w="171450" h="114300">
                    <a:moveTo>
                      <a:pt x="171450" y="57150"/>
                    </a:moveTo>
                    <a:cubicBezTo>
                      <a:pt x="148590" y="95250"/>
                      <a:pt x="120015" y="114300"/>
                      <a:pt x="85725" y="114300"/>
                    </a:cubicBezTo>
                    <a:cubicBezTo>
                      <a:pt x="51435" y="114300"/>
                      <a:pt x="22860" y="95250"/>
                      <a:pt x="0" y="57150"/>
                    </a:cubicBezTo>
                    <a:cubicBezTo>
                      <a:pt x="22860" y="19050"/>
                      <a:pt x="51435" y="0"/>
                      <a:pt x="85725" y="0"/>
                    </a:cubicBezTo>
                    <a:cubicBezTo>
                      <a:pt x="120015" y="0"/>
                      <a:pt x="148590" y="19050"/>
                      <a:pt x="171450" y="57150"/>
                    </a:cubicBezTo>
                  </a:path>
                </a:pathLst>
              </a:custGeom>
              <a:noFill/>
              <a:ln w="19050">
                <a:solidFill>
                  <a:srgbClr val="FFFFFF"/>
                </a:solidFill>
              </a:ln>
            </p:spPr>
          </p:sp>
        </p:grpSp>
        <p:sp>
          <p:nvSpPr>
            <p:cNvPr id="102" name="TextBox 102"/>
            <p:cNvSpPr txBox="1"/>
            <p:nvPr/>
          </p:nvSpPr>
          <p:spPr>
            <a:xfrm>
              <a:off x="2464118" y="4838224"/>
              <a:ext cx="111690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YOLOv8 盘子检测</a:t>
              </a:r>
            </a:p>
          </p:txBody>
        </p:sp>
        <p:sp>
          <p:nvSpPr>
            <p:cNvPr id="103" name="Rectangle 103"/>
            <p:cNvSpPr/>
            <p:nvPr/>
          </p:nvSpPr>
          <p:spPr>
            <a:xfrm>
              <a:off x="5143500" y="4714875"/>
              <a:ext cx="2667000" cy="381000"/>
            </a:xfrm>
            <a:prstGeom prst="roundRect">
              <a:avLst>
                <a:gd name="adj" fmla="val 15000"/>
              </a:avLst>
            </a:prstGeom>
            <a:solidFill>
              <a:srgbClr val="FFFFFF">
                <a:alpha val="20000"/>
              </a:srgbClr>
            </a:solidFill>
            <a:ln>
              <a:noFill/>
            </a:ln>
          </p:spPr>
        </p:sp>
        <p:grpSp>
          <p:nvGrpSpPr>
            <p:cNvPr id="108" name="Group 108"/>
            <p:cNvGrpSpPr/>
            <p:nvPr/>
          </p:nvGrpSpPr>
          <p:grpSpPr>
            <a:xfrm>
              <a:off x="5267325" y="4829175"/>
              <a:ext cx="152400" cy="152400"/>
              <a:chOff x="5267325" y="4829175"/>
              <a:chExt cx="152400" cy="152400"/>
            </a:xfrm>
          </p:grpSpPr>
          <p:sp>
            <p:nvSpPr>
              <p:cNvPr id="104" name="Freeform 104"/>
              <p:cNvSpPr/>
              <p:nvPr/>
            </p:nvSpPr>
            <p:spPr>
              <a:xfrm>
                <a:off x="5267325" y="482917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FFFFFF"/>
                </a:solidFill>
              </a:ln>
            </p:spPr>
          </p:sp>
          <p:sp>
            <p:nvSpPr>
              <p:cNvPr id="105" name="Freeform 105"/>
              <p:cNvSpPr/>
              <p:nvPr/>
            </p:nvSpPr>
            <p:spPr>
              <a:xfrm>
                <a:off x="5267325" y="492442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FFFFFF"/>
                </a:solidFill>
              </a:ln>
            </p:spPr>
          </p:sp>
          <p:sp>
            <p:nvSpPr>
              <p:cNvPr id="106" name="Freeform 106"/>
              <p:cNvSpPr/>
              <p:nvPr/>
            </p:nvSpPr>
            <p:spPr>
              <a:xfrm>
                <a:off x="5320665" y="4872990"/>
                <a:ext cx="99060" cy="99060"/>
              </a:xfrm>
              <a:custGeom>
                <a:avLst/>
                <a:gdLst/>
                <a:ahLst/>
                <a:cxnLst/>
                <a:rect l="l" t="t" r="r" b="b"/>
                <a:pathLst>
                  <a:path w="99060" h="99060">
                    <a:moveTo>
                      <a:pt x="0" y="0"/>
                    </a:moveTo>
                    <a:lnTo>
                      <a:pt x="99060" y="99060"/>
                    </a:lnTo>
                  </a:path>
                </a:pathLst>
              </a:custGeom>
              <a:noFill/>
              <a:ln w="19050">
                <a:solidFill>
                  <a:srgbClr val="FFFFFF"/>
                </a:solidFill>
              </a:ln>
            </p:spPr>
          </p:sp>
          <p:sp>
            <p:nvSpPr>
              <p:cNvPr id="107" name="Freeform 107"/>
              <p:cNvSpPr/>
              <p:nvPr/>
            </p:nvSpPr>
            <p:spPr>
              <a:xfrm>
                <a:off x="5320665" y="4838700"/>
                <a:ext cx="99060" cy="99060"/>
              </a:xfrm>
              <a:custGeom>
                <a:avLst/>
                <a:gdLst/>
                <a:ahLst/>
                <a:cxnLst/>
                <a:rect l="l" t="t" r="r" b="b"/>
                <a:pathLst>
                  <a:path w="99060" h="99060">
                    <a:moveTo>
                      <a:pt x="0" y="99060"/>
                    </a:moveTo>
                    <a:lnTo>
                      <a:pt x="99060" y="0"/>
                    </a:lnTo>
                  </a:path>
                </a:pathLst>
              </a:custGeom>
              <a:noFill/>
              <a:ln w="19050">
                <a:solidFill>
                  <a:srgbClr val="FFFFFF"/>
                </a:solidFill>
              </a:ln>
            </p:spPr>
          </p:sp>
        </p:grpSp>
        <p:sp>
          <p:nvSpPr>
            <p:cNvPr id="109" name="TextBox 109"/>
            <p:cNvSpPr txBox="1"/>
            <p:nvPr/>
          </p:nvSpPr>
          <p:spPr>
            <a:xfrm>
              <a:off x="5512118" y="4838224"/>
              <a:ext cx="727828"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SAM 精分割</a:t>
              </a:r>
            </a:p>
          </p:txBody>
        </p:sp>
        <p:sp>
          <p:nvSpPr>
            <p:cNvPr id="110" name="Rectangle 110"/>
            <p:cNvSpPr/>
            <p:nvPr/>
          </p:nvSpPr>
          <p:spPr>
            <a:xfrm>
              <a:off x="8001000" y="4714875"/>
              <a:ext cx="3048000" cy="381000"/>
            </a:xfrm>
            <a:prstGeom prst="roundRect">
              <a:avLst>
                <a:gd name="adj" fmla="val 15000"/>
              </a:avLst>
            </a:prstGeom>
            <a:solidFill>
              <a:srgbClr val="FFFFFF">
                <a:alpha val="20000"/>
              </a:srgbClr>
            </a:solidFill>
            <a:ln>
              <a:noFill/>
            </a:ln>
          </p:spPr>
        </p:sp>
        <p:sp>
          <p:nvSpPr>
            <p:cNvPr id="111" name="Freeform 111"/>
            <p:cNvSpPr/>
            <p:nvPr/>
          </p:nvSpPr>
          <p:spPr>
            <a:xfrm>
              <a:off x="8143875" y="4810125"/>
              <a:ext cx="133350" cy="180975"/>
            </a:xfrm>
            <a:custGeom>
              <a:avLst/>
              <a:gdLst/>
              <a:ahLst/>
              <a:cxnLst/>
              <a:rect l="l" t="t" r="r" b="b"/>
              <a:pathLst>
                <a:path w="133350" h="180975">
                  <a:moveTo>
                    <a:pt x="66675" y="85163"/>
                  </a:moveTo>
                  <a:cubicBezTo>
                    <a:pt x="88897" y="53654"/>
                    <a:pt x="68266" y="10649"/>
                    <a:pt x="57150" y="0"/>
                  </a:cubicBezTo>
                  <a:cubicBezTo>
                    <a:pt x="57150" y="32337"/>
                    <a:pt x="35862" y="50473"/>
                    <a:pt x="22222" y="63875"/>
                  </a:cubicBezTo>
                  <a:cubicBezTo>
                    <a:pt x="8601" y="77286"/>
                    <a:pt x="0" y="95250"/>
                    <a:pt x="0" y="117100"/>
                  </a:cubicBezTo>
                  <a:cubicBezTo>
                    <a:pt x="0" y="152381"/>
                    <a:pt x="29851" y="180975"/>
                    <a:pt x="66675" y="180975"/>
                  </a:cubicBezTo>
                  <a:cubicBezTo>
                    <a:pt x="103499" y="180975"/>
                    <a:pt x="133350" y="152381"/>
                    <a:pt x="133350" y="117100"/>
                  </a:cubicBezTo>
                  <a:cubicBezTo>
                    <a:pt x="133350" y="100794"/>
                    <a:pt x="121615" y="75162"/>
                    <a:pt x="111128" y="63875"/>
                  </a:cubicBezTo>
                  <a:cubicBezTo>
                    <a:pt x="91278" y="95812"/>
                    <a:pt x="80105" y="95812"/>
                    <a:pt x="66675" y="85163"/>
                  </a:cubicBezTo>
                </a:path>
              </a:pathLst>
            </a:custGeom>
            <a:noFill/>
            <a:ln w="19050">
              <a:solidFill>
                <a:srgbClr val="FFFFFF"/>
              </a:solidFill>
            </a:ln>
          </p:spPr>
        </p:sp>
        <p:sp>
          <p:nvSpPr>
            <p:cNvPr id="112" name="TextBox 112"/>
            <p:cNvSpPr txBox="1"/>
            <p:nvPr/>
          </p:nvSpPr>
          <p:spPr>
            <a:xfrm>
              <a:off x="8369618" y="4838224"/>
              <a:ext cx="133532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CalorieCLIP 热量预测</a:t>
              </a:r>
            </a:p>
          </p:txBody>
        </p:sp>
      </p:grpSp>
      <p:sp>
        <p:nvSpPr>
          <p:cNvPr id="114" name="Freeform 114"/>
          <p:cNvSpPr/>
          <p:nvPr/>
        </p:nvSpPr>
        <p:spPr>
          <a:xfrm>
            <a:off x="6096000" y="5238750"/>
            <a:ext cx="381000" cy="190500"/>
          </a:xfrm>
          <a:custGeom>
            <a:avLst/>
            <a:gdLst/>
            <a:ahLst/>
            <a:cxnLst/>
            <a:rect l="l" t="t" r="r" b="b"/>
            <a:pathLst>
              <a:path w="381000" h="190500">
                <a:moveTo>
                  <a:pt x="95250" y="0"/>
                </a:moveTo>
                <a:lnTo>
                  <a:pt x="95250" y="47625"/>
                </a:lnTo>
                <a:lnTo>
                  <a:pt x="0" y="47625"/>
                </a:lnTo>
                <a:lnTo>
                  <a:pt x="190500" y="190500"/>
                </a:lnTo>
                <a:lnTo>
                  <a:pt x="381000" y="47625"/>
                </a:lnTo>
                <a:lnTo>
                  <a:pt x="285750" y="47625"/>
                </a:lnTo>
                <a:lnTo>
                  <a:pt x="285750" y="0"/>
                </a:lnTo>
                <a:close/>
              </a:path>
            </a:pathLst>
          </a:custGeom>
          <a:solidFill>
            <a:srgbClr val="5C6BC0"/>
          </a:solidFill>
          <a:ln>
            <a:noFill/>
          </a:ln>
        </p:spPr>
      </p:sp>
      <p:grpSp>
        <p:nvGrpSpPr>
          <p:cNvPr id="139" name="Group 139"/>
          <p:cNvGrpSpPr/>
          <p:nvPr/>
        </p:nvGrpSpPr>
        <p:grpSpPr>
          <a:xfrm>
            <a:off x="762000" y="5429250"/>
            <a:ext cx="10858500" cy="790575"/>
            <a:chOff x="762000" y="5429250"/>
            <a:chExt cx="10858500" cy="790575"/>
          </a:xfrm>
        </p:grpSpPr>
        <p:sp>
          <p:nvSpPr>
            <p:cNvPr id="115" name="Rectangle 115"/>
            <p:cNvSpPr/>
            <p:nvPr/>
          </p:nvSpPr>
          <p:spPr>
            <a:xfrm>
              <a:off x="762000" y="5429250"/>
              <a:ext cx="10858500" cy="762000"/>
            </a:xfrm>
            <a:prstGeom prst="roundRect">
              <a:avLst>
                <a:gd name="adj" fmla="val 12500"/>
              </a:avLst>
            </a:prstGeom>
            <a:gradFill>
              <a:gsLst>
                <a:gs pos="0">
                  <a:srgbClr val="9FA8DA"/>
                </a:gs>
                <a:gs pos="100000">
                  <a:srgbClr val="C5CAE9"/>
                </a:gs>
              </a:gsLst>
              <a:lin ang="0" scaled="1"/>
            </a:gradFill>
            <a:ln>
              <a:noFill/>
            </a:ln>
            <a:effectLst>
              <a:outerShdw blurRad="76200" dist="19050" dir="5400000" algn="ctr" rotWithShape="0">
                <a:srgbClr val="0F172A">
                  <a:alpha val="7500"/>
                </a:srgbClr>
              </a:outerShdw>
            </a:effectLst>
          </p:spPr>
        </p:sp>
        <p:sp>
          <p:nvSpPr>
            <p:cNvPr id="116" name="Rectangle 116"/>
            <p:cNvSpPr/>
            <p:nvPr/>
          </p:nvSpPr>
          <p:spPr>
            <a:xfrm>
              <a:off x="762000" y="5429250"/>
              <a:ext cx="1143000" cy="762000"/>
            </a:xfrm>
            <a:prstGeom prst="roundRect">
              <a:avLst>
                <a:gd name="adj" fmla="val 12500"/>
              </a:avLst>
            </a:prstGeom>
            <a:solidFill>
              <a:srgbClr val="37474F"/>
            </a:solidFill>
            <a:ln>
              <a:noFill/>
            </a:ln>
          </p:spPr>
        </p:sp>
        <p:grpSp>
          <p:nvGrpSpPr>
            <p:cNvPr id="120" name="Group 120"/>
            <p:cNvGrpSpPr/>
            <p:nvPr/>
          </p:nvGrpSpPr>
          <p:grpSpPr>
            <a:xfrm>
              <a:off x="1181100" y="5638800"/>
              <a:ext cx="304800" cy="342900"/>
              <a:chOff x="1181100" y="5638800"/>
              <a:chExt cx="304800" cy="342900"/>
            </a:xfrm>
          </p:grpSpPr>
          <p:sp>
            <p:nvSpPr>
              <p:cNvPr id="117" name="Freeform 117"/>
              <p:cNvSpPr/>
              <p:nvPr/>
            </p:nvSpPr>
            <p:spPr>
              <a:xfrm>
                <a:off x="1181100" y="5638800"/>
                <a:ext cx="304800" cy="114300"/>
              </a:xfrm>
              <a:custGeom>
                <a:avLst/>
                <a:gdLst/>
                <a:ahLst/>
                <a:cxnLst/>
                <a:rect l="l" t="t" r="r" b="b"/>
                <a:pathLst>
                  <a:path w="304800" h="114300">
                    <a:moveTo>
                      <a:pt x="0" y="57150"/>
                    </a:moveTo>
                    <a:cubicBezTo>
                      <a:pt x="0" y="88713"/>
                      <a:pt x="68232" y="114300"/>
                      <a:pt x="152400" y="114300"/>
                    </a:cubicBezTo>
                    <a:cubicBezTo>
                      <a:pt x="236568" y="114300"/>
                      <a:pt x="304800" y="88713"/>
                      <a:pt x="304800" y="57150"/>
                    </a:cubicBezTo>
                    <a:cubicBezTo>
                      <a:pt x="304800" y="25587"/>
                      <a:pt x="236568" y="0"/>
                      <a:pt x="152400" y="0"/>
                    </a:cubicBezTo>
                    <a:cubicBezTo>
                      <a:pt x="68232" y="0"/>
                      <a:pt x="0" y="25587"/>
                      <a:pt x="0" y="57150"/>
                    </a:cubicBezTo>
                  </a:path>
                </a:pathLst>
              </a:custGeom>
              <a:noFill/>
              <a:ln w="19050">
                <a:solidFill>
                  <a:srgbClr val="FFFFFF"/>
                </a:solidFill>
              </a:ln>
            </p:spPr>
          </p:sp>
          <p:sp>
            <p:nvSpPr>
              <p:cNvPr id="118" name="Freeform 118"/>
              <p:cNvSpPr/>
              <p:nvPr/>
            </p:nvSpPr>
            <p:spPr>
              <a:xfrm>
                <a:off x="1181100" y="5695950"/>
                <a:ext cx="304800" cy="171450"/>
              </a:xfrm>
              <a:custGeom>
                <a:avLst/>
                <a:gdLst/>
                <a:ahLst/>
                <a:cxnLst/>
                <a:rect l="l" t="t" r="r" b="b"/>
                <a:pathLst>
                  <a:path w="304800" h="171450">
                    <a:moveTo>
                      <a:pt x="0" y="0"/>
                    </a:moveTo>
                    <a:lnTo>
                      <a:pt x="0" y="114300"/>
                    </a:lnTo>
                    <a:cubicBezTo>
                      <a:pt x="0" y="145863"/>
                      <a:pt x="68232" y="171450"/>
                      <a:pt x="152400" y="171450"/>
                    </a:cubicBezTo>
                    <a:cubicBezTo>
                      <a:pt x="236568" y="171450"/>
                      <a:pt x="304800" y="145863"/>
                      <a:pt x="304800" y="114300"/>
                    </a:cubicBezTo>
                    <a:lnTo>
                      <a:pt x="304800" y="0"/>
                    </a:lnTo>
                  </a:path>
                </a:pathLst>
              </a:custGeom>
              <a:noFill/>
              <a:ln w="19050">
                <a:solidFill>
                  <a:srgbClr val="FFFFFF"/>
                </a:solidFill>
              </a:ln>
            </p:spPr>
          </p:sp>
          <p:sp>
            <p:nvSpPr>
              <p:cNvPr id="119" name="Freeform 119"/>
              <p:cNvSpPr/>
              <p:nvPr/>
            </p:nvSpPr>
            <p:spPr>
              <a:xfrm>
                <a:off x="1181100" y="5810250"/>
                <a:ext cx="304800" cy="171450"/>
              </a:xfrm>
              <a:custGeom>
                <a:avLst/>
                <a:gdLst/>
                <a:ahLst/>
                <a:cxnLst/>
                <a:rect l="l" t="t" r="r" b="b"/>
                <a:pathLst>
                  <a:path w="304800" h="171450">
                    <a:moveTo>
                      <a:pt x="0" y="0"/>
                    </a:moveTo>
                    <a:lnTo>
                      <a:pt x="0" y="114300"/>
                    </a:lnTo>
                    <a:cubicBezTo>
                      <a:pt x="0" y="145863"/>
                      <a:pt x="68232" y="171450"/>
                      <a:pt x="152400" y="171450"/>
                    </a:cubicBezTo>
                    <a:cubicBezTo>
                      <a:pt x="236568" y="171450"/>
                      <a:pt x="304800" y="145863"/>
                      <a:pt x="304800" y="114300"/>
                    </a:cubicBezTo>
                    <a:lnTo>
                      <a:pt x="304800" y="0"/>
                    </a:lnTo>
                  </a:path>
                </a:pathLst>
              </a:custGeom>
              <a:noFill/>
              <a:ln w="19050">
                <a:solidFill>
                  <a:srgbClr val="FFFFFF"/>
                </a:solidFill>
              </a:ln>
            </p:spPr>
          </p:sp>
        </p:grpSp>
        <p:sp>
          <p:nvSpPr>
            <p:cNvPr id="121" name="TextBox 121"/>
            <p:cNvSpPr txBox="1"/>
            <p:nvPr/>
          </p:nvSpPr>
          <p:spPr>
            <a:xfrm>
              <a:off x="1060587" y="6036945"/>
              <a:ext cx="545825" cy="182880"/>
            </a:xfrm>
            <a:prstGeom prst="rect">
              <a:avLst/>
            </a:prstGeom>
            <a:noFill/>
            <a:ln>
              <a:noFill/>
            </a:ln>
          </p:spPr>
          <p:txBody>
            <a:bodyPr wrap="none" lIns="0" tIns="0" rIns="0" bIns="0" anchor="t" anchorCtr="0">
              <a:spAutoFit/>
            </a:bodyPr>
            <a:lstStyle/>
            <a:p>
              <a:pPr algn="ctr"/>
              <a:r>
                <a:rPr lang="zh-CN" sz="900" b="1" dirty="0">
                  <a:solidFill>
                    <a:srgbClr val="FFFFFF">
                      <a:alphaMod val="85000"/>
                    </a:srgbClr>
                  </a:solidFill>
                  <a:latin typeface="Arial"/>
                  <a:ea typeface="Microsoft YaHei"/>
                  <a:cs typeface="Arial"/>
                </a:rPr>
                <a:t>LAYER 04</a:t>
              </a:r>
            </a:p>
          </p:txBody>
        </p:sp>
        <p:sp>
          <p:nvSpPr>
            <p:cNvPr id="122" name="TextBox 122"/>
            <p:cNvSpPr txBox="1"/>
            <p:nvPr/>
          </p:nvSpPr>
          <p:spPr>
            <a:xfrm>
              <a:off x="2076450" y="5572125"/>
              <a:ext cx="668179" cy="304800"/>
            </a:xfrm>
            <a:prstGeom prst="rect">
              <a:avLst/>
            </a:prstGeom>
            <a:noFill/>
            <a:ln>
              <a:noFill/>
            </a:ln>
          </p:spPr>
          <p:txBody>
            <a:bodyPr wrap="none" lIns="0" tIns="0" rIns="0" bIns="0" anchor="t" anchorCtr="0">
              <a:spAutoFit/>
            </a:bodyPr>
            <a:lstStyle/>
            <a:p>
              <a:pPr algn="l"/>
              <a:r>
                <a:rPr lang="zh-CN" sz="1500" b="1" dirty="0">
                  <a:solidFill>
                    <a:srgbClr val="0D2A4F"/>
                  </a:solidFill>
                  <a:latin typeface="Cambria"/>
                  <a:ea typeface="SimSun"/>
                  <a:cs typeface="Cambria"/>
                </a:rPr>
                <a:t>数据层</a:t>
              </a:r>
            </a:p>
          </p:txBody>
        </p:sp>
        <p:sp>
          <p:nvSpPr>
            <p:cNvPr id="123" name="TextBox 123"/>
            <p:cNvSpPr txBox="1"/>
            <p:nvPr/>
          </p:nvSpPr>
          <p:spPr>
            <a:xfrm>
              <a:off x="2846070" y="5636895"/>
              <a:ext cx="1631061" cy="182880"/>
            </a:xfrm>
            <a:prstGeom prst="rect">
              <a:avLst/>
            </a:prstGeom>
            <a:noFill/>
            <a:ln>
              <a:noFill/>
            </a:ln>
          </p:spPr>
          <p:txBody>
            <a:bodyPr wrap="none" lIns="0" tIns="0" rIns="0" bIns="0" anchor="t" anchorCtr="0">
              <a:spAutoFit/>
            </a:bodyPr>
            <a:lstStyle/>
            <a:p>
              <a:pPr algn="l"/>
              <a:r>
                <a:rPr lang="zh-CN" sz="900" dirty="0">
                  <a:solidFill>
                    <a:srgbClr val="0D2A4F">
                      <a:alphaMod val="85000"/>
                    </a:srgbClr>
                  </a:solidFill>
                  <a:latin typeface="Arial"/>
                  <a:ea typeface="Microsoft YaHei"/>
                  <a:cs typeface="Arial"/>
                </a:rPr>
                <a:t>DATA LAYER · 提供标准化先验</a:t>
              </a:r>
            </a:p>
          </p:txBody>
        </p:sp>
        <p:sp>
          <p:nvSpPr>
            <p:cNvPr id="124" name="Rectangle 124"/>
            <p:cNvSpPr/>
            <p:nvPr/>
          </p:nvSpPr>
          <p:spPr>
            <a:xfrm>
              <a:off x="2095500" y="5848350"/>
              <a:ext cx="4762500" cy="266700"/>
            </a:xfrm>
            <a:prstGeom prst="roundRect">
              <a:avLst>
                <a:gd name="adj" fmla="val 21429"/>
              </a:avLst>
            </a:prstGeom>
            <a:solidFill>
              <a:srgbClr val="FFFFFF">
                <a:alpha val="25000"/>
              </a:srgbClr>
            </a:solidFill>
            <a:ln>
              <a:noFill/>
            </a:ln>
          </p:spPr>
        </p:sp>
        <p:grpSp>
          <p:nvGrpSpPr>
            <p:cNvPr id="128" name="Group 128"/>
            <p:cNvGrpSpPr/>
            <p:nvPr/>
          </p:nvGrpSpPr>
          <p:grpSpPr>
            <a:xfrm>
              <a:off x="2214562" y="5910262"/>
              <a:ext cx="142875" cy="142875"/>
              <a:chOff x="2214562" y="5910262"/>
              <a:chExt cx="142875" cy="142875"/>
            </a:xfrm>
          </p:grpSpPr>
          <p:sp>
            <p:nvSpPr>
              <p:cNvPr id="125" name="Freeform 125"/>
              <p:cNvSpPr/>
              <p:nvPr/>
            </p:nvSpPr>
            <p:spPr>
              <a:xfrm>
                <a:off x="2214562" y="5910262"/>
                <a:ext cx="142875" cy="142875"/>
              </a:xfrm>
              <a:custGeom>
                <a:avLst/>
                <a:gdLst/>
                <a:ahLst/>
                <a:cxnLst/>
                <a:rect l="l" t="t" r="r" b="b"/>
                <a:pathLst>
                  <a:path w="142875" h="142875">
                    <a:moveTo>
                      <a:pt x="0" y="15875"/>
                    </a:moveTo>
                    <a:cubicBezTo>
                      <a:pt x="0" y="7107"/>
                      <a:pt x="7107" y="0"/>
                      <a:pt x="15875" y="0"/>
                    </a:cubicBezTo>
                    <a:lnTo>
                      <a:pt x="127000" y="0"/>
                    </a:lnTo>
                    <a:cubicBezTo>
                      <a:pt x="135768" y="0"/>
                      <a:pt x="142875" y="7107"/>
                      <a:pt x="142875" y="15875"/>
                    </a:cubicBezTo>
                    <a:lnTo>
                      <a:pt x="142875" y="127000"/>
                    </a:lnTo>
                    <a:cubicBezTo>
                      <a:pt x="142875" y="135768"/>
                      <a:pt x="135768" y="142875"/>
                      <a:pt x="127000" y="142875"/>
                    </a:cubicBezTo>
                    <a:lnTo>
                      <a:pt x="15875" y="142875"/>
                    </a:lnTo>
                    <a:cubicBezTo>
                      <a:pt x="7107" y="142875"/>
                      <a:pt x="0" y="135768"/>
                      <a:pt x="0" y="127000"/>
                    </a:cubicBezTo>
                    <a:lnTo>
                      <a:pt x="0" y="15875"/>
                    </a:lnTo>
                  </a:path>
                </a:pathLst>
              </a:custGeom>
              <a:noFill/>
              <a:ln w="19050">
                <a:solidFill>
                  <a:srgbClr val="0D2A4F"/>
                </a:solidFill>
              </a:ln>
            </p:spPr>
          </p:sp>
          <p:sp>
            <p:nvSpPr>
              <p:cNvPr id="126" name="Freeform 126"/>
              <p:cNvSpPr/>
              <p:nvPr/>
            </p:nvSpPr>
            <p:spPr>
              <a:xfrm>
                <a:off x="2214562" y="5965825"/>
                <a:ext cx="142875" cy="9525"/>
              </a:xfrm>
              <a:custGeom>
                <a:avLst/>
                <a:gdLst/>
                <a:ahLst/>
                <a:cxnLst/>
                <a:rect l="l" t="t" r="r" b="b"/>
                <a:pathLst>
                  <a:path w="142875" h="9525">
                    <a:moveTo>
                      <a:pt x="0" y="0"/>
                    </a:moveTo>
                    <a:lnTo>
                      <a:pt x="142875" y="0"/>
                    </a:lnTo>
                  </a:path>
                </a:pathLst>
              </a:custGeom>
              <a:noFill/>
              <a:ln w="19050">
                <a:solidFill>
                  <a:srgbClr val="0D2A4F"/>
                </a:solidFill>
              </a:ln>
            </p:spPr>
          </p:sp>
          <p:sp>
            <p:nvSpPr>
              <p:cNvPr id="127" name="Freeform 127"/>
              <p:cNvSpPr/>
              <p:nvPr/>
            </p:nvSpPr>
            <p:spPr>
              <a:xfrm>
                <a:off x="2270125" y="5910262"/>
                <a:ext cx="9525" cy="142875"/>
              </a:xfrm>
              <a:custGeom>
                <a:avLst/>
                <a:gdLst/>
                <a:ahLst/>
                <a:cxnLst/>
                <a:rect l="l" t="t" r="r" b="b"/>
                <a:pathLst>
                  <a:path w="9525" h="142875">
                    <a:moveTo>
                      <a:pt x="0" y="0"/>
                    </a:moveTo>
                    <a:lnTo>
                      <a:pt x="0" y="142875"/>
                    </a:lnTo>
                  </a:path>
                </a:pathLst>
              </a:custGeom>
              <a:noFill/>
              <a:ln w="19050">
                <a:solidFill>
                  <a:srgbClr val="0D2A4F"/>
                </a:solidFill>
              </a:ln>
            </p:spPr>
          </p:sp>
        </p:grpSp>
        <p:sp>
          <p:nvSpPr>
            <p:cNvPr id="129" name="TextBox 129"/>
            <p:cNvSpPr txBox="1"/>
            <p:nvPr/>
          </p:nvSpPr>
          <p:spPr>
            <a:xfrm>
              <a:off x="2464118" y="5914549"/>
              <a:ext cx="1253419" cy="198120"/>
            </a:xfrm>
            <a:prstGeom prst="rect">
              <a:avLst/>
            </a:prstGeom>
            <a:noFill/>
            <a:ln>
              <a:noFill/>
            </a:ln>
          </p:spPr>
          <p:txBody>
            <a:bodyPr wrap="none" lIns="0" tIns="0" rIns="0" bIns="0" anchor="t" anchorCtr="0">
              <a:spAutoFit/>
            </a:bodyPr>
            <a:lstStyle/>
            <a:p>
              <a:pPr algn="l"/>
              <a:r>
                <a:rPr lang="zh-CN" sz="975" b="1" dirty="0">
                  <a:solidFill>
                    <a:srgbClr val="0D2A4F"/>
                  </a:solidFill>
                  <a:latin typeface="Arial"/>
                  <a:ea typeface="Microsoft YaHei"/>
                  <a:cs typeface="Arial"/>
                </a:rPr>
                <a:t>中国食物成分数据库</a:t>
              </a:r>
            </a:p>
          </p:txBody>
        </p:sp>
        <p:sp>
          <p:nvSpPr>
            <p:cNvPr id="130" name="TextBox 130"/>
            <p:cNvSpPr txBox="1"/>
            <p:nvPr/>
          </p:nvSpPr>
          <p:spPr>
            <a:xfrm>
              <a:off x="6845618" y="5914549"/>
              <a:ext cx="659569" cy="198120"/>
            </a:xfrm>
            <a:prstGeom prst="rect">
              <a:avLst/>
            </a:prstGeom>
            <a:noFill/>
            <a:ln>
              <a:noFill/>
            </a:ln>
          </p:spPr>
          <p:txBody>
            <a:bodyPr wrap="none" lIns="0" tIns="0" rIns="0" bIns="0" anchor="t" anchorCtr="0">
              <a:spAutoFit/>
            </a:bodyPr>
            <a:lstStyle/>
            <a:p>
              <a:pPr algn="l"/>
              <a:r>
                <a:rPr lang="zh-CN" sz="975" b="1" dirty="0">
                  <a:solidFill>
                    <a:srgbClr val="0D2A4F"/>
                  </a:solidFill>
                  <a:latin typeface="Cambria"/>
                  <a:ea typeface="SimSun"/>
                  <a:cs typeface="Cambria"/>
                </a:rPr>
                <a:t>· 1,657 条</a:t>
              </a:r>
            </a:p>
          </p:txBody>
        </p:sp>
        <p:sp>
          <p:nvSpPr>
            <p:cNvPr id="131" name="Rectangle 131"/>
            <p:cNvSpPr/>
            <p:nvPr/>
          </p:nvSpPr>
          <p:spPr>
            <a:xfrm>
              <a:off x="7048500" y="5848350"/>
              <a:ext cx="2667000" cy="266700"/>
            </a:xfrm>
            <a:prstGeom prst="roundRect">
              <a:avLst>
                <a:gd name="adj" fmla="val 21429"/>
              </a:avLst>
            </a:prstGeom>
            <a:solidFill>
              <a:srgbClr val="FFFFFF">
                <a:alpha val="25000"/>
              </a:srgbClr>
            </a:solidFill>
            <a:ln>
              <a:noFill/>
            </a:ln>
          </p:spPr>
        </p:sp>
        <p:grpSp>
          <p:nvGrpSpPr>
            <p:cNvPr id="137" name="Group 137"/>
            <p:cNvGrpSpPr/>
            <p:nvPr/>
          </p:nvGrpSpPr>
          <p:grpSpPr>
            <a:xfrm>
              <a:off x="7167562" y="5910262"/>
              <a:ext cx="142875" cy="142875"/>
              <a:chOff x="7167562" y="5910262"/>
              <a:chExt cx="142875" cy="142875"/>
            </a:xfrm>
          </p:grpSpPr>
          <p:sp>
            <p:nvSpPr>
              <p:cNvPr id="132" name="Freeform 132"/>
              <p:cNvSpPr/>
              <p:nvPr/>
            </p:nvSpPr>
            <p:spPr>
              <a:xfrm>
                <a:off x="7167562" y="6005512"/>
                <a:ext cx="47625" cy="47625"/>
              </a:xfrm>
              <a:custGeom>
                <a:avLst/>
                <a:gdLst/>
                <a:ahLst/>
                <a:cxnLst/>
                <a:rect l="l" t="t" r="r" b="b"/>
                <a:pathLst>
                  <a:path w="47625" h="47625">
                    <a:moveTo>
                      <a:pt x="0" y="15875"/>
                    </a:moveTo>
                    <a:cubicBezTo>
                      <a:pt x="0" y="7107"/>
                      <a:pt x="7107" y="0"/>
                      <a:pt x="15875" y="0"/>
                    </a:cubicBezTo>
                    <a:lnTo>
                      <a:pt x="31750" y="0"/>
                    </a:lnTo>
                    <a:cubicBezTo>
                      <a:pt x="40518" y="0"/>
                      <a:pt x="47625" y="7107"/>
                      <a:pt x="47625" y="15875"/>
                    </a:cubicBezTo>
                    <a:lnTo>
                      <a:pt x="47625" y="31750"/>
                    </a:lnTo>
                    <a:cubicBezTo>
                      <a:pt x="47625" y="40518"/>
                      <a:pt x="40518" y="47625"/>
                      <a:pt x="31750" y="47625"/>
                    </a:cubicBezTo>
                    <a:lnTo>
                      <a:pt x="15875" y="47625"/>
                    </a:lnTo>
                    <a:cubicBezTo>
                      <a:pt x="7107" y="47625"/>
                      <a:pt x="0" y="40518"/>
                      <a:pt x="0" y="31750"/>
                    </a:cubicBezTo>
                    <a:lnTo>
                      <a:pt x="0" y="15875"/>
                    </a:lnTo>
                  </a:path>
                </a:pathLst>
              </a:custGeom>
              <a:noFill/>
              <a:ln w="19050">
                <a:solidFill>
                  <a:srgbClr val="0D2A4F"/>
                </a:solidFill>
              </a:ln>
            </p:spPr>
          </p:sp>
          <p:sp>
            <p:nvSpPr>
              <p:cNvPr id="133" name="Freeform 133"/>
              <p:cNvSpPr/>
              <p:nvPr/>
            </p:nvSpPr>
            <p:spPr>
              <a:xfrm>
                <a:off x="7262812" y="6005512"/>
                <a:ext cx="47625" cy="47625"/>
              </a:xfrm>
              <a:custGeom>
                <a:avLst/>
                <a:gdLst/>
                <a:ahLst/>
                <a:cxnLst/>
                <a:rect l="l" t="t" r="r" b="b"/>
                <a:pathLst>
                  <a:path w="47625" h="47625">
                    <a:moveTo>
                      <a:pt x="0" y="15875"/>
                    </a:moveTo>
                    <a:cubicBezTo>
                      <a:pt x="0" y="7107"/>
                      <a:pt x="7107" y="0"/>
                      <a:pt x="15875" y="0"/>
                    </a:cubicBezTo>
                    <a:lnTo>
                      <a:pt x="31750" y="0"/>
                    </a:lnTo>
                    <a:cubicBezTo>
                      <a:pt x="40518" y="0"/>
                      <a:pt x="47625" y="7107"/>
                      <a:pt x="47625" y="15875"/>
                    </a:cubicBezTo>
                    <a:lnTo>
                      <a:pt x="47625" y="31750"/>
                    </a:lnTo>
                    <a:cubicBezTo>
                      <a:pt x="47625" y="40518"/>
                      <a:pt x="40518" y="47625"/>
                      <a:pt x="31750" y="47625"/>
                    </a:cubicBezTo>
                    <a:lnTo>
                      <a:pt x="15875" y="47625"/>
                    </a:lnTo>
                    <a:cubicBezTo>
                      <a:pt x="7107" y="47625"/>
                      <a:pt x="0" y="40518"/>
                      <a:pt x="0" y="31750"/>
                    </a:cubicBezTo>
                    <a:lnTo>
                      <a:pt x="0" y="15875"/>
                    </a:lnTo>
                  </a:path>
                </a:pathLst>
              </a:custGeom>
              <a:noFill/>
              <a:ln w="19050">
                <a:solidFill>
                  <a:srgbClr val="0D2A4F"/>
                </a:solidFill>
              </a:ln>
            </p:spPr>
          </p:sp>
          <p:sp>
            <p:nvSpPr>
              <p:cNvPr id="134" name="Freeform 134"/>
              <p:cNvSpPr/>
              <p:nvPr/>
            </p:nvSpPr>
            <p:spPr>
              <a:xfrm>
                <a:off x="7215188" y="5910262"/>
                <a:ext cx="47625" cy="47625"/>
              </a:xfrm>
              <a:custGeom>
                <a:avLst/>
                <a:gdLst/>
                <a:ahLst/>
                <a:cxnLst/>
                <a:rect l="l" t="t" r="r" b="b"/>
                <a:pathLst>
                  <a:path w="47625" h="47625">
                    <a:moveTo>
                      <a:pt x="0" y="15875"/>
                    </a:moveTo>
                    <a:cubicBezTo>
                      <a:pt x="0" y="7107"/>
                      <a:pt x="7107" y="0"/>
                      <a:pt x="15875" y="0"/>
                    </a:cubicBezTo>
                    <a:lnTo>
                      <a:pt x="31750" y="0"/>
                    </a:lnTo>
                    <a:cubicBezTo>
                      <a:pt x="40518" y="0"/>
                      <a:pt x="47625" y="7107"/>
                      <a:pt x="47625" y="15875"/>
                    </a:cubicBezTo>
                    <a:lnTo>
                      <a:pt x="47625" y="31750"/>
                    </a:lnTo>
                    <a:cubicBezTo>
                      <a:pt x="47625" y="40518"/>
                      <a:pt x="40518" y="47625"/>
                      <a:pt x="31750" y="47625"/>
                    </a:cubicBezTo>
                    <a:lnTo>
                      <a:pt x="15875" y="47625"/>
                    </a:lnTo>
                    <a:cubicBezTo>
                      <a:pt x="7107" y="47625"/>
                      <a:pt x="0" y="40518"/>
                      <a:pt x="0" y="31750"/>
                    </a:cubicBezTo>
                    <a:lnTo>
                      <a:pt x="0" y="15875"/>
                    </a:lnTo>
                  </a:path>
                </a:pathLst>
              </a:custGeom>
              <a:noFill/>
              <a:ln w="19050">
                <a:solidFill>
                  <a:srgbClr val="0D2A4F"/>
                </a:solidFill>
              </a:ln>
            </p:spPr>
          </p:sp>
          <p:sp>
            <p:nvSpPr>
              <p:cNvPr id="135" name="Freeform 135"/>
              <p:cNvSpPr/>
              <p:nvPr/>
            </p:nvSpPr>
            <p:spPr>
              <a:xfrm>
                <a:off x="7191375" y="5981700"/>
                <a:ext cx="95250" cy="23812"/>
              </a:xfrm>
              <a:custGeom>
                <a:avLst/>
                <a:gdLst/>
                <a:ahLst/>
                <a:cxnLst/>
                <a:rect l="l" t="t" r="r" b="b"/>
                <a:pathLst>
                  <a:path w="95250" h="23812">
                    <a:moveTo>
                      <a:pt x="0" y="23812"/>
                    </a:moveTo>
                    <a:lnTo>
                      <a:pt x="0" y="15875"/>
                    </a:lnTo>
                    <a:cubicBezTo>
                      <a:pt x="0" y="7107"/>
                      <a:pt x="7107" y="0"/>
                      <a:pt x="15875" y="0"/>
                    </a:cubicBezTo>
                    <a:lnTo>
                      <a:pt x="79375" y="0"/>
                    </a:lnTo>
                    <a:cubicBezTo>
                      <a:pt x="88143" y="0"/>
                      <a:pt x="95250" y="7107"/>
                      <a:pt x="95250" y="15875"/>
                    </a:cubicBezTo>
                    <a:lnTo>
                      <a:pt x="95250" y="23812"/>
                    </a:lnTo>
                  </a:path>
                </a:pathLst>
              </a:custGeom>
              <a:noFill/>
              <a:ln w="19050">
                <a:solidFill>
                  <a:srgbClr val="0D2A4F"/>
                </a:solidFill>
              </a:ln>
            </p:spPr>
          </p:sp>
          <p:sp>
            <p:nvSpPr>
              <p:cNvPr id="136" name="Freeform 136"/>
              <p:cNvSpPr/>
              <p:nvPr/>
            </p:nvSpPr>
            <p:spPr>
              <a:xfrm>
                <a:off x="7239000" y="5957888"/>
                <a:ext cx="9525" cy="23812"/>
              </a:xfrm>
              <a:custGeom>
                <a:avLst/>
                <a:gdLst/>
                <a:ahLst/>
                <a:cxnLst/>
                <a:rect l="l" t="t" r="r" b="b"/>
                <a:pathLst>
                  <a:path w="9525" h="23812">
                    <a:moveTo>
                      <a:pt x="0" y="0"/>
                    </a:moveTo>
                    <a:lnTo>
                      <a:pt x="0" y="23812"/>
                    </a:lnTo>
                  </a:path>
                </a:pathLst>
              </a:custGeom>
              <a:noFill/>
              <a:ln w="19050">
                <a:solidFill>
                  <a:srgbClr val="0D2A4F"/>
                </a:solidFill>
              </a:ln>
            </p:spPr>
          </p:sp>
        </p:grpSp>
        <p:sp>
          <p:nvSpPr>
            <p:cNvPr id="138" name="TextBox 138"/>
            <p:cNvSpPr txBox="1"/>
            <p:nvPr/>
          </p:nvSpPr>
          <p:spPr>
            <a:xfrm>
              <a:off x="7417118" y="5914549"/>
              <a:ext cx="980384" cy="198120"/>
            </a:xfrm>
            <a:prstGeom prst="rect">
              <a:avLst/>
            </a:prstGeom>
            <a:noFill/>
            <a:ln>
              <a:noFill/>
            </a:ln>
          </p:spPr>
          <p:txBody>
            <a:bodyPr wrap="none" lIns="0" tIns="0" rIns="0" bIns="0" anchor="t" anchorCtr="0">
              <a:spAutoFit/>
            </a:bodyPr>
            <a:lstStyle/>
            <a:p>
              <a:pPr algn="l"/>
              <a:r>
                <a:rPr lang="zh-CN" sz="975" b="1" dirty="0">
                  <a:solidFill>
                    <a:srgbClr val="0D2A4F"/>
                  </a:solidFill>
                  <a:latin typeface="Arial"/>
                  <a:ea typeface="Microsoft YaHei"/>
                  <a:cs typeface="Arial"/>
                </a:rPr>
                <a:t>类别密度系数表</a:t>
              </a:r>
            </a:p>
          </p:txBody>
        </p:sp>
      </p:grpSp>
      <p:sp>
        <p:nvSpPr>
          <p:cNvPr id="140" name="TextBox 140"/>
          <p:cNvSpPr txBox="1"/>
          <p:nvPr/>
        </p:nvSpPr>
        <p:spPr>
          <a:xfrm>
            <a:off x="561022" y="6578441"/>
            <a:ext cx="3388201"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3 · System Architecture</a:t>
            </a:r>
          </a:p>
        </p:txBody>
      </p:sp>
      <p:sp>
        <p:nvSpPr>
          <p:cNvPr id="141" name="TextBox 141"/>
          <p:cNvSpPr txBox="1"/>
          <p:nvPr/>
        </p:nvSpPr>
        <p:spPr>
          <a:xfrm>
            <a:off x="11251928" y="6578441"/>
            <a:ext cx="379050"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18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image">
                                      <p:cBhvr>
                                        <p:cTn id="7" dur="400"/>
                                        <p:tgtEl>
                                          <p:spTgt spid="1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wipe(left)">
                                      <p:cBhvr>
                                        <p:cTn id="15" dur="400"/>
                                        <p:tgtEl>
                                          <p:spTgt spid="5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85"/>
                                        </p:tgtEl>
                                        <p:attrNameLst>
                                          <p:attrName>style.visibility</p:attrName>
                                        </p:attrNameLst>
                                      </p:cBhvr>
                                      <p:to>
                                        <p:strVal val="visible"/>
                                      </p:to>
                                    </p:set>
                                    <p:animEffect transition="in" filter="slide(fromBottom)">
                                      <p:cBhvr>
                                        <p:cTn id="19" dur="400"/>
                                        <p:tgtEl>
                                          <p:spTgt spid="85"/>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113"/>
                                        </p:tgtEl>
                                        <p:attrNameLst>
                                          <p:attrName>style.visibility</p:attrName>
                                        </p:attrNameLst>
                                      </p:cBhvr>
                                      <p:to>
                                        <p:strVal val="visible"/>
                                      </p:to>
                                    </p:set>
                                    <p:animEffect transition="in" filter="image">
                                      <p:cBhvr>
                                        <p:cTn id="23" dur="400"/>
                                        <p:tgtEl>
                                          <p:spTgt spid="113"/>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139"/>
                                        </p:tgtEl>
                                        <p:attrNameLst>
                                          <p:attrName>style.visibility</p:attrName>
                                        </p:attrNameLst>
                                      </p:cBhvr>
                                      <p:to>
                                        <p:strVal val="visible"/>
                                      </p:to>
                                    </p:set>
                                    <p:animEffect transition="in" filter="fade">
                                      <p:cBhvr>
                                        <p:cTn id="27" dur="4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55" grpId="0"/>
      <p:bldP spid="85" grpId="0"/>
      <p:bldP spid="113" grpId="0"/>
      <p:bldP spid="13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71500" y="457200"/>
            <a:ext cx="5937040" cy="652462"/>
            <a:chOff x="571500" y="457200"/>
            <a:chExt cx="5937040" cy="652462"/>
          </a:xfrm>
        </p:grpSpPr>
        <p:sp>
          <p:nvSpPr>
            <p:cNvPr id="3" name="Rectangle 3"/>
            <p:cNvSpPr/>
            <p:nvPr/>
          </p:nvSpPr>
          <p:spPr>
            <a:xfrm>
              <a:off x="571500" y="457200"/>
              <a:ext cx="57150" cy="381000"/>
            </a:xfrm>
            <a:prstGeom prst="roundRect">
              <a:avLst>
                <a:gd name="adj" fmla="val 50000"/>
              </a:avLst>
            </a:prstGeom>
            <a:solidFill>
              <a:srgbClr val="1565C0"/>
            </a:solidFill>
            <a:ln>
              <a:noFill/>
            </a:ln>
          </p:spPr>
        </p:sp>
        <p:sp>
          <p:nvSpPr>
            <p:cNvPr id="4" name="TextBox 4"/>
            <p:cNvSpPr txBox="1"/>
            <p:nvPr/>
          </p:nvSpPr>
          <p:spPr>
            <a:xfrm>
              <a:off x="733425" y="500062"/>
              <a:ext cx="5775115"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多盘菜识别 · YOLOv8 + SAM 两阶段分割</a:t>
              </a:r>
            </a:p>
          </p:txBody>
        </p:sp>
        <p:sp>
          <p:nvSpPr>
            <p:cNvPr id="5" name="TextBox 5"/>
            <p:cNvSpPr txBox="1"/>
            <p:nvPr/>
          </p:nvSpPr>
          <p:spPr>
            <a:xfrm>
              <a:off x="748665" y="896302"/>
              <a:ext cx="4503380"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Q3 · MULTI-DISH RECOGNITION · MULTI-LEVEL FALLBACK STRATEGY</a:t>
              </a:r>
            </a:p>
          </p:txBody>
        </p:sp>
      </p:grpSp>
      <p:sp>
        <p:nvSpPr>
          <p:cNvPr id="7" name="Line 7"/>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8" name="TextBox 8"/>
          <p:cNvSpPr txBox="1"/>
          <p:nvPr/>
        </p:nvSpPr>
        <p:spPr>
          <a:xfrm>
            <a:off x="3933396" y="1505902"/>
            <a:ext cx="4325207"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4 阶段流水线 · 每阶段附命名产出物 · 检测到 N 盘保持 N,不强制切分</a:t>
            </a:r>
          </a:p>
        </p:txBody>
      </p:sp>
      <p:sp>
        <p:nvSpPr>
          <p:cNvPr id="9" name="Rectangle 9"/>
          <p:cNvSpPr/>
          <p:nvPr/>
        </p:nvSpPr>
        <p:spPr>
          <a:xfrm>
            <a:off x="571500" y="2000250"/>
            <a:ext cx="11049000" cy="342900"/>
          </a:xfrm>
          <a:prstGeom prst="roundRect">
            <a:avLst>
              <a:gd name="adj" fmla="val 22222"/>
            </a:avLst>
          </a:prstGeom>
          <a:solidFill>
            <a:srgbClr val="F5F7FA"/>
          </a:solidFill>
          <a:ln>
            <a:noFill/>
          </a:ln>
        </p:spPr>
      </p:sp>
      <p:sp>
        <p:nvSpPr>
          <p:cNvPr id="10" name="TextBox 10"/>
          <p:cNvSpPr txBox="1"/>
          <p:nvPr/>
        </p:nvSpPr>
        <p:spPr>
          <a:xfrm>
            <a:off x="4663742" y="2122170"/>
            <a:ext cx="2864515"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SEQUENTIAL FLOW: YOLO → SAM → OPENCV → GRID</a:t>
            </a:r>
          </a:p>
        </p:txBody>
      </p:sp>
      <p:grpSp>
        <p:nvGrpSpPr>
          <p:cNvPr id="30" name="Group 30"/>
          <p:cNvGrpSpPr/>
          <p:nvPr/>
        </p:nvGrpSpPr>
        <p:grpSpPr>
          <a:xfrm>
            <a:off x="571500" y="2476500"/>
            <a:ext cx="2571750" cy="2667000"/>
            <a:chOff x="571500" y="2476500"/>
            <a:chExt cx="2571750" cy="2667000"/>
          </a:xfrm>
        </p:grpSpPr>
        <p:sp>
          <p:nvSpPr>
            <p:cNvPr id="11" name="Rectangle 11"/>
            <p:cNvSpPr/>
            <p:nvPr/>
          </p:nvSpPr>
          <p:spPr>
            <a:xfrm>
              <a:off x="571500" y="2476500"/>
              <a:ext cx="2571750" cy="2667000"/>
            </a:xfrm>
            <a:prstGeom prst="roundRect">
              <a:avLst>
                <a:gd name="adj" fmla="val 3704"/>
              </a:avLst>
            </a:prstGeom>
            <a:solidFill>
              <a:srgbClr val="FFFFFF"/>
            </a:solidFill>
            <a:ln w="14288">
              <a:solidFill>
                <a:srgbClr val="E0E0E0"/>
              </a:solidFill>
            </a:ln>
            <a:effectLst>
              <a:outerShdw blurRad="95250" dist="28575" dir="5400000" algn="ctr" rotWithShape="0">
                <a:srgbClr val="0F172A">
                  <a:alpha val="7500"/>
                </a:srgbClr>
              </a:outerShdw>
            </a:effectLst>
          </p:spPr>
        </p:sp>
        <p:sp>
          <p:nvSpPr>
            <p:cNvPr id="12" name="Freeform 12"/>
            <p:cNvSpPr/>
            <p:nvPr/>
          </p:nvSpPr>
          <p:spPr>
            <a:xfrm>
              <a:off x="571500" y="2476500"/>
              <a:ext cx="2571750" cy="571500"/>
            </a:xfrm>
            <a:custGeom>
              <a:avLst/>
              <a:gdLst/>
              <a:ahLst/>
              <a:cxnLst/>
              <a:rect l="l" t="t" r="r" b="b"/>
              <a:pathLst>
                <a:path w="2571750" h="571500">
                  <a:moveTo>
                    <a:pt x="0" y="95250"/>
                  </a:moveTo>
                  <a:cubicBezTo>
                    <a:pt x="0" y="42645"/>
                    <a:pt x="42645" y="0"/>
                    <a:pt x="95250" y="0"/>
                  </a:cubicBezTo>
                  <a:lnTo>
                    <a:pt x="2476500" y="0"/>
                  </a:lnTo>
                  <a:cubicBezTo>
                    <a:pt x="2529105" y="0"/>
                    <a:pt x="2571750" y="42645"/>
                    <a:pt x="2571750" y="95250"/>
                  </a:cubicBezTo>
                  <a:lnTo>
                    <a:pt x="2571750" y="571500"/>
                  </a:lnTo>
                  <a:lnTo>
                    <a:pt x="0" y="571500"/>
                  </a:lnTo>
                  <a:close/>
                </a:path>
              </a:pathLst>
            </a:custGeom>
            <a:gradFill>
              <a:gsLst>
                <a:gs pos="0">
                  <a:srgbClr val="1565C0"/>
                </a:gs>
                <a:gs pos="100000">
                  <a:srgbClr val="5C6BC0"/>
                </a:gs>
              </a:gsLst>
              <a:lin ang="2700000" scaled="1"/>
            </a:gradFill>
            <a:ln>
              <a:noFill/>
            </a:ln>
          </p:spPr>
        </p:sp>
        <p:sp>
          <p:nvSpPr>
            <p:cNvPr id="13" name="Rectangle 13"/>
            <p:cNvSpPr/>
            <p:nvPr/>
          </p:nvSpPr>
          <p:spPr>
            <a:xfrm>
              <a:off x="762000" y="2609850"/>
              <a:ext cx="304800" cy="304800"/>
            </a:xfrm>
            <a:prstGeom prst="roundRect">
              <a:avLst>
                <a:gd name="adj" fmla="val 18750"/>
              </a:avLst>
            </a:prstGeom>
            <a:solidFill>
              <a:srgbClr val="FFFFFF">
                <a:alpha val="20000"/>
              </a:srgbClr>
            </a:solidFill>
            <a:ln>
              <a:noFill/>
            </a:ln>
          </p:spPr>
        </p:sp>
        <p:sp>
          <p:nvSpPr>
            <p:cNvPr id="14" name="TextBox 14"/>
            <p:cNvSpPr txBox="1"/>
            <p:nvPr/>
          </p:nvSpPr>
          <p:spPr>
            <a:xfrm>
              <a:off x="838582" y="2725102"/>
              <a:ext cx="15163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Cambria"/>
                  <a:ea typeface="SimSun"/>
                  <a:cs typeface="Cambria"/>
                </a:rPr>
                <a:t>01</a:t>
              </a:r>
            </a:p>
          </p:txBody>
        </p:sp>
        <p:grpSp>
          <p:nvGrpSpPr>
            <p:cNvPr id="17" name="Group 17"/>
            <p:cNvGrpSpPr/>
            <p:nvPr/>
          </p:nvGrpSpPr>
          <p:grpSpPr>
            <a:xfrm>
              <a:off x="2514600" y="2686050"/>
              <a:ext cx="228600" cy="152400"/>
              <a:chOff x="2514600" y="2686050"/>
              <a:chExt cx="228600" cy="152400"/>
            </a:xfrm>
          </p:grpSpPr>
          <p:sp>
            <p:nvSpPr>
              <p:cNvPr id="15" name="Freeform 15"/>
              <p:cNvSpPr/>
              <p:nvPr/>
            </p:nvSpPr>
            <p:spPr>
              <a:xfrm>
                <a:off x="2603500" y="273685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FFFFFF"/>
                </a:solidFill>
              </a:ln>
            </p:spPr>
          </p:sp>
          <p:sp>
            <p:nvSpPr>
              <p:cNvPr id="16" name="Freeform 16"/>
              <p:cNvSpPr/>
              <p:nvPr/>
            </p:nvSpPr>
            <p:spPr>
              <a:xfrm>
                <a:off x="2514600" y="2686050"/>
                <a:ext cx="228600" cy="152400"/>
              </a:xfrm>
              <a:custGeom>
                <a:avLst/>
                <a:gdLst/>
                <a:ahLst/>
                <a:cxnLst/>
                <a:rect l="l" t="t" r="r" b="b"/>
                <a:pathLst>
                  <a:path w="228600" h="152400">
                    <a:moveTo>
                      <a:pt x="228600" y="76200"/>
                    </a:moveTo>
                    <a:cubicBezTo>
                      <a:pt x="198120" y="127000"/>
                      <a:pt x="160020" y="152400"/>
                      <a:pt x="114300" y="152400"/>
                    </a:cubicBezTo>
                    <a:cubicBezTo>
                      <a:pt x="68580" y="152400"/>
                      <a:pt x="30480" y="127000"/>
                      <a:pt x="0" y="76200"/>
                    </a:cubicBezTo>
                    <a:cubicBezTo>
                      <a:pt x="30480" y="25400"/>
                      <a:pt x="68580" y="0"/>
                      <a:pt x="114300" y="0"/>
                    </a:cubicBezTo>
                    <a:cubicBezTo>
                      <a:pt x="160020" y="0"/>
                      <a:pt x="198120" y="25400"/>
                      <a:pt x="228600" y="76200"/>
                    </a:cubicBezTo>
                  </a:path>
                </a:pathLst>
              </a:custGeom>
              <a:noFill/>
              <a:ln w="19050">
                <a:solidFill>
                  <a:srgbClr val="FFFFFF"/>
                </a:solidFill>
              </a:ln>
            </p:spPr>
          </p:sp>
        </p:grpSp>
        <p:sp>
          <p:nvSpPr>
            <p:cNvPr id="18" name="TextBox 18"/>
            <p:cNvSpPr txBox="1"/>
            <p:nvPr/>
          </p:nvSpPr>
          <p:spPr>
            <a:xfrm>
              <a:off x="1430484" y="2727960"/>
              <a:ext cx="85378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YOLO 检测</a:t>
              </a:r>
            </a:p>
          </p:txBody>
        </p:sp>
        <p:sp>
          <p:nvSpPr>
            <p:cNvPr id="19" name="TextBox 19"/>
            <p:cNvSpPr txBox="1"/>
            <p:nvPr/>
          </p:nvSpPr>
          <p:spPr>
            <a:xfrm>
              <a:off x="1430298" y="2928938"/>
              <a:ext cx="854154" cy="152400"/>
            </a:xfrm>
            <a:prstGeom prst="rect">
              <a:avLst/>
            </a:prstGeom>
            <a:noFill/>
            <a:ln>
              <a:noFill/>
            </a:ln>
          </p:spPr>
          <p:txBody>
            <a:bodyPr wrap="none" lIns="0" tIns="0" rIns="0" bIns="0" anchor="t" anchorCtr="0">
              <a:spAutoFit/>
            </a:bodyPr>
            <a:lstStyle/>
            <a:p>
              <a:pPr algn="ctr"/>
              <a:r>
                <a:rPr lang="zh-CN" sz="750" dirty="0">
                  <a:solidFill>
                    <a:srgbClr val="FFFFFF">
                      <a:alphaMod val="85000"/>
                    </a:srgbClr>
                  </a:solidFill>
                  <a:latin typeface="Arial"/>
                  <a:ea typeface="Microsoft YaHei"/>
                  <a:cs typeface="Arial"/>
                </a:rPr>
                <a:t>STAGE 01 · DETECT</a:t>
              </a:r>
            </a:p>
          </p:txBody>
        </p:sp>
        <p:sp>
          <p:nvSpPr>
            <p:cNvPr id="20" name="TextBox 20"/>
            <p:cNvSpPr txBox="1"/>
            <p:nvPr/>
          </p:nvSpPr>
          <p:spPr>
            <a:xfrm>
              <a:off x="749618" y="3190399"/>
              <a:ext cx="570833" cy="198120"/>
            </a:xfrm>
            <a:prstGeom prst="rect">
              <a:avLst/>
            </a:prstGeom>
            <a:noFill/>
            <a:ln>
              <a:noFill/>
            </a:ln>
          </p:spPr>
          <p:txBody>
            <a:bodyPr wrap="none" lIns="0" tIns="0" rIns="0" bIns="0" anchor="t" anchorCtr="0">
              <a:spAutoFit/>
            </a:bodyPr>
            <a:lstStyle/>
            <a:p>
              <a:pPr algn="l"/>
              <a:r>
                <a:rPr lang="zh-CN" sz="975" b="1" dirty="0">
                  <a:solidFill>
                    <a:srgbClr val="1565C0"/>
                  </a:solidFill>
                  <a:latin typeface="Arial"/>
                  <a:ea typeface="Microsoft YaHei"/>
                  <a:cs typeface="Arial"/>
                </a:rPr>
                <a:t>核心步骤</a:t>
              </a:r>
            </a:p>
          </p:txBody>
        </p:sp>
        <p:sp>
          <p:nvSpPr>
            <p:cNvPr id="21" name="TextBox 21"/>
            <p:cNvSpPr txBox="1"/>
            <p:nvPr/>
          </p:nvSpPr>
          <p:spPr>
            <a:xfrm>
              <a:off x="750570" y="3408045"/>
              <a:ext cx="928973"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检测盘子/碗区域</a:t>
              </a:r>
            </a:p>
          </p:txBody>
        </p:sp>
        <p:sp>
          <p:nvSpPr>
            <p:cNvPr id="22" name="TextBox 22"/>
            <p:cNvSpPr txBox="1"/>
            <p:nvPr/>
          </p:nvSpPr>
          <p:spPr>
            <a:xfrm>
              <a:off x="750570" y="3598545"/>
              <a:ext cx="1187005"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输出候选框 (bboxes)</a:t>
              </a:r>
            </a:p>
          </p:txBody>
        </p:sp>
        <p:sp>
          <p:nvSpPr>
            <p:cNvPr id="23" name="Line 23"/>
            <p:cNvSpPr/>
            <p:nvPr/>
          </p:nvSpPr>
          <p:spPr>
            <a:xfrm>
              <a:off x="762000" y="3886200"/>
              <a:ext cx="2190750" cy="9525"/>
            </a:xfrm>
            <a:custGeom>
              <a:avLst/>
              <a:gdLst/>
              <a:ahLst/>
              <a:cxnLst/>
              <a:rect l="l" t="t" r="r" b="b"/>
              <a:pathLst>
                <a:path w="2190750" h="9525">
                  <a:moveTo>
                    <a:pt x="0" y="0"/>
                  </a:moveTo>
                  <a:lnTo>
                    <a:pt x="2190750" y="0"/>
                  </a:lnTo>
                </a:path>
              </a:pathLst>
            </a:custGeom>
            <a:noFill/>
            <a:ln w="9525">
              <a:solidFill>
                <a:srgbClr val="E0E0E0"/>
              </a:solidFill>
            </a:ln>
          </p:spPr>
        </p:sp>
        <p:sp>
          <p:nvSpPr>
            <p:cNvPr id="24" name="TextBox 24"/>
            <p:cNvSpPr txBox="1"/>
            <p:nvPr/>
          </p:nvSpPr>
          <p:spPr>
            <a:xfrm>
              <a:off x="749618" y="3990499"/>
              <a:ext cx="297799" cy="198120"/>
            </a:xfrm>
            <a:prstGeom prst="rect">
              <a:avLst/>
            </a:prstGeom>
            <a:noFill/>
            <a:ln>
              <a:noFill/>
            </a:ln>
          </p:spPr>
          <p:txBody>
            <a:bodyPr wrap="none" lIns="0" tIns="0" rIns="0" bIns="0" anchor="t" anchorCtr="0">
              <a:spAutoFit/>
            </a:bodyPr>
            <a:lstStyle/>
            <a:p>
              <a:pPr algn="l"/>
              <a:r>
                <a:rPr lang="zh-CN" sz="975" b="1" dirty="0">
                  <a:solidFill>
                    <a:srgbClr val="1565C0"/>
                  </a:solidFill>
                  <a:latin typeface="Arial"/>
                  <a:ea typeface="Microsoft YaHei"/>
                  <a:cs typeface="Arial"/>
                </a:rPr>
                <a:t>角色</a:t>
              </a:r>
            </a:p>
          </p:txBody>
        </p:sp>
        <p:sp>
          <p:nvSpPr>
            <p:cNvPr id="25" name="TextBox 25"/>
            <p:cNvSpPr txBox="1"/>
            <p:nvPr/>
          </p:nvSpPr>
          <p:spPr>
            <a:xfrm>
              <a:off x="750570" y="4208145"/>
              <a:ext cx="1289018"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主检测器,定位初始区域</a:t>
              </a:r>
            </a:p>
          </p:txBody>
        </p:sp>
        <p:sp>
          <p:nvSpPr>
            <p:cNvPr id="26" name="Line 26"/>
            <p:cNvSpPr/>
            <p:nvPr/>
          </p:nvSpPr>
          <p:spPr>
            <a:xfrm>
              <a:off x="762000" y="4495800"/>
              <a:ext cx="2190750" cy="9525"/>
            </a:xfrm>
            <a:custGeom>
              <a:avLst/>
              <a:gdLst/>
              <a:ahLst/>
              <a:cxnLst/>
              <a:rect l="l" t="t" r="r" b="b"/>
              <a:pathLst>
                <a:path w="2190750" h="9525">
                  <a:moveTo>
                    <a:pt x="0" y="0"/>
                  </a:moveTo>
                  <a:lnTo>
                    <a:pt x="2190750" y="0"/>
                  </a:lnTo>
                </a:path>
              </a:pathLst>
            </a:custGeom>
            <a:noFill/>
            <a:ln w="9525">
              <a:solidFill>
                <a:srgbClr val="E0E0E0"/>
              </a:solidFill>
            </a:ln>
          </p:spPr>
        </p:sp>
        <p:sp>
          <p:nvSpPr>
            <p:cNvPr id="27" name="TextBox 27"/>
            <p:cNvSpPr txBox="1"/>
            <p:nvPr/>
          </p:nvSpPr>
          <p:spPr>
            <a:xfrm>
              <a:off x="749618" y="4600099"/>
              <a:ext cx="434316" cy="198120"/>
            </a:xfrm>
            <a:prstGeom prst="rect">
              <a:avLst/>
            </a:prstGeom>
            <a:noFill/>
            <a:ln>
              <a:noFill/>
            </a:ln>
          </p:spPr>
          <p:txBody>
            <a:bodyPr wrap="none" lIns="0" tIns="0" rIns="0" bIns="0" anchor="t" anchorCtr="0">
              <a:spAutoFit/>
            </a:bodyPr>
            <a:lstStyle/>
            <a:p>
              <a:pPr algn="l"/>
              <a:r>
                <a:rPr lang="zh-CN" sz="975" b="1" dirty="0">
                  <a:solidFill>
                    <a:srgbClr val="1565C0"/>
                  </a:solidFill>
                  <a:latin typeface="Arial"/>
                  <a:ea typeface="Microsoft YaHei"/>
                  <a:cs typeface="Arial"/>
                </a:rPr>
                <a:t>产出物</a:t>
              </a:r>
            </a:p>
          </p:txBody>
        </p:sp>
        <p:sp>
          <p:nvSpPr>
            <p:cNvPr id="28" name="Rectangle 28"/>
            <p:cNvSpPr/>
            <p:nvPr/>
          </p:nvSpPr>
          <p:spPr>
            <a:xfrm>
              <a:off x="762000" y="4800600"/>
              <a:ext cx="2190750" cy="266700"/>
            </a:xfrm>
            <a:prstGeom prst="roundRect">
              <a:avLst>
                <a:gd name="adj" fmla="val 21429"/>
              </a:avLst>
            </a:prstGeom>
            <a:solidFill>
              <a:srgbClr val="E3F2FD"/>
            </a:solidFill>
            <a:ln>
              <a:noFill/>
            </a:ln>
          </p:spPr>
        </p:sp>
        <p:sp>
          <p:nvSpPr>
            <p:cNvPr id="29" name="TextBox 29"/>
            <p:cNvSpPr txBox="1"/>
            <p:nvPr/>
          </p:nvSpPr>
          <p:spPr>
            <a:xfrm>
              <a:off x="1452146" y="4874895"/>
              <a:ext cx="810458" cy="182880"/>
            </a:xfrm>
            <a:prstGeom prst="rect">
              <a:avLst/>
            </a:prstGeom>
            <a:noFill/>
            <a:ln>
              <a:noFill/>
            </a:ln>
          </p:spPr>
          <p:txBody>
            <a:bodyPr wrap="none" lIns="0" tIns="0" rIns="0" bIns="0" anchor="t" anchorCtr="0">
              <a:spAutoFit/>
            </a:bodyPr>
            <a:lstStyle/>
            <a:p>
              <a:pPr algn="ctr"/>
              <a:r>
                <a:rPr lang="zh-CN" sz="900" b="1" dirty="0">
                  <a:solidFill>
                    <a:srgbClr val="1565C0"/>
                  </a:solidFill>
                  <a:latin typeface="Cambria"/>
                  <a:ea typeface="SimSun"/>
                  <a:cs typeface="Cambria"/>
                </a:rPr>
                <a:t>候选框 (2 个)</a:t>
              </a:r>
            </a:p>
          </p:txBody>
        </p:sp>
      </p:grpSp>
      <p:sp>
        <p:nvSpPr>
          <p:cNvPr id="31" name="Freeform 31"/>
          <p:cNvSpPr/>
          <p:nvPr/>
        </p:nvSpPr>
        <p:spPr>
          <a:xfrm>
            <a:off x="3143250" y="3667125"/>
            <a:ext cx="333375" cy="285750"/>
          </a:xfrm>
          <a:custGeom>
            <a:avLst/>
            <a:gdLst/>
            <a:ahLst/>
            <a:cxnLst/>
            <a:rect l="l" t="t" r="r" b="b"/>
            <a:pathLst>
              <a:path w="333375" h="285750">
                <a:moveTo>
                  <a:pt x="0" y="95250"/>
                </a:moveTo>
                <a:lnTo>
                  <a:pt x="190500" y="95250"/>
                </a:lnTo>
                <a:lnTo>
                  <a:pt x="190500" y="0"/>
                </a:lnTo>
                <a:lnTo>
                  <a:pt x="333375" y="142875"/>
                </a:lnTo>
                <a:lnTo>
                  <a:pt x="190500" y="285750"/>
                </a:lnTo>
                <a:lnTo>
                  <a:pt x="190500" y="190500"/>
                </a:lnTo>
                <a:lnTo>
                  <a:pt x="0" y="190500"/>
                </a:lnTo>
                <a:close/>
              </a:path>
            </a:pathLst>
          </a:custGeom>
          <a:solidFill>
            <a:srgbClr val="9AA0A6"/>
          </a:solidFill>
          <a:ln>
            <a:noFill/>
          </a:ln>
        </p:spPr>
      </p:sp>
      <p:grpSp>
        <p:nvGrpSpPr>
          <p:cNvPr id="53" name="Group 53"/>
          <p:cNvGrpSpPr/>
          <p:nvPr/>
        </p:nvGrpSpPr>
        <p:grpSpPr>
          <a:xfrm>
            <a:off x="3524250" y="2476500"/>
            <a:ext cx="2571750" cy="2667000"/>
            <a:chOff x="3524250" y="2476500"/>
            <a:chExt cx="2571750" cy="2667000"/>
          </a:xfrm>
        </p:grpSpPr>
        <p:sp>
          <p:nvSpPr>
            <p:cNvPr id="32" name="Rectangle 32"/>
            <p:cNvSpPr/>
            <p:nvPr/>
          </p:nvSpPr>
          <p:spPr>
            <a:xfrm>
              <a:off x="3524250" y="2476500"/>
              <a:ext cx="2571750" cy="2667000"/>
            </a:xfrm>
            <a:prstGeom prst="roundRect">
              <a:avLst>
                <a:gd name="adj" fmla="val 3704"/>
              </a:avLst>
            </a:prstGeom>
            <a:solidFill>
              <a:srgbClr val="FFFFFF"/>
            </a:solidFill>
            <a:ln w="14288">
              <a:solidFill>
                <a:srgbClr val="E0E0E0"/>
              </a:solidFill>
            </a:ln>
            <a:effectLst>
              <a:outerShdw blurRad="95250" dist="28575" dir="5400000" algn="ctr" rotWithShape="0">
                <a:srgbClr val="0F172A">
                  <a:alpha val="7500"/>
                </a:srgbClr>
              </a:outerShdw>
            </a:effectLst>
          </p:spPr>
        </p:sp>
        <p:sp>
          <p:nvSpPr>
            <p:cNvPr id="33" name="Freeform 33"/>
            <p:cNvSpPr/>
            <p:nvPr/>
          </p:nvSpPr>
          <p:spPr>
            <a:xfrm>
              <a:off x="3524250" y="2476500"/>
              <a:ext cx="2571750" cy="571500"/>
            </a:xfrm>
            <a:custGeom>
              <a:avLst/>
              <a:gdLst/>
              <a:ahLst/>
              <a:cxnLst/>
              <a:rect l="l" t="t" r="r" b="b"/>
              <a:pathLst>
                <a:path w="2571750" h="571500">
                  <a:moveTo>
                    <a:pt x="0" y="95250"/>
                  </a:moveTo>
                  <a:cubicBezTo>
                    <a:pt x="0" y="42645"/>
                    <a:pt x="42645" y="0"/>
                    <a:pt x="95250" y="0"/>
                  </a:cubicBezTo>
                  <a:lnTo>
                    <a:pt x="2476500" y="0"/>
                  </a:lnTo>
                  <a:cubicBezTo>
                    <a:pt x="2529105" y="0"/>
                    <a:pt x="2571750" y="42645"/>
                    <a:pt x="2571750" y="95250"/>
                  </a:cubicBezTo>
                  <a:lnTo>
                    <a:pt x="2571750" y="571500"/>
                  </a:lnTo>
                  <a:lnTo>
                    <a:pt x="0" y="571500"/>
                  </a:lnTo>
                  <a:close/>
                </a:path>
              </a:pathLst>
            </a:custGeom>
            <a:gradFill>
              <a:gsLst>
                <a:gs pos="0">
                  <a:srgbClr val="5C6BC0"/>
                </a:gs>
                <a:gs pos="100000">
                  <a:srgbClr val="7986CB"/>
                </a:gs>
              </a:gsLst>
              <a:lin ang="2700000" scaled="1"/>
            </a:gradFill>
            <a:ln>
              <a:noFill/>
            </a:ln>
          </p:spPr>
        </p:sp>
        <p:sp>
          <p:nvSpPr>
            <p:cNvPr id="34" name="Rectangle 34"/>
            <p:cNvSpPr/>
            <p:nvPr/>
          </p:nvSpPr>
          <p:spPr>
            <a:xfrm>
              <a:off x="3714750" y="2609850"/>
              <a:ext cx="304800" cy="304800"/>
            </a:xfrm>
            <a:prstGeom prst="roundRect">
              <a:avLst>
                <a:gd name="adj" fmla="val 18750"/>
              </a:avLst>
            </a:prstGeom>
            <a:solidFill>
              <a:srgbClr val="FFFFFF">
                <a:alpha val="20000"/>
              </a:srgbClr>
            </a:solidFill>
            <a:ln>
              <a:noFill/>
            </a:ln>
          </p:spPr>
        </p:sp>
        <p:sp>
          <p:nvSpPr>
            <p:cNvPr id="35" name="TextBox 35"/>
            <p:cNvSpPr txBox="1"/>
            <p:nvPr/>
          </p:nvSpPr>
          <p:spPr>
            <a:xfrm>
              <a:off x="3772955" y="272510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Cambria"/>
                  <a:ea typeface="SimSun"/>
                  <a:cs typeface="Cambria"/>
                </a:rPr>
                <a:t>02</a:t>
              </a:r>
            </a:p>
          </p:txBody>
        </p:sp>
        <p:grpSp>
          <p:nvGrpSpPr>
            <p:cNvPr id="40" name="Group 40"/>
            <p:cNvGrpSpPr/>
            <p:nvPr/>
          </p:nvGrpSpPr>
          <p:grpSpPr>
            <a:xfrm>
              <a:off x="5467350" y="2660650"/>
              <a:ext cx="203200" cy="203200"/>
              <a:chOff x="5467350" y="2660650"/>
              <a:chExt cx="203200" cy="203200"/>
            </a:xfrm>
          </p:grpSpPr>
          <p:sp>
            <p:nvSpPr>
              <p:cNvPr id="36" name="Freeform 36"/>
              <p:cNvSpPr/>
              <p:nvPr/>
            </p:nvSpPr>
            <p:spPr>
              <a:xfrm>
                <a:off x="5467350" y="26606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FFFFFF"/>
                </a:solidFill>
              </a:ln>
            </p:spPr>
          </p:sp>
          <p:sp>
            <p:nvSpPr>
              <p:cNvPr id="37" name="Freeform 37"/>
              <p:cNvSpPr/>
              <p:nvPr/>
            </p:nvSpPr>
            <p:spPr>
              <a:xfrm>
                <a:off x="5467350" y="27876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FFFFFF"/>
                </a:solidFill>
              </a:ln>
            </p:spPr>
          </p:sp>
          <p:sp>
            <p:nvSpPr>
              <p:cNvPr id="38" name="Freeform 38"/>
              <p:cNvSpPr/>
              <p:nvPr/>
            </p:nvSpPr>
            <p:spPr>
              <a:xfrm>
                <a:off x="5538470" y="2719070"/>
                <a:ext cx="132080" cy="132080"/>
              </a:xfrm>
              <a:custGeom>
                <a:avLst/>
                <a:gdLst/>
                <a:ahLst/>
                <a:cxnLst/>
                <a:rect l="l" t="t" r="r" b="b"/>
                <a:pathLst>
                  <a:path w="132080" h="132080">
                    <a:moveTo>
                      <a:pt x="0" y="0"/>
                    </a:moveTo>
                    <a:lnTo>
                      <a:pt x="132080" y="132080"/>
                    </a:lnTo>
                  </a:path>
                </a:pathLst>
              </a:custGeom>
              <a:noFill/>
              <a:ln w="19050">
                <a:solidFill>
                  <a:srgbClr val="FFFFFF"/>
                </a:solidFill>
              </a:ln>
            </p:spPr>
          </p:sp>
          <p:sp>
            <p:nvSpPr>
              <p:cNvPr id="39" name="Freeform 39"/>
              <p:cNvSpPr/>
              <p:nvPr/>
            </p:nvSpPr>
            <p:spPr>
              <a:xfrm>
                <a:off x="5538470" y="2673350"/>
                <a:ext cx="132080" cy="132080"/>
              </a:xfrm>
              <a:custGeom>
                <a:avLst/>
                <a:gdLst/>
                <a:ahLst/>
                <a:cxnLst/>
                <a:rect l="l" t="t" r="r" b="b"/>
                <a:pathLst>
                  <a:path w="132080" h="132080">
                    <a:moveTo>
                      <a:pt x="0" y="132080"/>
                    </a:moveTo>
                    <a:lnTo>
                      <a:pt x="132080" y="0"/>
                    </a:lnTo>
                  </a:path>
                </a:pathLst>
              </a:custGeom>
              <a:noFill/>
              <a:ln w="19050">
                <a:solidFill>
                  <a:srgbClr val="FFFFFF"/>
                </a:solidFill>
              </a:ln>
            </p:spPr>
          </p:sp>
        </p:grpSp>
        <p:sp>
          <p:nvSpPr>
            <p:cNvPr id="41" name="TextBox 41"/>
            <p:cNvSpPr txBox="1"/>
            <p:nvPr/>
          </p:nvSpPr>
          <p:spPr>
            <a:xfrm>
              <a:off x="4362231" y="2727960"/>
              <a:ext cx="89578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SAM 精分割</a:t>
              </a:r>
            </a:p>
          </p:txBody>
        </p:sp>
        <p:sp>
          <p:nvSpPr>
            <p:cNvPr id="42" name="TextBox 42"/>
            <p:cNvSpPr txBox="1"/>
            <p:nvPr/>
          </p:nvSpPr>
          <p:spPr>
            <a:xfrm>
              <a:off x="4383048" y="2928938"/>
              <a:ext cx="854154" cy="152400"/>
            </a:xfrm>
            <a:prstGeom prst="rect">
              <a:avLst/>
            </a:prstGeom>
            <a:noFill/>
            <a:ln>
              <a:noFill/>
            </a:ln>
          </p:spPr>
          <p:txBody>
            <a:bodyPr wrap="none" lIns="0" tIns="0" rIns="0" bIns="0" anchor="t" anchorCtr="0">
              <a:spAutoFit/>
            </a:bodyPr>
            <a:lstStyle/>
            <a:p>
              <a:pPr algn="ctr"/>
              <a:r>
                <a:rPr lang="zh-CN" sz="750" dirty="0">
                  <a:solidFill>
                    <a:srgbClr val="FFFFFF">
                      <a:alphaMod val="85000"/>
                    </a:srgbClr>
                  </a:solidFill>
                  <a:latin typeface="Arial"/>
                  <a:ea typeface="Microsoft YaHei"/>
                  <a:cs typeface="Arial"/>
                </a:rPr>
                <a:t>STAGE 02 · REFINE</a:t>
              </a:r>
            </a:p>
          </p:txBody>
        </p:sp>
        <p:sp>
          <p:nvSpPr>
            <p:cNvPr id="43" name="TextBox 43"/>
            <p:cNvSpPr txBox="1"/>
            <p:nvPr/>
          </p:nvSpPr>
          <p:spPr>
            <a:xfrm>
              <a:off x="3702368" y="3190399"/>
              <a:ext cx="570833" cy="198120"/>
            </a:xfrm>
            <a:prstGeom prst="rect">
              <a:avLst/>
            </a:prstGeom>
            <a:noFill/>
            <a:ln>
              <a:noFill/>
            </a:ln>
          </p:spPr>
          <p:txBody>
            <a:bodyPr wrap="none" lIns="0" tIns="0" rIns="0" bIns="0" anchor="t" anchorCtr="0">
              <a:spAutoFit/>
            </a:bodyPr>
            <a:lstStyle/>
            <a:p>
              <a:pPr algn="l"/>
              <a:r>
                <a:rPr lang="zh-CN" sz="975" b="1" dirty="0">
                  <a:solidFill>
                    <a:srgbClr val="5C6BC0"/>
                  </a:solidFill>
                  <a:latin typeface="Arial"/>
                  <a:ea typeface="Microsoft YaHei"/>
                  <a:cs typeface="Arial"/>
                </a:rPr>
                <a:t>核心步骤</a:t>
              </a:r>
            </a:p>
          </p:txBody>
        </p:sp>
        <p:sp>
          <p:nvSpPr>
            <p:cNvPr id="44" name="TextBox 44"/>
            <p:cNvSpPr txBox="1"/>
            <p:nvPr/>
          </p:nvSpPr>
          <p:spPr>
            <a:xfrm>
              <a:off x="3703320" y="3408045"/>
              <a:ext cx="1247013"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对 YOLO 候选框精分割</a:t>
              </a:r>
            </a:p>
          </p:txBody>
        </p:sp>
        <p:sp>
          <p:nvSpPr>
            <p:cNvPr id="45" name="TextBox 45"/>
            <p:cNvSpPr txBox="1"/>
            <p:nvPr/>
          </p:nvSpPr>
          <p:spPr>
            <a:xfrm>
              <a:off x="3703320" y="3598545"/>
              <a:ext cx="742950"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得到精确边界</a:t>
              </a:r>
            </a:p>
          </p:txBody>
        </p:sp>
        <p:sp>
          <p:nvSpPr>
            <p:cNvPr id="46" name="Line 46"/>
            <p:cNvSpPr/>
            <p:nvPr/>
          </p:nvSpPr>
          <p:spPr>
            <a:xfrm>
              <a:off x="3714750" y="3886200"/>
              <a:ext cx="2190750" cy="9525"/>
            </a:xfrm>
            <a:custGeom>
              <a:avLst/>
              <a:gdLst/>
              <a:ahLst/>
              <a:cxnLst/>
              <a:rect l="l" t="t" r="r" b="b"/>
              <a:pathLst>
                <a:path w="2190750" h="9525">
                  <a:moveTo>
                    <a:pt x="0" y="0"/>
                  </a:moveTo>
                  <a:lnTo>
                    <a:pt x="2190750" y="0"/>
                  </a:lnTo>
                </a:path>
              </a:pathLst>
            </a:custGeom>
            <a:noFill/>
            <a:ln w="9525">
              <a:solidFill>
                <a:srgbClr val="E0E0E0"/>
              </a:solidFill>
            </a:ln>
          </p:spPr>
        </p:sp>
        <p:sp>
          <p:nvSpPr>
            <p:cNvPr id="47" name="TextBox 47"/>
            <p:cNvSpPr txBox="1"/>
            <p:nvPr/>
          </p:nvSpPr>
          <p:spPr>
            <a:xfrm>
              <a:off x="3702368" y="3990499"/>
              <a:ext cx="297799" cy="198120"/>
            </a:xfrm>
            <a:prstGeom prst="rect">
              <a:avLst/>
            </a:prstGeom>
            <a:noFill/>
            <a:ln>
              <a:noFill/>
            </a:ln>
          </p:spPr>
          <p:txBody>
            <a:bodyPr wrap="none" lIns="0" tIns="0" rIns="0" bIns="0" anchor="t" anchorCtr="0">
              <a:spAutoFit/>
            </a:bodyPr>
            <a:lstStyle/>
            <a:p>
              <a:pPr algn="l"/>
              <a:r>
                <a:rPr lang="zh-CN" sz="975" b="1" dirty="0">
                  <a:solidFill>
                    <a:srgbClr val="5C6BC0"/>
                  </a:solidFill>
                  <a:latin typeface="Arial"/>
                  <a:ea typeface="Microsoft YaHei"/>
                  <a:cs typeface="Arial"/>
                </a:rPr>
                <a:t>角色</a:t>
              </a:r>
            </a:p>
          </p:txBody>
        </p:sp>
        <p:sp>
          <p:nvSpPr>
            <p:cNvPr id="48" name="TextBox 48"/>
            <p:cNvSpPr txBox="1"/>
            <p:nvPr/>
          </p:nvSpPr>
          <p:spPr>
            <a:xfrm>
              <a:off x="3703320" y="4208145"/>
              <a:ext cx="1169003"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细化器,提升分割精度</a:t>
              </a:r>
            </a:p>
          </p:txBody>
        </p:sp>
        <p:sp>
          <p:nvSpPr>
            <p:cNvPr id="49" name="Line 49"/>
            <p:cNvSpPr/>
            <p:nvPr/>
          </p:nvSpPr>
          <p:spPr>
            <a:xfrm>
              <a:off x="3714750" y="4495800"/>
              <a:ext cx="2190750" cy="9525"/>
            </a:xfrm>
            <a:custGeom>
              <a:avLst/>
              <a:gdLst/>
              <a:ahLst/>
              <a:cxnLst/>
              <a:rect l="l" t="t" r="r" b="b"/>
              <a:pathLst>
                <a:path w="2190750" h="9525">
                  <a:moveTo>
                    <a:pt x="0" y="0"/>
                  </a:moveTo>
                  <a:lnTo>
                    <a:pt x="2190750" y="0"/>
                  </a:lnTo>
                </a:path>
              </a:pathLst>
            </a:custGeom>
            <a:noFill/>
            <a:ln w="9525">
              <a:solidFill>
                <a:srgbClr val="E0E0E0"/>
              </a:solidFill>
            </a:ln>
          </p:spPr>
        </p:sp>
        <p:sp>
          <p:nvSpPr>
            <p:cNvPr id="50" name="TextBox 50"/>
            <p:cNvSpPr txBox="1"/>
            <p:nvPr/>
          </p:nvSpPr>
          <p:spPr>
            <a:xfrm>
              <a:off x="3702368" y="4600099"/>
              <a:ext cx="434316" cy="198120"/>
            </a:xfrm>
            <a:prstGeom prst="rect">
              <a:avLst/>
            </a:prstGeom>
            <a:noFill/>
            <a:ln>
              <a:noFill/>
            </a:ln>
          </p:spPr>
          <p:txBody>
            <a:bodyPr wrap="none" lIns="0" tIns="0" rIns="0" bIns="0" anchor="t" anchorCtr="0">
              <a:spAutoFit/>
            </a:bodyPr>
            <a:lstStyle/>
            <a:p>
              <a:pPr algn="l"/>
              <a:r>
                <a:rPr lang="zh-CN" sz="975" b="1" dirty="0">
                  <a:solidFill>
                    <a:srgbClr val="5C6BC0"/>
                  </a:solidFill>
                  <a:latin typeface="Arial"/>
                  <a:ea typeface="Microsoft YaHei"/>
                  <a:cs typeface="Arial"/>
                </a:rPr>
                <a:t>产出物</a:t>
              </a:r>
            </a:p>
          </p:txBody>
        </p:sp>
        <p:sp>
          <p:nvSpPr>
            <p:cNvPr id="51" name="Rectangle 51"/>
            <p:cNvSpPr/>
            <p:nvPr/>
          </p:nvSpPr>
          <p:spPr>
            <a:xfrm>
              <a:off x="3714750" y="4800600"/>
              <a:ext cx="2190750" cy="266700"/>
            </a:xfrm>
            <a:prstGeom prst="roundRect">
              <a:avLst>
                <a:gd name="adj" fmla="val 21429"/>
              </a:avLst>
            </a:prstGeom>
            <a:solidFill>
              <a:srgbClr val="E8EAF6"/>
            </a:solidFill>
            <a:ln>
              <a:noFill/>
            </a:ln>
          </p:spPr>
        </p:sp>
        <p:sp>
          <p:nvSpPr>
            <p:cNvPr id="52" name="TextBox 52"/>
            <p:cNvSpPr txBox="1"/>
            <p:nvPr/>
          </p:nvSpPr>
          <p:spPr>
            <a:xfrm>
              <a:off x="4341888" y="4874895"/>
              <a:ext cx="936474" cy="182880"/>
            </a:xfrm>
            <a:prstGeom prst="rect">
              <a:avLst/>
            </a:prstGeom>
            <a:noFill/>
            <a:ln>
              <a:noFill/>
            </a:ln>
          </p:spPr>
          <p:txBody>
            <a:bodyPr wrap="none" lIns="0" tIns="0" rIns="0" bIns="0" anchor="t" anchorCtr="0">
              <a:spAutoFit/>
            </a:bodyPr>
            <a:lstStyle/>
            <a:p>
              <a:pPr algn="ctr"/>
              <a:r>
                <a:rPr lang="zh-CN" sz="900" b="1" dirty="0">
                  <a:solidFill>
                    <a:srgbClr val="5C6BC0"/>
                  </a:solidFill>
                  <a:latin typeface="Cambria"/>
                  <a:ea typeface="SimSun"/>
                  <a:cs typeface="Cambria"/>
                </a:rPr>
                <a:t>精确区域 (2 个)</a:t>
              </a:r>
            </a:p>
          </p:txBody>
        </p:sp>
      </p:grpSp>
      <p:sp>
        <p:nvSpPr>
          <p:cNvPr id="54" name="Freeform 54"/>
          <p:cNvSpPr/>
          <p:nvPr/>
        </p:nvSpPr>
        <p:spPr>
          <a:xfrm>
            <a:off x="6096000" y="3667125"/>
            <a:ext cx="333375" cy="285750"/>
          </a:xfrm>
          <a:custGeom>
            <a:avLst/>
            <a:gdLst/>
            <a:ahLst/>
            <a:cxnLst/>
            <a:rect l="l" t="t" r="r" b="b"/>
            <a:pathLst>
              <a:path w="333375" h="285750">
                <a:moveTo>
                  <a:pt x="0" y="95250"/>
                </a:moveTo>
                <a:lnTo>
                  <a:pt x="190500" y="95250"/>
                </a:lnTo>
                <a:lnTo>
                  <a:pt x="190500" y="0"/>
                </a:lnTo>
                <a:lnTo>
                  <a:pt x="333375" y="142875"/>
                </a:lnTo>
                <a:lnTo>
                  <a:pt x="190500" y="285750"/>
                </a:lnTo>
                <a:lnTo>
                  <a:pt x="190500" y="190500"/>
                </a:lnTo>
                <a:lnTo>
                  <a:pt x="0" y="190500"/>
                </a:lnTo>
                <a:close/>
              </a:path>
            </a:pathLst>
          </a:custGeom>
          <a:solidFill>
            <a:srgbClr val="9AA0A6"/>
          </a:solidFill>
          <a:ln>
            <a:noFill/>
          </a:ln>
        </p:spPr>
      </p:sp>
      <p:grpSp>
        <p:nvGrpSpPr>
          <p:cNvPr id="72" name="Group 72"/>
          <p:cNvGrpSpPr/>
          <p:nvPr/>
        </p:nvGrpSpPr>
        <p:grpSpPr>
          <a:xfrm>
            <a:off x="6477000" y="2476500"/>
            <a:ext cx="2571750" cy="2667000"/>
            <a:chOff x="6477000" y="2476500"/>
            <a:chExt cx="2571750" cy="2667000"/>
          </a:xfrm>
        </p:grpSpPr>
        <p:sp>
          <p:nvSpPr>
            <p:cNvPr id="55" name="Rectangle 55"/>
            <p:cNvSpPr/>
            <p:nvPr/>
          </p:nvSpPr>
          <p:spPr>
            <a:xfrm>
              <a:off x="6477000" y="2476500"/>
              <a:ext cx="2571750" cy="2667000"/>
            </a:xfrm>
            <a:prstGeom prst="roundRect">
              <a:avLst>
                <a:gd name="adj" fmla="val 3704"/>
              </a:avLst>
            </a:prstGeom>
            <a:solidFill>
              <a:srgbClr val="FFFFFF"/>
            </a:solidFill>
            <a:ln w="14288">
              <a:solidFill>
                <a:srgbClr val="E0E0E0"/>
              </a:solidFill>
            </a:ln>
            <a:effectLst>
              <a:outerShdw blurRad="95250" dist="28575" dir="5400000" algn="ctr" rotWithShape="0">
                <a:srgbClr val="0F172A">
                  <a:alpha val="7500"/>
                </a:srgbClr>
              </a:outerShdw>
            </a:effectLst>
          </p:spPr>
        </p:sp>
        <p:sp>
          <p:nvSpPr>
            <p:cNvPr id="56" name="Freeform 56"/>
            <p:cNvSpPr/>
            <p:nvPr/>
          </p:nvSpPr>
          <p:spPr>
            <a:xfrm>
              <a:off x="6477000" y="2476500"/>
              <a:ext cx="2571750" cy="571500"/>
            </a:xfrm>
            <a:custGeom>
              <a:avLst/>
              <a:gdLst/>
              <a:ahLst/>
              <a:cxnLst/>
              <a:rect l="l" t="t" r="r" b="b"/>
              <a:pathLst>
                <a:path w="2571750" h="571500">
                  <a:moveTo>
                    <a:pt x="0" y="95250"/>
                  </a:moveTo>
                  <a:cubicBezTo>
                    <a:pt x="0" y="42645"/>
                    <a:pt x="42645" y="0"/>
                    <a:pt x="95250" y="0"/>
                  </a:cubicBezTo>
                  <a:lnTo>
                    <a:pt x="2476500" y="0"/>
                  </a:lnTo>
                  <a:cubicBezTo>
                    <a:pt x="2529105" y="0"/>
                    <a:pt x="2571750" y="42645"/>
                    <a:pt x="2571750" y="95250"/>
                  </a:cubicBezTo>
                  <a:lnTo>
                    <a:pt x="2571750" y="571500"/>
                  </a:lnTo>
                  <a:lnTo>
                    <a:pt x="0" y="571500"/>
                  </a:lnTo>
                  <a:close/>
                </a:path>
              </a:pathLst>
            </a:custGeom>
            <a:gradFill>
              <a:gsLst>
                <a:gs pos="0">
                  <a:srgbClr val="FF8F00"/>
                </a:gs>
                <a:gs pos="100000">
                  <a:srgbClr val="FFB300"/>
                </a:gs>
              </a:gsLst>
              <a:lin ang="2700000" scaled="1"/>
            </a:gradFill>
            <a:ln>
              <a:noFill/>
            </a:ln>
          </p:spPr>
        </p:sp>
        <p:sp>
          <p:nvSpPr>
            <p:cNvPr id="57" name="Rectangle 57"/>
            <p:cNvSpPr/>
            <p:nvPr/>
          </p:nvSpPr>
          <p:spPr>
            <a:xfrm>
              <a:off x="6667500" y="2609850"/>
              <a:ext cx="304800" cy="304800"/>
            </a:xfrm>
            <a:prstGeom prst="roundRect">
              <a:avLst>
                <a:gd name="adj" fmla="val 18750"/>
              </a:avLst>
            </a:prstGeom>
            <a:solidFill>
              <a:srgbClr val="FFFFFF">
                <a:alpha val="25000"/>
              </a:srgbClr>
            </a:solidFill>
            <a:ln>
              <a:noFill/>
            </a:ln>
          </p:spPr>
        </p:sp>
        <p:sp>
          <p:nvSpPr>
            <p:cNvPr id="58" name="TextBox 58"/>
            <p:cNvSpPr txBox="1"/>
            <p:nvPr/>
          </p:nvSpPr>
          <p:spPr>
            <a:xfrm>
              <a:off x="6725705" y="272510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Cambria"/>
                  <a:ea typeface="SimSun"/>
                  <a:cs typeface="Cambria"/>
                </a:rPr>
                <a:t>03</a:t>
              </a:r>
            </a:p>
          </p:txBody>
        </p:sp>
        <p:sp>
          <p:nvSpPr>
            <p:cNvPr id="59" name="Freeform 59"/>
            <p:cNvSpPr/>
            <p:nvPr/>
          </p:nvSpPr>
          <p:spPr>
            <a:xfrm>
              <a:off x="8432800" y="2660650"/>
              <a:ext cx="203200" cy="215900"/>
            </a:xfrm>
            <a:custGeom>
              <a:avLst/>
              <a:gdLst/>
              <a:ahLst/>
              <a:cxnLst/>
              <a:rect l="l" t="t" r="r" b="b"/>
              <a:pathLst>
                <a:path w="203200" h="215900">
                  <a:moveTo>
                    <a:pt x="0" y="0"/>
                  </a:moveTo>
                  <a:lnTo>
                    <a:pt x="203200" y="0"/>
                  </a:lnTo>
                  <a:lnTo>
                    <a:pt x="203200" y="27584"/>
                  </a:lnTo>
                  <a:cubicBezTo>
                    <a:pt x="203199" y="34320"/>
                    <a:pt x="200522" y="40780"/>
                    <a:pt x="195758" y="45542"/>
                  </a:cubicBezTo>
                  <a:lnTo>
                    <a:pt x="139700" y="101600"/>
                  </a:lnTo>
                  <a:lnTo>
                    <a:pt x="139700" y="190500"/>
                  </a:lnTo>
                  <a:lnTo>
                    <a:pt x="63500" y="215900"/>
                  </a:lnTo>
                  <a:lnTo>
                    <a:pt x="63500" y="107950"/>
                  </a:lnTo>
                  <a:lnTo>
                    <a:pt x="6604" y="45364"/>
                  </a:lnTo>
                  <a:cubicBezTo>
                    <a:pt x="2355" y="40690"/>
                    <a:pt x="1" y="34600"/>
                    <a:pt x="0" y="28283"/>
                  </a:cubicBezTo>
                  <a:lnTo>
                    <a:pt x="0" y="0"/>
                  </a:lnTo>
                </a:path>
              </a:pathLst>
            </a:custGeom>
            <a:noFill/>
            <a:ln w="19050">
              <a:solidFill>
                <a:srgbClr val="FFFFFF"/>
              </a:solidFill>
            </a:ln>
          </p:spPr>
        </p:sp>
        <p:sp>
          <p:nvSpPr>
            <p:cNvPr id="60" name="TextBox 60"/>
            <p:cNvSpPr txBox="1"/>
            <p:nvPr/>
          </p:nvSpPr>
          <p:spPr>
            <a:xfrm>
              <a:off x="7260374" y="2727960"/>
              <a:ext cx="100500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OpenCV 兜底</a:t>
              </a:r>
            </a:p>
          </p:txBody>
        </p:sp>
        <p:sp>
          <p:nvSpPr>
            <p:cNvPr id="61" name="TextBox 61"/>
            <p:cNvSpPr txBox="1"/>
            <p:nvPr/>
          </p:nvSpPr>
          <p:spPr>
            <a:xfrm>
              <a:off x="7268289" y="2928938"/>
              <a:ext cx="989171" cy="152400"/>
            </a:xfrm>
            <a:prstGeom prst="rect">
              <a:avLst/>
            </a:prstGeom>
            <a:noFill/>
            <a:ln>
              <a:noFill/>
            </a:ln>
          </p:spPr>
          <p:txBody>
            <a:bodyPr wrap="none" lIns="0" tIns="0" rIns="0" bIns="0" anchor="t" anchorCtr="0">
              <a:spAutoFit/>
            </a:bodyPr>
            <a:lstStyle/>
            <a:p>
              <a:pPr algn="ctr"/>
              <a:r>
                <a:rPr lang="zh-CN" sz="750" dirty="0">
                  <a:solidFill>
                    <a:srgbClr val="FFFFFF">
                      <a:alphaMod val="85000"/>
                    </a:srgbClr>
                  </a:solidFill>
                  <a:latin typeface="Arial"/>
                  <a:ea typeface="Microsoft YaHei"/>
                  <a:cs typeface="Arial"/>
                </a:rPr>
                <a:t>STAGE 03 · FALLBACK</a:t>
              </a:r>
            </a:p>
          </p:txBody>
        </p:sp>
        <p:sp>
          <p:nvSpPr>
            <p:cNvPr id="62" name="TextBox 62"/>
            <p:cNvSpPr txBox="1"/>
            <p:nvPr/>
          </p:nvSpPr>
          <p:spPr>
            <a:xfrm>
              <a:off x="6655118" y="3190399"/>
              <a:ext cx="570833" cy="198120"/>
            </a:xfrm>
            <a:prstGeom prst="rect">
              <a:avLst/>
            </a:prstGeom>
            <a:noFill/>
            <a:ln>
              <a:noFill/>
            </a:ln>
          </p:spPr>
          <p:txBody>
            <a:bodyPr wrap="none" lIns="0" tIns="0" rIns="0" bIns="0" anchor="t" anchorCtr="0">
              <a:spAutoFit/>
            </a:bodyPr>
            <a:lstStyle/>
            <a:p>
              <a:pPr algn="l"/>
              <a:r>
                <a:rPr lang="zh-CN" sz="975" b="1" dirty="0">
                  <a:solidFill>
                    <a:srgbClr val="FF8F00"/>
                  </a:solidFill>
                  <a:latin typeface="Arial"/>
                  <a:ea typeface="Microsoft YaHei"/>
                  <a:cs typeface="Arial"/>
                </a:rPr>
                <a:t>核心步骤</a:t>
              </a:r>
            </a:p>
          </p:txBody>
        </p:sp>
        <p:sp>
          <p:nvSpPr>
            <p:cNvPr id="63" name="TextBox 63"/>
            <p:cNvSpPr txBox="1"/>
            <p:nvPr/>
          </p:nvSpPr>
          <p:spPr>
            <a:xfrm>
              <a:off x="6656070" y="3408045"/>
              <a:ext cx="1102995"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完全检测不到时启用</a:t>
              </a:r>
            </a:p>
          </p:txBody>
        </p:sp>
        <p:sp>
          <p:nvSpPr>
            <p:cNvPr id="64" name="TextBox 64"/>
            <p:cNvSpPr txBox="1"/>
            <p:nvPr/>
          </p:nvSpPr>
          <p:spPr>
            <a:xfrm>
              <a:off x="6656070" y="3598545"/>
              <a:ext cx="1169003"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颜色/边缘启发式检测</a:t>
              </a:r>
            </a:p>
          </p:txBody>
        </p:sp>
        <p:sp>
          <p:nvSpPr>
            <p:cNvPr id="65" name="Line 65"/>
            <p:cNvSpPr/>
            <p:nvPr/>
          </p:nvSpPr>
          <p:spPr>
            <a:xfrm>
              <a:off x="6667500" y="3886200"/>
              <a:ext cx="2190750" cy="9525"/>
            </a:xfrm>
            <a:custGeom>
              <a:avLst/>
              <a:gdLst/>
              <a:ahLst/>
              <a:cxnLst/>
              <a:rect l="l" t="t" r="r" b="b"/>
              <a:pathLst>
                <a:path w="2190750" h="9525">
                  <a:moveTo>
                    <a:pt x="0" y="0"/>
                  </a:moveTo>
                  <a:lnTo>
                    <a:pt x="2190750" y="0"/>
                  </a:lnTo>
                </a:path>
              </a:pathLst>
            </a:custGeom>
            <a:noFill/>
            <a:ln w="9525">
              <a:solidFill>
                <a:srgbClr val="E0E0E0"/>
              </a:solidFill>
            </a:ln>
          </p:spPr>
        </p:sp>
        <p:sp>
          <p:nvSpPr>
            <p:cNvPr id="66" name="TextBox 66"/>
            <p:cNvSpPr txBox="1"/>
            <p:nvPr/>
          </p:nvSpPr>
          <p:spPr>
            <a:xfrm>
              <a:off x="6655118" y="3990499"/>
              <a:ext cx="297799" cy="198120"/>
            </a:xfrm>
            <a:prstGeom prst="rect">
              <a:avLst/>
            </a:prstGeom>
            <a:noFill/>
            <a:ln>
              <a:noFill/>
            </a:ln>
          </p:spPr>
          <p:txBody>
            <a:bodyPr wrap="none" lIns="0" tIns="0" rIns="0" bIns="0" anchor="t" anchorCtr="0">
              <a:spAutoFit/>
            </a:bodyPr>
            <a:lstStyle/>
            <a:p>
              <a:pPr algn="l"/>
              <a:r>
                <a:rPr lang="zh-CN" sz="975" b="1" dirty="0">
                  <a:solidFill>
                    <a:srgbClr val="FF8F00"/>
                  </a:solidFill>
                  <a:latin typeface="Arial"/>
                  <a:ea typeface="Microsoft YaHei"/>
                  <a:cs typeface="Arial"/>
                </a:rPr>
                <a:t>角色</a:t>
              </a:r>
            </a:p>
          </p:txBody>
        </p:sp>
        <p:sp>
          <p:nvSpPr>
            <p:cNvPr id="67" name="TextBox 67"/>
            <p:cNvSpPr txBox="1"/>
            <p:nvPr/>
          </p:nvSpPr>
          <p:spPr>
            <a:xfrm>
              <a:off x="6656070" y="4208145"/>
              <a:ext cx="1289018"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兜底机制一,简单启发式</a:t>
              </a:r>
            </a:p>
          </p:txBody>
        </p:sp>
        <p:sp>
          <p:nvSpPr>
            <p:cNvPr id="68" name="Line 68"/>
            <p:cNvSpPr/>
            <p:nvPr/>
          </p:nvSpPr>
          <p:spPr>
            <a:xfrm>
              <a:off x="6667500" y="4495800"/>
              <a:ext cx="2190750" cy="9525"/>
            </a:xfrm>
            <a:custGeom>
              <a:avLst/>
              <a:gdLst/>
              <a:ahLst/>
              <a:cxnLst/>
              <a:rect l="l" t="t" r="r" b="b"/>
              <a:pathLst>
                <a:path w="2190750" h="9525">
                  <a:moveTo>
                    <a:pt x="0" y="0"/>
                  </a:moveTo>
                  <a:lnTo>
                    <a:pt x="2190750" y="0"/>
                  </a:lnTo>
                </a:path>
              </a:pathLst>
            </a:custGeom>
            <a:noFill/>
            <a:ln w="9525">
              <a:solidFill>
                <a:srgbClr val="E0E0E0"/>
              </a:solidFill>
            </a:ln>
          </p:spPr>
        </p:sp>
        <p:sp>
          <p:nvSpPr>
            <p:cNvPr id="69" name="TextBox 69"/>
            <p:cNvSpPr txBox="1"/>
            <p:nvPr/>
          </p:nvSpPr>
          <p:spPr>
            <a:xfrm>
              <a:off x="6655118" y="4600099"/>
              <a:ext cx="434316" cy="198120"/>
            </a:xfrm>
            <a:prstGeom prst="rect">
              <a:avLst/>
            </a:prstGeom>
            <a:noFill/>
            <a:ln>
              <a:noFill/>
            </a:ln>
          </p:spPr>
          <p:txBody>
            <a:bodyPr wrap="none" lIns="0" tIns="0" rIns="0" bIns="0" anchor="t" anchorCtr="0">
              <a:spAutoFit/>
            </a:bodyPr>
            <a:lstStyle/>
            <a:p>
              <a:pPr algn="l"/>
              <a:r>
                <a:rPr lang="zh-CN" sz="975" b="1" dirty="0">
                  <a:solidFill>
                    <a:srgbClr val="FF8F00"/>
                  </a:solidFill>
                  <a:latin typeface="Arial"/>
                  <a:ea typeface="Microsoft YaHei"/>
                  <a:cs typeface="Arial"/>
                </a:rPr>
                <a:t>产出物</a:t>
              </a:r>
            </a:p>
          </p:txBody>
        </p:sp>
        <p:sp>
          <p:nvSpPr>
            <p:cNvPr id="70" name="Rectangle 70"/>
            <p:cNvSpPr/>
            <p:nvPr/>
          </p:nvSpPr>
          <p:spPr>
            <a:xfrm>
              <a:off x="6667500" y="4800600"/>
              <a:ext cx="2190750" cy="266700"/>
            </a:xfrm>
            <a:prstGeom prst="roundRect">
              <a:avLst>
                <a:gd name="adj" fmla="val 21429"/>
              </a:avLst>
            </a:prstGeom>
            <a:solidFill>
              <a:srgbClr val="FFF3E0"/>
            </a:solidFill>
            <a:ln>
              <a:noFill/>
            </a:ln>
          </p:spPr>
        </p:sp>
        <p:sp>
          <p:nvSpPr>
            <p:cNvPr id="71" name="TextBox 71"/>
            <p:cNvSpPr txBox="1"/>
            <p:nvPr/>
          </p:nvSpPr>
          <p:spPr>
            <a:xfrm>
              <a:off x="7348195" y="4874895"/>
              <a:ext cx="829361" cy="182880"/>
            </a:xfrm>
            <a:prstGeom prst="rect">
              <a:avLst/>
            </a:prstGeom>
            <a:noFill/>
            <a:ln>
              <a:noFill/>
            </a:ln>
          </p:spPr>
          <p:txBody>
            <a:bodyPr wrap="none" lIns="0" tIns="0" rIns="0" bIns="0" anchor="t" anchorCtr="0">
              <a:spAutoFit/>
            </a:bodyPr>
            <a:lstStyle/>
            <a:p>
              <a:pPr algn="ctr"/>
              <a:r>
                <a:rPr lang="zh-CN" sz="900" b="1" dirty="0">
                  <a:solidFill>
                    <a:srgbClr val="FF8F00"/>
                  </a:solidFill>
                  <a:latin typeface="Cambria"/>
                  <a:ea typeface="SimSun"/>
                  <a:cs typeface="Cambria"/>
                </a:rPr>
                <a:t>候选框 (兜底)</a:t>
              </a:r>
            </a:p>
          </p:txBody>
        </p:sp>
      </p:grpSp>
      <p:sp>
        <p:nvSpPr>
          <p:cNvPr id="73" name="Freeform 73"/>
          <p:cNvSpPr/>
          <p:nvPr/>
        </p:nvSpPr>
        <p:spPr>
          <a:xfrm>
            <a:off x="9048750" y="3667125"/>
            <a:ext cx="333375" cy="285750"/>
          </a:xfrm>
          <a:custGeom>
            <a:avLst/>
            <a:gdLst/>
            <a:ahLst/>
            <a:cxnLst/>
            <a:rect l="l" t="t" r="r" b="b"/>
            <a:pathLst>
              <a:path w="333375" h="285750">
                <a:moveTo>
                  <a:pt x="0" y="95250"/>
                </a:moveTo>
                <a:lnTo>
                  <a:pt x="190500" y="95250"/>
                </a:lnTo>
                <a:lnTo>
                  <a:pt x="190500" y="0"/>
                </a:lnTo>
                <a:lnTo>
                  <a:pt x="333375" y="142875"/>
                </a:lnTo>
                <a:lnTo>
                  <a:pt x="190500" y="285750"/>
                </a:lnTo>
                <a:lnTo>
                  <a:pt x="190500" y="190500"/>
                </a:lnTo>
                <a:lnTo>
                  <a:pt x="0" y="190500"/>
                </a:lnTo>
                <a:close/>
              </a:path>
            </a:pathLst>
          </a:custGeom>
          <a:solidFill>
            <a:srgbClr val="9AA0A6"/>
          </a:solidFill>
          <a:ln>
            <a:noFill/>
          </a:ln>
        </p:spPr>
      </p:sp>
      <p:grpSp>
        <p:nvGrpSpPr>
          <p:cNvPr id="95" name="Group 95"/>
          <p:cNvGrpSpPr/>
          <p:nvPr/>
        </p:nvGrpSpPr>
        <p:grpSpPr>
          <a:xfrm>
            <a:off x="9429750" y="2476500"/>
            <a:ext cx="2190750" cy="2667000"/>
            <a:chOff x="9429750" y="2476500"/>
            <a:chExt cx="2190750" cy="2667000"/>
          </a:xfrm>
        </p:grpSpPr>
        <p:sp>
          <p:nvSpPr>
            <p:cNvPr id="74" name="Rectangle 74"/>
            <p:cNvSpPr/>
            <p:nvPr/>
          </p:nvSpPr>
          <p:spPr>
            <a:xfrm>
              <a:off x="9429750" y="2476500"/>
              <a:ext cx="2190750" cy="2667000"/>
            </a:xfrm>
            <a:prstGeom prst="roundRect">
              <a:avLst>
                <a:gd name="adj" fmla="val 4348"/>
              </a:avLst>
            </a:prstGeom>
            <a:solidFill>
              <a:srgbClr val="FFFFFF"/>
            </a:solidFill>
            <a:ln w="14288">
              <a:solidFill>
                <a:srgbClr val="E0E0E0"/>
              </a:solidFill>
            </a:ln>
            <a:effectLst>
              <a:outerShdw blurRad="95250" dist="28575" dir="5400000" algn="ctr" rotWithShape="0">
                <a:srgbClr val="0F172A">
                  <a:alpha val="7500"/>
                </a:srgbClr>
              </a:outerShdw>
            </a:effectLst>
          </p:spPr>
        </p:sp>
        <p:sp>
          <p:nvSpPr>
            <p:cNvPr id="75" name="Freeform 75"/>
            <p:cNvSpPr/>
            <p:nvPr/>
          </p:nvSpPr>
          <p:spPr>
            <a:xfrm>
              <a:off x="9429750" y="2476500"/>
              <a:ext cx="2190750" cy="571500"/>
            </a:xfrm>
            <a:custGeom>
              <a:avLst/>
              <a:gdLst/>
              <a:ahLst/>
              <a:cxnLst/>
              <a:rect l="l" t="t" r="r" b="b"/>
              <a:pathLst>
                <a:path w="2190750" h="571500">
                  <a:moveTo>
                    <a:pt x="0" y="95250"/>
                  </a:moveTo>
                  <a:cubicBezTo>
                    <a:pt x="0" y="42645"/>
                    <a:pt x="42645" y="0"/>
                    <a:pt x="95250" y="0"/>
                  </a:cubicBezTo>
                  <a:lnTo>
                    <a:pt x="2095500" y="0"/>
                  </a:lnTo>
                  <a:cubicBezTo>
                    <a:pt x="2148105" y="0"/>
                    <a:pt x="2190750" y="42645"/>
                    <a:pt x="2190750" y="95250"/>
                  </a:cubicBezTo>
                  <a:lnTo>
                    <a:pt x="2190750" y="571500"/>
                  </a:lnTo>
                  <a:lnTo>
                    <a:pt x="0" y="571500"/>
                  </a:lnTo>
                  <a:close/>
                </a:path>
              </a:pathLst>
            </a:custGeom>
            <a:gradFill>
              <a:gsLst>
                <a:gs pos="0">
                  <a:srgbClr val="FFB300"/>
                </a:gs>
                <a:gs pos="100000">
                  <a:srgbClr val="FFD54F"/>
                </a:gs>
              </a:gsLst>
              <a:lin ang="2700000" scaled="1"/>
            </a:gradFill>
            <a:ln>
              <a:noFill/>
            </a:ln>
          </p:spPr>
        </p:sp>
        <p:sp>
          <p:nvSpPr>
            <p:cNvPr id="76" name="Rectangle 76"/>
            <p:cNvSpPr/>
            <p:nvPr/>
          </p:nvSpPr>
          <p:spPr>
            <a:xfrm>
              <a:off x="9620250" y="2609850"/>
              <a:ext cx="304800" cy="304800"/>
            </a:xfrm>
            <a:prstGeom prst="roundRect">
              <a:avLst>
                <a:gd name="adj" fmla="val 18750"/>
              </a:avLst>
            </a:prstGeom>
            <a:solidFill>
              <a:srgbClr val="FFFFFF">
                <a:alpha val="25000"/>
              </a:srgbClr>
            </a:solidFill>
            <a:ln>
              <a:noFill/>
            </a:ln>
          </p:spPr>
        </p:sp>
        <p:sp>
          <p:nvSpPr>
            <p:cNvPr id="77" name="TextBox 77"/>
            <p:cNvSpPr txBox="1"/>
            <p:nvPr/>
          </p:nvSpPr>
          <p:spPr>
            <a:xfrm>
              <a:off x="9678455" y="272510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Cambria"/>
                  <a:ea typeface="SimSun"/>
                  <a:cs typeface="Cambria"/>
                </a:rPr>
                <a:t>04</a:t>
              </a:r>
            </a:p>
          </p:txBody>
        </p:sp>
        <p:grpSp>
          <p:nvGrpSpPr>
            <p:cNvPr id="82" name="Group 82"/>
            <p:cNvGrpSpPr/>
            <p:nvPr/>
          </p:nvGrpSpPr>
          <p:grpSpPr>
            <a:xfrm>
              <a:off x="11004550" y="2660650"/>
              <a:ext cx="203200" cy="203200"/>
              <a:chOff x="11004550" y="2660650"/>
              <a:chExt cx="203200" cy="203200"/>
            </a:xfrm>
          </p:grpSpPr>
          <p:sp>
            <p:nvSpPr>
              <p:cNvPr id="78" name="Freeform 78"/>
              <p:cNvSpPr/>
              <p:nvPr/>
            </p:nvSpPr>
            <p:spPr>
              <a:xfrm>
                <a:off x="11004550" y="2660650"/>
                <a:ext cx="76200" cy="76200"/>
              </a:xfrm>
              <a:custGeom>
                <a:avLst/>
                <a:gdLst/>
                <a:ahLst/>
                <a:cxnLst/>
                <a:rect l="l" t="t" r="r" b="b"/>
                <a:pathLst>
                  <a:path w="76200" h="76200">
                    <a:moveTo>
                      <a:pt x="0" y="12700"/>
                    </a:moveTo>
                    <a:cubicBezTo>
                      <a:pt x="0" y="5686"/>
                      <a:pt x="5686" y="0"/>
                      <a:pt x="12700" y="0"/>
                    </a:cubicBezTo>
                    <a:lnTo>
                      <a:pt x="63500" y="0"/>
                    </a:lnTo>
                    <a:cubicBezTo>
                      <a:pt x="70514" y="0"/>
                      <a:pt x="76200" y="5686"/>
                      <a:pt x="76200" y="12700"/>
                    </a:cubicBezTo>
                    <a:lnTo>
                      <a:pt x="76200" y="63500"/>
                    </a:lnTo>
                    <a:cubicBezTo>
                      <a:pt x="76200" y="70514"/>
                      <a:pt x="70514" y="76200"/>
                      <a:pt x="63500" y="76200"/>
                    </a:cubicBezTo>
                    <a:lnTo>
                      <a:pt x="12700" y="76200"/>
                    </a:lnTo>
                    <a:cubicBezTo>
                      <a:pt x="5686" y="76200"/>
                      <a:pt x="0" y="70514"/>
                      <a:pt x="0" y="63500"/>
                    </a:cubicBezTo>
                    <a:lnTo>
                      <a:pt x="0" y="12700"/>
                    </a:lnTo>
                  </a:path>
                </a:pathLst>
              </a:custGeom>
              <a:noFill/>
              <a:ln w="19050">
                <a:solidFill>
                  <a:srgbClr val="FFFFFF"/>
                </a:solidFill>
              </a:ln>
            </p:spPr>
          </p:sp>
          <p:sp>
            <p:nvSpPr>
              <p:cNvPr id="79" name="Freeform 79"/>
              <p:cNvSpPr/>
              <p:nvPr/>
            </p:nvSpPr>
            <p:spPr>
              <a:xfrm>
                <a:off x="11131550" y="2660650"/>
                <a:ext cx="76200" cy="76200"/>
              </a:xfrm>
              <a:custGeom>
                <a:avLst/>
                <a:gdLst/>
                <a:ahLst/>
                <a:cxnLst/>
                <a:rect l="l" t="t" r="r" b="b"/>
                <a:pathLst>
                  <a:path w="76200" h="76200">
                    <a:moveTo>
                      <a:pt x="0" y="12700"/>
                    </a:moveTo>
                    <a:cubicBezTo>
                      <a:pt x="0" y="5686"/>
                      <a:pt x="5686" y="0"/>
                      <a:pt x="12700" y="0"/>
                    </a:cubicBezTo>
                    <a:lnTo>
                      <a:pt x="63500" y="0"/>
                    </a:lnTo>
                    <a:cubicBezTo>
                      <a:pt x="70514" y="0"/>
                      <a:pt x="76200" y="5686"/>
                      <a:pt x="76200" y="12700"/>
                    </a:cubicBezTo>
                    <a:lnTo>
                      <a:pt x="76200" y="63500"/>
                    </a:lnTo>
                    <a:cubicBezTo>
                      <a:pt x="76200" y="70514"/>
                      <a:pt x="70514" y="76200"/>
                      <a:pt x="63500" y="76200"/>
                    </a:cubicBezTo>
                    <a:lnTo>
                      <a:pt x="12700" y="76200"/>
                    </a:lnTo>
                    <a:cubicBezTo>
                      <a:pt x="5686" y="76200"/>
                      <a:pt x="0" y="70514"/>
                      <a:pt x="0" y="63500"/>
                    </a:cubicBezTo>
                    <a:lnTo>
                      <a:pt x="0" y="12700"/>
                    </a:lnTo>
                  </a:path>
                </a:pathLst>
              </a:custGeom>
              <a:noFill/>
              <a:ln w="19050">
                <a:solidFill>
                  <a:srgbClr val="FFFFFF"/>
                </a:solidFill>
              </a:ln>
            </p:spPr>
          </p:sp>
          <p:sp>
            <p:nvSpPr>
              <p:cNvPr id="80" name="Freeform 80"/>
              <p:cNvSpPr/>
              <p:nvPr/>
            </p:nvSpPr>
            <p:spPr>
              <a:xfrm>
                <a:off x="11004550" y="2787650"/>
                <a:ext cx="76200" cy="76200"/>
              </a:xfrm>
              <a:custGeom>
                <a:avLst/>
                <a:gdLst/>
                <a:ahLst/>
                <a:cxnLst/>
                <a:rect l="l" t="t" r="r" b="b"/>
                <a:pathLst>
                  <a:path w="76200" h="76200">
                    <a:moveTo>
                      <a:pt x="0" y="12700"/>
                    </a:moveTo>
                    <a:cubicBezTo>
                      <a:pt x="0" y="5686"/>
                      <a:pt x="5686" y="0"/>
                      <a:pt x="12700" y="0"/>
                    </a:cubicBezTo>
                    <a:lnTo>
                      <a:pt x="63500" y="0"/>
                    </a:lnTo>
                    <a:cubicBezTo>
                      <a:pt x="70514" y="0"/>
                      <a:pt x="76200" y="5686"/>
                      <a:pt x="76200" y="12700"/>
                    </a:cubicBezTo>
                    <a:lnTo>
                      <a:pt x="76200" y="63500"/>
                    </a:lnTo>
                    <a:cubicBezTo>
                      <a:pt x="76200" y="70514"/>
                      <a:pt x="70514" y="76200"/>
                      <a:pt x="63500" y="76200"/>
                    </a:cubicBezTo>
                    <a:lnTo>
                      <a:pt x="12700" y="76200"/>
                    </a:lnTo>
                    <a:cubicBezTo>
                      <a:pt x="5686" y="76200"/>
                      <a:pt x="0" y="70514"/>
                      <a:pt x="0" y="63500"/>
                    </a:cubicBezTo>
                    <a:lnTo>
                      <a:pt x="0" y="12700"/>
                    </a:lnTo>
                  </a:path>
                </a:pathLst>
              </a:custGeom>
              <a:noFill/>
              <a:ln w="19050">
                <a:solidFill>
                  <a:srgbClr val="FFFFFF"/>
                </a:solidFill>
              </a:ln>
            </p:spPr>
          </p:sp>
          <p:sp>
            <p:nvSpPr>
              <p:cNvPr id="81" name="Freeform 81"/>
              <p:cNvSpPr/>
              <p:nvPr/>
            </p:nvSpPr>
            <p:spPr>
              <a:xfrm>
                <a:off x="11131550" y="2787650"/>
                <a:ext cx="76200" cy="76200"/>
              </a:xfrm>
              <a:custGeom>
                <a:avLst/>
                <a:gdLst/>
                <a:ahLst/>
                <a:cxnLst/>
                <a:rect l="l" t="t" r="r" b="b"/>
                <a:pathLst>
                  <a:path w="76200" h="76200">
                    <a:moveTo>
                      <a:pt x="0" y="12700"/>
                    </a:moveTo>
                    <a:cubicBezTo>
                      <a:pt x="0" y="5686"/>
                      <a:pt x="5686" y="0"/>
                      <a:pt x="12700" y="0"/>
                    </a:cubicBezTo>
                    <a:lnTo>
                      <a:pt x="63500" y="0"/>
                    </a:lnTo>
                    <a:cubicBezTo>
                      <a:pt x="70514" y="0"/>
                      <a:pt x="76200" y="5686"/>
                      <a:pt x="76200" y="12700"/>
                    </a:cubicBezTo>
                    <a:lnTo>
                      <a:pt x="76200" y="63500"/>
                    </a:lnTo>
                    <a:cubicBezTo>
                      <a:pt x="76200" y="70514"/>
                      <a:pt x="70514" y="76200"/>
                      <a:pt x="63500" y="76200"/>
                    </a:cubicBezTo>
                    <a:lnTo>
                      <a:pt x="12700" y="76200"/>
                    </a:lnTo>
                    <a:cubicBezTo>
                      <a:pt x="5686" y="76200"/>
                      <a:pt x="0" y="70514"/>
                      <a:pt x="0" y="63500"/>
                    </a:cubicBezTo>
                    <a:lnTo>
                      <a:pt x="0" y="12700"/>
                    </a:lnTo>
                  </a:path>
                </a:pathLst>
              </a:custGeom>
              <a:noFill/>
              <a:ln w="19050">
                <a:solidFill>
                  <a:srgbClr val="FFFFFF"/>
                </a:solidFill>
              </a:ln>
            </p:spPr>
          </p:sp>
        </p:grpSp>
        <p:sp>
          <p:nvSpPr>
            <p:cNvPr id="83" name="TextBox 83"/>
            <p:cNvSpPr txBox="1"/>
            <p:nvPr/>
          </p:nvSpPr>
          <p:spPr>
            <a:xfrm>
              <a:off x="10173843" y="2727960"/>
              <a:ext cx="70256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ambria"/>
                  <a:ea typeface="SimSun"/>
                  <a:cs typeface="Cambria"/>
                </a:rPr>
                <a:t>网格切分</a:t>
              </a:r>
            </a:p>
          </p:txBody>
        </p:sp>
        <p:sp>
          <p:nvSpPr>
            <p:cNvPr id="84" name="TextBox 84"/>
            <p:cNvSpPr txBox="1"/>
            <p:nvPr/>
          </p:nvSpPr>
          <p:spPr>
            <a:xfrm>
              <a:off x="10153055" y="2928938"/>
              <a:ext cx="744141" cy="152400"/>
            </a:xfrm>
            <a:prstGeom prst="rect">
              <a:avLst/>
            </a:prstGeom>
            <a:noFill/>
            <a:ln>
              <a:noFill/>
            </a:ln>
          </p:spPr>
          <p:txBody>
            <a:bodyPr wrap="none" lIns="0" tIns="0" rIns="0" bIns="0" anchor="t" anchorCtr="0">
              <a:spAutoFit/>
            </a:bodyPr>
            <a:lstStyle/>
            <a:p>
              <a:pPr algn="ctr"/>
              <a:r>
                <a:rPr lang="zh-CN" sz="750" dirty="0">
                  <a:solidFill>
                    <a:srgbClr val="FFFFFF">
                      <a:alphaMod val="85000"/>
                    </a:srgbClr>
                  </a:solidFill>
                  <a:latin typeface="Arial"/>
                  <a:ea typeface="Microsoft YaHei"/>
                  <a:cs typeface="Arial"/>
                </a:rPr>
                <a:t>STAGE 04 · GRID</a:t>
              </a:r>
            </a:p>
          </p:txBody>
        </p:sp>
        <p:sp>
          <p:nvSpPr>
            <p:cNvPr id="85" name="TextBox 85"/>
            <p:cNvSpPr txBox="1"/>
            <p:nvPr/>
          </p:nvSpPr>
          <p:spPr>
            <a:xfrm>
              <a:off x="9607868" y="3190399"/>
              <a:ext cx="570833" cy="198120"/>
            </a:xfrm>
            <a:prstGeom prst="rect">
              <a:avLst/>
            </a:prstGeom>
            <a:noFill/>
            <a:ln>
              <a:noFill/>
            </a:ln>
          </p:spPr>
          <p:txBody>
            <a:bodyPr wrap="none" lIns="0" tIns="0" rIns="0" bIns="0" anchor="t" anchorCtr="0">
              <a:spAutoFit/>
            </a:bodyPr>
            <a:lstStyle/>
            <a:p>
              <a:pPr algn="l"/>
              <a:r>
                <a:rPr lang="zh-CN" sz="975" b="1" dirty="0">
                  <a:solidFill>
                    <a:srgbClr val="FFB300"/>
                  </a:solidFill>
                  <a:latin typeface="Arial"/>
                  <a:ea typeface="Microsoft YaHei"/>
                  <a:cs typeface="Arial"/>
                </a:rPr>
                <a:t>核心步骤</a:t>
              </a:r>
            </a:p>
          </p:txBody>
        </p:sp>
        <p:sp>
          <p:nvSpPr>
            <p:cNvPr id="86" name="TextBox 86"/>
            <p:cNvSpPr txBox="1"/>
            <p:nvPr/>
          </p:nvSpPr>
          <p:spPr>
            <a:xfrm>
              <a:off x="9608820" y="3408045"/>
              <a:ext cx="1199007"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OpenCV 也失败时启用</a:t>
              </a:r>
            </a:p>
          </p:txBody>
        </p:sp>
        <p:sp>
          <p:nvSpPr>
            <p:cNvPr id="87" name="TextBox 87"/>
            <p:cNvSpPr txBox="1"/>
            <p:nvPr/>
          </p:nvSpPr>
          <p:spPr>
            <a:xfrm>
              <a:off x="9608820" y="3598545"/>
              <a:ext cx="1349026"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按 max_dishes 网格切分</a:t>
              </a:r>
            </a:p>
          </p:txBody>
        </p:sp>
        <p:sp>
          <p:nvSpPr>
            <p:cNvPr id="88" name="Line 88"/>
            <p:cNvSpPr/>
            <p:nvPr/>
          </p:nvSpPr>
          <p:spPr>
            <a:xfrm>
              <a:off x="9620250" y="3886200"/>
              <a:ext cx="1809750" cy="9525"/>
            </a:xfrm>
            <a:custGeom>
              <a:avLst/>
              <a:gdLst/>
              <a:ahLst/>
              <a:cxnLst/>
              <a:rect l="l" t="t" r="r" b="b"/>
              <a:pathLst>
                <a:path w="1809750" h="9525">
                  <a:moveTo>
                    <a:pt x="0" y="0"/>
                  </a:moveTo>
                  <a:lnTo>
                    <a:pt x="1809750" y="0"/>
                  </a:lnTo>
                </a:path>
              </a:pathLst>
            </a:custGeom>
            <a:noFill/>
            <a:ln w="9525">
              <a:solidFill>
                <a:srgbClr val="E0E0E0"/>
              </a:solidFill>
            </a:ln>
          </p:spPr>
        </p:sp>
        <p:sp>
          <p:nvSpPr>
            <p:cNvPr id="89" name="TextBox 89"/>
            <p:cNvSpPr txBox="1"/>
            <p:nvPr/>
          </p:nvSpPr>
          <p:spPr>
            <a:xfrm>
              <a:off x="9607868" y="3990499"/>
              <a:ext cx="297799" cy="198120"/>
            </a:xfrm>
            <a:prstGeom prst="rect">
              <a:avLst/>
            </a:prstGeom>
            <a:noFill/>
            <a:ln>
              <a:noFill/>
            </a:ln>
          </p:spPr>
          <p:txBody>
            <a:bodyPr wrap="none" lIns="0" tIns="0" rIns="0" bIns="0" anchor="t" anchorCtr="0">
              <a:spAutoFit/>
            </a:bodyPr>
            <a:lstStyle/>
            <a:p>
              <a:pPr algn="l"/>
              <a:r>
                <a:rPr lang="zh-CN" sz="975" b="1" dirty="0">
                  <a:solidFill>
                    <a:srgbClr val="FFB300"/>
                  </a:solidFill>
                  <a:latin typeface="Arial"/>
                  <a:ea typeface="Microsoft YaHei"/>
                  <a:cs typeface="Arial"/>
                </a:rPr>
                <a:t>角色</a:t>
              </a:r>
            </a:p>
          </p:txBody>
        </p:sp>
        <p:sp>
          <p:nvSpPr>
            <p:cNvPr id="90" name="TextBox 90"/>
            <p:cNvSpPr txBox="1"/>
            <p:nvPr/>
          </p:nvSpPr>
          <p:spPr>
            <a:xfrm>
              <a:off x="9608820" y="4208145"/>
              <a:ext cx="1048988"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最终兜底,最简方案</a:t>
              </a:r>
            </a:p>
          </p:txBody>
        </p:sp>
        <p:sp>
          <p:nvSpPr>
            <p:cNvPr id="91" name="Line 91"/>
            <p:cNvSpPr/>
            <p:nvPr/>
          </p:nvSpPr>
          <p:spPr>
            <a:xfrm>
              <a:off x="9620250" y="4495800"/>
              <a:ext cx="1809750" cy="9525"/>
            </a:xfrm>
            <a:custGeom>
              <a:avLst/>
              <a:gdLst/>
              <a:ahLst/>
              <a:cxnLst/>
              <a:rect l="l" t="t" r="r" b="b"/>
              <a:pathLst>
                <a:path w="1809750" h="9525">
                  <a:moveTo>
                    <a:pt x="0" y="0"/>
                  </a:moveTo>
                  <a:lnTo>
                    <a:pt x="1809750" y="0"/>
                  </a:lnTo>
                </a:path>
              </a:pathLst>
            </a:custGeom>
            <a:noFill/>
            <a:ln w="9525">
              <a:solidFill>
                <a:srgbClr val="E0E0E0"/>
              </a:solidFill>
            </a:ln>
          </p:spPr>
        </p:sp>
        <p:sp>
          <p:nvSpPr>
            <p:cNvPr id="92" name="TextBox 92"/>
            <p:cNvSpPr txBox="1"/>
            <p:nvPr/>
          </p:nvSpPr>
          <p:spPr>
            <a:xfrm>
              <a:off x="9607868" y="4600099"/>
              <a:ext cx="434316" cy="198120"/>
            </a:xfrm>
            <a:prstGeom prst="rect">
              <a:avLst/>
            </a:prstGeom>
            <a:noFill/>
            <a:ln>
              <a:noFill/>
            </a:ln>
          </p:spPr>
          <p:txBody>
            <a:bodyPr wrap="none" lIns="0" tIns="0" rIns="0" bIns="0" anchor="t" anchorCtr="0">
              <a:spAutoFit/>
            </a:bodyPr>
            <a:lstStyle/>
            <a:p>
              <a:pPr algn="l"/>
              <a:r>
                <a:rPr lang="zh-CN" sz="975" b="1" dirty="0">
                  <a:solidFill>
                    <a:srgbClr val="FFB300"/>
                  </a:solidFill>
                  <a:latin typeface="Arial"/>
                  <a:ea typeface="Microsoft YaHei"/>
                  <a:cs typeface="Arial"/>
                </a:rPr>
                <a:t>产出物</a:t>
              </a:r>
            </a:p>
          </p:txBody>
        </p:sp>
        <p:sp>
          <p:nvSpPr>
            <p:cNvPr id="93" name="Rectangle 93"/>
            <p:cNvSpPr/>
            <p:nvPr/>
          </p:nvSpPr>
          <p:spPr>
            <a:xfrm>
              <a:off x="9620250" y="4800600"/>
              <a:ext cx="1809750" cy="266700"/>
            </a:xfrm>
            <a:prstGeom prst="roundRect">
              <a:avLst>
                <a:gd name="adj" fmla="val 21429"/>
              </a:avLst>
            </a:prstGeom>
            <a:solidFill>
              <a:srgbClr val="FFF8E1"/>
            </a:solidFill>
            <a:ln>
              <a:noFill/>
            </a:ln>
          </p:spPr>
        </p:sp>
        <p:sp>
          <p:nvSpPr>
            <p:cNvPr id="94" name="TextBox 94"/>
            <p:cNvSpPr txBox="1"/>
            <p:nvPr/>
          </p:nvSpPr>
          <p:spPr>
            <a:xfrm>
              <a:off x="9984429" y="4874895"/>
              <a:ext cx="1081392" cy="182880"/>
            </a:xfrm>
            <a:prstGeom prst="rect">
              <a:avLst/>
            </a:prstGeom>
            <a:noFill/>
            <a:ln>
              <a:noFill/>
            </a:ln>
          </p:spPr>
          <p:txBody>
            <a:bodyPr wrap="none" lIns="0" tIns="0" rIns="0" bIns="0" anchor="t" anchorCtr="0">
              <a:spAutoFit/>
            </a:bodyPr>
            <a:lstStyle/>
            <a:p>
              <a:pPr algn="ctr"/>
              <a:r>
                <a:rPr lang="zh-CN" sz="900" b="1" dirty="0">
                  <a:solidFill>
                    <a:srgbClr val="FFB300"/>
                  </a:solidFill>
                  <a:latin typeface="Cambria"/>
                  <a:ea typeface="SimSun"/>
                  <a:cs typeface="Cambria"/>
                </a:rPr>
                <a:t>网格块 (最终兜底)</a:t>
              </a:r>
            </a:p>
          </p:txBody>
        </p:sp>
      </p:grpSp>
      <p:grpSp>
        <p:nvGrpSpPr>
          <p:cNvPr id="102" name="Group 102"/>
          <p:cNvGrpSpPr/>
          <p:nvPr/>
        </p:nvGrpSpPr>
        <p:grpSpPr>
          <a:xfrm>
            <a:off x="571500" y="5381625"/>
            <a:ext cx="11049000" cy="1016794"/>
            <a:chOff x="571500" y="5381625"/>
            <a:chExt cx="11049000" cy="1016794"/>
          </a:xfrm>
        </p:grpSpPr>
        <p:sp>
          <p:nvSpPr>
            <p:cNvPr id="96" name="Rectangle 96"/>
            <p:cNvSpPr/>
            <p:nvPr/>
          </p:nvSpPr>
          <p:spPr>
            <a:xfrm>
              <a:off x="571500" y="5381625"/>
              <a:ext cx="11049000" cy="952500"/>
            </a:xfrm>
            <a:prstGeom prst="roundRect">
              <a:avLst>
                <a:gd name="adj" fmla="val 12000"/>
              </a:avLst>
            </a:prstGeom>
            <a:solidFill>
              <a:srgbClr val="0D2A4F"/>
            </a:solidFill>
            <a:ln>
              <a:noFill/>
            </a:ln>
          </p:spPr>
        </p:sp>
        <p:sp>
          <p:nvSpPr>
            <p:cNvPr id="97" name="TextBox 97"/>
            <p:cNvSpPr txBox="1"/>
            <p:nvPr/>
          </p:nvSpPr>
          <p:spPr>
            <a:xfrm>
              <a:off x="746760" y="5537835"/>
              <a:ext cx="2298764" cy="243840"/>
            </a:xfrm>
            <a:prstGeom prst="rect">
              <a:avLst/>
            </a:prstGeom>
            <a:noFill/>
            <a:ln>
              <a:noFill/>
            </a:ln>
          </p:spPr>
          <p:txBody>
            <a:bodyPr wrap="none" lIns="0" tIns="0" rIns="0" bIns="0" anchor="t" anchorCtr="0">
              <a:spAutoFit/>
            </a:bodyPr>
            <a:lstStyle/>
            <a:p>
              <a:pPr algn="l"/>
              <a:r>
                <a:rPr lang="zh-CN" sz="1200" b="1" dirty="0">
                  <a:solidFill>
                    <a:srgbClr val="FFB300"/>
                  </a:solidFill>
                  <a:latin typeface="Cambria"/>
                  <a:ea typeface="SimSun"/>
                  <a:cs typeface="Cambria"/>
                </a:rPr>
                <a:t>设计原则 · DESIGN PRINCIPLES</a:t>
              </a:r>
            </a:p>
          </p:txBody>
        </p:sp>
        <p:sp>
          <p:nvSpPr>
            <p:cNvPr id="98" name="Ellipse 98"/>
            <p:cNvSpPr/>
            <p:nvPr/>
          </p:nvSpPr>
          <p:spPr>
            <a:xfrm>
              <a:off x="876300" y="5934075"/>
              <a:ext cx="76200" cy="76200"/>
            </a:xfrm>
            <a:prstGeom prst="ellipse">
              <a:avLst/>
            </a:prstGeom>
            <a:solidFill>
              <a:srgbClr val="FFB300"/>
            </a:solidFill>
            <a:ln>
              <a:noFill/>
            </a:ln>
          </p:spPr>
        </p:sp>
        <p:sp>
          <p:nvSpPr>
            <p:cNvPr id="99" name="TextBox 99"/>
            <p:cNvSpPr txBox="1"/>
            <p:nvPr/>
          </p:nvSpPr>
          <p:spPr>
            <a:xfrm>
              <a:off x="1016318" y="5914549"/>
              <a:ext cx="379946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只有 YOLO/SAM/OpenCV 完全检测不到时才使用网格切分兜底</a:t>
              </a:r>
            </a:p>
          </p:txBody>
        </p:sp>
        <p:sp>
          <p:nvSpPr>
            <p:cNvPr id="100" name="Ellipse 100"/>
            <p:cNvSpPr/>
            <p:nvPr/>
          </p:nvSpPr>
          <p:spPr>
            <a:xfrm>
              <a:off x="876300" y="6219825"/>
              <a:ext cx="76200" cy="76200"/>
            </a:xfrm>
            <a:prstGeom prst="ellipse">
              <a:avLst/>
            </a:prstGeom>
            <a:solidFill>
              <a:srgbClr val="FFB300"/>
            </a:solidFill>
            <a:ln>
              <a:noFill/>
            </a:ln>
          </p:spPr>
        </p:sp>
        <p:sp>
          <p:nvSpPr>
            <p:cNvPr id="101" name="TextBox 101"/>
            <p:cNvSpPr txBox="1"/>
            <p:nvPr/>
          </p:nvSpPr>
          <p:spPr>
            <a:xfrm>
              <a:off x="1016318" y="6200299"/>
              <a:ext cx="4734604"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检测到 1 个盘子就保持 1 个,不强制补充网格切分 → 避免过度切分导致重复计算</a:t>
              </a:r>
            </a:p>
          </p:txBody>
        </p:sp>
      </p:grpSp>
      <p:sp>
        <p:nvSpPr>
          <p:cNvPr id="103" name="TextBox 103"/>
          <p:cNvSpPr txBox="1"/>
          <p:nvPr/>
        </p:nvSpPr>
        <p:spPr>
          <a:xfrm>
            <a:off x="561022" y="6578441"/>
            <a:ext cx="3157172"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3 · Q3 Segmentation</a:t>
            </a:r>
          </a:p>
        </p:txBody>
      </p:sp>
      <p:sp>
        <p:nvSpPr>
          <p:cNvPr id="104" name="TextBox 104"/>
          <p:cNvSpPr txBox="1"/>
          <p:nvPr/>
        </p:nvSpPr>
        <p:spPr>
          <a:xfrm>
            <a:off x="11251928" y="6578441"/>
            <a:ext cx="379050"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19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400"/>
                                        <p:tgtEl>
                                          <p:spTgt spid="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slide(fromBottom)">
                                      <p:cBhvr>
                                        <p:cTn id="11" dur="400"/>
                                        <p:tgtEl>
                                          <p:spTgt spid="30"/>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slide(fromBottom)">
                                      <p:cBhvr>
                                        <p:cTn id="15" dur="400"/>
                                        <p:tgtEl>
                                          <p:spTgt spid="53"/>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slide(fromBottom)">
                                      <p:cBhvr>
                                        <p:cTn id="19" dur="400"/>
                                        <p:tgtEl>
                                          <p:spTgt spid="72"/>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95"/>
                                        </p:tgtEl>
                                        <p:attrNameLst>
                                          <p:attrName>style.visibility</p:attrName>
                                        </p:attrNameLst>
                                      </p:cBhvr>
                                      <p:to>
                                        <p:strVal val="visible"/>
                                      </p:to>
                                    </p:set>
                                    <p:animEffect transition="in" filter="slide(fromBottom)">
                                      <p:cBhvr>
                                        <p:cTn id="23" dur="400"/>
                                        <p:tgtEl>
                                          <p:spTgt spid="95"/>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102"/>
                                        </p:tgtEl>
                                        <p:attrNameLst>
                                          <p:attrName>style.visibility</p:attrName>
                                        </p:attrNameLst>
                                      </p:cBhvr>
                                      <p:to>
                                        <p:strVal val="visible"/>
                                      </p:to>
                                    </p:set>
                                    <p:animEffect transition="in" filter="slide(fromBottom)">
                                      <p:cBhvr>
                                        <p:cTn id="27" dur="4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0" grpId="0"/>
      <p:bldP spid="53" grpId="0"/>
      <p:bldP spid="72" grpId="0"/>
      <p:bldP spid="95" grpId="0"/>
      <p:bldP spid="10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1049000" cy="685800"/>
            <a:chOff x="571500" y="457200"/>
            <a:chExt cx="11049000" cy="685800"/>
          </a:xfrm>
        </p:grpSpPr>
        <p:sp>
          <p:nvSpPr>
            <p:cNvPr id="3" name="Rectangle 3"/>
            <p:cNvSpPr/>
            <p:nvPr/>
          </p:nvSpPr>
          <p:spPr>
            <a:xfrm>
              <a:off x="571500" y="457200"/>
              <a:ext cx="57150" cy="381000"/>
            </a:xfrm>
            <a:prstGeom prst="roundRect">
              <a:avLst>
                <a:gd name="adj" fmla="val 50000"/>
              </a:avLst>
            </a:prstGeom>
            <a:solidFill>
              <a:srgbClr val="1565C0"/>
            </a:solidFill>
            <a:ln>
              <a:noFill/>
            </a:ln>
          </p:spPr>
        </p:sp>
        <p:sp>
          <p:nvSpPr>
            <p:cNvPr id="4" name="TextBox 4"/>
            <p:cNvSpPr txBox="1"/>
            <p:nvPr/>
          </p:nvSpPr>
          <p:spPr>
            <a:xfrm>
              <a:off x="733425" y="500062"/>
              <a:ext cx="4514957"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实验结果 · 一桌两盘菜营养分析</a:t>
              </a:r>
            </a:p>
          </p:txBody>
        </p:sp>
        <p:sp>
          <p:nvSpPr>
            <p:cNvPr id="5" name="TextBox 5"/>
            <p:cNvSpPr txBox="1"/>
            <p:nvPr/>
          </p:nvSpPr>
          <p:spPr>
            <a:xfrm>
              <a:off x="748665" y="896302"/>
              <a:ext cx="3268425"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Q3 · RESULTS · MULTI-DISH NUTRITION ANALYSIS</a:t>
              </a:r>
            </a:p>
          </p:txBody>
        </p:sp>
        <p:grpSp>
          <p:nvGrpSpPr>
            <p:cNvPr id="9" name="Group 9"/>
            <p:cNvGrpSpPr/>
            <p:nvPr/>
          </p:nvGrpSpPr>
          <p:grpSpPr>
            <a:xfrm>
              <a:off x="9715500" y="571500"/>
              <a:ext cx="1905000" cy="571500"/>
              <a:chOff x="9715500" y="571500"/>
              <a:chExt cx="1905000" cy="571500"/>
            </a:xfrm>
          </p:grpSpPr>
          <p:sp>
            <p:nvSpPr>
              <p:cNvPr id="6" name="Rectangle 6"/>
              <p:cNvSpPr/>
              <p:nvPr/>
            </p:nvSpPr>
            <p:spPr>
              <a:xfrm>
                <a:off x="9715500" y="571500"/>
                <a:ext cx="1905000" cy="571500"/>
              </a:xfrm>
              <a:prstGeom prst="roundRect">
                <a:avLst>
                  <a:gd name="adj" fmla="val 16667"/>
                </a:avLst>
              </a:prstGeom>
              <a:solidFill>
                <a:srgbClr val="F5F7FA"/>
              </a:solidFill>
              <a:ln>
                <a:noFill/>
              </a:ln>
            </p:spPr>
          </p:sp>
          <p:sp>
            <p:nvSpPr>
              <p:cNvPr id="7" name="TextBox 7"/>
              <p:cNvSpPr txBox="1"/>
              <p:nvPr/>
            </p:nvSpPr>
            <p:spPr>
              <a:xfrm>
                <a:off x="9800249" y="692468"/>
                <a:ext cx="1735503"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Cambria"/>
                    <a:ea typeface="SimSun"/>
                    <a:cs typeface="Cambria"/>
                  </a:rPr>
                  <a:t>2 盘菜 · 874.7 kcal</a:t>
                </a:r>
              </a:p>
            </p:txBody>
          </p:sp>
          <p:sp>
            <p:nvSpPr>
              <p:cNvPr id="8" name="TextBox 8"/>
              <p:cNvSpPr txBox="1"/>
              <p:nvPr/>
            </p:nvSpPr>
            <p:spPr>
              <a:xfrm>
                <a:off x="10342746" y="958691"/>
                <a:ext cx="650509"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TOTAL HEAT</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2" name="TextBox 12"/>
          <p:cNvSpPr txBox="1"/>
          <p:nvPr/>
        </p:nvSpPr>
        <p:spPr>
          <a:xfrm>
            <a:off x="2792254" y="1505902"/>
            <a:ext cx="6607492"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输入图片: 一桌饭菜(640×480) · YOLO 检测到 2 个盘子/碗候选区域 · SAM 精分割后得到 2 个更精确区域</a:t>
            </a:r>
          </a:p>
        </p:txBody>
      </p:sp>
      <p:grpSp>
        <p:nvGrpSpPr>
          <p:cNvPr id="20" name="Group 20"/>
          <p:cNvGrpSpPr/>
          <p:nvPr/>
        </p:nvGrpSpPr>
        <p:grpSpPr>
          <a:xfrm>
            <a:off x="571500" y="1857375"/>
            <a:ext cx="11049000" cy="476250"/>
            <a:chOff x="571500" y="1857375"/>
            <a:chExt cx="11049000" cy="476250"/>
          </a:xfrm>
        </p:grpSpPr>
        <p:sp>
          <p:nvSpPr>
            <p:cNvPr id="13" name="Rectangle 13"/>
            <p:cNvSpPr/>
            <p:nvPr/>
          </p:nvSpPr>
          <p:spPr>
            <a:xfrm>
              <a:off x="571500" y="1857375"/>
              <a:ext cx="11049000" cy="476250"/>
            </a:xfrm>
            <a:prstGeom prst="roundRect">
              <a:avLst>
                <a:gd name="adj" fmla="val 16000"/>
              </a:avLst>
            </a:prstGeom>
            <a:solidFill>
              <a:srgbClr val="E8F5E9"/>
            </a:solidFill>
            <a:ln>
              <a:noFill/>
            </a:ln>
          </p:spPr>
        </p:sp>
        <p:sp>
          <p:nvSpPr>
            <p:cNvPr id="14" name="Freeform 14"/>
            <p:cNvSpPr/>
            <p:nvPr/>
          </p:nvSpPr>
          <p:spPr>
            <a:xfrm>
              <a:off x="809625" y="2047875"/>
              <a:ext cx="142875" cy="95250"/>
            </a:xfrm>
            <a:custGeom>
              <a:avLst/>
              <a:gdLst/>
              <a:ahLst/>
              <a:cxnLst/>
              <a:rect l="l" t="t" r="r" b="b"/>
              <a:pathLst>
                <a:path w="142875" h="95250">
                  <a:moveTo>
                    <a:pt x="0" y="47625"/>
                  </a:moveTo>
                  <a:lnTo>
                    <a:pt x="47625" y="95250"/>
                  </a:lnTo>
                  <a:lnTo>
                    <a:pt x="142875" y="0"/>
                  </a:lnTo>
                </a:path>
              </a:pathLst>
            </a:custGeom>
            <a:noFill/>
            <a:ln w="19050">
              <a:solidFill>
                <a:srgbClr val="2E7D32"/>
              </a:solidFill>
            </a:ln>
          </p:spPr>
        </p:sp>
        <p:sp>
          <p:nvSpPr>
            <p:cNvPr id="15" name="TextBox 15"/>
            <p:cNvSpPr txBox="1"/>
            <p:nvPr/>
          </p:nvSpPr>
          <p:spPr>
            <a:xfrm>
              <a:off x="1130618" y="2056924"/>
              <a:ext cx="2154431"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YOLO 检测到 2 个盘子/碗候选区域</a:t>
              </a:r>
            </a:p>
          </p:txBody>
        </p:sp>
        <p:sp>
          <p:nvSpPr>
            <p:cNvPr id="16" name="Freeform 16"/>
            <p:cNvSpPr/>
            <p:nvPr/>
          </p:nvSpPr>
          <p:spPr>
            <a:xfrm>
              <a:off x="4238625" y="2047875"/>
              <a:ext cx="142875" cy="95250"/>
            </a:xfrm>
            <a:custGeom>
              <a:avLst/>
              <a:gdLst/>
              <a:ahLst/>
              <a:cxnLst/>
              <a:rect l="l" t="t" r="r" b="b"/>
              <a:pathLst>
                <a:path w="142875" h="95250">
                  <a:moveTo>
                    <a:pt x="0" y="47625"/>
                  </a:moveTo>
                  <a:lnTo>
                    <a:pt x="47625" y="95250"/>
                  </a:lnTo>
                  <a:lnTo>
                    <a:pt x="142875" y="0"/>
                  </a:lnTo>
                </a:path>
              </a:pathLst>
            </a:custGeom>
            <a:noFill/>
            <a:ln w="19050">
              <a:solidFill>
                <a:srgbClr val="2E7D32"/>
              </a:solidFill>
            </a:ln>
          </p:spPr>
        </p:sp>
        <p:sp>
          <p:nvSpPr>
            <p:cNvPr id="17" name="TextBox 17"/>
            <p:cNvSpPr txBox="1"/>
            <p:nvPr/>
          </p:nvSpPr>
          <p:spPr>
            <a:xfrm>
              <a:off x="4559618" y="2056924"/>
              <a:ext cx="2113476"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SAM 精分割后得到 2 个更精确区域</a:t>
              </a:r>
            </a:p>
          </p:txBody>
        </p:sp>
        <p:sp>
          <p:nvSpPr>
            <p:cNvPr id="18" name="Freeform 18"/>
            <p:cNvSpPr/>
            <p:nvPr/>
          </p:nvSpPr>
          <p:spPr>
            <a:xfrm>
              <a:off x="8048625" y="2047875"/>
              <a:ext cx="142875" cy="95250"/>
            </a:xfrm>
            <a:custGeom>
              <a:avLst/>
              <a:gdLst/>
              <a:ahLst/>
              <a:cxnLst/>
              <a:rect l="l" t="t" r="r" b="b"/>
              <a:pathLst>
                <a:path w="142875" h="95250">
                  <a:moveTo>
                    <a:pt x="0" y="47625"/>
                  </a:moveTo>
                  <a:lnTo>
                    <a:pt x="47625" y="95250"/>
                  </a:lnTo>
                  <a:lnTo>
                    <a:pt x="142875" y="0"/>
                  </a:lnTo>
                </a:path>
              </a:pathLst>
            </a:custGeom>
            <a:noFill/>
            <a:ln w="19050">
              <a:solidFill>
                <a:srgbClr val="2E7D32"/>
              </a:solidFill>
            </a:ln>
          </p:spPr>
        </p:sp>
        <p:sp>
          <p:nvSpPr>
            <p:cNvPr id="19" name="TextBox 19"/>
            <p:cNvSpPr txBox="1"/>
            <p:nvPr/>
          </p:nvSpPr>
          <p:spPr>
            <a:xfrm>
              <a:off x="8369618" y="2056924"/>
              <a:ext cx="1328503"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无需兜底,网格未触发</a:t>
              </a:r>
            </a:p>
          </p:txBody>
        </p:sp>
      </p:grpSp>
      <p:sp>
        <p:nvSpPr>
          <p:cNvPr id="21" name="TextBox 21"/>
          <p:cNvSpPr txBox="1"/>
          <p:nvPr/>
        </p:nvSpPr>
        <p:spPr>
          <a:xfrm>
            <a:off x="556260" y="2537460"/>
            <a:ext cx="1206627"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每盘菜分析结果</a:t>
            </a:r>
          </a:p>
        </p:txBody>
      </p:sp>
      <p:grpSp>
        <p:nvGrpSpPr>
          <p:cNvPr id="52" name="Group 52"/>
          <p:cNvGrpSpPr/>
          <p:nvPr/>
        </p:nvGrpSpPr>
        <p:grpSpPr>
          <a:xfrm>
            <a:off x="571500" y="2809875"/>
            <a:ext cx="11049000" cy="2362200"/>
            <a:chOff x="571500" y="2809875"/>
            <a:chExt cx="11049000" cy="2362200"/>
          </a:xfrm>
        </p:grpSpPr>
        <p:sp>
          <p:nvSpPr>
            <p:cNvPr id="22" name="Rectangle 22"/>
            <p:cNvSpPr/>
            <p:nvPr/>
          </p:nvSpPr>
          <p:spPr>
            <a:xfrm>
              <a:off x="571500" y="2809875"/>
              <a:ext cx="11049000" cy="476250"/>
            </a:xfrm>
            <a:prstGeom prst="roundRect">
              <a:avLst>
                <a:gd name="adj" fmla="val 16000"/>
              </a:avLst>
            </a:prstGeom>
            <a:solidFill>
              <a:srgbClr val="1565C0"/>
            </a:solidFill>
            <a:ln>
              <a:noFill/>
            </a:ln>
          </p:spPr>
        </p:sp>
        <p:sp>
          <p:nvSpPr>
            <p:cNvPr id="23" name="TextBox 23"/>
            <p:cNvSpPr txBox="1"/>
            <p:nvPr/>
          </p:nvSpPr>
          <p:spPr>
            <a:xfrm>
              <a:off x="1935147" y="2982278"/>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菜品</a:t>
              </a:r>
            </a:p>
          </p:txBody>
        </p:sp>
        <p:sp>
          <p:nvSpPr>
            <p:cNvPr id="24" name="TextBox 24"/>
            <p:cNvSpPr txBox="1"/>
            <p:nvPr/>
          </p:nvSpPr>
          <p:spPr>
            <a:xfrm>
              <a:off x="3696804" y="2982278"/>
              <a:ext cx="607393"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重量 (g)</a:t>
              </a:r>
            </a:p>
          </p:txBody>
        </p:sp>
        <p:sp>
          <p:nvSpPr>
            <p:cNvPr id="25" name="TextBox 25"/>
            <p:cNvSpPr txBox="1"/>
            <p:nvPr/>
          </p:nvSpPr>
          <p:spPr>
            <a:xfrm>
              <a:off x="5308391" y="2982278"/>
              <a:ext cx="81321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热量 (kcal)</a:t>
              </a:r>
            </a:p>
          </p:txBody>
        </p:sp>
        <p:sp>
          <p:nvSpPr>
            <p:cNvPr id="26" name="TextBox 26"/>
            <p:cNvSpPr txBox="1"/>
            <p:nvPr/>
          </p:nvSpPr>
          <p:spPr>
            <a:xfrm>
              <a:off x="7242795" y="2982278"/>
              <a:ext cx="75441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蛋白质 (g)</a:t>
              </a:r>
            </a:p>
          </p:txBody>
        </p:sp>
        <p:sp>
          <p:nvSpPr>
            <p:cNvPr id="27" name="TextBox 27"/>
            <p:cNvSpPr txBox="1"/>
            <p:nvPr/>
          </p:nvSpPr>
          <p:spPr>
            <a:xfrm>
              <a:off x="8840304" y="2982278"/>
              <a:ext cx="607393"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脂肪 (g)</a:t>
              </a:r>
            </a:p>
          </p:txBody>
        </p:sp>
        <p:sp>
          <p:nvSpPr>
            <p:cNvPr id="28" name="TextBox 28"/>
            <p:cNvSpPr txBox="1"/>
            <p:nvPr/>
          </p:nvSpPr>
          <p:spPr>
            <a:xfrm>
              <a:off x="10364304" y="2982278"/>
              <a:ext cx="607393"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碳水 (g)</a:t>
              </a:r>
            </a:p>
          </p:txBody>
        </p:sp>
        <p:sp>
          <p:nvSpPr>
            <p:cNvPr id="29" name="Rectangle 29"/>
            <p:cNvSpPr/>
            <p:nvPr/>
          </p:nvSpPr>
          <p:spPr>
            <a:xfrm>
              <a:off x="571500" y="3343275"/>
              <a:ext cx="11049000" cy="533400"/>
            </a:xfrm>
            <a:prstGeom prst="roundRect">
              <a:avLst>
                <a:gd name="adj" fmla="val 10714"/>
              </a:avLst>
            </a:prstGeom>
            <a:solidFill>
              <a:srgbClr val="F5F7FA"/>
            </a:solidFill>
            <a:ln>
              <a:noFill/>
            </a:ln>
          </p:spPr>
        </p:sp>
        <p:sp>
          <p:nvSpPr>
            <p:cNvPr id="30" name="Freeform 30"/>
            <p:cNvSpPr/>
            <p:nvPr/>
          </p:nvSpPr>
          <p:spPr>
            <a:xfrm>
              <a:off x="790575" y="3552825"/>
              <a:ext cx="171450" cy="95250"/>
            </a:xfrm>
            <a:custGeom>
              <a:avLst/>
              <a:gdLst/>
              <a:ahLst/>
              <a:cxnLst/>
              <a:rect l="l" t="t" r="r" b="b"/>
              <a:pathLst>
                <a:path w="171450" h="95250">
                  <a:moveTo>
                    <a:pt x="9525" y="0"/>
                  </a:moveTo>
                  <a:lnTo>
                    <a:pt x="161925" y="0"/>
                  </a:lnTo>
                  <a:cubicBezTo>
                    <a:pt x="167186" y="0"/>
                    <a:pt x="171450" y="4264"/>
                    <a:pt x="171450" y="9525"/>
                  </a:cubicBezTo>
                  <a:lnTo>
                    <a:pt x="171450" y="14288"/>
                  </a:lnTo>
                  <a:cubicBezTo>
                    <a:pt x="171450" y="28575"/>
                    <a:pt x="147476" y="67370"/>
                    <a:pt x="133350" y="76200"/>
                  </a:cubicBezTo>
                  <a:lnTo>
                    <a:pt x="133350" y="85725"/>
                  </a:lnTo>
                  <a:cubicBezTo>
                    <a:pt x="133350" y="90986"/>
                    <a:pt x="129086" y="95250"/>
                    <a:pt x="123825" y="95250"/>
                  </a:cubicBezTo>
                  <a:lnTo>
                    <a:pt x="47625" y="95250"/>
                  </a:lnTo>
                  <a:cubicBezTo>
                    <a:pt x="42364" y="95250"/>
                    <a:pt x="38100" y="90986"/>
                    <a:pt x="38100" y="85725"/>
                  </a:cubicBezTo>
                  <a:lnTo>
                    <a:pt x="38100" y="76200"/>
                  </a:lnTo>
                  <a:cubicBezTo>
                    <a:pt x="22031" y="66161"/>
                    <a:pt x="0" y="28575"/>
                    <a:pt x="0" y="14288"/>
                  </a:cubicBezTo>
                  <a:lnTo>
                    <a:pt x="0" y="9525"/>
                  </a:lnTo>
                  <a:cubicBezTo>
                    <a:pt x="0" y="4264"/>
                    <a:pt x="4264" y="0"/>
                    <a:pt x="9525" y="0"/>
                  </a:cubicBezTo>
                </a:path>
              </a:pathLst>
            </a:custGeom>
            <a:noFill/>
            <a:ln w="19050">
              <a:solidFill>
                <a:srgbClr val="1565C0"/>
              </a:solidFill>
            </a:ln>
          </p:spPr>
        </p:sp>
        <p:sp>
          <p:nvSpPr>
            <p:cNvPr id="31" name="TextBox 31"/>
            <p:cNvSpPr txBox="1"/>
            <p:nvPr/>
          </p:nvSpPr>
          <p:spPr>
            <a:xfrm>
              <a:off x="1861637" y="3534728"/>
              <a:ext cx="467725"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鸡肉松</a:t>
              </a:r>
            </a:p>
          </p:txBody>
        </p:sp>
        <p:sp>
          <p:nvSpPr>
            <p:cNvPr id="32" name="TextBox 32"/>
            <p:cNvSpPr txBox="1"/>
            <p:nvPr/>
          </p:nvSpPr>
          <p:spPr>
            <a:xfrm>
              <a:off x="3812941" y="3526631"/>
              <a:ext cx="375118" cy="228600"/>
            </a:xfrm>
            <a:prstGeom prst="rect">
              <a:avLst/>
            </a:prstGeom>
            <a:noFill/>
            <a:ln>
              <a:noFill/>
            </a:ln>
          </p:spPr>
          <p:txBody>
            <a:bodyPr wrap="none" lIns="0" tIns="0" rIns="0" bIns="0" anchor="t" anchorCtr="0">
              <a:spAutoFit/>
            </a:bodyPr>
            <a:lstStyle/>
            <a:p>
              <a:pPr algn="ctr"/>
              <a:r>
                <a:rPr lang="zh-CN" sz="1125" b="1" dirty="0">
                  <a:solidFill>
                    <a:srgbClr val="1A1A1A"/>
                  </a:solidFill>
                  <a:latin typeface="Cambria"/>
                  <a:ea typeface="SimSun"/>
                  <a:cs typeface="Cambria"/>
                </a:rPr>
                <a:t>90.0</a:t>
              </a:r>
            </a:p>
          </p:txBody>
        </p:sp>
        <p:sp>
          <p:nvSpPr>
            <p:cNvPr id="33" name="TextBox 33"/>
            <p:cNvSpPr txBox="1"/>
            <p:nvPr/>
          </p:nvSpPr>
          <p:spPr>
            <a:xfrm>
              <a:off x="5484123" y="3526631"/>
              <a:ext cx="461754" cy="228600"/>
            </a:xfrm>
            <a:prstGeom prst="rect">
              <a:avLst/>
            </a:prstGeom>
            <a:noFill/>
            <a:ln>
              <a:noFill/>
            </a:ln>
          </p:spPr>
          <p:txBody>
            <a:bodyPr wrap="none" lIns="0" tIns="0" rIns="0" bIns="0" anchor="t" anchorCtr="0">
              <a:spAutoFit/>
            </a:bodyPr>
            <a:lstStyle/>
            <a:p>
              <a:pPr algn="ctr"/>
              <a:r>
                <a:rPr lang="zh-CN" sz="1125" b="1" dirty="0">
                  <a:solidFill>
                    <a:srgbClr val="FF8F00"/>
                  </a:solidFill>
                  <a:latin typeface="Cambria"/>
                  <a:ea typeface="SimSun"/>
                  <a:cs typeface="Cambria"/>
                </a:rPr>
                <a:t>395.8</a:t>
              </a:r>
            </a:p>
          </p:txBody>
        </p:sp>
        <p:sp>
          <p:nvSpPr>
            <p:cNvPr id="34" name="TextBox 34"/>
            <p:cNvSpPr txBox="1"/>
            <p:nvPr/>
          </p:nvSpPr>
          <p:spPr>
            <a:xfrm>
              <a:off x="7475759" y="3526631"/>
              <a:ext cx="288482" cy="228600"/>
            </a:xfrm>
            <a:prstGeom prst="rect">
              <a:avLst/>
            </a:prstGeom>
            <a:noFill/>
            <a:ln>
              <a:noFill/>
            </a:ln>
          </p:spPr>
          <p:txBody>
            <a:bodyPr wrap="none" lIns="0" tIns="0" rIns="0" bIns="0" anchor="t" anchorCtr="0">
              <a:spAutoFit/>
            </a:bodyPr>
            <a:lstStyle/>
            <a:p>
              <a:pPr algn="ctr"/>
              <a:r>
                <a:rPr lang="zh-CN" sz="1125" b="1" dirty="0">
                  <a:solidFill>
                    <a:srgbClr val="1A1A1A"/>
                  </a:solidFill>
                  <a:latin typeface="Cambria"/>
                  <a:ea typeface="SimSun"/>
                  <a:cs typeface="Cambria"/>
                </a:rPr>
                <a:t>6.5</a:t>
              </a:r>
            </a:p>
          </p:txBody>
        </p:sp>
        <p:sp>
          <p:nvSpPr>
            <p:cNvPr id="35" name="TextBox 35"/>
            <p:cNvSpPr txBox="1"/>
            <p:nvPr/>
          </p:nvSpPr>
          <p:spPr>
            <a:xfrm>
              <a:off x="8976131" y="3526631"/>
              <a:ext cx="335738" cy="228600"/>
            </a:xfrm>
            <a:prstGeom prst="rect">
              <a:avLst/>
            </a:prstGeom>
            <a:noFill/>
            <a:ln>
              <a:noFill/>
            </a:ln>
          </p:spPr>
          <p:txBody>
            <a:bodyPr wrap="none" lIns="0" tIns="0" rIns="0" bIns="0" anchor="t" anchorCtr="0">
              <a:spAutoFit/>
            </a:bodyPr>
            <a:lstStyle/>
            <a:p>
              <a:pPr algn="ctr"/>
              <a:r>
                <a:rPr lang="zh-CN" sz="1125" b="1" dirty="0">
                  <a:solidFill>
                    <a:srgbClr val="1A1A1A"/>
                  </a:solidFill>
                  <a:latin typeface="Cambria"/>
                  <a:ea typeface="SimSun"/>
                  <a:cs typeface="Cambria"/>
                </a:rPr>
                <a:t>14.8</a:t>
              </a:r>
            </a:p>
          </p:txBody>
        </p:sp>
        <p:sp>
          <p:nvSpPr>
            <p:cNvPr id="36" name="TextBox 36"/>
            <p:cNvSpPr txBox="1"/>
            <p:nvPr/>
          </p:nvSpPr>
          <p:spPr>
            <a:xfrm>
              <a:off x="10480441" y="3526631"/>
              <a:ext cx="375118" cy="228600"/>
            </a:xfrm>
            <a:prstGeom prst="rect">
              <a:avLst/>
            </a:prstGeom>
            <a:noFill/>
            <a:ln>
              <a:noFill/>
            </a:ln>
          </p:spPr>
          <p:txBody>
            <a:bodyPr wrap="none" lIns="0" tIns="0" rIns="0" bIns="0" anchor="t" anchorCtr="0">
              <a:spAutoFit/>
            </a:bodyPr>
            <a:lstStyle/>
            <a:p>
              <a:pPr algn="ctr"/>
              <a:r>
                <a:rPr lang="zh-CN" sz="1125" b="1" dirty="0">
                  <a:solidFill>
                    <a:srgbClr val="1A1A1A"/>
                  </a:solidFill>
                  <a:latin typeface="Cambria"/>
                  <a:ea typeface="SimSun"/>
                  <a:cs typeface="Cambria"/>
                </a:rPr>
                <a:t>59.2</a:t>
              </a:r>
            </a:p>
          </p:txBody>
        </p:sp>
        <p:sp>
          <p:nvSpPr>
            <p:cNvPr id="37" name="Rectangle 37"/>
            <p:cNvSpPr/>
            <p:nvPr/>
          </p:nvSpPr>
          <p:spPr>
            <a:xfrm>
              <a:off x="571500" y="3933825"/>
              <a:ext cx="11049000" cy="533400"/>
            </a:xfrm>
            <a:prstGeom prst="roundRect">
              <a:avLst>
                <a:gd name="adj" fmla="val 10714"/>
              </a:avLst>
            </a:prstGeom>
            <a:solidFill>
              <a:srgbClr val="FFFFFF"/>
            </a:solidFill>
            <a:ln>
              <a:noFill/>
            </a:ln>
          </p:spPr>
        </p:sp>
        <p:sp>
          <p:nvSpPr>
            <p:cNvPr id="38" name="Freeform 38"/>
            <p:cNvSpPr/>
            <p:nvPr/>
          </p:nvSpPr>
          <p:spPr>
            <a:xfrm>
              <a:off x="790575" y="4143375"/>
              <a:ext cx="171450" cy="95250"/>
            </a:xfrm>
            <a:custGeom>
              <a:avLst/>
              <a:gdLst/>
              <a:ahLst/>
              <a:cxnLst/>
              <a:rect l="l" t="t" r="r" b="b"/>
              <a:pathLst>
                <a:path w="171450" h="95250">
                  <a:moveTo>
                    <a:pt x="9525" y="0"/>
                  </a:moveTo>
                  <a:lnTo>
                    <a:pt x="161925" y="0"/>
                  </a:lnTo>
                  <a:cubicBezTo>
                    <a:pt x="167186" y="0"/>
                    <a:pt x="171450" y="4264"/>
                    <a:pt x="171450" y="9525"/>
                  </a:cubicBezTo>
                  <a:lnTo>
                    <a:pt x="171450" y="14288"/>
                  </a:lnTo>
                  <a:cubicBezTo>
                    <a:pt x="171450" y="28575"/>
                    <a:pt x="147476" y="67370"/>
                    <a:pt x="133350" y="76200"/>
                  </a:cubicBezTo>
                  <a:lnTo>
                    <a:pt x="133350" y="85725"/>
                  </a:lnTo>
                  <a:cubicBezTo>
                    <a:pt x="133350" y="90986"/>
                    <a:pt x="129086" y="95250"/>
                    <a:pt x="123825" y="95250"/>
                  </a:cubicBezTo>
                  <a:lnTo>
                    <a:pt x="47625" y="95250"/>
                  </a:lnTo>
                  <a:cubicBezTo>
                    <a:pt x="42364" y="95250"/>
                    <a:pt x="38100" y="90986"/>
                    <a:pt x="38100" y="85725"/>
                  </a:cubicBezTo>
                  <a:lnTo>
                    <a:pt x="38100" y="76200"/>
                  </a:lnTo>
                  <a:cubicBezTo>
                    <a:pt x="22031" y="66161"/>
                    <a:pt x="0" y="28575"/>
                    <a:pt x="0" y="14288"/>
                  </a:cubicBezTo>
                  <a:lnTo>
                    <a:pt x="0" y="9525"/>
                  </a:lnTo>
                  <a:cubicBezTo>
                    <a:pt x="0" y="4264"/>
                    <a:pt x="4264" y="0"/>
                    <a:pt x="9525" y="0"/>
                  </a:cubicBezTo>
                </a:path>
              </a:pathLst>
            </a:custGeom>
            <a:noFill/>
            <a:ln w="19050">
              <a:solidFill>
                <a:srgbClr val="5C6BC0"/>
              </a:solidFill>
            </a:ln>
          </p:spPr>
        </p:sp>
        <p:sp>
          <p:nvSpPr>
            <p:cNvPr id="39" name="TextBox 39"/>
            <p:cNvSpPr txBox="1"/>
            <p:nvPr/>
          </p:nvSpPr>
          <p:spPr>
            <a:xfrm>
              <a:off x="1780777" y="4125278"/>
              <a:ext cx="629445"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米饭(蒸)</a:t>
              </a:r>
            </a:p>
          </p:txBody>
        </p:sp>
        <p:sp>
          <p:nvSpPr>
            <p:cNvPr id="40" name="TextBox 40"/>
            <p:cNvSpPr txBox="1"/>
            <p:nvPr/>
          </p:nvSpPr>
          <p:spPr>
            <a:xfrm>
              <a:off x="3789313" y="4117181"/>
              <a:ext cx="422374" cy="228600"/>
            </a:xfrm>
            <a:prstGeom prst="rect">
              <a:avLst/>
            </a:prstGeom>
            <a:noFill/>
            <a:ln>
              <a:noFill/>
            </a:ln>
          </p:spPr>
          <p:txBody>
            <a:bodyPr wrap="none" lIns="0" tIns="0" rIns="0" bIns="0" anchor="t" anchorCtr="0">
              <a:spAutoFit/>
            </a:bodyPr>
            <a:lstStyle/>
            <a:p>
              <a:pPr algn="ctr"/>
              <a:r>
                <a:rPr lang="zh-CN" sz="1125" b="1" dirty="0">
                  <a:solidFill>
                    <a:srgbClr val="1A1A1A"/>
                  </a:solidFill>
                  <a:latin typeface="Cambria"/>
                  <a:ea typeface="SimSun"/>
                  <a:cs typeface="Cambria"/>
                </a:rPr>
                <a:t>412.9</a:t>
              </a:r>
            </a:p>
          </p:txBody>
        </p:sp>
        <p:sp>
          <p:nvSpPr>
            <p:cNvPr id="41" name="TextBox 41"/>
            <p:cNvSpPr txBox="1"/>
            <p:nvPr/>
          </p:nvSpPr>
          <p:spPr>
            <a:xfrm>
              <a:off x="5484123" y="4117181"/>
              <a:ext cx="461754" cy="228600"/>
            </a:xfrm>
            <a:prstGeom prst="rect">
              <a:avLst/>
            </a:prstGeom>
            <a:noFill/>
            <a:ln>
              <a:noFill/>
            </a:ln>
          </p:spPr>
          <p:txBody>
            <a:bodyPr wrap="none" lIns="0" tIns="0" rIns="0" bIns="0" anchor="t" anchorCtr="0">
              <a:spAutoFit/>
            </a:bodyPr>
            <a:lstStyle/>
            <a:p>
              <a:pPr algn="ctr"/>
              <a:r>
                <a:rPr lang="zh-CN" sz="1125" b="1" dirty="0">
                  <a:solidFill>
                    <a:srgbClr val="FF8F00"/>
                  </a:solidFill>
                  <a:latin typeface="Cambria"/>
                  <a:ea typeface="SimSun"/>
                  <a:cs typeface="Cambria"/>
                </a:rPr>
                <a:t>478.9</a:t>
              </a:r>
            </a:p>
          </p:txBody>
        </p:sp>
        <p:sp>
          <p:nvSpPr>
            <p:cNvPr id="42" name="TextBox 42"/>
            <p:cNvSpPr txBox="1"/>
            <p:nvPr/>
          </p:nvSpPr>
          <p:spPr>
            <a:xfrm>
              <a:off x="7452131" y="4117181"/>
              <a:ext cx="335738" cy="228600"/>
            </a:xfrm>
            <a:prstGeom prst="rect">
              <a:avLst/>
            </a:prstGeom>
            <a:noFill/>
            <a:ln>
              <a:noFill/>
            </a:ln>
          </p:spPr>
          <p:txBody>
            <a:bodyPr wrap="none" lIns="0" tIns="0" rIns="0" bIns="0" anchor="t" anchorCtr="0">
              <a:spAutoFit/>
            </a:bodyPr>
            <a:lstStyle/>
            <a:p>
              <a:pPr algn="ctr"/>
              <a:r>
                <a:rPr lang="zh-CN" sz="1125" b="1" dirty="0">
                  <a:solidFill>
                    <a:srgbClr val="1A1A1A"/>
                  </a:solidFill>
                  <a:latin typeface="Cambria"/>
                  <a:ea typeface="SimSun"/>
                  <a:cs typeface="Cambria"/>
                </a:rPr>
                <a:t>10.7</a:t>
              </a:r>
            </a:p>
          </p:txBody>
        </p:sp>
        <p:sp>
          <p:nvSpPr>
            <p:cNvPr id="43" name="TextBox 43"/>
            <p:cNvSpPr txBox="1"/>
            <p:nvPr/>
          </p:nvSpPr>
          <p:spPr>
            <a:xfrm>
              <a:off x="9019449" y="4117181"/>
              <a:ext cx="249103" cy="228600"/>
            </a:xfrm>
            <a:prstGeom prst="rect">
              <a:avLst/>
            </a:prstGeom>
            <a:noFill/>
            <a:ln>
              <a:noFill/>
            </a:ln>
          </p:spPr>
          <p:txBody>
            <a:bodyPr wrap="none" lIns="0" tIns="0" rIns="0" bIns="0" anchor="t" anchorCtr="0">
              <a:spAutoFit/>
            </a:bodyPr>
            <a:lstStyle/>
            <a:p>
              <a:pPr algn="ctr"/>
              <a:r>
                <a:rPr lang="zh-CN" sz="1125" b="1" dirty="0">
                  <a:solidFill>
                    <a:srgbClr val="1A1A1A"/>
                  </a:solidFill>
                  <a:latin typeface="Cambria"/>
                  <a:ea typeface="SimSun"/>
                  <a:cs typeface="Cambria"/>
                </a:rPr>
                <a:t>1.2</a:t>
              </a:r>
            </a:p>
          </p:txBody>
        </p:sp>
        <p:sp>
          <p:nvSpPr>
            <p:cNvPr id="44" name="TextBox 44"/>
            <p:cNvSpPr txBox="1"/>
            <p:nvPr/>
          </p:nvSpPr>
          <p:spPr>
            <a:xfrm>
              <a:off x="10456813" y="4117181"/>
              <a:ext cx="422374" cy="228600"/>
            </a:xfrm>
            <a:prstGeom prst="rect">
              <a:avLst/>
            </a:prstGeom>
            <a:noFill/>
            <a:ln>
              <a:noFill/>
            </a:ln>
          </p:spPr>
          <p:txBody>
            <a:bodyPr wrap="none" lIns="0" tIns="0" rIns="0" bIns="0" anchor="t" anchorCtr="0">
              <a:spAutoFit/>
            </a:bodyPr>
            <a:lstStyle/>
            <a:p>
              <a:pPr algn="ctr"/>
              <a:r>
                <a:rPr lang="zh-CN" sz="1125" b="1" dirty="0">
                  <a:solidFill>
                    <a:srgbClr val="1A1A1A"/>
                  </a:solidFill>
                  <a:latin typeface="Cambria"/>
                  <a:ea typeface="SimSun"/>
                  <a:cs typeface="Cambria"/>
                </a:rPr>
                <a:t>106.9</a:t>
              </a:r>
            </a:p>
          </p:txBody>
        </p:sp>
        <p:sp>
          <p:nvSpPr>
            <p:cNvPr id="45" name="Rectangle 45"/>
            <p:cNvSpPr/>
            <p:nvPr/>
          </p:nvSpPr>
          <p:spPr>
            <a:xfrm>
              <a:off x="571500" y="4524375"/>
              <a:ext cx="11049000" cy="647700"/>
            </a:xfrm>
            <a:prstGeom prst="roundRect">
              <a:avLst>
                <a:gd name="adj" fmla="val 8824"/>
              </a:avLst>
            </a:prstGeom>
            <a:solidFill>
              <a:srgbClr val="0D2A4F"/>
            </a:solidFill>
            <a:ln>
              <a:noFill/>
            </a:ln>
          </p:spPr>
        </p:sp>
        <p:sp>
          <p:nvSpPr>
            <p:cNvPr id="46" name="TextBox 46"/>
            <p:cNvSpPr txBox="1"/>
            <p:nvPr/>
          </p:nvSpPr>
          <p:spPr>
            <a:xfrm>
              <a:off x="1889331" y="4759642"/>
              <a:ext cx="412337" cy="274320"/>
            </a:xfrm>
            <a:prstGeom prst="rect">
              <a:avLst/>
            </a:prstGeom>
            <a:noFill/>
            <a:ln>
              <a:noFill/>
            </a:ln>
          </p:spPr>
          <p:txBody>
            <a:bodyPr wrap="none" lIns="0" tIns="0" rIns="0" bIns="0" anchor="t" anchorCtr="0">
              <a:spAutoFit/>
            </a:bodyPr>
            <a:lstStyle/>
            <a:p>
              <a:pPr algn="ctr"/>
              <a:r>
                <a:rPr lang="zh-CN" sz="1350" b="1" dirty="0">
                  <a:solidFill>
                    <a:srgbClr val="FFB300"/>
                  </a:solidFill>
                  <a:latin typeface="Cambria"/>
                  <a:ea typeface="SimSun"/>
                  <a:cs typeface="Cambria"/>
                </a:rPr>
                <a:t>总计</a:t>
              </a:r>
            </a:p>
          </p:txBody>
        </p:sp>
        <p:sp>
          <p:nvSpPr>
            <p:cNvPr id="47" name="TextBox 47"/>
            <p:cNvSpPr txBox="1"/>
            <p:nvPr/>
          </p:nvSpPr>
          <p:spPr>
            <a:xfrm>
              <a:off x="3692664" y="4743450"/>
              <a:ext cx="615672" cy="304800"/>
            </a:xfrm>
            <a:prstGeom prst="rect">
              <a:avLst/>
            </a:prstGeom>
            <a:noFill/>
            <a:ln>
              <a:noFill/>
            </a:ln>
          </p:spPr>
          <p:txBody>
            <a:bodyPr wrap="none" lIns="0" tIns="0" rIns="0" bIns="0" anchor="t" anchorCtr="0">
              <a:spAutoFit/>
            </a:bodyPr>
            <a:lstStyle/>
            <a:p>
              <a:pPr algn="ctr"/>
              <a:r>
                <a:rPr lang="zh-CN" sz="1500" b="1" dirty="0">
                  <a:solidFill>
                    <a:srgbClr val="FFB300"/>
                  </a:solidFill>
                  <a:latin typeface="Cambria"/>
                  <a:ea typeface="SimSun"/>
                  <a:cs typeface="Cambria"/>
                </a:rPr>
                <a:t>502.9</a:t>
              </a:r>
            </a:p>
          </p:txBody>
        </p:sp>
        <p:sp>
          <p:nvSpPr>
            <p:cNvPr id="48" name="TextBox 48"/>
            <p:cNvSpPr txBox="1"/>
            <p:nvPr/>
          </p:nvSpPr>
          <p:spPr>
            <a:xfrm>
              <a:off x="5376380" y="4727258"/>
              <a:ext cx="677239" cy="335280"/>
            </a:xfrm>
            <a:prstGeom prst="rect">
              <a:avLst/>
            </a:prstGeom>
            <a:noFill/>
            <a:ln>
              <a:noFill/>
            </a:ln>
          </p:spPr>
          <p:txBody>
            <a:bodyPr wrap="none" lIns="0" tIns="0" rIns="0" bIns="0" anchor="t" anchorCtr="0">
              <a:spAutoFit/>
            </a:bodyPr>
            <a:lstStyle/>
            <a:p>
              <a:pPr algn="ctr"/>
              <a:r>
                <a:rPr lang="zh-CN" sz="1650" b="1" dirty="0">
                  <a:solidFill>
                    <a:srgbClr val="FF8F00"/>
                  </a:solidFill>
                  <a:latin typeface="Cambria"/>
                  <a:ea typeface="SimSun"/>
                  <a:cs typeface="Cambria"/>
                </a:rPr>
                <a:t>874.7</a:t>
              </a:r>
            </a:p>
          </p:txBody>
        </p:sp>
        <p:sp>
          <p:nvSpPr>
            <p:cNvPr id="49" name="TextBox 49"/>
            <p:cNvSpPr txBox="1"/>
            <p:nvPr/>
          </p:nvSpPr>
          <p:spPr>
            <a:xfrm>
              <a:off x="7396174" y="4743450"/>
              <a:ext cx="447651"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Cambria"/>
                  <a:ea typeface="SimSun"/>
                  <a:cs typeface="Cambria"/>
                </a:rPr>
                <a:t>17.2</a:t>
              </a:r>
            </a:p>
          </p:txBody>
        </p:sp>
        <p:sp>
          <p:nvSpPr>
            <p:cNvPr id="50" name="TextBox 50"/>
            <p:cNvSpPr txBox="1"/>
            <p:nvPr/>
          </p:nvSpPr>
          <p:spPr>
            <a:xfrm>
              <a:off x="8920174" y="4743450"/>
              <a:ext cx="447651"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Cambria"/>
                  <a:ea typeface="SimSun"/>
                  <a:cs typeface="Cambria"/>
                </a:rPr>
                <a:t>16.0</a:t>
              </a:r>
            </a:p>
          </p:txBody>
        </p:sp>
        <p:sp>
          <p:nvSpPr>
            <p:cNvPr id="51" name="TextBox 51"/>
            <p:cNvSpPr txBox="1"/>
            <p:nvPr/>
          </p:nvSpPr>
          <p:spPr>
            <a:xfrm>
              <a:off x="10412670" y="4743450"/>
              <a:ext cx="510659"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Cambria"/>
                  <a:ea typeface="SimSun"/>
                  <a:cs typeface="Cambria"/>
                </a:rPr>
                <a:t>166.1</a:t>
              </a:r>
            </a:p>
          </p:txBody>
        </p:sp>
      </p:grpSp>
      <p:grpSp>
        <p:nvGrpSpPr>
          <p:cNvPr id="65" name="Group 65"/>
          <p:cNvGrpSpPr/>
          <p:nvPr/>
        </p:nvGrpSpPr>
        <p:grpSpPr>
          <a:xfrm>
            <a:off x="571500" y="5381625"/>
            <a:ext cx="11049000" cy="952500"/>
            <a:chOff x="571500" y="5381625"/>
            <a:chExt cx="11049000" cy="952500"/>
          </a:xfrm>
        </p:grpSpPr>
        <p:sp>
          <p:nvSpPr>
            <p:cNvPr id="53" name="Rectangle 53"/>
            <p:cNvSpPr/>
            <p:nvPr/>
          </p:nvSpPr>
          <p:spPr>
            <a:xfrm>
              <a:off x="571500" y="5381625"/>
              <a:ext cx="3524250" cy="952500"/>
            </a:xfrm>
            <a:prstGeom prst="roundRect">
              <a:avLst>
                <a:gd name="adj" fmla="val 10000"/>
              </a:avLst>
            </a:prstGeom>
            <a:solidFill>
              <a:srgbClr val="FFFFFF"/>
            </a:solidFill>
            <a:ln w="14288">
              <a:solidFill>
                <a:srgbClr val="1565C0"/>
              </a:solidFill>
            </a:ln>
            <a:effectLst>
              <a:outerShdw blurRad="114300" dist="38100" dir="5400000" algn="ctr" rotWithShape="0">
                <a:srgbClr val="0F172A">
                  <a:alpha val="7500"/>
                </a:srgbClr>
              </a:outerShdw>
            </a:effectLst>
          </p:spPr>
        </p:sp>
        <p:sp>
          <p:nvSpPr>
            <p:cNvPr id="54" name="TextBox 54"/>
            <p:cNvSpPr txBox="1"/>
            <p:nvPr/>
          </p:nvSpPr>
          <p:spPr>
            <a:xfrm>
              <a:off x="748665" y="5554028"/>
              <a:ext cx="614744" cy="213360"/>
            </a:xfrm>
            <a:prstGeom prst="rect">
              <a:avLst/>
            </a:prstGeom>
            <a:noFill/>
            <a:ln>
              <a:noFill/>
            </a:ln>
          </p:spPr>
          <p:txBody>
            <a:bodyPr wrap="none" lIns="0" tIns="0" rIns="0" bIns="0" anchor="t" anchorCtr="0">
              <a:spAutoFit/>
            </a:bodyPr>
            <a:lstStyle/>
            <a:p>
              <a:pPr algn="l"/>
              <a:r>
                <a:rPr lang="zh-CN" sz="1050" b="1" dirty="0">
                  <a:solidFill>
                    <a:srgbClr val="1565C0"/>
                  </a:solidFill>
                  <a:latin typeface="Cambria"/>
                  <a:ea typeface="SimSun"/>
                  <a:cs typeface="Cambria"/>
                </a:rPr>
                <a:t>系统价值</a:t>
              </a:r>
            </a:p>
          </p:txBody>
        </p:sp>
        <p:sp>
          <p:nvSpPr>
            <p:cNvPr id="55" name="TextBox 55"/>
            <p:cNvSpPr txBox="1"/>
            <p:nvPr/>
          </p:nvSpPr>
          <p:spPr>
            <a:xfrm>
              <a:off x="749618" y="5809774"/>
              <a:ext cx="1505975"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端到端完成多盘菜检测 →</a:t>
              </a:r>
            </a:p>
          </p:txBody>
        </p:sp>
        <p:sp>
          <p:nvSpPr>
            <p:cNvPr id="56" name="TextBox 56"/>
            <p:cNvSpPr txBox="1"/>
            <p:nvPr/>
          </p:nvSpPr>
          <p:spPr>
            <a:xfrm>
              <a:off x="749618" y="6000274"/>
              <a:ext cx="1683447"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分割 → 营养分析的完整流程</a:t>
              </a:r>
            </a:p>
          </p:txBody>
        </p:sp>
        <p:sp>
          <p:nvSpPr>
            <p:cNvPr id="57" name="Rectangle 57"/>
            <p:cNvSpPr/>
            <p:nvPr/>
          </p:nvSpPr>
          <p:spPr>
            <a:xfrm>
              <a:off x="4286250" y="5381625"/>
              <a:ext cx="3524250" cy="952500"/>
            </a:xfrm>
            <a:prstGeom prst="roundRect">
              <a:avLst>
                <a:gd name="adj" fmla="val 10000"/>
              </a:avLst>
            </a:prstGeom>
            <a:solidFill>
              <a:srgbClr val="FFFFFF"/>
            </a:solidFill>
            <a:ln w="14288">
              <a:solidFill>
                <a:srgbClr val="5C6BC0"/>
              </a:solidFill>
            </a:ln>
            <a:effectLst>
              <a:outerShdw blurRad="114300" dist="38100" dir="5400000" algn="ctr" rotWithShape="0">
                <a:srgbClr val="0F172A">
                  <a:alpha val="7500"/>
                </a:srgbClr>
              </a:outerShdw>
            </a:effectLst>
          </p:spPr>
        </p:sp>
        <p:sp>
          <p:nvSpPr>
            <p:cNvPr id="58" name="TextBox 58"/>
            <p:cNvSpPr txBox="1"/>
            <p:nvPr/>
          </p:nvSpPr>
          <p:spPr>
            <a:xfrm>
              <a:off x="4463415" y="5554028"/>
              <a:ext cx="614744" cy="213360"/>
            </a:xfrm>
            <a:prstGeom prst="rect">
              <a:avLst/>
            </a:prstGeom>
            <a:noFill/>
            <a:ln>
              <a:noFill/>
            </a:ln>
          </p:spPr>
          <p:txBody>
            <a:bodyPr wrap="none" lIns="0" tIns="0" rIns="0" bIns="0" anchor="t" anchorCtr="0">
              <a:spAutoFit/>
            </a:bodyPr>
            <a:lstStyle/>
            <a:p>
              <a:pPr algn="l"/>
              <a:r>
                <a:rPr lang="zh-CN" sz="1050" b="1" dirty="0">
                  <a:solidFill>
                    <a:srgbClr val="5C6BC0"/>
                  </a:solidFill>
                  <a:latin typeface="Cambria"/>
                  <a:ea typeface="SimSun"/>
                  <a:cs typeface="Cambria"/>
                </a:rPr>
                <a:t>营养结构</a:t>
              </a:r>
            </a:p>
          </p:txBody>
        </p:sp>
        <p:sp>
          <p:nvSpPr>
            <p:cNvPr id="59" name="TextBox 59"/>
            <p:cNvSpPr txBox="1"/>
            <p:nvPr/>
          </p:nvSpPr>
          <p:spPr>
            <a:xfrm>
              <a:off x="4464368" y="5809774"/>
              <a:ext cx="160836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总热量 874.7 kcal 占每日</a:t>
              </a:r>
            </a:p>
          </p:txBody>
        </p:sp>
        <p:sp>
          <p:nvSpPr>
            <p:cNvPr id="60" name="TextBox 60"/>
            <p:cNvSpPr txBox="1"/>
            <p:nvPr/>
          </p:nvSpPr>
          <p:spPr>
            <a:xfrm>
              <a:off x="4464368" y="6000274"/>
              <a:ext cx="1963307" cy="198120"/>
            </a:xfrm>
            <a:prstGeom prst="rect">
              <a:avLst/>
            </a:prstGeom>
            <a:noFill/>
            <a:ln>
              <a:noFill/>
            </a:ln>
          </p:spPr>
          <p:txBody>
            <a:bodyPr wrap="none" lIns="0" tIns="0" rIns="0" bIns="0" anchor="t" anchorCtr="0">
              <a:spAutoFit/>
            </a:bodyPr>
            <a:lstStyle/>
            <a:p>
              <a:pPr algn="l"/>
              <a:r>
                <a:rPr lang="zh-CN" sz="975" b="1" dirty="0">
                  <a:solidFill>
                    <a:srgbClr val="FF8F00"/>
                  </a:solidFill>
                  <a:latin typeface="Cambria"/>
                  <a:ea typeface="SimSun"/>
                  <a:cs typeface="Cambria"/>
                </a:rPr>
                <a:t>需求约 43.7% (基于 2000 kcal)</a:t>
              </a:r>
            </a:p>
          </p:txBody>
        </p:sp>
        <p:sp>
          <p:nvSpPr>
            <p:cNvPr id="61" name="Rectangle 61"/>
            <p:cNvSpPr/>
            <p:nvPr/>
          </p:nvSpPr>
          <p:spPr>
            <a:xfrm>
              <a:off x="8001000" y="5381625"/>
              <a:ext cx="3619500" cy="952500"/>
            </a:xfrm>
            <a:prstGeom prst="roundRect">
              <a:avLst>
                <a:gd name="adj" fmla="val 10000"/>
              </a:avLst>
            </a:prstGeom>
            <a:solidFill>
              <a:srgbClr val="FFF8E1"/>
            </a:solidFill>
            <a:ln w="14288">
              <a:solidFill>
                <a:srgbClr val="FF8F00"/>
              </a:solidFill>
            </a:ln>
            <a:effectLst>
              <a:outerShdw blurRad="114300" dist="38100" dir="5400000" algn="ctr" rotWithShape="0">
                <a:srgbClr val="0F172A">
                  <a:alpha val="7500"/>
                </a:srgbClr>
              </a:outerShdw>
            </a:effectLst>
          </p:spPr>
        </p:sp>
        <p:sp>
          <p:nvSpPr>
            <p:cNvPr id="62" name="TextBox 62"/>
            <p:cNvSpPr txBox="1"/>
            <p:nvPr/>
          </p:nvSpPr>
          <p:spPr>
            <a:xfrm>
              <a:off x="8178165" y="5554028"/>
              <a:ext cx="614744" cy="213360"/>
            </a:xfrm>
            <a:prstGeom prst="rect">
              <a:avLst/>
            </a:prstGeom>
            <a:noFill/>
            <a:ln>
              <a:noFill/>
            </a:ln>
          </p:spPr>
          <p:txBody>
            <a:bodyPr wrap="none" lIns="0" tIns="0" rIns="0" bIns="0" anchor="t" anchorCtr="0">
              <a:spAutoFit/>
            </a:bodyPr>
            <a:lstStyle/>
            <a:p>
              <a:pPr algn="l"/>
              <a:r>
                <a:rPr lang="zh-CN" sz="1050" b="1" dirty="0">
                  <a:solidFill>
                    <a:srgbClr val="FF8F00"/>
                  </a:solidFill>
                  <a:latin typeface="Cambria"/>
                  <a:ea typeface="SimSun"/>
                  <a:cs typeface="Cambria"/>
                </a:rPr>
                <a:t>关键发现</a:t>
              </a:r>
            </a:p>
          </p:txBody>
        </p:sp>
        <p:sp>
          <p:nvSpPr>
            <p:cNvPr id="63" name="TextBox 63"/>
            <p:cNvSpPr txBox="1"/>
            <p:nvPr/>
          </p:nvSpPr>
          <p:spPr>
            <a:xfrm>
              <a:off x="8179118" y="5809774"/>
              <a:ext cx="1724402"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多盘分割精度: YOLO + SAM</a:t>
              </a:r>
            </a:p>
          </p:txBody>
        </p:sp>
        <p:sp>
          <p:nvSpPr>
            <p:cNvPr id="64" name="TextBox 64"/>
            <p:cNvSpPr txBox="1"/>
            <p:nvPr/>
          </p:nvSpPr>
          <p:spPr>
            <a:xfrm>
              <a:off x="8179118" y="6000274"/>
              <a:ext cx="1465020"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协同有效,无需网格兜底</a:t>
              </a:r>
            </a:p>
          </p:txBody>
        </p:sp>
      </p:grpSp>
      <p:sp>
        <p:nvSpPr>
          <p:cNvPr id="66" name="TextBox 66"/>
          <p:cNvSpPr txBox="1"/>
          <p:nvPr/>
        </p:nvSpPr>
        <p:spPr>
          <a:xfrm>
            <a:off x="561022" y="6578441"/>
            <a:ext cx="2816404"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3 · Q3 Results</a:t>
            </a:r>
          </a:p>
        </p:txBody>
      </p:sp>
      <p:sp>
        <p:nvSpPr>
          <p:cNvPr id="67" name="TextBox 67"/>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20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image">
                                      <p:cBhvr>
                                        <p:cTn id="7" dur="400"/>
                                        <p:tgtEl>
                                          <p:spTgt spid="1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wipe(left)">
                                      <p:cBhvr>
                                        <p:cTn id="15" dur="400"/>
                                        <p:tgtEl>
                                          <p:spTgt spid="52"/>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slide(fromBottom)">
                                      <p:cBhvr>
                                        <p:cTn id="19"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52" grpId="0"/>
      <p:bldP spid="6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1049000" cy="685800"/>
            <a:chOff x="571500" y="457200"/>
            <a:chExt cx="11049000" cy="685800"/>
          </a:xfrm>
        </p:grpSpPr>
        <p:sp>
          <p:nvSpPr>
            <p:cNvPr id="3" name="Rectangle 3"/>
            <p:cNvSpPr/>
            <p:nvPr/>
          </p:nvSpPr>
          <p:spPr>
            <a:xfrm>
              <a:off x="571500" y="457200"/>
              <a:ext cx="57150" cy="381000"/>
            </a:xfrm>
            <a:prstGeom prst="roundRect">
              <a:avLst>
                <a:gd name="adj" fmla="val 50000"/>
              </a:avLst>
            </a:prstGeom>
            <a:solidFill>
              <a:srgbClr val="1565C0"/>
            </a:solidFill>
            <a:ln>
              <a:noFill/>
            </a:ln>
          </p:spPr>
        </p:sp>
        <p:sp>
          <p:nvSpPr>
            <p:cNvPr id="4" name="TextBox 4"/>
            <p:cNvSpPr txBox="1"/>
            <p:nvPr/>
          </p:nvSpPr>
          <p:spPr>
            <a:xfrm>
              <a:off x="733425" y="500062"/>
              <a:ext cx="5743611"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智能问答 · Ollama + Qwen2.5 多轮对话</a:t>
              </a:r>
            </a:p>
          </p:txBody>
        </p:sp>
        <p:sp>
          <p:nvSpPr>
            <p:cNvPr id="5" name="TextBox 5"/>
            <p:cNvSpPr txBox="1"/>
            <p:nvPr/>
          </p:nvSpPr>
          <p:spPr>
            <a:xfrm>
              <a:off x="748665" y="896302"/>
              <a:ext cx="3658024"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Q4 · INTELLIGENT Q&amp;A · AGENT MODULE COMPOSITION</a:t>
              </a:r>
            </a:p>
          </p:txBody>
        </p:sp>
        <p:grpSp>
          <p:nvGrpSpPr>
            <p:cNvPr id="9" name="Group 9"/>
            <p:cNvGrpSpPr/>
            <p:nvPr/>
          </p:nvGrpSpPr>
          <p:grpSpPr>
            <a:xfrm>
              <a:off x="9715500" y="571500"/>
              <a:ext cx="1905000" cy="571500"/>
              <a:chOff x="9715500" y="571500"/>
              <a:chExt cx="1905000" cy="571500"/>
            </a:xfrm>
          </p:grpSpPr>
          <p:sp>
            <p:nvSpPr>
              <p:cNvPr id="6" name="Rectangle 6"/>
              <p:cNvSpPr/>
              <p:nvPr/>
            </p:nvSpPr>
            <p:spPr>
              <a:xfrm>
                <a:off x="9715500" y="571500"/>
                <a:ext cx="1905000" cy="571500"/>
              </a:xfrm>
              <a:prstGeom prst="roundRect">
                <a:avLst>
                  <a:gd name="adj" fmla="val 16667"/>
                </a:avLst>
              </a:prstGeom>
              <a:solidFill>
                <a:srgbClr val="F5F7FA"/>
              </a:solidFill>
              <a:ln>
                <a:noFill/>
              </a:ln>
            </p:spPr>
          </p:sp>
          <p:sp>
            <p:nvSpPr>
              <p:cNvPr id="7" name="TextBox 7"/>
              <p:cNvSpPr txBox="1"/>
              <p:nvPr/>
            </p:nvSpPr>
            <p:spPr>
              <a:xfrm>
                <a:off x="10286985" y="692468"/>
                <a:ext cx="762031"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Cambria"/>
                    <a:ea typeface="SimSun"/>
                    <a:cs typeface="Cambria"/>
                  </a:rPr>
                  <a:t>3 子模块</a:t>
                </a:r>
              </a:p>
            </p:txBody>
          </p:sp>
          <p:sp>
            <p:nvSpPr>
              <p:cNvPr id="8" name="TextBox 8"/>
              <p:cNvSpPr txBox="1"/>
              <p:nvPr/>
            </p:nvSpPr>
            <p:spPr>
              <a:xfrm>
                <a:off x="10045296" y="958691"/>
                <a:ext cx="1245408"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FOOD NUTRITION AGENT</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2" name="TextBox 12"/>
          <p:cNvSpPr txBox="1"/>
          <p:nvPr/>
        </p:nvSpPr>
        <p:spPr>
          <a:xfrm>
            <a:off x="3072289" y="1505902"/>
            <a:ext cx="6047422"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采用 Ollama + Qwen2.5 作为对话核心,通过精心设计的系统提示词实现 — 名为"小营"的智能助手</a:t>
            </a:r>
          </a:p>
        </p:txBody>
      </p:sp>
      <p:grpSp>
        <p:nvGrpSpPr>
          <p:cNvPr id="31" name="Group 31"/>
          <p:cNvGrpSpPr/>
          <p:nvPr/>
        </p:nvGrpSpPr>
        <p:grpSpPr>
          <a:xfrm>
            <a:off x="571500" y="1857375"/>
            <a:ext cx="11049000" cy="4095750"/>
            <a:chOff x="571500" y="1857375"/>
            <a:chExt cx="11049000" cy="4095750"/>
          </a:xfrm>
        </p:grpSpPr>
        <p:sp>
          <p:nvSpPr>
            <p:cNvPr id="13" name="Rectangle 13"/>
            <p:cNvSpPr/>
            <p:nvPr/>
          </p:nvSpPr>
          <p:spPr>
            <a:xfrm>
              <a:off x="571500" y="1857375"/>
              <a:ext cx="11049000" cy="4095750"/>
            </a:xfrm>
            <a:prstGeom prst="roundRect">
              <a:avLst>
                <a:gd name="adj" fmla="val 3256"/>
              </a:avLst>
            </a:prstGeom>
            <a:solidFill>
              <a:srgbClr val="F5F7FA"/>
            </a:solidFill>
            <a:ln w="19050">
              <a:solidFill>
                <a:srgbClr val="1565C0"/>
              </a:solidFill>
            </a:ln>
            <a:effectLst>
              <a:outerShdw blurRad="114300" dist="38100" dir="5400000" algn="ctr" rotWithShape="0">
                <a:srgbClr val="0F172A">
                  <a:alpha val="7500"/>
                </a:srgbClr>
              </a:outerShdw>
            </a:effectLst>
          </p:spPr>
        </p:sp>
        <p:sp>
          <p:nvSpPr>
            <p:cNvPr id="14" name="Freeform 14"/>
            <p:cNvSpPr/>
            <p:nvPr/>
          </p:nvSpPr>
          <p:spPr>
            <a:xfrm>
              <a:off x="571500" y="1857375"/>
              <a:ext cx="11049000" cy="762000"/>
            </a:xfrm>
            <a:custGeom>
              <a:avLst/>
              <a:gdLst/>
              <a:ahLst/>
              <a:cxnLst/>
              <a:rect l="l" t="t" r="r" b="b"/>
              <a:pathLst>
                <a:path w="11049000" h="762000">
                  <a:moveTo>
                    <a:pt x="0" y="133350"/>
                  </a:moveTo>
                  <a:cubicBezTo>
                    <a:pt x="0" y="59703"/>
                    <a:pt x="59703" y="0"/>
                    <a:pt x="133350" y="0"/>
                  </a:cubicBezTo>
                  <a:lnTo>
                    <a:pt x="10915650" y="0"/>
                  </a:lnTo>
                  <a:cubicBezTo>
                    <a:pt x="10989297" y="0"/>
                    <a:pt x="11049000" y="59703"/>
                    <a:pt x="11049000" y="133350"/>
                  </a:cubicBezTo>
                  <a:lnTo>
                    <a:pt x="11049000" y="762000"/>
                  </a:lnTo>
                  <a:lnTo>
                    <a:pt x="0" y="762000"/>
                  </a:lnTo>
                  <a:close/>
                </a:path>
              </a:pathLst>
            </a:custGeom>
            <a:gradFill>
              <a:gsLst>
                <a:gs pos="0">
                  <a:srgbClr val="1565C0"/>
                </a:gs>
                <a:gs pos="100000">
                  <a:srgbClr val="5C6BC0"/>
                </a:gs>
              </a:gsLst>
              <a:lin ang="2700000" scaled="1"/>
            </a:gradFill>
            <a:ln>
              <a:noFill/>
            </a:ln>
          </p:spPr>
        </p:sp>
        <p:sp>
          <p:nvSpPr>
            <p:cNvPr id="15" name="Rectangle 15"/>
            <p:cNvSpPr/>
            <p:nvPr/>
          </p:nvSpPr>
          <p:spPr>
            <a:xfrm>
              <a:off x="762000" y="2047875"/>
              <a:ext cx="381000" cy="381000"/>
            </a:xfrm>
            <a:prstGeom prst="roundRect">
              <a:avLst>
                <a:gd name="adj" fmla="val 20000"/>
              </a:avLst>
            </a:prstGeom>
            <a:solidFill>
              <a:srgbClr val="FFFFFF">
                <a:alpha val="20000"/>
              </a:srgbClr>
            </a:solidFill>
            <a:ln>
              <a:noFill/>
            </a:ln>
          </p:spPr>
        </p:sp>
        <p:grpSp>
          <p:nvGrpSpPr>
            <p:cNvPr id="25" name="Group 25"/>
            <p:cNvGrpSpPr/>
            <p:nvPr/>
          </p:nvGrpSpPr>
          <p:grpSpPr>
            <a:xfrm>
              <a:off x="841375" y="2079625"/>
              <a:ext cx="222250" cy="301625"/>
              <a:chOff x="841375" y="2079625"/>
              <a:chExt cx="222250" cy="301625"/>
            </a:xfrm>
          </p:grpSpPr>
          <p:sp>
            <p:nvSpPr>
              <p:cNvPr id="16" name="Freeform 16"/>
              <p:cNvSpPr/>
              <p:nvPr/>
            </p:nvSpPr>
            <p:spPr>
              <a:xfrm>
                <a:off x="857250" y="2111375"/>
                <a:ext cx="190500" cy="127000"/>
              </a:xfrm>
              <a:custGeom>
                <a:avLst/>
                <a:gdLst/>
                <a:ahLst/>
                <a:cxnLst/>
                <a:rect l="l" t="t" r="r" b="b"/>
                <a:pathLst>
                  <a:path w="190500" h="127000">
                    <a:moveTo>
                      <a:pt x="0" y="31750"/>
                    </a:moveTo>
                    <a:cubicBezTo>
                      <a:pt x="0" y="14215"/>
                      <a:pt x="14215" y="0"/>
                      <a:pt x="31750" y="0"/>
                    </a:cubicBezTo>
                    <a:lnTo>
                      <a:pt x="158750" y="0"/>
                    </a:lnTo>
                    <a:cubicBezTo>
                      <a:pt x="176285" y="0"/>
                      <a:pt x="190500" y="14215"/>
                      <a:pt x="190500" y="31750"/>
                    </a:cubicBezTo>
                    <a:lnTo>
                      <a:pt x="190500" y="95250"/>
                    </a:lnTo>
                    <a:cubicBezTo>
                      <a:pt x="190500" y="112785"/>
                      <a:pt x="176285" y="127000"/>
                      <a:pt x="158750" y="127000"/>
                    </a:cubicBezTo>
                    <a:lnTo>
                      <a:pt x="31750" y="127000"/>
                    </a:lnTo>
                    <a:cubicBezTo>
                      <a:pt x="14215" y="127000"/>
                      <a:pt x="0" y="112785"/>
                      <a:pt x="0" y="95250"/>
                    </a:cubicBezTo>
                    <a:lnTo>
                      <a:pt x="0" y="31750"/>
                    </a:lnTo>
                  </a:path>
                </a:pathLst>
              </a:custGeom>
              <a:noFill/>
              <a:ln w="19050">
                <a:solidFill>
                  <a:srgbClr val="FFFFFF"/>
                </a:solidFill>
              </a:ln>
            </p:spPr>
          </p:sp>
          <p:sp>
            <p:nvSpPr>
              <p:cNvPr id="17" name="Freeform 17"/>
              <p:cNvSpPr/>
              <p:nvPr/>
            </p:nvSpPr>
            <p:spPr>
              <a:xfrm>
                <a:off x="952500" y="2079625"/>
                <a:ext cx="9525" cy="31750"/>
              </a:xfrm>
              <a:custGeom>
                <a:avLst/>
                <a:gdLst/>
                <a:ahLst/>
                <a:cxnLst/>
                <a:rect l="l" t="t" r="r" b="b"/>
                <a:pathLst>
                  <a:path w="9525" h="31750">
                    <a:moveTo>
                      <a:pt x="0" y="0"/>
                    </a:moveTo>
                    <a:lnTo>
                      <a:pt x="0" y="31750"/>
                    </a:lnTo>
                  </a:path>
                </a:pathLst>
              </a:custGeom>
              <a:noFill/>
              <a:ln w="19050">
                <a:solidFill>
                  <a:srgbClr val="FFFFFF"/>
                </a:solidFill>
              </a:ln>
            </p:spPr>
          </p:sp>
          <p:sp>
            <p:nvSpPr>
              <p:cNvPr id="18" name="Freeform 18"/>
              <p:cNvSpPr/>
              <p:nvPr/>
            </p:nvSpPr>
            <p:spPr>
              <a:xfrm>
                <a:off x="904875" y="2238375"/>
                <a:ext cx="9525" cy="142875"/>
              </a:xfrm>
              <a:custGeom>
                <a:avLst/>
                <a:gdLst/>
                <a:ahLst/>
                <a:cxnLst/>
                <a:rect l="l" t="t" r="r" b="b"/>
                <a:pathLst>
                  <a:path w="9525" h="142875">
                    <a:moveTo>
                      <a:pt x="0" y="0"/>
                    </a:moveTo>
                    <a:lnTo>
                      <a:pt x="0" y="142875"/>
                    </a:lnTo>
                  </a:path>
                </a:pathLst>
              </a:custGeom>
              <a:noFill/>
              <a:ln w="19050">
                <a:solidFill>
                  <a:srgbClr val="FFFFFF"/>
                </a:solidFill>
              </a:ln>
            </p:spPr>
          </p:sp>
          <p:sp>
            <p:nvSpPr>
              <p:cNvPr id="19" name="Freeform 19"/>
              <p:cNvSpPr/>
              <p:nvPr/>
            </p:nvSpPr>
            <p:spPr>
              <a:xfrm>
                <a:off x="1000125" y="2238375"/>
                <a:ext cx="9525" cy="142875"/>
              </a:xfrm>
              <a:custGeom>
                <a:avLst/>
                <a:gdLst/>
                <a:ahLst/>
                <a:cxnLst/>
                <a:rect l="l" t="t" r="r" b="b"/>
                <a:pathLst>
                  <a:path w="9525" h="142875">
                    <a:moveTo>
                      <a:pt x="0" y="0"/>
                    </a:moveTo>
                    <a:lnTo>
                      <a:pt x="0" y="142875"/>
                    </a:lnTo>
                  </a:path>
                </a:pathLst>
              </a:custGeom>
              <a:noFill/>
              <a:ln w="19050">
                <a:solidFill>
                  <a:srgbClr val="FFFFFF"/>
                </a:solidFill>
              </a:ln>
            </p:spPr>
          </p:sp>
          <p:sp>
            <p:nvSpPr>
              <p:cNvPr id="20" name="Freeform 20"/>
              <p:cNvSpPr/>
              <p:nvPr/>
            </p:nvSpPr>
            <p:spPr>
              <a:xfrm>
                <a:off x="841375" y="2270125"/>
                <a:ext cx="63500" cy="31750"/>
              </a:xfrm>
              <a:custGeom>
                <a:avLst/>
                <a:gdLst/>
                <a:ahLst/>
                <a:cxnLst/>
                <a:rect l="l" t="t" r="r" b="b"/>
                <a:pathLst>
                  <a:path w="63500" h="31750">
                    <a:moveTo>
                      <a:pt x="0" y="31750"/>
                    </a:moveTo>
                    <a:lnTo>
                      <a:pt x="63500" y="0"/>
                    </a:lnTo>
                  </a:path>
                </a:pathLst>
              </a:custGeom>
              <a:noFill/>
              <a:ln w="19050">
                <a:solidFill>
                  <a:srgbClr val="FFFFFF"/>
                </a:solidFill>
              </a:ln>
            </p:spPr>
          </p:sp>
          <p:sp>
            <p:nvSpPr>
              <p:cNvPr id="21" name="Freeform 21"/>
              <p:cNvSpPr/>
              <p:nvPr/>
            </p:nvSpPr>
            <p:spPr>
              <a:xfrm>
                <a:off x="1000125" y="2270125"/>
                <a:ext cx="63500" cy="31750"/>
              </a:xfrm>
              <a:custGeom>
                <a:avLst/>
                <a:gdLst/>
                <a:ahLst/>
                <a:cxnLst/>
                <a:rect l="l" t="t" r="r" b="b"/>
                <a:pathLst>
                  <a:path w="63500" h="31750">
                    <a:moveTo>
                      <a:pt x="0" y="0"/>
                    </a:moveTo>
                    <a:lnTo>
                      <a:pt x="63500" y="31750"/>
                    </a:lnTo>
                  </a:path>
                </a:pathLst>
              </a:custGeom>
              <a:noFill/>
              <a:ln w="19050">
                <a:solidFill>
                  <a:srgbClr val="FFFFFF"/>
                </a:solidFill>
              </a:ln>
            </p:spPr>
          </p:sp>
          <p:sp>
            <p:nvSpPr>
              <p:cNvPr id="22" name="Freeform 22"/>
              <p:cNvSpPr/>
              <p:nvPr/>
            </p:nvSpPr>
            <p:spPr>
              <a:xfrm>
                <a:off x="904875" y="2333625"/>
                <a:ext cx="95250" cy="9525"/>
              </a:xfrm>
              <a:custGeom>
                <a:avLst/>
                <a:gdLst/>
                <a:ahLst/>
                <a:cxnLst/>
                <a:rect l="l" t="t" r="r" b="b"/>
                <a:pathLst>
                  <a:path w="95250" h="9525">
                    <a:moveTo>
                      <a:pt x="0" y="0"/>
                    </a:moveTo>
                    <a:lnTo>
                      <a:pt x="95250" y="0"/>
                    </a:lnTo>
                  </a:path>
                </a:pathLst>
              </a:custGeom>
              <a:noFill/>
              <a:ln w="19050">
                <a:solidFill>
                  <a:srgbClr val="FFFFFF"/>
                </a:solidFill>
              </a:ln>
            </p:spPr>
          </p:sp>
          <p:sp>
            <p:nvSpPr>
              <p:cNvPr id="23" name="Freeform 23"/>
              <p:cNvSpPr/>
              <p:nvPr/>
            </p:nvSpPr>
            <p:spPr>
              <a:xfrm>
                <a:off x="920750" y="2174875"/>
                <a:ext cx="9525" cy="9525"/>
              </a:xfrm>
              <a:custGeom>
                <a:avLst/>
                <a:gdLst/>
                <a:ahLst/>
                <a:cxnLst/>
                <a:rect l="l" t="t" r="r" b="b"/>
                <a:pathLst>
                  <a:path w="9525" h="9525">
                    <a:moveTo>
                      <a:pt x="0" y="0"/>
                    </a:moveTo>
                    <a:lnTo>
                      <a:pt x="0" y="159"/>
                    </a:lnTo>
                  </a:path>
                </a:pathLst>
              </a:custGeom>
              <a:noFill/>
              <a:ln w="19050">
                <a:solidFill>
                  <a:srgbClr val="FFFFFF"/>
                </a:solidFill>
              </a:ln>
            </p:spPr>
          </p:sp>
          <p:sp>
            <p:nvSpPr>
              <p:cNvPr id="24" name="Freeform 24"/>
              <p:cNvSpPr/>
              <p:nvPr/>
            </p:nvSpPr>
            <p:spPr>
              <a:xfrm>
                <a:off x="984250" y="2174875"/>
                <a:ext cx="9525" cy="9525"/>
              </a:xfrm>
              <a:custGeom>
                <a:avLst/>
                <a:gdLst/>
                <a:ahLst/>
                <a:cxnLst/>
                <a:rect l="l" t="t" r="r" b="b"/>
                <a:pathLst>
                  <a:path w="9525" h="9525">
                    <a:moveTo>
                      <a:pt x="0" y="0"/>
                    </a:moveTo>
                    <a:lnTo>
                      <a:pt x="0" y="159"/>
                    </a:lnTo>
                  </a:path>
                </a:pathLst>
              </a:custGeom>
              <a:noFill/>
              <a:ln w="19050">
                <a:solidFill>
                  <a:srgbClr val="FFFFFF"/>
                </a:solidFill>
              </a:ln>
            </p:spPr>
          </p:sp>
        </p:grpSp>
        <p:sp>
          <p:nvSpPr>
            <p:cNvPr id="26" name="TextBox 26"/>
            <p:cNvSpPr txBox="1"/>
            <p:nvPr/>
          </p:nvSpPr>
          <p:spPr>
            <a:xfrm>
              <a:off x="1312545" y="2098358"/>
              <a:ext cx="3865438"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Cambria"/>
                  <a:ea typeface="SimSun"/>
                  <a:cs typeface="Cambria"/>
                </a:rPr>
                <a:t>FoodNutritionAgent · 智能问答系统</a:t>
              </a:r>
            </a:p>
          </p:txBody>
        </p:sp>
        <p:sp>
          <p:nvSpPr>
            <p:cNvPr id="27" name="TextBox 27"/>
            <p:cNvSpPr txBox="1"/>
            <p:nvPr/>
          </p:nvSpPr>
          <p:spPr>
            <a:xfrm>
              <a:off x="1322070" y="2407920"/>
              <a:ext cx="4288493" cy="182880"/>
            </a:xfrm>
            <a:prstGeom prst="rect">
              <a:avLst/>
            </a:prstGeom>
            <a:noFill/>
            <a:ln>
              <a:noFill/>
            </a:ln>
          </p:spPr>
          <p:txBody>
            <a:bodyPr wrap="none" lIns="0" tIns="0" rIns="0" bIns="0" anchor="t" anchorCtr="0">
              <a:spAutoFit/>
            </a:bodyPr>
            <a:lstStyle/>
            <a:p>
              <a:pPr algn="l"/>
              <a:r>
                <a:rPr lang="zh-CN" sz="900" b="1" dirty="0">
                  <a:solidFill>
                    <a:srgbClr val="FFFFFF">
                      <a:alphaMod val="85000"/>
                    </a:srgbClr>
                  </a:solidFill>
                  <a:latin typeface="Arial"/>
                  <a:ea typeface="Microsoft YaHei"/>
                  <a:cs typeface="Arial"/>
                </a:rPr>
                <a:t>LLM-DRIVEN AGENT · STRUCTURED CONTEXT + MEMORY + PERSONALIZATION</a:t>
              </a:r>
            </a:p>
          </p:txBody>
        </p:sp>
        <p:sp>
          <p:nvSpPr>
            <p:cNvPr id="28" name="Rectangle 28"/>
            <p:cNvSpPr/>
            <p:nvPr/>
          </p:nvSpPr>
          <p:spPr>
            <a:xfrm>
              <a:off x="8191500" y="2047875"/>
              <a:ext cx="3238500" cy="438150"/>
            </a:xfrm>
            <a:prstGeom prst="roundRect">
              <a:avLst>
                <a:gd name="adj" fmla="val 17391"/>
              </a:avLst>
            </a:prstGeom>
            <a:solidFill>
              <a:srgbClr val="FFFFFF">
                <a:alpha val="18000"/>
              </a:srgbClr>
            </a:solidFill>
            <a:ln>
              <a:noFill/>
            </a:ln>
          </p:spPr>
        </p:sp>
        <p:sp>
          <p:nvSpPr>
            <p:cNvPr id="29" name="TextBox 29"/>
            <p:cNvSpPr txBox="1"/>
            <p:nvPr/>
          </p:nvSpPr>
          <p:spPr>
            <a:xfrm>
              <a:off x="8812899" y="2149316"/>
              <a:ext cx="1995702"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Consolas"/>
                  <a:ea typeface="Microsoft YaHei"/>
                  <a:cs typeface="Consolas"/>
                </a:rPr>
                <a:t>system_prompt: "你是专业的食物营养</a:t>
              </a:r>
            </a:p>
          </p:txBody>
        </p:sp>
        <p:sp>
          <p:nvSpPr>
            <p:cNvPr id="30" name="TextBox 30"/>
            <p:cNvSpPr txBox="1"/>
            <p:nvPr/>
          </p:nvSpPr>
          <p:spPr>
            <a:xfrm>
              <a:off x="9148441" y="2301716"/>
              <a:ext cx="1324618"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Consolas"/>
                  <a:ea typeface="Microsoft YaHei"/>
                  <a:cs typeface="Consolas"/>
                </a:rPr>
                <a:t>分析助手,名叫'小营'..."</a:t>
              </a:r>
            </a:p>
          </p:txBody>
        </p:sp>
      </p:grpSp>
      <p:sp>
        <p:nvSpPr>
          <p:cNvPr id="32" name="Line 32"/>
          <p:cNvSpPr/>
          <p:nvPr/>
        </p:nvSpPr>
        <p:spPr>
          <a:xfrm>
            <a:off x="6096000" y="2714625"/>
            <a:ext cx="9525" cy="190500"/>
          </a:xfrm>
          <a:custGeom>
            <a:avLst/>
            <a:gdLst/>
            <a:ahLst/>
            <a:cxnLst/>
            <a:rect l="l" t="t" r="r" b="b"/>
            <a:pathLst>
              <a:path w="9525" h="190500">
                <a:moveTo>
                  <a:pt x="0" y="0"/>
                </a:moveTo>
                <a:lnTo>
                  <a:pt x="0" y="190500"/>
                </a:lnTo>
              </a:path>
            </a:pathLst>
          </a:custGeom>
          <a:noFill/>
          <a:ln w="19050">
            <a:solidFill>
              <a:srgbClr val="1565C0"/>
            </a:solidFill>
          </a:ln>
        </p:spPr>
      </p:sp>
      <p:sp>
        <p:nvSpPr>
          <p:cNvPr id="33" name="Line 33"/>
          <p:cNvSpPr/>
          <p:nvPr/>
        </p:nvSpPr>
        <p:spPr>
          <a:xfrm>
            <a:off x="2095500" y="2905125"/>
            <a:ext cx="8001000" cy="9525"/>
          </a:xfrm>
          <a:custGeom>
            <a:avLst/>
            <a:gdLst/>
            <a:ahLst/>
            <a:cxnLst/>
            <a:rect l="l" t="t" r="r" b="b"/>
            <a:pathLst>
              <a:path w="8001000" h="9525">
                <a:moveTo>
                  <a:pt x="0" y="0"/>
                </a:moveTo>
                <a:lnTo>
                  <a:pt x="8001000" y="0"/>
                </a:lnTo>
              </a:path>
            </a:pathLst>
          </a:custGeom>
          <a:noFill/>
          <a:ln w="19050">
            <a:solidFill>
              <a:srgbClr val="1565C0"/>
            </a:solidFill>
          </a:ln>
        </p:spPr>
      </p:sp>
      <p:sp>
        <p:nvSpPr>
          <p:cNvPr id="34" name="Line 34"/>
          <p:cNvSpPr/>
          <p:nvPr/>
        </p:nvSpPr>
        <p:spPr>
          <a:xfrm>
            <a:off x="2095500" y="2905125"/>
            <a:ext cx="9525" cy="142875"/>
          </a:xfrm>
          <a:custGeom>
            <a:avLst/>
            <a:gdLst/>
            <a:ahLst/>
            <a:cxnLst/>
            <a:rect l="l" t="t" r="r" b="b"/>
            <a:pathLst>
              <a:path w="9525" h="142875">
                <a:moveTo>
                  <a:pt x="0" y="0"/>
                </a:moveTo>
                <a:lnTo>
                  <a:pt x="0" y="142875"/>
                </a:lnTo>
              </a:path>
            </a:pathLst>
          </a:custGeom>
          <a:noFill/>
          <a:ln w="19050">
            <a:solidFill>
              <a:srgbClr val="1565C0"/>
            </a:solidFill>
          </a:ln>
        </p:spPr>
      </p:sp>
      <p:sp>
        <p:nvSpPr>
          <p:cNvPr id="35" name="Line 35"/>
          <p:cNvSpPr/>
          <p:nvPr/>
        </p:nvSpPr>
        <p:spPr>
          <a:xfrm>
            <a:off x="6096000" y="2905125"/>
            <a:ext cx="9525" cy="142875"/>
          </a:xfrm>
          <a:custGeom>
            <a:avLst/>
            <a:gdLst/>
            <a:ahLst/>
            <a:cxnLst/>
            <a:rect l="l" t="t" r="r" b="b"/>
            <a:pathLst>
              <a:path w="9525" h="142875">
                <a:moveTo>
                  <a:pt x="0" y="0"/>
                </a:moveTo>
                <a:lnTo>
                  <a:pt x="0" y="142875"/>
                </a:lnTo>
              </a:path>
            </a:pathLst>
          </a:custGeom>
          <a:noFill/>
          <a:ln w="19050">
            <a:solidFill>
              <a:srgbClr val="1565C0"/>
            </a:solidFill>
          </a:ln>
        </p:spPr>
      </p:sp>
      <p:sp>
        <p:nvSpPr>
          <p:cNvPr id="36" name="Line 36"/>
          <p:cNvSpPr/>
          <p:nvPr/>
        </p:nvSpPr>
        <p:spPr>
          <a:xfrm>
            <a:off x="10096500" y="2905125"/>
            <a:ext cx="9525" cy="142875"/>
          </a:xfrm>
          <a:custGeom>
            <a:avLst/>
            <a:gdLst/>
            <a:ahLst/>
            <a:cxnLst/>
            <a:rect l="l" t="t" r="r" b="b"/>
            <a:pathLst>
              <a:path w="9525" h="142875">
                <a:moveTo>
                  <a:pt x="0" y="0"/>
                </a:moveTo>
                <a:lnTo>
                  <a:pt x="0" y="142875"/>
                </a:lnTo>
              </a:path>
            </a:pathLst>
          </a:custGeom>
          <a:noFill/>
          <a:ln w="19050">
            <a:solidFill>
              <a:srgbClr val="1565C0"/>
            </a:solidFill>
          </a:ln>
        </p:spPr>
      </p:sp>
      <p:grpSp>
        <p:nvGrpSpPr>
          <p:cNvPr id="60" name="Group 60"/>
          <p:cNvGrpSpPr/>
          <p:nvPr/>
        </p:nvGrpSpPr>
        <p:grpSpPr>
          <a:xfrm>
            <a:off x="762000" y="3048000"/>
            <a:ext cx="2667000" cy="2667000"/>
            <a:chOff x="762000" y="3048000"/>
            <a:chExt cx="2667000" cy="2667000"/>
          </a:xfrm>
        </p:grpSpPr>
        <p:sp>
          <p:nvSpPr>
            <p:cNvPr id="37" name="Rectangle 37"/>
            <p:cNvSpPr/>
            <p:nvPr/>
          </p:nvSpPr>
          <p:spPr>
            <a:xfrm>
              <a:off x="762000" y="3048000"/>
              <a:ext cx="2667000" cy="2667000"/>
            </a:xfrm>
            <a:prstGeom prst="roundRect">
              <a:avLst>
                <a:gd name="adj" fmla="val 4286"/>
              </a:avLst>
            </a:prstGeom>
            <a:solidFill>
              <a:srgbClr val="FFFFFF"/>
            </a:solidFill>
            <a:ln w="14288">
              <a:solidFill>
                <a:srgbClr val="5C6BC0"/>
              </a:solidFill>
            </a:ln>
            <a:effectLst>
              <a:outerShdw blurRad="114300" dist="38100" dir="5400000" algn="ctr" rotWithShape="0">
                <a:srgbClr val="0F172A">
                  <a:alpha val="7500"/>
                </a:srgbClr>
              </a:outerShdw>
            </a:effectLst>
          </p:spPr>
        </p:sp>
        <p:sp>
          <p:nvSpPr>
            <p:cNvPr id="38" name="Rectangle 38"/>
            <p:cNvSpPr/>
            <p:nvPr/>
          </p:nvSpPr>
          <p:spPr>
            <a:xfrm>
              <a:off x="762000" y="3048000"/>
              <a:ext cx="2667000" cy="476250"/>
            </a:xfrm>
            <a:prstGeom prst="roundRect">
              <a:avLst>
                <a:gd name="adj" fmla="val 24000"/>
              </a:avLst>
            </a:prstGeom>
            <a:gradFill>
              <a:gsLst>
                <a:gs pos="0">
                  <a:srgbClr val="5C6BC0"/>
                </a:gs>
                <a:gs pos="100000">
                  <a:srgbClr val="1565C0"/>
                </a:gs>
              </a:gsLst>
              <a:lin ang="5400000" scaled="1"/>
            </a:gradFill>
            <a:ln>
              <a:noFill/>
            </a:ln>
          </p:spPr>
        </p:sp>
        <p:sp>
          <p:nvSpPr>
            <p:cNvPr id="39" name="Rectangle 39"/>
            <p:cNvSpPr/>
            <p:nvPr/>
          </p:nvSpPr>
          <p:spPr>
            <a:xfrm>
              <a:off x="762000" y="3409950"/>
              <a:ext cx="2667000" cy="114300"/>
            </a:xfrm>
            <a:prstGeom prst="rect">
              <a:avLst/>
            </a:prstGeom>
            <a:solidFill>
              <a:srgbClr val="5C6BC0"/>
            </a:solidFill>
            <a:ln>
              <a:noFill/>
            </a:ln>
          </p:spPr>
        </p:sp>
        <p:sp>
          <p:nvSpPr>
            <p:cNvPr id="40" name="Rectangle 40"/>
            <p:cNvSpPr/>
            <p:nvPr/>
          </p:nvSpPr>
          <p:spPr>
            <a:xfrm>
              <a:off x="952500" y="3181350"/>
              <a:ext cx="266700" cy="266700"/>
            </a:xfrm>
            <a:prstGeom prst="roundRect">
              <a:avLst>
                <a:gd name="adj" fmla="val 21429"/>
              </a:avLst>
            </a:prstGeom>
            <a:solidFill>
              <a:srgbClr val="FFFFFF">
                <a:alpha val="20000"/>
              </a:srgbClr>
            </a:solidFill>
            <a:ln>
              <a:noFill/>
            </a:ln>
          </p:spPr>
        </p:sp>
        <p:grpSp>
          <p:nvGrpSpPr>
            <p:cNvPr id="44" name="Group 44"/>
            <p:cNvGrpSpPr/>
            <p:nvPr/>
          </p:nvGrpSpPr>
          <p:grpSpPr>
            <a:xfrm>
              <a:off x="985838" y="3225800"/>
              <a:ext cx="200025" cy="188912"/>
              <a:chOff x="985838" y="3225800"/>
              <a:chExt cx="200025" cy="188912"/>
            </a:xfrm>
          </p:grpSpPr>
          <p:sp>
            <p:nvSpPr>
              <p:cNvPr id="41" name="Freeform 41"/>
              <p:cNvSpPr/>
              <p:nvPr/>
            </p:nvSpPr>
            <p:spPr>
              <a:xfrm>
                <a:off x="1041400" y="3281362"/>
                <a:ext cx="88900" cy="9525"/>
              </a:xfrm>
              <a:custGeom>
                <a:avLst/>
                <a:gdLst/>
                <a:ahLst/>
                <a:cxnLst/>
                <a:rect l="l" t="t" r="r" b="b"/>
                <a:pathLst>
                  <a:path w="88900" h="9525">
                    <a:moveTo>
                      <a:pt x="0" y="0"/>
                    </a:moveTo>
                    <a:lnTo>
                      <a:pt x="88900" y="0"/>
                    </a:lnTo>
                  </a:path>
                </a:pathLst>
              </a:custGeom>
              <a:noFill/>
              <a:ln w="19050">
                <a:solidFill>
                  <a:srgbClr val="FFFFFF"/>
                </a:solidFill>
              </a:ln>
            </p:spPr>
          </p:sp>
          <p:sp>
            <p:nvSpPr>
              <p:cNvPr id="42" name="Freeform 42"/>
              <p:cNvSpPr/>
              <p:nvPr/>
            </p:nvSpPr>
            <p:spPr>
              <a:xfrm>
                <a:off x="1041400" y="3325812"/>
                <a:ext cx="66675" cy="9525"/>
              </a:xfrm>
              <a:custGeom>
                <a:avLst/>
                <a:gdLst/>
                <a:ahLst/>
                <a:cxnLst/>
                <a:rect l="l" t="t" r="r" b="b"/>
                <a:pathLst>
                  <a:path w="66675" h="9525">
                    <a:moveTo>
                      <a:pt x="0" y="0"/>
                    </a:moveTo>
                    <a:lnTo>
                      <a:pt x="66675" y="0"/>
                    </a:lnTo>
                  </a:path>
                </a:pathLst>
              </a:custGeom>
              <a:noFill/>
              <a:ln w="19050">
                <a:solidFill>
                  <a:srgbClr val="FFFFFF"/>
                </a:solidFill>
              </a:ln>
            </p:spPr>
          </p:sp>
          <p:sp>
            <p:nvSpPr>
              <p:cNvPr id="43" name="Freeform 43"/>
              <p:cNvSpPr/>
              <p:nvPr/>
            </p:nvSpPr>
            <p:spPr>
              <a:xfrm>
                <a:off x="985838" y="3225800"/>
                <a:ext cx="200025" cy="188912"/>
              </a:xfrm>
              <a:custGeom>
                <a:avLst/>
                <a:gdLst/>
                <a:ahLst/>
                <a:cxnLst/>
                <a:rect l="l" t="t" r="r" b="b"/>
                <a:pathLst>
                  <a:path w="200025" h="188912">
                    <a:moveTo>
                      <a:pt x="166688" y="0"/>
                    </a:moveTo>
                    <a:cubicBezTo>
                      <a:pt x="185099" y="0"/>
                      <a:pt x="200025" y="14926"/>
                      <a:pt x="200025" y="33338"/>
                    </a:cubicBezTo>
                    <a:lnTo>
                      <a:pt x="200025" y="122237"/>
                    </a:lnTo>
                    <a:cubicBezTo>
                      <a:pt x="200025" y="140649"/>
                      <a:pt x="185099" y="155575"/>
                      <a:pt x="166688" y="155575"/>
                    </a:cubicBezTo>
                    <a:lnTo>
                      <a:pt x="111125" y="155575"/>
                    </a:lnTo>
                    <a:lnTo>
                      <a:pt x="55562" y="188912"/>
                    </a:lnTo>
                    <a:lnTo>
                      <a:pt x="55562" y="155575"/>
                    </a:lnTo>
                    <a:lnTo>
                      <a:pt x="33338" y="155575"/>
                    </a:lnTo>
                    <a:cubicBezTo>
                      <a:pt x="14926" y="155575"/>
                      <a:pt x="0" y="140649"/>
                      <a:pt x="0" y="122237"/>
                    </a:cubicBezTo>
                    <a:lnTo>
                      <a:pt x="0" y="33338"/>
                    </a:lnTo>
                    <a:cubicBezTo>
                      <a:pt x="0" y="14926"/>
                      <a:pt x="14926" y="0"/>
                      <a:pt x="33338" y="0"/>
                    </a:cubicBezTo>
                    <a:lnTo>
                      <a:pt x="166688" y="0"/>
                    </a:lnTo>
                  </a:path>
                </a:pathLst>
              </a:custGeom>
              <a:noFill/>
              <a:ln w="19050">
                <a:solidFill>
                  <a:srgbClr val="FFFFFF"/>
                </a:solidFill>
              </a:ln>
            </p:spPr>
          </p:sp>
        </p:grpSp>
        <p:sp>
          <p:nvSpPr>
            <p:cNvPr id="45" name="TextBox 45"/>
            <p:cNvSpPr txBox="1"/>
            <p:nvPr/>
          </p:nvSpPr>
          <p:spPr>
            <a:xfrm>
              <a:off x="1299210" y="3223260"/>
              <a:ext cx="70256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mbria"/>
                  <a:ea typeface="SimSun"/>
                  <a:cs typeface="Cambria"/>
                </a:rPr>
                <a:t>对话记忆</a:t>
              </a:r>
            </a:p>
          </p:txBody>
        </p:sp>
        <p:sp>
          <p:nvSpPr>
            <p:cNvPr id="46" name="TextBox 46"/>
            <p:cNvSpPr txBox="1"/>
            <p:nvPr/>
          </p:nvSpPr>
          <p:spPr>
            <a:xfrm>
              <a:off x="1304925" y="3405188"/>
              <a:ext cx="1024176" cy="152400"/>
            </a:xfrm>
            <a:prstGeom prst="rect">
              <a:avLst/>
            </a:prstGeom>
            <a:noFill/>
            <a:ln>
              <a:noFill/>
            </a:ln>
          </p:spPr>
          <p:txBody>
            <a:bodyPr wrap="none" lIns="0" tIns="0" rIns="0" bIns="0" anchor="t" anchorCtr="0">
              <a:spAutoFit/>
            </a:bodyPr>
            <a:lstStyle/>
            <a:p>
              <a:pPr algn="l"/>
              <a:r>
                <a:rPr lang="zh-CN" sz="750" dirty="0">
                  <a:solidFill>
                    <a:srgbClr val="FFFFFF">
                      <a:alphaMod val="85000"/>
                    </a:srgbClr>
                  </a:solidFill>
                  <a:latin typeface="Arial"/>
                  <a:ea typeface="Microsoft YaHei"/>
                  <a:cs typeface="Arial"/>
                </a:rPr>
                <a:t>ConversationMemory</a:t>
              </a:r>
            </a:p>
          </p:txBody>
        </p:sp>
        <p:sp>
          <p:nvSpPr>
            <p:cNvPr id="47" name="TextBox 47"/>
            <p:cNvSpPr txBox="1"/>
            <p:nvPr/>
          </p:nvSpPr>
          <p:spPr>
            <a:xfrm>
              <a:off x="2667777" y="3263741"/>
              <a:ext cx="581200" cy="167640"/>
            </a:xfrm>
            <a:prstGeom prst="rect">
              <a:avLst/>
            </a:prstGeom>
            <a:noFill/>
            <a:ln>
              <a:noFill/>
            </a:ln>
          </p:spPr>
          <p:txBody>
            <a:bodyPr wrap="none" lIns="0" tIns="0" rIns="0" bIns="0" anchor="t" anchorCtr="0">
              <a:spAutoFit/>
            </a:bodyPr>
            <a:lstStyle/>
            <a:p>
              <a:pPr algn="r"/>
              <a:r>
                <a:rPr lang="zh-CN" sz="825" b="1" dirty="0">
                  <a:solidFill>
                    <a:srgbClr val="FFFFFF">
                      <a:alphaMod val="70000"/>
                    </a:srgbClr>
                  </a:solidFill>
                  <a:latin typeface="Cambria"/>
                  <a:ea typeface="SimSun"/>
                  <a:cs typeface="Cambria"/>
                </a:rPr>
                <a:t>MODULE 01</a:t>
              </a:r>
            </a:p>
          </p:txBody>
        </p:sp>
        <p:sp>
          <p:nvSpPr>
            <p:cNvPr id="48" name="TextBox 48"/>
            <p:cNvSpPr txBox="1"/>
            <p:nvPr/>
          </p:nvSpPr>
          <p:spPr>
            <a:xfrm>
              <a:off x="940118" y="3704749"/>
              <a:ext cx="57083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核心功能</a:t>
              </a:r>
            </a:p>
          </p:txBody>
        </p:sp>
        <p:sp>
          <p:nvSpPr>
            <p:cNvPr id="49" name="Ellipse 49"/>
            <p:cNvSpPr/>
            <p:nvPr/>
          </p:nvSpPr>
          <p:spPr>
            <a:xfrm>
              <a:off x="1000125" y="4029075"/>
              <a:ext cx="57150" cy="57150"/>
            </a:xfrm>
            <a:prstGeom prst="ellipse">
              <a:avLst/>
            </a:prstGeom>
            <a:solidFill>
              <a:srgbClr val="5C6BC0"/>
            </a:solidFill>
            <a:ln>
              <a:noFill/>
            </a:ln>
          </p:spPr>
        </p:sp>
        <p:sp>
          <p:nvSpPr>
            <p:cNvPr id="50" name="TextBox 50"/>
            <p:cNvSpPr txBox="1"/>
            <p:nvPr/>
          </p:nvSpPr>
          <p:spPr>
            <a:xfrm>
              <a:off x="1131570" y="4008120"/>
              <a:ext cx="982980"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维护多轮对话历史</a:t>
              </a:r>
            </a:p>
          </p:txBody>
        </p:sp>
        <p:sp>
          <p:nvSpPr>
            <p:cNvPr id="51" name="Ellipse 51"/>
            <p:cNvSpPr/>
            <p:nvPr/>
          </p:nvSpPr>
          <p:spPr>
            <a:xfrm>
              <a:off x="1000125" y="4238625"/>
              <a:ext cx="57150" cy="57150"/>
            </a:xfrm>
            <a:prstGeom prst="ellipse">
              <a:avLst/>
            </a:prstGeom>
            <a:solidFill>
              <a:srgbClr val="5C6BC0"/>
            </a:solidFill>
            <a:ln>
              <a:noFill/>
            </a:ln>
          </p:spPr>
        </p:sp>
        <p:sp>
          <p:nvSpPr>
            <p:cNvPr id="52" name="TextBox 52"/>
            <p:cNvSpPr txBox="1"/>
            <p:nvPr/>
          </p:nvSpPr>
          <p:spPr>
            <a:xfrm>
              <a:off x="1131570" y="4217670"/>
              <a:ext cx="742950"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支持指代消解</a:t>
              </a:r>
            </a:p>
          </p:txBody>
        </p:sp>
        <p:sp>
          <p:nvSpPr>
            <p:cNvPr id="53" name="Ellipse 53"/>
            <p:cNvSpPr/>
            <p:nvPr/>
          </p:nvSpPr>
          <p:spPr>
            <a:xfrm>
              <a:off x="1000125" y="4448175"/>
              <a:ext cx="57150" cy="57150"/>
            </a:xfrm>
            <a:prstGeom prst="ellipse">
              <a:avLst/>
            </a:prstGeom>
            <a:solidFill>
              <a:srgbClr val="5C6BC0"/>
            </a:solidFill>
            <a:ln>
              <a:noFill/>
            </a:ln>
          </p:spPr>
        </p:sp>
        <p:sp>
          <p:nvSpPr>
            <p:cNvPr id="54" name="TextBox 54"/>
            <p:cNvSpPr txBox="1"/>
            <p:nvPr/>
          </p:nvSpPr>
          <p:spPr>
            <a:xfrm>
              <a:off x="1131570" y="4427220"/>
              <a:ext cx="952976"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"它"/"这些"识别</a:t>
              </a:r>
            </a:p>
          </p:txBody>
        </p:sp>
        <p:sp>
          <p:nvSpPr>
            <p:cNvPr id="55" name="Line 55"/>
            <p:cNvSpPr/>
            <p:nvPr/>
          </p:nvSpPr>
          <p:spPr>
            <a:xfrm>
              <a:off x="952500" y="4762500"/>
              <a:ext cx="2286000" cy="9525"/>
            </a:xfrm>
            <a:custGeom>
              <a:avLst/>
              <a:gdLst/>
              <a:ahLst/>
              <a:cxnLst/>
              <a:rect l="l" t="t" r="r" b="b"/>
              <a:pathLst>
                <a:path w="2286000" h="9525">
                  <a:moveTo>
                    <a:pt x="0" y="0"/>
                  </a:moveTo>
                  <a:lnTo>
                    <a:pt x="2286000" y="0"/>
                  </a:lnTo>
                </a:path>
              </a:pathLst>
            </a:custGeom>
            <a:noFill/>
            <a:ln w="9525">
              <a:solidFill>
                <a:srgbClr val="E0E0E0"/>
              </a:solidFill>
            </a:ln>
          </p:spPr>
        </p:sp>
        <p:sp>
          <p:nvSpPr>
            <p:cNvPr id="56" name="TextBox 56"/>
            <p:cNvSpPr txBox="1"/>
            <p:nvPr/>
          </p:nvSpPr>
          <p:spPr>
            <a:xfrm>
              <a:off x="940118" y="4904899"/>
              <a:ext cx="297799"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价值</a:t>
              </a:r>
            </a:p>
          </p:txBody>
        </p:sp>
        <p:sp>
          <p:nvSpPr>
            <p:cNvPr id="57" name="Rectangle 57"/>
            <p:cNvSpPr/>
            <p:nvPr/>
          </p:nvSpPr>
          <p:spPr>
            <a:xfrm>
              <a:off x="952500" y="5143500"/>
              <a:ext cx="2286000" cy="381000"/>
            </a:xfrm>
            <a:prstGeom prst="roundRect">
              <a:avLst>
                <a:gd name="adj" fmla="val 15000"/>
              </a:avLst>
            </a:prstGeom>
            <a:solidFill>
              <a:srgbClr val="E8EAF6"/>
            </a:solidFill>
            <a:ln>
              <a:noFill/>
            </a:ln>
          </p:spPr>
        </p:sp>
        <p:sp>
          <p:nvSpPr>
            <p:cNvPr id="58" name="TextBox 58"/>
            <p:cNvSpPr txBox="1"/>
            <p:nvPr/>
          </p:nvSpPr>
          <p:spPr>
            <a:xfrm>
              <a:off x="1724025" y="5217795"/>
              <a:ext cx="742950" cy="182880"/>
            </a:xfrm>
            <a:prstGeom prst="rect">
              <a:avLst/>
            </a:prstGeom>
            <a:noFill/>
            <a:ln>
              <a:noFill/>
            </a:ln>
          </p:spPr>
          <p:txBody>
            <a:bodyPr wrap="none" lIns="0" tIns="0" rIns="0" bIns="0" anchor="t" anchorCtr="0">
              <a:spAutoFit/>
            </a:bodyPr>
            <a:lstStyle/>
            <a:p>
              <a:pPr algn="ctr"/>
              <a:r>
                <a:rPr lang="zh-CN" sz="900" i="1" dirty="0">
                  <a:solidFill>
                    <a:srgbClr val="5C6BC0"/>
                  </a:solidFill>
                  <a:latin typeface="Cambria"/>
                  <a:ea typeface="SimSun"/>
                  <a:cs typeface="Cambria"/>
                </a:rPr>
                <a:t>支持连续对话</a:t>
              </a:r>
            </a:p>
          </p:txBody>
        </p:sp>
        <p:sp>
          <p:nvSpPr>
            <p:cNvPr id="59" name="TextBox 59"/>
            <p:cNvSpPr txBox="1"/>
            <p:nvPr/>
          </p:nvSpPr>
          <p:spPr>
            <a:xfrm>
              <a:off x="1699974" y="5378291"/>
              <a:ext cx="791051" cy="167640"/>
            </a:xfrm>
            <a:prstGeom prst="rect">
              <a:avLst/>
            </a:prstGeom>
            <a:noFill/>
            <a:ln>
              <a:noFill/>
            </a:ln>
          </p:spPr>
          <p:txBody>
            <a:bodyPr wrap="none" lIns="0" tIns="0" rIns="0" bIns="0" anchor="t" anchorCtr="0">
              <a:spAutoFit/>
            </a:bodyPr>
            <a:lstStyle/>
            <a:p>
              <a:pPr algn="ctr"/>
              <a:r>
                <a:rPr lang="zh-CN" sz="825" dirty="0">
                  <a:solidFill>
                    <a:srgbClr val="5F6368"/>
                  </a:solidFill>
                  <a:latin typeface="Arial"/>
                  <a:ea typeface="Microsoft YaHei"/>
                  <a:cs typeface="Arial"/>
                </a:rPr>
                <a:t>不重复输入图像</a:t>
              </a:r>
            </a:p>
          </p:txBody>
        </p:sp>
      </p:grpSp>
      <p:grpSp>
        <p:nvGrpSpPr>
          <p:cNvPr id="84" name="Group 84"/>
          <p:cNvGrpSpPr/>
          <p:nvPr/>
        </p:nvGrpSpPr>
        <p:grpSpPr>
          <a:xfrm>
            <a:off x="4762500" y="3048000"/>
            <a:ext cx="2667000" cy="2667000"/>
            <a:chOff x="4762500" y="3048000"/>
            <a:chExt cx="2667000" cy="2667000"/>
          </a:xfrm>
        </p:grpSpPr>
        <p:sp>
          <p:nvSpPr>
            <p:cNvPr id="61" name="Rectangle 61"/>
            <p:cNvSpPr/>
            <p:nvPr/>
          </p:nvSpPr>
          <p:spPr>
            <a:xfrm>
              <a:off x="4762500" y="3048000"/>
              <a:ext cx="2667000" cy="2667000"/>
            </a:xfrm>
            <a:prstGeom prst="roundRect">
              <a:avLst>
                <a:gd name="adj" fmla="val 4286"/>
              </a:avLst>
            </a:prstGeom>
            <a:solidFill>
              <a:srgbClr val="FFFFFF"/>
            </a:solidFill>
            <a:ln w="14288">
              <a:solidFill>
                <a:srgbClr val="1565C0"/>
              </a:solidFill>
            </a:ln>
            <a:effectLst>
              <a:outerShdw blurRad="114300" dist="38100" dir="5400000" algn="ctr" rotWithShape="0">
                <a:srgbClr val="0F172A">
                  <a:alpha val="7500"/>
                </a:srgbClr>
              </a:outerShdw>
            </a:effectLst>
          </p:spPr>
        </p:sp>
        <p:sp>
          <p:nvSpPr>
            <p:cNvPr id="62" name="Rectangle 62"/>
            <p:cNvSpPr/>
            <p:nvPr/>
          </p:nvSpPr>
          <p:spPr>
            <a:xfrm>
              <a:off x="4762500" y="3048000"/>
              <a:ext cx="2667000" cy="476250"/>
            </a:xfrm>
            <a:prstGeom prst="roundRect">
              <a:avLst>
                <a:gd name="adj" fmla="val 24000"/>
              </a:avLst>
            </a:prstGeom>
            <a:gradFill>
              <a:gsLst>
                <a:gs pos="0">
                  <a:srgbClr val="1565C0"/>
                </a:gs>
                <a:gs pos="100000">
                  <a:srgbClr val="0D2A4F"/>
                </a:gs>
              </a:gsLst>
              <a:lin ang="5400000" scaled="1"/>
            </a:gradFill>
            <a:ln>
              <a:noFill/>
            </a:ln>
          </p:spPr>
        </p:sp>
        <p:sp>
          <p:nvSpPr>
            <p:cNvPr id="63" name="Rectangle 63"/>
            <p:cNvSpPr/>
            <p:nvPr/>
          </p:nvSpPr>
          <p:spPr>
            <a:xfrm>
              <a:off x="4762500" y="3409950"/>
              <a:ext cx="2667000" cy="114300"/>
            </a:xfrm>
            <a:prstGeom prst="rect">
              <a:avLst/>
            </a:prstGeom>
            <a:solidFill>
              <a:srgbClr val="1565C0"/>
            </a:solidFill>
            <a:ln>
              <a:noFill/>
            </a:ln>
          </p:spPr>
        </p:sp>
        <p:sp>
          <p:nvSpPr>
            <p:cNvPr id="64" name="Rectangle 64"/>
            <p:cNvSpPr/>
            <p:nvPr/>
          </p:nvSpPr>
          <p:spPr>
            <a:xfrm>
              <a:off x="4953000" y="3181350"/>
              <a:ext cx="266700" cy="266700"/>
            </a:xfrm>
            <a:prstGeom prst="roundRect">
              <a:avLst>
                <a:gd name="adj" fmla="val 21429"/>
              </a:avLst>
            </a:prstGeom>
            <a:solidFill>
              <a:srgbClr val="FFFFFF">
                <a:alpha val="20000"/>
              </a:srgbClr>
            </a:solidFill>
            <a:ln>
              <a:noFill/>
            </a:ln>
          </p:spPr>
        </p:sp>
        <p:grpSp>
          <p:nvGrpSpPr>
            <p:cNvPr id="68" name="Group 68"/>
            <p:cNvGrpSpPr/>
            <p:nvPr/>
          </p:nvGrpSpPr>
          <p:grpSpPr>
            <a:xfrm>
              <a:off x="4986338" y="3214688"/>
              <a:ext cx="200025" cy="200025"/>
              <a:chOff x="4986338" y="3214688"/>
              <a:chExt cx="200025" cy="200025"/>
            </a:xfrm>
          </p:grpSpPr>
          <p:sp>
            <p:nvSpPr>
              <p:cNvPr id="65" name="Freeform 65"/>
              <p:cNvSpPr/>
              <p:nvPr/>
            </p:nvSpPr>
            <p:spPr>
              <a:xfrm>
                <a:off x="4986338" y="3214688"/>
                <a:ext cx="200025" cy="100012"/>
              </a:xfrm>
              <a:custGeom>
                <a:avLst/>
                <a:gdLst/>
                <a:ahLst/>
                <a:cxnLst/>
                <a:rect l="l" t="t" r="r" b="b"/>
                <a:pathLst>
                  <a:path w="200025" h="100012">
                    <a:moveTo>
                      <a:pt x="0" y="100012"/>
                    </a:moveTo>
                    <a:lnTo>
                      <a:pt x="11112" y="100012"/>
                    </a:lnTo>
                    <a:moveTo>
                      <a:pt x="100012" y="0"/>
                    </a:moveTo>
                    <a:lnTo>
                      <a:pt x="100012" y="11113"/>
                    </a:lnTo>
                    <a:moveTo>
                      <a:pt x="188913" y="100012"/>
                    </a:moveTo>
                    <a:lnTo>
                      <a:pt x="200025" y="100012"/>
                    </a:lnTo>
                    <a:moveTo>
                      <a:pt x="28892" y="28893"/>
                    </a:moveTo>
                    <a:lnTo>
                      <a:pt x="36671" y="36671"/>
                    </a:lnTo>
                    <a:moveTo>
                      <a:pt x="171133" y="28893"/>
                    </a:moveTo>
                    <a:lnTo>
                      <a:pt x="163354" y="36671"/>
                    </a:lnTo>
                  </a:path>
                </a:pathLst>
              </a:custGeom>
              <a:noFill/>
              <a:ln w="19050">
                <a:solidFill>
                  <a:srgbClr val="FFFFFF"/>
                </a:solidFill>
              </a:ln>
            </p:spPr>
          </p:sp>
          <p:sp>
            <p:nvSpPr>
              <p:cNvPr id="66" name="Freeform 66"/>
              <p:cNvSpPr/>
              <p:nvPr/>
            </p:nvSpPr>
            <p:spPr>
              <a:xfrm>
                <a:off x="5026076" y="3259138"/>
                <a:ext cx="120548" cy="155575"/>
              </a:xfrm>
              <a:custGeom>
                <a:avLst/>
                <a:gdLst/>
                <a:ahLst/>
                <a:cxnLst/>
                <a:rect l="l" t="t" r="r" b="b"/>
                <a:pathLst>
                  <a:path w="120548" h="155575">
                    <a:moveTo>
                      <a:pt x="26937" y="100012"/>
                    </a:moveTo>
                    <a:cubicBezTo>
                      <a:pt x="7804" y="85663"/>
                      <a:pt x="0" y="60681"/>
                      <a:pt x="7563" y="37992"/>
                    </a:cubicBezTo>
                    <a:cubicBezTo>
                      <a:pt x="15126" y="15304"/>
                      <a:pt x="36358" y="0"/>
                      <a:pt x="60274" y="0"/>
                    </a:cubicBezTo>
                    <a:cubicBezTo>
                      <a:pt x="84190" y="0"/>
                      <a:pt x="105422" y="15304"/>
                      <a:pt x="112985" y="37992"/>
                    </a:cubicBezTo>
                    <a:cubicBezTo>
                      <a:pt x="120548" y="60681"/>
                      <a:pt x="112744" y="85663"/>
                      <a:pt x="93612" y="100012"/>
                    </a:cubicBezTo>
                    <a:cubicBezTo>
                      <a:pt x="84812" y="108723"/>
                      <a:pt x="80686" y="121102"/>
                      <a:pt x="82499" y="133350"/>
                    </a:cubicBezTo>
                    <a:cubicBezTo>
                      <a:pt x="82499" y="145625"/>
                      <a:pt x="72549" y="155575"/>
                      <a:pt x="60274" y="155575"/>
                    </a:cubicBezTo>
                    <a:cubicBezTo>
                      <a:pt x="48000" y="155575"/>
                      <a:pt x="38049" y="145625"/>
                      <a:pt x="38049" y="133350"/>
                    </a:cubicBezTo>
                    <a:cubicBezTo>
                      <a:pt x="39862" y="121102"/>
                      <a:pt x="35736" y="108723"/>
                      <a:pt x="26937" y="100012"/>
                    </a:cubicBezTo>
                  </a:path>
                </a:pathLst>
              </a:custGeom>
              <a:noFill/>
              <a:ln w="19050">
                <a:solidFill>
                  <a:srgbClr val="FFFFFF"/>
                </a:solidFill>
              </a:ln>
            </p:spPr>
          </p:sp>
          <p:sp>
            <p:nvSpPr>
              <p:cNvPr id="67" name="Freeform 67"/>
              <p:cNvSpPr/>
              <p:nvPr/>
            </p:nvSpPr>
            <p:spPr>
              <a:xfrm>
                <a:off x="5060791" y="3370262"/>
                <a:ext cx="51117" cy="9525"/>
              </a:xfrm>
              <a:custGeom>
                <a:avLst/>
                <a:gdLst/>
                <a:ahLst/>
                <a:cxnLst/>
                <a:rect l="l" t="t" r="r" b="b"/>
                <a:pathLst>
                  <a:path w="51117" h="9525">
                    <a:moveTo>
                      <a:pt x="0" y="0"/>
                    </a:moveTo>
                    <a:lnTo>
                      <a:pt x="51117" y="0"/>
                    </a:lnTo>
                  </a:path>
                </a:pathLst>
              </a:custGeom>
              <a:noFill/>
              <a:ln w="19050">
                <a:solidFill>
                  <a:srgbClr val="FFFFFF"/>
                </a:solidFill>
              </a:ln>
            </p:spPr>
          </p:sp>
        </p:grpSp>
        <p:sp>
          <p:nvSpPr>
            <p:cNvPr id="69" name="TextBox 69"/>
            <p:cNvSpPr txBox="1"/>
            <p:nvPr/>
          </p:nvSpPr>
          <p:spPr>
            <a:xfrm>
              <a:off x="5299710" y="3223260"/>
              <a:ext cx="870585"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mbria"/>
                  <a:ea typeface="SimSun"/>
                  <a:cs typeface="Cambria"/>
                </a:rPr>
                <a:t>上下文理解</a:t>
              </a:r>
            </a:p>
          </p:txBody>
        </p:sp>
        <p:sp>
          <p:nvSpPr>
            <p:cNvPr id="70" name="TextBox 70"/>
            <p:cNvSpPr txBox="1"/>
            <p:nvPr/>
          </p:nvSpPr>
          <p:spPr>
            <a:xfrm>
              <a:off x="5305425" y="3405188"/>
              <a:ext cx="1124188" cy="152400"/>
            </a:xfrm>
            <a:prstGeom prst="rect">
              <a:avLst/>
            </a:prstGeom>
            <a:noFill/>
            <a:ln>
              <a:noFill/>
            </a:ln>
          </p:spPr>
          <p:txBody>
            <a:bodyPr wrap="none" lIns="0" tIns="0" rIns="0" bIns="0" anchor="t" anchorCtr="0">
              <a:spAutoFit/>
            </a:bodyPr>
            <a:lstStyle/>
            <a:p>
              <a:pPr algn="l"/>
              <a:r>
                <a:rPr lang="zh-CN" sz="750" dirty="0">
                  <a:solidFill>
                    <a:srgbClr val="FFFFFF">
                      <a:alphaMod val="85000"/>
                    </a:srgbClr>
                  </a:solidFill>
                  <a:latin typeface="Arial"/>
                  <a:ea typeface="Microsoft YaHei"/>
                  <a:cs typeface="Arial"/>
                </a:rPr>
                <a:t>Context Understanding</a:t>
              </a:r>
            </a:p>
          </p:txBody>
        </p:sp>
        <p:sp>
          <p:nvSpPr>
            <p:cNvPr id="71" name="TextBox 71"/>
            <p:cNvSpPr txBox="1"/>
            <p:nvPr/>
          </p:nvSpPr>
          <p:spPr>
            <a:xfrm>
              <a:off x="6639399" y="3263741"/>
              <a:ext cx="610079" cy="167640"/>
            </a:xfrm>
            <a:prstGeom prst="rect">
              <a:avLst/>
            </a:prstGeom>
            <a:noFill/>
            <a:ln>
              <a:noFill/>
            </a:ln>
          </p:spPr>
          <p:txBody>
            <a:bodyPr wrap="none" lIns="0" tIns="0" rIns="0" bIns="0" anchor="t" anchorCtr="0">
              <a:spAutoFit/>
            </a:bodyPr>
            <a:lstStyle/>
            <a:p>
              <a:pPr algn="r"/>
              <a:r>
                <a:rPr lang="zh-CN" sz="825" b="1" dirty="0">
                  <a:solidFill>
                    <a:srgbClr val="FFFFFF">
                      <a:alphaMod val="70000"/>
                    </a:srgbClr>
                  </a:solidFill>
                  <a:latin typeface="Cambria"/>
                  <a:ea typeface="SimSun"/>
                  <a:cs typeface="Cambria"/>
                </a:rPr>
                <a:t>MODULE 02</a:t>
              </a:r>
            </a:p>
          </p:txBody>
        </p:sp>
        <p:sp>
          <p:nvSpPr>
            <p:cNvPr id="72" name="TextBox 72"/>
            <p:cNvSpPr txBox="1"/>
            <p:nvPr/>
          </p:nvSpPr>
          <p:spPr>
            <a:xfrm>
              <a:off x="4940618" y="3704749"/>
              <a:ext cx="57083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核心功能</a:t>
              </a:r>
            </a:p>
          </p:txBody>
        </p:sp>
        <p:sp>
          <p:nvSpPr>
            <p:cNvPr id="73" name="Ellipse 73"/>
            <p:cNvSpPr/>
            <p:nvPr/>
          </p:nvSpPr>
          <p:spPr>
            <a:xfrm>
              <a:off x="5000625" y="4029075"/>
              <a:ext cx="57150" cy="57150"/>
            </a:xfrm>
            <a:prstGeom prst="ellipse">
              <a:avLst/>
            </a:prstGeom>
            <a:solidFill>
              <a:srgbClr val="1565C0"/>
            </a:solidFill>
            <a:ln>
              <a:noFill/>
            </a:ln>
          </p:spPr>
        </p:sp>
        <p:sp>
          <p:nvSpPr>
            <p:cNvPr id="74" name="TextBox 74"/>
            <p:cNvSpPr txBox="1"/>
            <p:nvPr/>
          </p:nvSpPr>
          <p:spPr>
            <a:xfrm>
              <a:off x="5132070" y="4008120"/>
              <a:ext cx="862965"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结构化食物数据</a:t>
              </a:r>
            </a:p>
          </p:txBody>
        </p:sp>
        <p:sp>
          <p:nvSpPr>
            <p:cNvPr id="75" name="Ellipse 75"/>
            <p:cNvSpPr/>
            <p:nvPr/>
          </p:nvSpPr>
          <p:spPr>
            <a:xfrm>
              <a:off x="5000625" y="4238625"/>
              <a:ext cx="57150" cy="57150"/>
            </a:xfrm>
            <a:prstGeom prst="ellipse">
              <a:avLst/>
            </a:prstGeom>
            <a:solidFill>
              <a:srgbClr val="1565C0"/>
            </a:solidFill>
            <a:ln>
              <a:noFill/>
            </a:ln>
          </p:spPr>
        </p:sp>
        <p:sp>
          <p:nvSpPr>
            <p:cNvPr id="76" name="TextBox 76"/>
            <p:cNvSpPr txBox="1"/>
            <p:nvPr/>
          </p:nvSpPr>
          <p:spPr>
            <a:xfrm>
              <a:off x="5132070" y="4217670"/>
              <a:ext cx="862965"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注入系统提示词</a:t>
              </a:r>
            </a:p>
          </p:txBody>
        </p:sp>
        <p:sp>
          <p:nvSpPr>
            <p:cNvPr id="77" name="Ellipse 77"/>
            <p:cNvSpPr/>
            <p:nvPr/>
          </p:nvSpPr>
          <p:spPr>
            <a:xfrm>
              <a:off x="5000625" y="4448175"/>
              <a:ext cx="57150" cy="57150"/>
            </a:xfrm>
            <a:prstGeom prst="ellipse">
              <a:avLst/>
            </a:prstGeom>
            <a:solidFill>
              <a:srgbClr val="1565C0"/>
            </a:solidFill>
            <a:ln>
              <a:noFill/>
            </a:ln>
          </p:spPr>
        </p:sp>
        <p:sp>
          <p:nvSpPr>
            <p:cNvPr id="78" name="TextBox 78"/>
            <p:cNvSpPr txBox="1"/>
            <p:nvPr/>
          </p:nvSpPr>
          <p:spPr>
            <a:xfrm>
              <a:off x="5132070" y="4427220"/>
              <a:ext cx="742950"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用户健康画像</a:t>
              </a:r>
            </a:p>
          </p:txBody>
        </p:sp>
        <p:sp>
          <p:nvSpPr>
            <p:cNvPr id="79" name="Line 79"/>
            <p:cNvSpPr/>
            <p:nvPr/>
          </p:nvSpPr>
          <p:spPr>
            <a:xfrm>
              <a:off x="4953000" y="4762500"/>
              <a:ext cx="2286000" cy="9525"/>
            </a:xfrm>
            <a:custGeom>
              <a:avLst/>
              <a:gdLst/>
              <a:ahLst/>
              <a:cxnLst/>
              <a:rect l="l" t="t" r="r" b="b"/>
              <a:pathLst>
                <a:path w="2286000" h="9525">
                  <a:moveTo>
                    <a:pt x="0" y="0"/>
                  </a:moveTo>
                  <a:lnTo>
                    <a:pt x="2286000" y="0"/>
                  </a:lnTo>
                </a:path>
              </a:pathLst>
            </a:custGeom>
            <a:noFill/>
            <a:ln w="9525">
              <a:solidFill>
                <a:srgbClr val="E0E0E0"/>
              </a:solidFill>
            </a:ln>
          </p:spPr>
        </p:sp>
        <p:sp>
          <p:nvSpPr>
            <p:cNvPr id="80" name="TextBox 80"/>
            <p:cNvSpPr txBox="1"/>
            <p:nvPr/>
          </p:nvSpPr>
          <p:spPr>
            <a:xfrm>
              <a:off x="4940618" y="4904899"/>
              <a:ext cx="297799"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价值</a:t>
              </a:r>
            </a:p>
          </p:txBody>
        </p:sp>
        <p:sp>
          <p:nvSpPr>
            <p:cNvPr id="81" name="Rectangle 81"/>
            <p:cNvSpPr/>
            <p:nvPr/>
          </p:nvSpPr>
          <p:spPr>
            <a:xfrm>
              <a:off x="4953000" y="5143500"/>
              <a:ext cx="2286000" cy="381000"/>
            </a:xfrm>
            <a:prstGeom prst="roundRect">
              <a:avLst>
                <a:gd name="adj" fmla="val 15000"/>
              </a:avLst>
            </a:prstGeom>
            <a:solidFill>
              <a:srgbClr val="E3F2FD"/>
            </a:solidFill>
            <a:ln>
              <a:noFill/>
            </a:ln>
          </p:spPr>
        </p:sp>
        <p:sp>
          <p:nvSpPr>
            <p:cNvPr id="82" name="TextBox 82"/>
            <p:cNvSpPr txBox="1"/>
            <p:nvPr/>
          </p:nvSpPr>
          <p:spPr>
            <a:xfrm>
              <a:off x="5484495" y="5217795"/>
              <a:ext cx="1223010" cy="182880"/>
            </a:xfrm>
            <a:prstGeom prst="rect">
              <a:avLst/>
            </a:prstGeom>
            <a:noFill/>
            <a:ln>
              <a:noFill/>
            </a:ln>
          </p:spPr>
          <p:txBody>
            <a:bodyPr wrap="none" lIns="0" tIns="0" rIns="0" bIns="0" anchor="t" anchorCtr="0">
              <a:spAutoFit/>
            </a:bodyPr>
            <a:lstStyle/>
            <a:p>
              <a:pPr algn="ctr"/>
              <a:r>
                <a:rPr lang="zh-CN" sz="900" i="1" dirty="0">
                  <a:solidFill>
                    <a:srgbClr val="1565C0"/>
                  </a:solidFill>
                  <a:latin typeface="Cambria"/>
                  <a:ea typeface="SimSun"/>
                  <a:cs typeface="Cambria"/>
                </a:rPr>
                <a:t>精准回答食物相关问题</a:t>
              </a:r>
            </a:p>
          </p:txBody>
        </p:sp>
        <p:sp>
          <p:nvSpPr>
            <p:cNvPr id="83" name="TextBox 83"/>
            <p:cNvSpPr txBox="1"/>
            <p:nvPr/>
          </p:nvSpPr>
          <p:spPr>
            <a:xfrm>
              <a:off x="5590461" y="5378291"/>
              <a:ext cx="1011079" cy="167640"/>
            </a:xfrm>
            <a:prstGeom prst="rect">
              <a:avLst/>
            </a:prstGeom>
            <a:noFill/>
            <a:ln>
              <a:noFill/>
            </a:ln>
          </p:spPr>
          <p:txBody>
            <a:bodyPr wrap="none" lIns="0" tIns="0" rIns="0" bIns="0" anchor="t" anchorCtr="0">
              <a:spAutoFit/>
            </a:bodyPr>
            <a:lstStyle/>
            <a:p>
              <a:pPr algn="ctr"/>
              <a:r>
                <a:rPr lang="zh-CN" sz="825" dirty="0">
                  <a:solidFill>
                    <a:srgbClr val="5F6368"/>
                  </a:solidFill>
                  <a:latin typeface="Arial"/>
                  <a:ea typeface="Microsoft YaHei"/>
                  <a:cs typeface="Arial"/>
                </a:rPr>
                <a:t>个性化推送营养信息</a:t>
              </a:r>
            </a:p>
          </p:txBody>
        </p:sp>
      </p:grpSp>
      <p:grpSp>
        <p:nvGrpSpPr>
          <p:cNvPr id="107" name="Group 107"/>
          <p:cNvGrpSpPr/>
          <p:nvPr/>
        </p:nvGrpSpPr>
        <p:grpSpPr>
          <a:xfrm>
            <a:off x="8763000" y="3048000"/>
            <a:ext cx="2667000" cy="2667000"/>
            <a:chOff x="8763000" y="3048000"/>
            <a:chExt cx="2667000" cy="2667000"/>
          </a:xfrm>
        </p:grpSpPr>
        <p:sp>
          <p:nvSpPr>
            <p:cNvPr id="85" name="Rectangle 85"/>
            <p:cNvSpPr/>
            <p:nvPr/>
          </p:nvSpPr>
          <p:spPr>
            <a:xfrm>
              <a:off x="8763000" y="3048000"/>
              <a:ext cx="2667000" cy="2667000"/>
            </a:xfrm>
            <a:prstGeom prst="roundRect">
              <a:avLst>
                <a:gd name="adj" fmla="val 4286"/>
              </a:avLst>
            </a:prstGeom>
            <a:solidFill>
              <a:srgbClr val="FFFFFF"/>
            </a:solidFill>
            <a:ln w="14288">
              <a:solidFill>
                <a:srgbClr val="5C6BC0"/>
              </a:solidFill>
            </a:ln>
            <a:effectLst>
              <a:outerShdw blurRad="114300" dist="38100" dir="5400000" algn="ctr" rotWithShape="0">
                <a:srgbClr val="0F172A">
                  <a:alpha val="7500"/>
                </a:srgbClr>
              </a:outerShdw>
            </a:effectLst>
          </p:spPr>
        </p:sp>
        <p:sp>
          <p:nvSpPr>
            <p:cNvPr id="86" name="Rectangle 86"/>
            <p:cNvSpPr/>
            <p:nvPr/>
          </p:nvSpPr>
          <p:spPr>
            <a:xfrm>
              <a:off x="8763000" y="3048000"/>
              <a:ext cx="2667000" cy="476250"/>
            </a:xfrm>
            <a:prstGeom prst="roundRect">
              <a:avLst>
                <a:gd name="adj" fmla="val 24000"/>
              </a:avLst>
            </a:prstGeom>
            <a:gradFill>
              <a:gsLst>
                <a:gs pos="0">
                  <a:srgbClr val="5C6BC0"/>
                </a:gs>
                <a:gs pos="100000">
                  <a:srgbClr val="311B92"/>
                </a:gs>
              </a:gsLst>
              <a:lin ang="5400000" scaled="1"/>
            </a:gradFill>
            <a:ln>
              <a:noFill/>
            </a:ln>
          </p:spPr>
        </p:sp>
        <p:sp>
          <p:nvSpPr>
            <p:cNvPr id="87" name="Rectangle 87"/>
            <p:cNvSpPr/>
            <p:nvPr/>
          </p:nvSpPr>
          <p:spPr>
            <a:xfrm>
              <a:off x="8763000" y="3409950"/>
              <a:ext cx="2667000" cy="114300"/>
            </a:xfrm>
            <a:prstGeom prst="rect">
              <a:avLst/>
            </a:prstGeom>
            <a:solidFill>
              <a:srgbClr val="311B92"/>
            </a:solidFill>
            <a:ln>
              <a:noFill/>
            </a:ln>
          </p:spPr>
        </p:sp>
        <p:sp>
          <p:nvSpPr>
            <p:cNvPr id="88" name="Rectangle 88"/>
            <p:cNvSpPr/>
            <p:nvPr/>
          </p:nvSpPr>
          <p:spPr>
            <a:xfrm>
              <a:off x="8953500" y="3181350"/>
              <a:ext cx="266700" cy="266700"/>
            </a:xfrm>
            <a:prstGeom prst="roundRect">
              <a:avLst>
                <a:gd name="adj" fmla="val 21429"/>
              </a:avLst>
            </a:prstGeom>
            <a:solidFill>
              <a:srgbClr val="FFFFFF">
                <a:alpha val="20000"/>
              </a:srgbClr>
            </a:solidFill>
            <a:ln>
              <a:noFill/>
            </a:ln>
          </p:spPr>
        </p:sp>
        <p:grpSp>
          <p:nvGrpSpPr>
            <p:cNvPr id="91" name="Group 91"/>
            <p:cNvGrpSpPr/>
            <p:nvPr/>
          </p:nvGrpSpPr>
          <p:grpSpPr>
            <a:xfrm>
              <a:off x="8981959" y="3209809"/>
              <a:ext cx="209782" cy="209782"/>
              <a:chOff x="8981959" y="3209809"/>
              <a:chExt cx="209782" cy="209782"/>
            </a:xfrm>
          </p:grpSpPr>
          <p:sp>
            <p:nvSpPr>
              <p:cNvPr id="89" name="Freeform 89"/>
              <p:cNvSpPr/>
              <p:nvPr/>
            </p:nvSpPr>
            <p:spPr>
              <a:xfrm>
                <a:off x="8981959" y="3209809"/>
                <a:ext cx="209782" cy="209782"/>
              </a:xfrm>
              <a:custGeom>
                <a:avLst/>
                <a:gdLst/>
                <a:ahLst/>
                <a:cxnLst/>
                <a:rect l="l" t="t" r="r" b="b"/>
                <a:pathLst>
                  <a:path w="209782" h="209782">
                    <a:moveTo>
                      <a:pt x="86277" y="19514"/>
                    </a:moveTo>
                    <a:cubicBezTo>
                      <a:pt x="91011" y="0"/>
                      <a:pt x="118770" y="0"/>
                      <a:pt x="123504" y="19514"/>
                    </a:cubicBezTo>
                    <a:cubicBezTo>
                      <a:pt x="124945" y="25459"/>
                      <a:pt x="129139" y="30360"/>
                      <a:pt x="134791" y="32701"/>
                    </a:cubicBezTo>
                    <a:cubicBezTo>
                      <a:pt x="140443" y="35043"/>
                      <a:pt x="146873" y="34544"/>
                      <a:pt x="152097" y="31359"/>
                    </a:cubicBezTo>
                    <a:cubicBezTo>
                      <a:pt x="169243" y="20914"/>
                      <a:pt x="188879" y="40538"/>
                      <a:pt x="178433" y="57696"/>
                    </a:cubicBezTo>
                    <a:cubicBezTo>
                      <a:pt x="175253" y="62917"/>
                      <a:pt x="174756" y="69343"/>
                      <a:pt x="177095" y="74991"/>
                    </a:cubicBezTo>
                    <a:cubicBezTo>
                      <a:pt x="179434" y="80640"/>
                      <a:pt x="184328" y="84833"/>
                      <a:pt x="190268" y="86277"/>
                    </a:cubicBezTo>
                    <a:cubicBezTo>
                      <a:pt x="209782" y="91011"/>
                      <a:pt x="209782" y="118770"/>
                      <a:pt x="190268" y="123504"/>
                    </a:cubicBezTo>
                    <a:cubicBezTo>
                      <a:pt x="184322" y="124945"/>
                      <a:pt x="179422" y="129139"/>
                      <a:pt x="177081" y="134791"/>
                    </a:cubicBezTo>
                    <a:cubicBezTo>
                      <a:pt x="174739" y="140443"/>
                      <a:pt x="175237" y="146873"/>
                      <a:pt x="178422" y="152097"/>
                    </a:cubicBezTo>
                    <a:cubicBezTo>
                      <a:pt x="188868" y="169243"/>
                      <a:pt x="169243" y="188879"/>
                      <a:pt x="152086" y="178433"/>
                    </a:cubicBezTo>
                    <a:cubicBezTo>
                      <a:pt x="146864" y="175253"/>
                      <a:pt x="140439" y="174756"/>
                      <a:pt x="134790" y="177095"/>
                    </a:cubicBezTo>
                    <a:cubicBezTo>
                      <a:pt x="129142" y="179434"/>
                      <a:pt x="124949" y="184328"/>
                      <a:pt x="123504" y="190268"/>
                    </a:cubicBezTo>
                    <a:cubicBezTo>
                      <a:pt x="118770" y="209782"/>
                      <a:pt x="91011" y="209782"/>
                      <a:pt x="86277" y="190268"/>
                    </a:cubicBezTo>
                    <a:cubicBezTo>
                      <a:pt x="84837" y="184322"/>
                      <a:pt x="80643" y="179422"/>
                      <a:pt x="74991" y="177081"/>
                    </a:cubicBezTo>
                    <a:cubicBezTo>
                      <a:pt x="69339" y="174739"/>
                      <a:pt x="62909" y="175237"/>
                      <a:pt x="57685" y="178422"/>
                    </a:cubicBezTo>
                    <a:cubicBezTo>
                      <a:pt x="40538" y="188868"/>
                      <a:pt x="20903" y="169243"/>
                      <a:pt x="31348" y="152086"/>
                    </a:cubicBezTo>
                    <a:cubicBezTo>
                      <a:pt x="34529" y="146864"/>
                      <a:pt x="35026" y="140439"/>
                      <a:pt x="32687" y="134790"/>
                    </a:cubicBezTo>
                    <a:cubicBezTo>
                      <a:pt x="30348" y="129142"/>
                      <a:pt x="25454" y="124949"/>
                      <a:pt x="19514" y="123504"/>
                    </a:cubicBezTo>
                    <a:cubicBezTo>
                      <a:pt x="0" y="118770"/>
                      <a:pt x="0" y="91011"/>
                      <a:pt x="19514" y="86277"/>
                    </a:cubicBezTo>
                    <a:cubicBezTo>
                      <a:pt x="25459" y="84837"/>
                      <a:pt x="30360" y="80643"/>
                      <a:pt x="32701" y="74991"/>
                    </a:cubicBezTo>
                    <a:cubicBezTo>
                      <a:pt x="35043" y="69339"/>
                      <a:pt x="34544" y="62909"/>
                      <a:pt x="31359" y="57685"/>
                    </a:cubicBezTo>
                    <a:cubicBezTo>
                      <a:pt x="20914" y="40538"/>
                      <a:pt x="40538" y="20903"/>
                      <a:pt x="57696" y="31348"/>
                    </a:cubicBezTo>
                    <a:cubicBezTo>
                      <a:pt x="68809" y="38105"/>
                      <a:pt x="83210" y="32126"/>
                      <a:pt x="86277" y="19514"/>
                    </a:cubicBezTo>
                  </a:path>
                </a:pathLst>
              </a:custGeom>
              <a:noFill/>
              <a:ln w="19050">
                <a:solidFill>
                  <a:srgbClr val="FFFFFF"/>
                </a:solidFill>
              </a:ln>
            </p:spPr>
          </p:sp>
          <p:sp>
            <p:nvSpPr>
              <p:cNvPr id="90" name="Freeform 90"/>
              <p:cNvSpPr/>
              <p:nvPr/>
            </p:nvSpPr>
            <p:spPr>
              <a:xfrm>
                <a:off x="9053512" y="3281362"/>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19050">
                <a:solidFill>
                  <a:srgbClr val="FFFFFF"/>
                </a:solidFill>
              </a:ln>
            </p:spPr>
          </p:sp>
        </p:grpSp>
        <p:sp>
          <p:nvSpPr>
            <p:cNvPr id="92" name="TextBox 92"/>
            <p:cNvSpPr txBox="1"/>
            <p:nvPr/>
          </p:nvSpPr>
          <p:spPr>
            <a:xfrm>
              <a:off x="9300210" y="3223260"/>
              <a:ext cx="870585"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mbria"/>
                  <a:ea typeface="SimSun"/>
                  <a:cs typeface="Cambria"/>
                </a:rPr>
                <a:t>个性化建议</a:t>
              </a:r>
            </a:p>
          </p:txBody>
        </p:sp>
        <p:sp>
          <p:nvSpPr>
            <p:cNvPr id="93" name="TextBox 93"/>
            <p:cNvSpPr txBox="1"/>
            <p:nvPr/>
          </p:nvSpPr>
          <p:spPr>
            <a:xfrm>
              <a:off x="9305925" y="3405188"/>
              <a:ext cx="964168" cy="152400"/>
            </a:xfrm>
            <a:prstGeom prst="rect">
              <a:avLst/>
            </a:prstGeom>
            <a:noFill/>
            <a:ln>
              <a:noFill/>
            </a:ln>
          </p:spPr>
          <p:txBody>
            <a:bodyPr wrap="none" lIns="0" tIns="0" rIns="0" bIns="0" anchor="t" anchorCtr="0">
              <a:spAutoFit/>
            </a:bodyPr>
            <a:lstStyle/>
            <a:p>
              <a:pPr algn="l"/>
              <a:r>
                <a:rPr lang="zh-CN" sz="750" dirty="0">
                  <a:solidFill>
                    <a:srgbClr val="FFFFFF">
                      <a:alphaMod val="85000"/>
                    </a:srgbClr>
                  </a:solidFill>
                  <a:latin typeface="Arial"/>
                  <a:ea typeface="Microsoft YaHei"/>
                  <a:cs typeface="Arial"/>
                </a:rPr>
                <a:t>Personalized Advice</a:t>
              </a:r>
            </a:p>
          </p:txBody>
        </p:sp>
        <p:sp>
          <p:nvSpPr>
            <p:cNvPr id="94" name="TextBox 94"/>
            <p:cNvSpPr txBox="1"/>
            <p:nvPr/>
          </p:nvSpPr>
          <p:spPr>
            <a:xfrm>
              <a:off x="10639899" y="3263741"/>
              <a:ext cx="610079" cy="167640"/>
            </a:xfrm>
            <a:prstGeom prst="rect">
              <a:avLst/>
            </a:prstGeom>
            <a:noFill/>
            <a:ln>
              <a:noFill/>
            </a:ln>
          </p:spPr>
          <p:txBody>
            <a:bodyPr wrap="none" lIns="0" tIns="0" rIns="0" bIns="0" anchor="t" anchorCtr="0">
              <a:spAutoFit/>
            </a:bodyPr>
            <a:lstStyle/>
            <a:p>
              <a:pPr algn="r"/>
              <a:r>
                <a:rPr lang="zh-CN" sz="825" b="1" dirty="0">
                  <a:solidFill>
                    <a:srgbClr val="FFFFFF">
                      <a:alphaMod val="70000"/>
                    </a:srgbClr>
                  </a:solidFill>
                  <a:latin typeface="Cambria"/>
                  <a:ea typeface="SimSun"/>
                  <a:cs typeface="Cambria"/>
                </a:rPr>
                <a:t>MODULE 03</a:t>
              </a:r>
            </a:p>
          </p:txBody>
        </p:sp>
        <p:sp>
          <p:nvSpPr>
            <p:cNvPr id="95" name="TextBox 95"/>
            <p:cNvSpPr txBox="1"/>
            <p:nvPr/>
          </p:nvSpPr>
          <p:spPr>
            <a:xfrm>
              <a:off x="8941118" y="3704749"/>
              <a:ext cx="57083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核心功能</a:t>
              </a:r>
            </a:p>
          </p:txBody>
        </p:sp>
        <p:sp>
          <p:nvSpPr>
            <p:cNvPr id="96" name="Ellipse 96"/>
            <p:cNvSpPr/>
            <p:nvPr/>
          </p:nvSpPr>
          <p:spPr>
            <a:xfrm>
              <a:off x="9001125" y="4029075"/>
              <a:ext cx="57150" cy="57150"/>
            </a:xfrm>
            <a:prstGeom prst="ellipse">
              <a:avLst/>
            </a:prstGeom>
            <a:solidFill>
              <a:srgbClr val="311B92"/>
            </a:solidFill>
            <a:ln>
              <a:noFill/>
            </a:ln>
          </p:spPr>
        </p:sp>
        <p:sp>
          <p:nvSpPr>
            <p:cNvPr id="97" name="TextBox 97"/>
            <p:cNvSpPr txBox="1"/>
            <p:nvPr/>
          </p:nvSpPr>
          <p:spPr>
            <a:xfrm>
              <a:off x="9132570" y="4008120"/>
              <a:ext cx="742950"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减脂目标定制</a:t>
              </a:r>
            </a:p>
          </p:txBody>
        </p:sp>
        <p:sp>
          <p:nvSpPr>
            <p:cNvPr id="98" name="Ellipse 98"/>
            <p:cNvSpPr/>
            <p:nvPr/>
          </p:nvSpPr>
          <p:spPr>
            <a:xfrm>
              <a:off x="9001125" y="4238625"/>
              <a:ext cx="57150" cy="57150"/>
            </a:xfrm>
            <a:prstGeom prst="ellipse">
              <a:avLst/>
            </a:prstGeom>
            <a:solidFill>
              <a:srgbClr val="311B92"/>
            </a:solidFill>
            <a:ln>
              <a:noFill/>
            </a:ln>
          </p:spPr>
        </p:sp>
        <p:sp>
          <p:nvSpPr>
            <p:cNvPr id="99" name="TextBox 99"/>
            <p:cNvSpPr txBox="1"/>
            <p:nvPr/>
          </p:nvSpPr>
          <p:spPr>
            <a:xfrm>
              <a:off x="9132570" y="4217670"/>
              <a:ext cx="742950"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增肌目标定制</a:t>
              </a:r>
            </a:p>
          </p:txBody>
        </p:sp>
        <p:sp>
          <p:nvSpPr>
            <p:cNvPr id="100" name="Ellipse 100"/>
            <p:cNvSpPr/>
            <p:nvPr/>
          </p:nvSpPr>
          <p:spPr>
            <a:xfrm>
              <a:off x="9001125" y="4448175"/>
              <a:ext cx="57150" cy="57150"/>
            </a:xfrm>
            <a:prstGeom prst="ellipse">
              <a:avLst/>
            </a:prstGeom>
            <a:solidFill>
              <a:srgbClr val="311B92"/>
            </a:solidFill>
            <a:ln>
              <a:noFill/>
            </a:ln>
          </p:spPr>
        </p:sp>
        <p:sp>
          <p:nvSpPr>
            <p:cNvPr id="101" name="TextBox 101"/>
            <p:cNvSpPr txBox="1"/>
            <p:nvPr/>
          </p:nvSpPr>
          <p:spPr>
            <a:xfrm>
              <a:off x="9132570" y="4427220"/>
              <a:ext cx="742950"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饮食结构建议</a:t>
              </a:r>
            </a:p>
          </p:txBody>
        </p:sp>
        <p:sp>
          <p:nvSpPr>
            <p:cNvPr id="102" name="Line 102"/>
            <p:cNvSpPr/>
            <p:nvPr/>
          </p:nvSpPr>
          <p:spPr>
            <a:xfrm>
              <a:off x="8953500" y="4762500"/>
              <a:ext cx="2286000" cy="9525"/>
            </a:xfrm>
            <a:custGeom>
              <a:avLst/>
              <a:gdLst/>
              <a:ahLst/>
              <a:cxnLst/>
              <a:rect l="l" t="t" r="r" b="b"/>
              <a:pathLst>
                <a:path w="2286000" h="9525">
                  <a:moveTo>
                    <a:pt x="0" y="0"/>
                  </a:moveTo>
                  <a:lnTo>
                    <a:pt x="2286000" y="0"/>
                  </a:lnTo>
                </a:path>
              </a:pathLst>
            </a:custGeom>
            <a:noFill/>
            <a:ln w="9525">
              <a:solidFill>
                <a:srgbClr val="E0E0E0"/>
              </a:solidFill>
            </a:ln>
          </p:spPr>
        </p:sp>
        <p:sp>
          <p:nvSpPr>
            <p:cNvPr id="103" name="TextBox 103"/>
            <p:cNvSpPr txBox="1"/>
            <p:nvPr/>
          </p:nvSpPr>
          <p:spPr>
            <a:xfrm>
              <a:off x="8941118" y="4904899"/>
              <a:ext cx="297799"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价值</a:t>
              </a:r>
            </a:p>
          </p:txBody>
        </p:sp>
        <p:sp>
          <p:nvSpPr>
            <p:cNvPr id="104" name="Rectangle 104"/>
            <p:cNvSpPr/>
            <p:nvPr/>
          </p:nvSpPr>
          <p:spPr>
            <a:xfrm>
              <a:off x="8953500" y="5143500"/>
              <a:ext cx="2286000" cy="381000"/>
            </a:xfrm>
            <a:prstGeom prst="roundRect">
              <a:avLst>
                <a:gd name="adj" fmla="val 15000"/>
              </a:avLst>
            </a:prstGeom>
            <a:solidFill>
              <a:srgbClr val="EDE7F6"/>
            </a:solidFill>
            <a:ln>
              <a:noFill/>
            </a:ln>
          </p:spPr>
        </p:sp>
        <p:sp>
          <p:nvSpPr>
            <p:cNvPr id="105" name="TextBox 105"/>
            <p:cNvSpPr txBox="1"/>
            <p:nvPr/>
          </p:nvSpPr>
          <p:spPr>
            <a:xfrm>
              <a:off x="9545002" y="5217795"/>
              <a:ext cx="1102995" cy="182880"/>
            </a:xfrm>
            <a:prstGeom prst="rect">
              <a:avLst/>
            </a:prstGeom>
            <a:noFill/>
            <a:ln>
              <a:noFill/>
            </a:ln>
          </p:spPr>
          <p:txBody>
            <a:bodyPr wrap="none" lIns="0" tIns="0" rIns="0" bIns="0" anchor="t" anchorCtr="0">
              <a:spAutoFit/>
            </a:bodyPr>
            <a:lstStyle/>
            <a:p>
              <a:pPr algn="ctr"/>
              <a:r>
                <a:rPr lang="zh-CN" sz="900" i="1" dirty="0">
                  <a:solidFill>
                    <a:srgbClr val="311B92"/>
                  </a:solidFill>
                  <a:latin typeface="Cambria"/>
                  <a:ea typeface="SimSun"/>
                  <a:cs typeface="Cambria"/>
                </a:rPr>
                <a:t>面向用户的饮食干预</a:t>
              </a:r>
            </a:p>
          </p:txBody>
        </p:sp>
        <p:sp>
          <p:nvSpPr>
            <p:cNvPr id="106" name="TextBox 106"/>
            <p:cNvSpPr txBox="1"/>
            <p:nvPr/>
          </p:nvSpPr>
          <p:spPr>
            <a:xfrm>
              <a:off x="9645968" y="5378291"/>
              <a:ext cx="901065" cy="167640"/>
            </a:xfrm>
            <a:prstGeom prst="rect">
              <a:avLst/>
            </a:prstGeom>
            <a:noFill/>
            <a:ln>
              <a:noFill/>
            </a:ln>
          </p:spPr>
          <p:txBody>
            <a:bodyPr wrap="none" lIns="0" tIns="0" rIns="0" bIns="0" anchor="t" anchorCtr="0">
              <a:spAutoFit/>
            </a:bodyPr>
            <a:lstStyle/>
            <a:p>
              <a:pPr algn="ctr"/>
              <a:r>
                <a:rPr lang="zh-CN" sz="825" dirty="0">
                  <a:solidFill>
                    <a:srgbClr val="5F6368"/>
                  </a:solidFill>
                  <a:latin typeface="Arial"/>
                  <a:ea typeface="Microsoft YaHei"/>
                  <a:cs typeface="Arial"/>
                </a:rPr>
                <a:t>支持健康目标达成</a:t>
              </a:r>
            </a:p>
          </p:txBody>
        </p:sp>
      </p:grpSp>
      <p:sp>
        <p:nvSpPr>
          <p:cNvPr id="108" name="TextBox 108"/>
          <p:cNvSpPr txBox="1"/>
          <p:nvPr/>
        </p:nvSpPr>
        <p:spPr>
          <a:xfrm>
            <a:off x="561022" y="6578441"/>
            <a:ext cx="3486388"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3 · Q4 Agent Architecture</a:t>
            </a:r>
          </a:p>
        </p:txBody>
      </p:sp>
      <p:sp>
        <p:nvSpPr>
          <p:cNvPr id="109" name="TextBox 109"/>
          <p:cNvSpPr txBox="1"/>
          <p:nvPr/>
        </p:nvSpPr>
        <p:spPr>
          <a:xfrm>
            <a:off x="11251928" y="6578441"/>
            <a:ext cx="379050"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21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image">
                                      <p:cBhvr>
                                        <p:cTn id="7" dur="400"/>
                                        <p:tgtEl>
                                          <p:spTgt spid="1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400"/>
                                        <p:tgtEl>
                                          <p:spTgt spid="31"/>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wipe(left)">
                                      <p:cBhvr>
                                        <p:cTn id="15" dur="400"/>
                                        <p:tgtEl>
                                          <p:spTgt spid="60"/>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84"/>
                                        </p:tgtEl>
                                        <p:attrNameLst>
                                          <p:attrName>style.visibility</p:attrName>
                                        </p:attrNameLst>
                                      </p:cBhvr>
                                      <p:to>
                                        <p:strVal val="visible"/>
                                      </p:to>
                                    </p:set>
                                    <p:animEffect transition="in" filter="slide(fromBottom)">
                                      <p:cBhvr>
                                        <p:cTn id="19" dur="400"/>
                                        <p:tgtEl>
                                          <p:spTgt spid="84"/>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107"/>
                                        </p:tgtEl>
                                        <p:attrNameLst>
                                          <p:attrName>style.visibility</p:attrName>
                                        </p:attrNameLst>
                                      </p:cBhvr>
                                      <p:to>
                                        <p:strVal val="visible"/>
                                      </p:to>
                                    </p:set>
                                    <p:animEffect transition="in" filter="image">
                                      <p:cBhvr>
                                        <p:cTn id="23" dur="4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1" grpId="0"/>
      <p:bldP spid="60" grpId="0"/>
      <p:bldP spid="84" grpId="0"/>
      <p:bldP spid="10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1049000" cy="685800"/>
            <a:chOff x="571500" y="457200"/>
            <a:chExt cx="11049000" cy="685800"/>
          </a:xfrm>
        </p:grpSpPr>
        <p:sp>
          <p:nvSpPr>
            <p:cNvPr id="3" name="Rectangle 3"/>
            <p:cNvSpPr/>
            <p:nvPr/>
          </p:nvSpPr>
          <p:spPr>
            <a:xfrm>
              <a:off x="571500" y="457200"/>
              <a:ext cx="57150" cy="381000"/>
            </a:xfrm>
            <a:prstGeom prst="roundRect">
              <a:avLst>
                <a:gd name="adj" fmla="val 50000"/>
              </a:avLst>
            </a:prstGeom>
            <a:solidFill>
              <a:srgbClr val="1565C0"/>
            </a:solidFill>
            <a:ln>
              <a:noFill/>
            </a:ln>
          </p:spPr>
        </p:sp>
        <p:sp>
          <p:nvSpPr>
            <p:cNvPr id="4" name="TextBox 4"/>
            <p:cNvSpPr txBox="1"/>
            <p:nvPr/>
          </p:nvSpPr>
          <p:spPr>
            <a:xfrm>
              <a:off x="733425" y="500062"/>
              <a:ext cx="3569839"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交互示例 · 多轮对话演示</a:t>
              </a:r>
            </a:p>
          </p:txBody>
        </p:sp>
        <p:sp>
          <p:nvSpPr>
            <p:cNvPr id="5" name="TextBox 5"/>
            <p:cNvSpPr txBox="1"/>
            <p:nvPr/>
          </p:nvSpPr>
          <p:spPr>
            <a:xfrm>
              <a:off x="748665" y="896302"/>
              <a:ext cx="3584515"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Q4 · INTERACTION DEMO · THREE-TURN DIALOG FLOW</a:t>
              </a:r>
            </a:p>
          </p:txBody>
        </p:sp>
        <p:grpSp>
          <p:nvGrpSpPr>
            <p:cNvPr id="9" name="Group 9"/>
            <p:cNvGrpSpPr/>
            <p:nvPr/>
          </p:nvGrpSpPr>
          <p:grpSpPr>
            <a:xfrm>
              <a:off x="9715500" y="571500"/>
              <a:ext cx="1905000" cy="571500"/>
              <a:chOff x="9715500" y="571500"/>
              <a:chExt cx="1905000" cy="571500"/>
            </a:xfrm>
          </p:grpSpPr>
          <p:sp>
            <p:nvSpPr>
              <p:cNvPr id="6" name="Rectangle 6"/>
              <p:cNvSpPr/>
              <p:nvPr/>
            </p:nvSpPr>
            <p:spPr>
              <a:xfrm>
                <a:off x="9715500" y="571500"/>
                <a:ext cx="1905000" cy="571500"/>
              </a:xfrm>
              <a:prstGeom prst="roundRect">
                <a:avLst>
                  <a:gd name="adj" fmla="val 16667"/>
                </a:avLst>
              </a:prstGeom>
              <a:solidFill>
                <a:srgbClr val="F5F7FA"/>
              </a:solidFill>
              <a:ln>
                <a:noFill/>
              </a:ln>
            </p:spPr>
          </p:sp>
          <p:sp>
            <p:nvSpPr>
              <p:cNvPr id="7" name="TextBox 7"/>
              <p:cNvSpPr txBox="1"/>
              <p:nvPr/>
            </p:nvSpPr>
            <p:spPr>
              <a:xfrm>
                <a:off x="10286985" y="692468"/>
                <a:ext cx="762031"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Cambria"/>
                    <a:ea typeface="SimSun"/>
                    <a:cs typeface="Cambria"/>
                  </a:rPr>
                  <a:t>3 轮对话</a:t>
                </a:r>
              </a:p>
            </p:txBody>
          </p:sp>
          <p:sp>
            <p:nvSpPr>
              <p:cNvPr id="8" name="TextBox 8"/>
              <p:cNvSpPr txBox="1"/>
              <p:nvPr/>
            </p:nvSpPr>
            <p:spPr>
              <a:xfrm>
                <a:off x="10181025" y="958691"/>
                <a:ext cx="973949"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CONTEXT MEMORY</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2" name="TextBox 12"/>
          <p:cNvSpPr txBox="1"/>
          <p:nvPr/>
        </p:nvSpPr>
        <p:spPr>
          <a:xfrm>
            <a:off x="4363950" y="1505902"/>
            <a:ext cx="3464100"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用户与小营的对话流程,展示上下文记忆与主动报告能力</a:t>
            </a:r>
          </a:p>
        </p:txBody>
      </p:sp>
      <p:grpSp>
        <p:nvGrpSpPr>
          <p:cNvPr id="41" name="Group 41"/>
          <p:cNvGrpSpPr/>
          <p:nvPr/>
        </p:nvGrpSpPr>
        <p:grpSpPr>
          <a:xfrm>
            <a:off x="488559" y="1780222"/>
            <a:ext cx="10369941" cy="1886903"/>
            <a:chOff x="488559" y="1780222"/>
            <a:chExt cx="10369941" cy="1886903"/>
          </a:xfrm>
        </p:grpSpPr>
        <p:sp>
          <p:nvSpPr>
            <p:cNvPr id="13" name="TextBox 13"/>
            <p:cNvSpPr txBox="1"/>
            <p:nvPr/>
          </p:nvSpPr>
          <p:spPr>
            <a:xfrm>
              <a:off x="488559" y="1780222"/>
              <a:ext cx="2121682" cy="213360"/>
            </a:xfrm>
            <a:prstGeom prst="rect">
              <a:avLst/>
            </a:prstGeom>
            <a:noFill/>
            <a:ln>
              <a:noFill/>
            </a:ln>
          </p:spPr>
          <p:txBody>
            <a:bodyPr wrap="none" lIns="0" tIns="0" rIns="0" bIns="0" anchor="t" anchorCtr="0">
              <a:spAutoFit/>
            </a:bodyPr>
            <a:lstStyle/>
            <a:p>
              <a:pPr algn="l"/>
              <a:r>
                <a:rPr lang="zh-CN" sz="1050" b="1" dirty="0">
                  <a:solidFill>
                    <a:srgbClr val="FF8F00"/>
                  </a:solidFill>
                  <a:latin typeface="Cambria"/>
                  <a:ea typeface="SimSun"/>
                  <a:cs typeface="Cambria"/>
                </a:rPr>
                <a:t>ROUND 01 · 图像上传与主动报告</a:t>
              </a:r>
            </a:p>
          </p:txBody>
        </p:sp>
        <p:grpSp>
          <p:nvGrpSpPr>
            <p:cNvPr id="23" name="Group 23"/>
            <p:cNvGrpSpPr/>
            <p:nvPr/>
          </p:nvGrpSpPr>
          <p:grpSpPr>
            <a:xfrm>
              <a:off x="7239000" y="2000250"/>
              <a:ext cx="3619500" cy="609600"/>
              <a:chOff x="7239000" y="2000250"/>
              <a:chExt cx="3619500" cy="609600"/>
            </a:xfrm>
          </p:grpSpPr>
          <p:sp>
            <p:nvSpPr>
              <p:cNvPr id="14" name="Rectangle 14"/>
              <p:cNvSpPr/>
              <p:nvPr/>
            </p:nvSpPr>
            <p:spPr>
              <a:xfrm>
                <a:off x="7239000" y="2000250"/>
                <a:ext cx="3619500" cy="609600"/>
              </a:xfrm>
              <a:prstGeom prst="roundRect">
                <a:avLst>
                  <a:gd name="adj" fmla="val 50000"/>
                </a:avLst>
              </a:prstGeom>
              <a:gradFill>
                <a:gsLst>
                  <a:gs pos="0">
                    <a:srgbClr val="5C6BC0"/>
                  </a:gs>
                  <a:gs pos="100000">
                    <a:srgbClr val="1565C0"/>
                  </a:gs>
                </a:gsLst>
                <a:lin ang="5400000" scaled="1"/>
              </a:gradFill>
              <a:ln>
                <a:noFill/>
              </a:ln>
              <a:effectLst>
                <a:outerShdw blurRad="95250" dist="28575" dir="5400000" algn="ctr" rotWithShape="0">
                  <a:srgbClr val="0F172A">
                    <a:alpha val="7500"/>
                  </a:srgbClr>
                </a:outerShdw>
              </a:effectLst>
            </p:spPr>
          </p:sp>
          <p:sp>
            <p:nvSpPr>
              <p:cNvPr id="15" name="Ellipse 15"/>
              <p:cNvSpPr/>
              <p:nvPr/>
            </p:nvSpPr>
            <p:spPr>
              <a:xfrm>
                <a:off x="7391400" y="2114550"/>
                <a:ext cx="381000" cy="381000"/>
              </a:xfrm>
              <a:prstGeom prst="ellipse">
                <a:avLst/>
              </a:prstGeom>
              <a:solidFill>
                <a:srgbClr val="FFFFFF">
                  <a:alpha val="20000"/>
                </a:srgbClr>
              </a:solidFill>
              <a:ln>
                <a:noFill/>
              </a:ln>
            </p:spPr>
          </p:sp>
          <p:grpSp>
            <p:nvGrpSpPr>
              <p:cNvPr id="20" name="Group 20"/>
              <p:cNvGrpSpPr/>
              <p:nvPr/>
            </p:nvGrpSpPr>
            <p:grpSpPr>
              <a:xfrm>
                <a:off x="7467600" y="2190750"/>
                <a:ext cx="228600" cy="228600"/>
                <a:chOff x="7467600" y="2190750"/>
                <a:chExt cx="228600" cy="228600"/>
              </a:xfrm>
            </p:grpSpPr>
            <p:sp>
              <p:nvSpPr>
                <p:cNvPr id="16" name="Freeform 16"/>
                <p:cNvSpPr/>
                <p:nvPr/>
              </p:nvSpPr>
              <p:spPr>
                <a:xfrm>
                  <a:off x="7493000" y="219075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19050">
                  <a:solidFill>
                    <a:srgbClr val="FFFFFF"/>
                  </a:solidFill>
                </a:ln>
              </p:spPr>
            </p:sp>
            <p:sp>
              <p:nvSpPr>
                <p:cNvPr id="17" name="Freeform 17"/>
                <p:cNvSpPr/>
                <p:nvPr/>
              </p:nvSpPr>
              <p:spPr>
                <a:xfrm>
                  <a:off x="7467600" y="2343150"/>
                  <a:ext cx="152400" cy="76200"/>
                </a:xfrm>
                <a:custGeom>
                  <a:avLst/>
                  <a:gdLst/>
                  <a:ahLst/>
                  <a:cxnLst/>
                  <a:rect l="l" t="t" r="r" b="b"/>
                  <a:pathLst>
                    <a:path w="152400" h="76200">
                      <a:moveTo>
                        <a:pt x="0" y="76200"/>
                      </a:moveTo>
                      <a:lnTo>
                        <a:pt x="0" y="50800"/>
                      </a:lnTo>
                      <a:cubicBezTo>
                        <a:pt x="0" y="22744"/>
                        <a:pt x="22744" y="0"/>
                        <a:pt x="50800" y="0"/>
                      </a:cubicBezTo>
                      <a:lnTo>
                        <a:pt x="101600" y="0"/>
                      </a:lnTo>
                      <a:cubicBezTo>
                        <a:pt x="129656" y="0"/>
                        <a:pt x="152400" y="22744"/>
                        <a:pt x="152400" y="50800"/>
                      </a:cubicBezTo>
                      <a:lnTo>
                        <a:pt x="152400" y="76200"/>
                      </a:lnTo>
                    </a:path>
                  </a:pathLst>
                </a:custGeom>
                <a:noFill/>
                <a:ln w="19050">
                  <a:solidFill>
                    <a:srgbClr val="FFFFFF"/>
                  </a:solidFill>
                </a:ln>
              </p:spPr>
            </p:sp>
            <p:sp>
              <p:nvSpPr>
                <p:cNvPr id="18" name="Freeform 18"/>
                <p:cNvSpPr/>
                <p:nvPr/>
              </p:nvSpPr>
              <p:spPr>
                <a:xfrm>
                  <a:off x="7632700" y="2192401"/>
                  <a:ext cx="38200" cy="98425"/>
                </a:xfrm>
                <a:custGeom>
                  <a:avLst/>
                  <a:gdLst/>
                  <a:ahLst/>
                  <a:cxnLst/>
                  <a:rect l="l" t="t" r="r" b="b"/>
                  <a:pathLst>
                    <a:path w="38200" h="98425">
                      <a:moveTo>
                        <a:pt x="0" y="0"/>
                      </a:moveTo>
                      <a:cubicBezTo>
                        <a:pt x="22478" y="5755"/>
                        <a:pt x="38200" y="26009"/>
                        <a:pt x="38200" y="49212"/>
                      </a:cubicBezTo>
                      <a:cubicBezTo>
                        <a:pt x="38200" y="72416"/>
                        <a:pt x="22478" y="92670"/>
                        <a:pt x="0" y="98425"/>
                      </a:cubicBezTo>
                    </a:path>
                  </a:pathLst>
                </a:custGeom>
                <a:noFill/>
                <a:ln w="19050">
                  <a:solidFill>
                    <a:srgbClr val="FFFFFF"/>
                  </a:solidFill>
                </a:ln>
              </p:spPr>
            </p:sp>
            <p:sp>
              <p:nvSpPr>
                <p:cNvPr id="19" name="Freeform 19"/>
                <p:cNvSpPr/>
                <p:nvPr/>
              </p:nvSpPr>
              <p:spPr>
                <a:xfrm>
                  <a:off x="7658100" y="2345055"/>
                  <a:ext cx="38100" cy="74295"/>
                </a:xfrm>
                <a:custGeom>
                  <a:avLst/>
                  <a:gdLst/>
                  <a:ahLst/>
                  <a:cxnLst/>
                  <a:rect l="l" t="t" r="r" b="b"/>
                  <a:pathLst>
                    <a:path w="38100" h="74295">
                      <a:moveTo>
                        <a:pt x="38100" y="74295"/>
                      </a:moveTo>
                      <a:lnTo>
                        <a:pt x="38100" y="48895"/>
                      </a:lnTo>
                      <a:cubicBezTo>
                        <a:pt x="37967" y="25839"/>
                        <a:pt x="22324" y="5764"/>
                        <a:pt x="0" y="0"/>
                      </a:cubicBezTo>
                    </a:path>
                  </a:pathLst>
                </a:custGeom>
                <a:noFill/>
                <a:ln w="19050">
                  <a:solidFill>
                    <a:srgbClr val="FFFFFF"/>
                  </a:solidFill>
                </a:ln>
              </p:spPr>
            </p:sp>
          </p:grpSp>
          <p:sp>
            <p:nvSpPr>
              <p:cNvPr id="21" name="TextBox 21"/>
              <p:cNvSpPr txBox="1"/>
              <p:nvPr/>
            </p:nvSpPr>
            <p:spPr>
              <a:xfrm>
                <a:off x="7932420" y="2169795"/>
                <a:ext cx="300095" cy="182880"/>
              </a:xfrm>
              <a:prstGeom prst="rect">
                <a:avLst/>
              </a:prstGeom>
              <a:noFill/>
              <a:ln>
                <a:noFill/>
              </a:ln>
            </p:spPr>
            <p:txBody>
              <a:bodyPr wrap="none" lIns="0" tIns="0" rIns="0" bIns="0" anchor="t" anchorCtr="0">
                <a:spAutoFit/>
              </a:bodyPr>
              <a:lstStyle/>
              <a:p>
                <a:pPr algn="l"/>
                <a:r>
                  <a:rPr lang="zh-CN" sz="900" b="1" dirty="0">
                    <a:solidFill>
                      <a:srgbClr val="FFFFFF">
                        <a:alphaMod val="85000"/>
                      </a:srgbClr>
                    </a:solidFill>
                    <a:latin typeface="Arial"/>
                    <a:ea typeface="Microsoft YaHei"/>
                    <a:cs typeface="Arial"/>
                  </a:rPr>
                  <a:t>USER</a:t>
                </a:r>
              </a:p>
            </p:txBody>
          </p:sp>
          <p:sp>
            <p:nvSpPr>
              <p:cNvPr id="22" name="TextBox 22"/>
              <p:cNvSpPr txBox="1"/>
              <p:nvPr/>
            </p:nvSpPr>
            <p:spPr>
              <a:xfrm>
                <a:off x="7931468" y="2352199"/>
                <a:ext cx="1075946"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Consolas"/>
                    <a:ea typeface="Microsoft YaHei"/>
                    <a:cs typeface="Consolas"/>
                  </a:rPr>
                  <a:t>/image food.jpg</a:t>
                </a:r>
              </a:p>
            </p:txBody>
          </p:sp>
        </p:grpSp>
        <p:sp>
          <p:nvSpPr>
            <p:cNvPr id="24" name="Freeform 24"/>
            <p:cNvSpPr/>
            <p:nvPr/>
          </p:nvSpPr>
          <p:spPr>
            <a:xfrm>
              <a:off x="9001125" y="2714625"/>
              <a:ext cx="142875" cy="190500"/>
            </a:xfrm>
            <a:custGeom>
              <a:avLst/>
              <a:gdLst/>
              <a:ahLst/>
              <a:cxnLst/>
              <a:rect l="l" t="t" r="r" b="b"/>
              <a:pathLst>
                <a:path w="142875" h="190500">
                  <a:moveTo>
                    <a:pt x="47625" y="0"/>
                  </a:moveTo>
                  <a:lnTo>
                    <a:pt x="47625" y="95250"/>
                  </a:lnTo>
                  <a:lnTo>
                    <a:pt x="0" y="95250"/>
                  </a:lnTo>
                  <a:lnTo>
                    <a:pt x="47625" y="190500"/>
                  </a:lnTo>
                  <a:lnTo>
                    <a:pt x="95250" y="95250"/>
                  </a:lnTo>
                  <a:lnTo>
                    <a:pt x="142875" y="95250"/>
                  </a:lnTo>
                  <a:lnTo>
                    <a:pt x="142875" y="0"/>
                  </a:lnTo>
                  <a:close/>
                </a:path>
              </a:pathLst>
            </a:custGeom>
            <a:solidFill>
              <a:srgbClr val="9AA0A6"/>
            </a:solidFill>
            <a:ln>
              <a:noFill/>
            </a:ln>
          </p:spPr>
        </p:sp>
        <p:grpSp>
          <p:nvGrpSpPr>
            <p:cNvPr id="40" name="Group 40"/>
            <p:cNvGrpSpPr/>
            <p:nvPr/>
          </p:nvGrpSpPr>
          <p:grpSpPr>
            <a:xfrm>
              <a:off x="1143000" y="2905125"/>
              <a:ext cx="7429500" cy="762000"/>
              <a:chOff x="1143000" y="2905125"/>
              <a:chExt cx="7429500" cy="762000"/>
            </a:xfrm>
          </p:grpSpPr>
          <p:sp>
            <p:nvSpPr>
              <p:cNvPr id="25" name="Rectangle 25"/>
              <p:cNvSpPr/>
              <p:nvPr/>
            </p:nvSpPr>
            <p:spPr>
              <a:xfrm>
                <a:off x="1143000" y="2905125"/>
                <a:ext cx="7429500" cy="762000"/>
              </a:xfrm>
              <a:prstGeom prst="roundRect">
                <a:avLst>
                  <a:gd name="adj" fmla="val 17500"/>
                </a:avLst>
              </a:prstGeom>
              <a:gradFill>
                <a:gsLst>
                  <a:gs pos="0">
                    <a:srgbClr val="FFFFFF"/>
                  </a:gs>
                  <a:gs pos="100000">
                    <a:srgbClr val="F5F7FA"/>
                  </a:gs>
                </a:gsLst>
                <a:lin ang="5400000" scaled="1"/>
              </a:gradFill>
              <a:ln w="14288">
                <a:solidFill>
                  <a:srgbClr val="E0E0E0"/>
                </a:solidFill>
              </a:ln>
              <a:effectLst>
                <a:outerShdw blurRad="95250" dist="28575" dir="5400000" algn="ctr" rotWithShape="0">
                  <a:srgbClr val="0F172A">
                    <a:alpha val="7500"/>
                  </a:srgbClr>
                </a:outerShdw>
              </a:effectLst>
            </p:spPr>
          </p:sp>
          <p:sp>
            <p:nvSpPr>
              <p:cNvPr id="26" name="Ellipse 26"/>
              <p:cNvSpPr/>
              <p:nvPr/>
            </p:nvSpPr>
            <p:spPr>
              <a:xfrm>
                <a:off x="1295400" y="3057525"/>
                <a:ext cx="457200" cy="457200"/>
              </a:xfrm>
              <a:prstGeom prst="ellipse">
                <a:avLst/>
              </a:prstGeom>
              <a:solidFill>
                <a:srgbClr val="1565C0"/>
              </a:solidFill>
              <a:ln>
                <a:noFill/>
              </a:ln>
            </p:spPr>
          </p:sp>
          <p:grpSp>
            <p:nvGrpSpPr>
              <p:cNvPr id="36" name="Group 36"/>
              <p:cNvGrpSpPr/>
              <p:nvPr/>
            </p:nvGrpSpPr>
            <p:grpSpPr>
              <a:xfrm>
                <a:off x="1435100" y="3159125"/>
                <a:ext cx="177800" cy="241300"/>
                <a:chOff x="1435100" y="3159125"/>
                <a:chExt cx="177800" cy="241300"/>
              </a:xfrm>
            </p:grpSpPr>
            <p:sp>
              <p:nvSpPr>
                <p:cNvPr id="27" name="Freeform 27"/>
                <p:cNvSpPr/>
                <p:nvPr/>
              </p:nvSpPr>
              <p:spPr>
                <a:xfrm>
                  <a:off x="1447800" y="3184525"/>
                  <a:ext cx="152400" cy="101600"/>
                </a:xfrm>
                <a:custGeom>
                  <a:avLst/>
                  <a:gdLst/>
                  <a:ahLst/>
                  <a:cxnLst/>
                  <a:rect l="l" t="t" r="r" b="b"/>
                  <a:pathLst>
                    <a:path w="152400" h="101600">
                      <a:moveTo>
                        <a:pt x="0" y="25400"/>
                      </a:moveTo>
                      <a:cubicBezTo>
                        <a:pt x="0" y="11372"/>
                        <a:pt x="11372" y="0"/>
                        <a:pt x="25400" y="0"/>
                      </a:cubicBezTo>
                      <a:lnTo>
                        <a:pt x="127000" y="0"/>
                      </a:lnTo>
                      <a:cubicBezTo>
                        <a:pt x="141028" y="0"/>
                        <a:pt x="152400" y="11372"/>
                        <a:pt x="152400" y="25400"/>
                      </a:cubicBezTo>
                      <a:lnTo>
                        <a:pt x="152400" y="76200"/>
                      </a:lnTo>
                      <a:cubicBezTo>
                        <a:pt x="152400" y="90228"/>
                        <a:pt x="141028" y="101600"/>
                        <a:pt x="127000" y="101600"/>
                      </a:cubicBezTo>
                      <a:lnTo>
                        <a:pt x="25400" y="101600"/>
                      </a:lnTo>
                      <a:cubicBezTo>
                        <a:pt x="11372" y="101600"/>
                        <a:pt x="0" y="90228"/>
                        <a:pt x="0" y="76200"/>
                      </a:cubicBezTo>
                      <a:lnTo>
                        <a:pt x="0" y="25400"/>
                      </a:lnTo>
                    </a:path>
                  </a:pathLst>
                </a:custGeom>
                <a:noFill/>
                <a:ln w="19050">
                  <a:solidFill>
                    <a:srgbClr val="FFFFFF"/>
                  </a:solidFill>
                </a:ln>
              </p:spPr>
            </p:sp>
            <p:sp>
              <p:nvSpPr>
                <p:cNvPr id="28" name="Freeform 28"/>
                <p:cNvSpPr/>
                <p:nvPr/>
              </p:nvSpPr>
              <p:spPr>
                <a:xfrm>
                  <a:off x="1524000" y="3159125"/>
                  <a:ext cx="9525" cy="25400"/>
                </a:xfrm>
                <a:custGeom>
                  <a:avLst/>
                  <a:gdLst/>
                  <a:ahLst/>
                  <a:cxnLst/>
                  <a:rect l="l" t="t" r="r" b="b"/>
                  <a:pathLst>
                    <a:path w="9525" h="25400">
                      <a:moveTo>
                        <a:pt x="0" y="0"/>
                      </a:moveTo>
                      <a:lnTo>
                        <a:pt x="0" y="25400"/>
                      </a:lnTo>
                    </a:path>
                  </a:pathLst>
                </a:custGeom>
                <a:noFill/>
                <a:ln w="19050">
                  <a:solidFill>
                    <a:srgbClr val="FFFFFF"/>
                  </a:solidFill>
                </a:ln>
              </p:spPr>
            </p:sp>
            <p:sp>
              <p:nvSpPr>
                <p:cNvPr id="29" name="Freeform 29"/>
                <p:cNvSpPr/>
                <p:nvPr/>
              </p:nvSpPr>
              <p:spPr>
                <a:xfrm>
                  <a:off x="1485900" y="3286125"/>
                  <a:ext cx="9525" cy="114300"/>
                </a:xfrm>
                <a:custGeom>
                  <a:avLst/>
                  <a:gdLst/>
                  <a:ahLst/>
                  <a:cxnLst/>
                  <a:rect l="l" t="t" r="r" b="b"/>
                  <a:pathLst>
                    <a:path w="9525" h="114300">
                      <a:moveTo>
                        <a:pt x="0" y="0"/>
                      </a:moveTo>
                      <a:lnTo>
                        <a:pt x="0" y="114300"/>
                      </a:lnTo>
                    </a:path>
                  </a:pathLst>
                </a:custGeom>
                <a:noFill/>
                <a:ln w="19050">
                  <a:solidFill>
                    <a:srgbClr val="FFFFFF"/>
                  </a:solidFill>
                </a:ln>
              </p:spPr>
            </p:sp>
            <p:sp>
              <p:nvSpPr>
                <p:cNvPr id="30" name="Freeform 30"/>
                <p:cNvSpPr/>
                <p:nvPr/>
              </p:nvSpPr>
              <p:spPr>
                <a:xfrm>
                  <a:off x="1562100" y="3286125"/>
                  <a:ext cx="9525" cy="114300"/>
                </a:xfrm>
                <a:custGeom>
                  <a:avLst/>
                  <a:gdLst/>
                  <a:ahLst/>
                  <a:cxnLst/>
                  <a:rect l="l" t="t" r="r" b="b"/>
                  <a:pathLst>
                    <a:path w="9525" h="114300">
                      <a:moveTo>
                        <a:pt x="0" y="0"/>
                      </a:moveTo>
                      <a:lnTo>
                        <a:pt x="0" y="114300"/>
                      </a:lnTo>
                    </a:path>
                  </a:pathLst>
                </a:custGeom>
                <a:noFill/>
                <a:ln w="19050">
                  <a:solidFill>
                    <a:srgbClr val="FFFFFF"/>
                  </a:solidFill>
                </a:ln>
              </p:spPr>
            </p:sp>
            <p:sp>
              <p:nvSpPr>
                <p:cNvPr id="31" name="Freeform 31"/>
                <p:cNvSpPr/>
                <p:nvPr/>
              </p:nvSpPr>
              <p:spPr>
                <a:xfrm>
                  <a:off x="1435100" y="3311525"/>
                  <a:ext cx="50800" cy="25400"/>
                </a:xfrm>
                <a:custGeom>
                  <a:avLst/>
                  <a:gdLst/>
                  <a:ahLst/>
                  <a:cxnLst/>
                  <a:rect l="l" t="t" r="r" b="b"/>
                  <a:pathLst>
                    <a:path w="50800" h="25400">
                      <a:moveTo>
                        <a:pt x="0" y="25400"/>
                      </a:moveTo>
                      <a:lnTo>
                        <a:pt x="50800" y="0"/>
                      </a:lnTo>
                    </a:path>
                  </a:pathLst>
                </a:custGeom>
                <a:noFill/>
                <a:ln w="19050">
                  <a:solidFill>
                    <a:srgbClr val="FFFFFF"/>
                  </a:solidFill>
                </a:ln>
              </p:spPr>
            </p:sp>
            <p:sp>
              <p:nvSpPr>
                <p:cNvPr id="32" name="Freeform 32"/>
                <p:cNvSpPr/>
                <p:nvPr/>
              </p:nvSpPr>
              <p:spPr>
                <a:xfrm>
                  <a:off x="1562100" y="3311525"/>
                  <a:ext cx="50800" cy="25400"/>
                </a:xfrm>
                <a:custGeom>
                  <a:avLst/>
                  <a:gdLst/>
                  <a:ahLst/>
                  <a:cxnLst/>
                  <a:rect l="l" t="t" r="r" b="b"/>
                  <a:pathLst>
                    <a:path w="50800" h="25400">
                      <a:moveTo>
                        <a:pt x="0" y="0"/>
                      </a:moveTo>
                      <a:lnTo>
                        <a:pt x="50800" y="25400"/>
                      </a:lnTo>
                    </a:path>
                  </a:pathLst>
                </a:custGeom>
                <a:noFill/>
                <a:ln w="19050">
                  <a:solidFill>
                    <a:srgbClr val="FFFFFF"/>
                  </a:solidFill>
                </a:ln>
              </p:spPr>
            </p:sp>
            <p:sp>
              <p:nvSpPr>
                <p:cNvPr id="33" name="Freeform 33"/>
                <p:cNvSpPr/>
                <p:nvPr/>
              </p:nvSpPr>
              <p:spPr>
                <a:xfrm>
                  <a:off x="1485900" y="3362325"/>
                  <a:ext cx="76200" cy="9525"/>
                </a:xfrm>
                <a:custGeom>
                  <a:avLst/>
                  <a:gdLst/>
                  <a:ahLst/>
                  <a:cxnLst/>
                  <a:rect l="l" t="t" r="r" b="b"/>
                  <a:pathLst>
                    <a:path w="76200" h="9525">
                      <a:moveTo>
                        <a:pt x="0" y="0"/>
                      </a:moveTo>
                      <a:lnTo>
                        <a:pt x="76200" y="0"/>
                      </a:lnTo>
                    </a:path>
                  </a:pathLst>
                </a:custGeom>
                <a:noFill/>
                <a:ln w="19050">
                  <a:solidFill>
                    <a:srgbClr val="FFFFFF"/>
                  </a:solidFill>
                </a:ln>
              </p:spPr>
            </p:sp>
            <p:sp>
              <p:nvSpPr>
                <p:cNvPr id="34" name="Freeform 34"/>
                <p:cNvSpPr/>
                <p:nvPr/>
              </p:nvSpPr>
              <p:spPr>
                <a:xfrm>
                  <a:off x="1498600" y="3235325"/>
                  <a:ext cx="9525" cy="9525"/>
                </a:xfrm>
                <a:custGeom>
                  <a:avLst/>
                  <a:gdLst/>
                  <a:ahLst/>
                  <a:cxnLst/>
                  <a:rect l="l" t="t" r="r" b="b"/>
                  <a:pathLst>
                    <a:path w="9525" h="9525">
                      <a:moveTo>
                        <a:pt x="0" y="0"/>
                      </a:moveTo>
                      <a:lnTo>
                        <a:pt x="0" y="127"/>
                      </a:lnTo>
                    </a:path>
                  </a:pathLst>
                </a:custGeom>
                <a:noFill/>
                <a:ln w="19050">
                  <a:solidFill>
                    <a:srgbClr val="FFFFFF"/>
                  </a:solidFill>
                </a:ln>
              </p:spPr>
            </p:sp>
            <p:sp>
              <p:nvSpPr>
                <p:cNvPr id="35" name="Freeform 35"/>
                <p:cNvSpPr/>
                <p:nvPr/>
              </p:nvSpPr>
              <p:spPr>
                <a:xfrm>
                  <a:off x="1549400" y="3235325"/>
                  <a:ext cx="9525" cy="9525"/>
                </a:xfrm>
                <a:custGeom>
                  <a:avLst/>
                  <a:gdLst/>
                  <a:ahLst/>
                  <a:cxnLst/>
                  <a:rect l="l" t="t" r="r" b="b"/>
                  <a:pathLst>
                    <a:path w="9525" h="9525">
                      <a:moveTo>
                        <a:pt x="0" y="0"/>
                      </a:moveTo>
                      <a:lnTo>
                        <a:pt x="0" y="127"/>
                      </a:lnTo>
                    </a:path>
                  </a:pathLst>
                </a:custGeom>
                <a:noFill/>
                <a:ln w="19050">
                  <a:solidFill>
                    <a:srgbClr val="FFFFFF"/>
                  </a:solidFill>
                </a:ln>
              </p:spPr>
            </p:sp>
          </p:grpSp>
          <p:sp>
            <p:nvSpPr>
              <p:cNvPr id="37" name="TextBox 37"/>
              <p:cNvSpPr txBox="1"/>
              <p:nvPr/>
            </p:nvSpPr>
            <p:spPr>
              <a:xfrm>
                <a:off x="1893570" y="3074670"/>
                <a:ext cx="766353" cy="182880"/>
              </a:xfrm>
              <a:prstGeom prst="rect">
                <a:avLst/>
              </a:prstGeom>
              <a:noFill/>
              <a:ln>
                <a:noFill/>
              </a:ln>
            </p:spPr>
            <p:txBody>
              <a:bodyPr wrap="none" lIns="0" tIns="0" rIns="0" bIns="0" anchor="t" anchorCtr="0">
                <a:spAutoFit/>
              </a:bodyPr>
              <a:lstStyle/>
              <a:p>
                <a:pPr algn="l"/>
                <a:r>
                  <a:rPr lang="zh-CN" sz="900" b="1" dirty="0">
                    <a:solidFill>
                      <a:srgbClr val="1565C0"/>
                    </a:solidFill>
                    <a:latin typeface="Arial"/>
                    <a:ea typeface="Microsoft YaHei"/>
                    <a:cs typeface="Arial"/>
                  </a:rPr>
                  <a:t>小营 · AGENT</a:t>
                </a:r>
              </a:p>
            </p:txBody>
          </p:sp>
          <p:sp>
            <p:nvSpPr>
              <p:cNvPr id="38" name="TextBox 38"/>
              <p:cNvSpPr txBox="1"/>
              <p:nvPr/>
            </p:nvSpPr>
            <p:spPr>
              <a:xfrm>
                <a:off x="1892618" y="3276124"/>
                <a:ext cx="2837016"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[分析完成] 总热量 874.7 kcal, 占每日 43.7%</a:t>
                </a:r>
              </a:p>
            </p:txBody>
          </p:sp>
          <p:sp>
            <p:nvSpPr>
              <p:cNvPr id="39" name="TextBox 39"/>
              <p:cNvSpPr txBox="1"/>
              <p:nvPr/>
            </p:nvSpPr>
            <p:spPr>
              <a:xfrm>
                <a:off x="1893570" y="3474720"/>
                <a:ext cx="3005233"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鸡肉松: 90g · 395.8 kcal · 米饭: 412.9g · 478.9 kcal</a:t>
                </a:r>
              </a:p>
            </p:txBody>
          </p:sp>
        </p:grpSp>
      </p:grpSp>
      <p:grpSp>
        <p:nvGrpSpPr>
          <p:cNvPr id="70" name="Group 70"/>
          <p:cNvGrpSpPr/>
          <p:nvPr/>
        </p:nvGrpSpPr>
        <p:grpSpPr>
          <a:xfrm>
            <a:off x="488559" y="3429000"/>
            <a:ext cx="10369941" cy="1619250"/>
            <a:chOff x="488559" y="3429000"/>
            <a:chExt cx="10369941" cy="1619250"/>
          </a:xfrm>
        </p:grpSpPr>
        <p:sp>
          <p:nvSpPr>
            <p:cNvPr id="42" name="TextBox 42"/>
            <p:cNvSpPr txBox="1"/>
            <p:nvPr/>
          </p:nvSpPr>
          <p:spPr>
            <a:xfrm>
              <a:off x="488559" y="3920794"/>
              <a:ext cx="1570363" cy="213360"/>
            </a:xfrm>
            <a:prstGeom prst="rect">
              <a:avLst/>
            </a:prstGeom>
            <a:noFill/>
            <a:ln>
              <a:noFill/>
            </a:ln>
          </p:spPr>
          <p:txBody>
            <a:bodyPr wrap="none" lIns="0" tIns="0" rIns="0" bIns="0" anchor="t" anchorCtr="0">
              <a:spAutoFit/>
            </a:bodyPr>
            <a:lstStyle/>
            <a:p>
              <a:pPr algn="l"/>
              <a:r>
                <a:rPr lang="zh-CN" sz="1050" b="1" dirty="0">
                  <a:solidFill>
                    <a:srgbClr val="FF8F00"/>
                  </a:solidFill>
                  <a:latin typeface="Cambria"/>
                  <a:ea typeface="SimSun"/>
                  <a:cs typeface="Cambria"/>
                </a:rPr>
                <a:t>ROUND 02 · 上下文问答</a:t>
              </a:r>
            </a:p>
          </p:txBody>
        </p:sp>
        <p:grpSp>
          <p:nvGrpSpPr>
            <p:cNvPr id="52" name="Group 52"/>
            <p:cNvGrpSpPr/>
            <p:nvPr/>
          </p:nvGrpSpPr>
          <p:grpSpPr>
            <a:xfrm>
              <a:off x="7239000" y="3429000"/>
              <a:ext cx="3619500" cy="533400"/>
              <a:chOff x="7239000" y="3429000"/>
              <a:chExt cx="3619500" cy="533400"/>
            </a:xfrm>
          </p:grpSpPr>
          <p:sp>
            <p:nvSpPr>
              <p:cNvPr id="43" name="Rectangle 43"/>
              <p:cNvSpPr/>
              <p:nvPr/>
            </p:nvSpPr>
            <p:spPr>
              <a:xfrm>
                <a:off x="7239000" y="3429000"/>
                <a:ext cx="3619500" cy="533400"/>
              </a:xfrm>
              <a:prstGeom prst="roundRect">
                <a:avLst>
                  <a:gd name="adj" fmla="val 50000"/>
                </a:avLst>
              </a:prstGeom>
              <a:gradFill>
                <a:gsLst>
                  <a:gs pos="0">
                    <a:srgbClr val="5C6BC0"/>
                  </a:gs>
                  <a:gs pos="100000">
                    <a:srgbClr val="1565C0"/>
                  </a:gs>
                </a:gsLst>
                <a:lin ang="5400000" scaled="1"/>
              </a:gradFill>
              <a:ln>
                <a:noFill/>
              </a:ln>
              <a:effectLst>
                <a:outerShdw blurRad="95250" dist="28575" dir="5400000" algn="ctr" rotWithShape="0">
                  <a:srgbClr val="0F172A">
                    <a:alpha val="7500"/>
                  </a:srgbClr>
                </a:outerShdw>
              </a:effectLst>
            </p:spPr>
          </p:sp>
          <p:sp>
            <p:nvSpPr>
              <p:cNvPr id="44" name="Ellipse 44"/>
              <p:cNvSpPr/>
              <p:nvPr/>
            </p:nvSpPr>
            <p:spPr>
              <a:xfrm>
                <a:off x="7391400" y="3505200"/>
                <a:ext cx="381000" cy="381000"/>
              </a:xfrm>
              <a:prstGeom prst="ellipse">
                <a:avLst/>
              </a:prstGeom>
              <a:solidFill>
                <a:srgbClr val="FFFFFF">
                  <a:alpha val="20000"/>
                </a:srgbClr>
              </a:solidFill>
              <a:ln>
                <a:noFill/>
              </a:ln>
            </p:spPr>
          </p:sp>
          <p:grpSp>
            <p:nvGrpSpPr>
              <p:cNvPr id="49" name="Group 49"/>
              <p:cNvGrpSpPr/>
              <p:nvPr/>
            </p:nvGrpSpPr>
            <p:grpSpPr>
              <a:xfrm>
                <a:off x="7467600" y="3581400"/>
                <a:ext cx="228600" cy="228600"/>
                <a:chOff x="7467600" y="3581400"/>
                <a:chExt cx="228600" cy="228600"/>
              </a:xfrm>
            </p:grpSpPr>
            <p:sp>
              <p:nvSpPr>
                <p:cNvPr id="45" name="Freeform 45"/>
                <p:cNvSpPr/>
                <p:nvPr/>
              </p:nvSpPr>
              <p:spPr>
                <a:xfrm>
                  <a:off x="7493000" y="358140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19050">
                  <a:solidFill>
                    <a:srgbClr val="FFFFFF"/>
                  </a:solidFill>
                </a:ln>
              </p:spPr>
            </p:sp>
            <p:sp>
              <p:nvSpPr>
                <p:cNvPr id="46" name="Freeform 46"/>
                <p:cNvSpPr/>
                <p:nvPr/>
              </p:nvSpPr>
              <p:spPr>
                <a:xfrm>
                  <a:off x="7467600" y="3733800"/>
                  <a:ext cx="152400" cy="76200"/>
                </a:xfrm>
                <a:custGeom>
                  <a:avLst/>
                  <a:gdLst/>
                  <a:ahLst/>
                  <a:cxnLst/>
                  <a:rect l="l" t="t" r="r" b="b"/>
                  <a:pathLst>
                    <a:path w="152400" h="76200">
                      <a:moveTo>
                        <a:pt x="0" y="76200"/>
                      </a:moveTo>
                      <a:lnTo>
                        <a:pt x="0" y="50800"/>
                      </a:lnTo>
                      <a:cubicBezTo>
                        <a:pt x="0" y="22744"/>
                        <a:pt x="22744" y="0"/>
                        <a:pt x="50800" y="0"/>
                      </a:cubicBezTo>
                      <a:lnTo>
                        <a:pt x="101600" y="0"/>
                      </a:lnTo>
                      <a:cubicBezTo>
                        <a:pt x="129656" y="0"/>
                        <a:pt x="152400" y="22744"/>
                        <a:pt x="152400" y="50800"/>
                      </a:cubicBezTo>
                      <a:lnTo>
                        <a:pt x="152400" y="76200"/>
                      </a:lnTo>
                    </a:path>
                  </a:pathLst>
                </a:custGeom>
                <a:noFill/>
                <a:ln w="19050">
                  <a:solidFill>
                    <a:srgbClr val="FFFFFF"/>
                  </a:solidFill>
                </a:ln>
              </p:spPr>
            </p:sp>
            <p:sp>
              <p:nvSpPr>
                <p:cNvPr id="47" name="Freeform 47"/>
                <p:cNvSpPr/>
                <p:nvPr/>
              </p:nvSpPr>
              <p:spPr>
                <a:xfrm>
                  <a:off x="7632700" y="3583051"/>
                  <a:ext cx="38200" cy="98425"/>
                </a:xfrm>
                <a:custGeom>
                  <a:avLst/>
                  <a:gdLst/>
                  <a:ahLst/>
                  <a:cxnLst/>
                  <a:rect l="l" t="t" r="r" b="b"/>
                  <a:pathLst>
                    <a:path w="38200" h="98425">
                      <a:moveTo>
                        <a:pt x="0" y="0"/>
                      </a:moveTo>
                      <a:cubicBezTo>
                        <a:pt x="22478" y="5755"/>
                        <a:pt x="38200" y="26009"/>
                        <a:pt x="38200" y="49212"/>
                      </a:cubicBezTo>
                      <a:cubicBezTo>
                        <a:pt x="38200" y="72416"/>
                        <a:pt x="22478" y="92670"/>
                        <a:pt x="0" y="98425"/>
                      </a:cubicBezTo>
                    </a:path>
                  </a:pathLst>
                </a:custGeom>
                <a:noFill/>
                <a:ln w="19050">
                  <a:solidFill>
                    <a:srgbClr val="FFFFFF"/>
                  </a:solidFill>
                </a:ln>
              </p:spPr>
            </p:sp>
            <p:sp>
              <p:nvSpPr>
                <p:cNvPr id="48" name="Freeform 48"/>
                <p:cNvSpPr/>
                <p:nvPr/>
              </p:nvSpPr>
              <p:spPr>
                <a:xfrm>
                  <a:off x="7658100" y="3735705"/>
                  <a:ext cx="38100" cy="74295"/>
                </a:xfrm>
                <a:custGeom>
                  <a:avLst/>
                  <a:gdLst/>
                  <a:ahLst/>
                  <a:cxnLst/>
                  <a:rect l="l" t="t" r="r" b="b"/>
                  <a:pathLst>
                    <a:path w="38100" h="74295">
                      <a:moveTo>
                        <a:pt x="38100" y="74295"/>
                      </a:moveTo>
                      <a:lnTo>
                        <a:pt x="38100" y="48895"/>
                      </a:lnTo>
                      <a:cubicBezTo>
                        <a:pt x="37967" y="25839"/>
                        <a:pt x="22324" y="5764"/>
                        <a:pt x="0" y="0"/>
                      </a:cubicBezTo>
                    </a:path>
                  </a:pathLst>
                </a:custGeom>
                <a:noFill/>
                <a:ln w="19050">
                  <a:solidFill>
                    <a:srgbClr val="FFFFFF"/>
                  </a:solidFill>
                </a:ln>
              </p:spPr>
            </p:sp>
          </p:grpSp>
          <p:sp>
            <p:nvSpPr>
              <p:cNvPr id="50" name="TextBox 50"/>
              <p:cNvSpPr txBox="1"/>
              <p:nvPr/>
            </p:nvSpPr>
            <p:spPr>
              <a:xfrm>
                <a:off x="7932420" y="3560445"/>
                <a:ext cx="300095" cy="182880"/>
              </a:xfrm>
              <a:prstGeom prst="rect">
                <a:avLst/>
              </a:prstGeom>
              <a:noFill/>
              <a:ln>
                <a:noFill/>
              </a:ln>
            </p:spPr>
            <p:txBody>
              <a:bodyPr wrap="none" lIns="0" tIns="0" rIns="0" bIns="0" anchor="t" anchorCtr="0">
                <a:spAutoFit/>
              </a:bodyPr>
              <a:lstStyle/>
              <a:p>
                <a:pPr algn="l"/>
                <a:r>
                  <a:rPr lang="zh-CN" sz="900" b="1" dirty="0">
                    <a:solidFill>
                      <a:srgbClr val="FFFFFF">
                        <a:alphaMod val="85000"/>
                      </a:srgbClr>
                    </a:solidFill>
                    <a:latin typeface="Arial"/>
                    <a:ea typeface="Microsoft YaHei"/>
                    <a:cs typeface="Arial"/>
                  </a:rPr>
                  <a:t>USER</a:t>
                </a:r>
              </a:p>
            </p:txBody>
          </p:sp>
          <p:sp>
            <p:nvSpPr>
              <p:cNvPr id="51" name="TextBox 51"/>
              <p:cNvSpPr txBox="1"/>
              <p:nvPr/>
            </p:nvSpPr>
            <p:spPr>
              <a:xfrm>
                <a:off x="7931468" y="3742849"/>
                <a:ext cx="91895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这些热量高吗?</a:t>
                </a:r>
              </a:p>
            </p:txBody>
          </p:sp>
        </p:grpSp>
        <p:sp>
          <p:nvSpPr>
            <p:cNvPr id="53" name="Freeform 53"/>
            <p:cNvSpPr/>
            <p:nvPr/>
          </p:nvSpPr>
          <p:spPr>
            <a:xfrm>
              <a:off x="9001125" y="4067175"/>
              <a:ext cx="142875" cy="190500"/>
            </a:xfrm>
            <a:custGeom>
              <a:avLst/>
              <a:gdLst/>
              <a:ahLst/>
              <a:cxnLst/>
              <a:rect l="l" t="t" r="r" b="b"/>
              <a:pathLst>
                <a:path w="142875" h="190500">
                  <a:moveTo>
                    <a:pt x="47625" y="0"/>
                  </a:moveTo>
                  <a:lnTo>
                    <a:pt x="47625" y="95250"/>
                  </a:lnTo>
                  <a:lnTo>
                    <a:pt x="0" y="95250"/>
                  </a:lnTo>
                  <a:lnTo>
                    <a:pt x="47625" y="190500"/>
                  </a:lnTo>
                  <a:lnTo>
                    <a:pt x="95250" y="95250"/>
                  </a:lnTo>
                  <a:lnTo>
                    <a:pt x="142875" y="95250"/>
                  </a:lnTo>
                  <a:lnTo>
                    <a:pt x="142875" y="0"/>
                  </a:lnTo>
                  <a:close/>
                </a:path>
              </a:pathLst>
            </a:custGeom>
            <a:solidFill>
              <a:srgbClr val="9AA0A6"/>
            </a:solidFill>
            <a:ln>
              <a:noFill/>
            </a:ln>
          </p:spPr>
        </p:sp>
        <p:grpSp>
          <p:nvGrpSpPr>
            <p:cNvPr id="69" name="Group 69"/>
            <p:cNvGrpSpPr/>
            <p:nvPr/>
          </p:nvGrpSpPr>
          <p:grpSpPr>
            <a:xfrm>
              <a:off x="1143000" y="4286250"/>
              <a:ext cx="7429500" cy="762000"/>
              <a:chOff x="1143000" y="4286250"/>
              <a:chExt cx="7429500" cy="762000"/>
            </a:xfrm>
          </p:grpSpPr>
          <p:sp>
            <p:nvSpPr>
              <p:cNvPr id="54" name="Rectangle 54"/>
              <p:cNvSpPr/>
              <p:nvPr/>
            </p:nvSpPr>
            <p:spPr>
              <a:xfrm>
                <a:off x="1143000" y="4286250"/>
                <a:ext cx="7429500" cy="762000"/>
              </a:xfrm>
              <a:prstGeom prst="roundRect">
                <a:avLst>
                  <a:gd name="adj" fmla="val 17500"/>
                </a:avLst>
              </a:prstGeom>
              <a:gradFill>
                <a:gsLst>
                  <a:gs pos="0">
                    <a:srgbClr val="FFFFFF"/>
                  </a:gs>
                  <a:gs pos="100000">
                    <a:srgbClr val="F5F7FA"/>
                  </a:gs>
                </a:gsLst>
                <a:lin ang="5400000" scaled="1"/>
              </a:gradFill>
              <a:ln w="14288">
                <a:solidFill>
                  <a:srgbClr val="E0E0E0"/>
                </a:solidFill>
              </a:ln>
              <a:effectLst>
                <a:outerShdw blurRad="95250" dist="28575" dir="5400000" algn="ctr" rotWithShape="0">
                  <a:srgbClr val="0F172A">
                    <a:alpha val="7500"/>
                  </a:srgbClr>
                </a:outerShdw>
              </a:effectLst>
            </p:spPr>
          </p:sp>
          <p:sp>
            <p:nvSpPr>
              <p:cNvPr id="55" name="Ellipse 55"/>
              <p:cNvSpPr/>
              <p:nvPr/>
            </p:nvSpPr>
            <p:spPr>
              <a:xfrm>
                <a:off x="1295400" y="4438650"/>
                <a:ext cx="457200" cy="457200"/>
              </a:xfrm>
              <a:prstGeom prst="ellipse">
                <a:avLst/>
              </a:prstGeom>
              <a:solidFill>
                <a:srgbClr val="1565C0"/>
              </a:solidFill>
              <a:ln>
                <a:noFill/>
              </a:ln>
            </p:spPr>
          </p:sp>
          <p:grpSp>
            <p:nvGrpSpPr>
              <p:cNvPr id="65" name="Group 65"/>
              <p:cNvGrpSpPr/>
              <p:nvPr/>
            </p:nvGrpSpPr>
            <p:grpSpPr>
              <a:xfrm>
                <a:off x="1435100" y="4540250"/>
                <a:ext cx="177800" cy="241300"/>
                <a:chOff x="1435100" y="4540250"/>
                <a:chExt cx="177800" cy="241300"/>
              </a:xfrm>
            </p:grpSpPr>
            <p:sp>
              <p:nvSpPr>
                <p:cNvPr id="56" name="Freeform 56"/>
                <p:cNvSpPr/>
                <p:nvPr/>
              </p:nvSpPr>
              <p:spPr>
                <a:xfrm>
                  <a:off x="1447800" y="4565650"/>
                  <a:ext cx="152400" cy="101600"/>
                </a:xfrm>
                <a:custGeom>
                  <a:avLst/>
                  <a:gdLst/>
                  <a:ahLst/>
                  <a:cxnLst/>
                  <a:rect l="l" t="t" r="r" b="b"/>
                  <a:pathLst>
                    <a:path w="152400" h="101600">
                      <a:moveTo>
                        <a:pt x="0" y="25400"/>
                      </a:moveTo>
                      <a:cubicBezTo>
                        <a:pt x="0" y="11372"/>
                        <a:pt x="11372" y="0"/>
                        <a:pt x="25400" y="0"/>
                      </a:cubicBezTo>
                      <a:lnTo>
                        <a:pt x="127000" y="0"/>
                      </a:lnTo>
                      <a:cubicBezTo>
                        <a:pt x="141028" y="0"/>
                        <a:pt x="152400" y="11372"/>
                        <a:pt x="152400" y="25400"/>
                      </a:cubicBezTo>
                      <a:lnTo>
                        <a:pt x="152400" y="76200"/>
                      </a:lnTo>
                      <a:cubicBezTo>
                        <a:pt x="152400" y="90228"/>
                        <a:pt x="141028" y="101600"/>
                        <a:pt x="127000" y="101600"/>
                      </a:cubicBezTo>
                      <a:lnTo>
                        <a:pt x="25400" y="101600"/>
                      </a:lnTo>
                      <a:cubicBezTo>
                        <a:pt x="11372" y="101600"/>
                        <a:pt x="0" y="90228"/>
                        <a:pt x="0" y="76200"/>
                      </a:cubicBezTo>
                      <a:lnTo>
                        <a:pt x="0" y="25400"/>
                      </a:lnTo>
                    </a:path>
                  </a:pathLst>
                </a:custGeom>
                <a:noFill/>
                <a:ln w="19050">
                  <a:solidFill>
                    <a:srgbClr val="FFFFFF"/>
                  </a:solidFill>
                </a:ln>
              </p:spPr>
            </p:sp>
            <p:sp>
              <p:nvSpPr>
                <p:cNvPr id="57" name="Freeform 57"/>
                <p:cNvSpPr/>
                <p:nvPr/>
              </p:nvSpPr>
              <p:spPr>
                <a:xfrm>
                  <a:off x="1524000" y="4540250"/>
                  <a:ext cx="9525" cy="25400"/>
                </a:xfrm>
                <a:custGeom>
                  <a:avLst/>
                  <a:gdLst/>
                  <a:ahLst/>
                  <a:cxnLst/>
                  <a:rect l="l" t="t" r="r" b="b"/>
                  <a:pathLst>
                    <a:path w="9525" h="25400">
                      <a:moveTo>
                        <a:pt x="0" y="0"/>
                      </a:moveTo>
                      <a:lnTo>
                        <a:pt x="0" y="25400"/>
                      </a:lnTo>
                    </a:path>
                  </a:pathLst>
                </a:custGeom>
                <a:noFill/>
                <a:ln w="19050">
                  <a:solidFill>
                    <a:srgbClr val="FFFFFF"/>
                  </a:solidFill>
                </a:ln>
              </p:spPr>
            </p:sp>
            <p:sp>
              <p:nvSpPr>
                <p:cNvPr id="58" name="Freeform 58"/>
                <p:cNvSpPr/>
                <p:nvPr/>
              </p:nvSpPr>
              <p:spPr>
                <a:xfrm>
                  <a:off x="1485900" y="4667250"/>
                  <a:ext cx="9525" cy="114300"/>
                </a:xfrm>
                <a:custGeom>
                  <a:avLst/>
                  <a:gdLst/>
                  <a:ahLst/>
                  <a:cxnLst/>
                  <a:rect l="l" t="t" r="r" b="b"/>
                  <a:pathLst>
                    <a:path w="9525" h="114300">
                      <a:moveTo>
                        <a:pt x="0" y="0"/>
                      </a:moveTo>
                      <a:lnTo>
                        <a:pt x="0" y="114300"/>
                      </a:lnTo>
                    </a:path>
                  </a:pathLst>
                </a:custGeom>
                <a:noFill/>
                <a:ln w="19050">
                  <a:solidFill>
                    <a:srgbClr val="FFFFFF"/>
                  </a:solidFill>
                </a:ln>
              </p:spPr>
            </p:sp>
            <p:sp>
              <p:nvSpPr>
                <p:cNvPr id="59" name="Freeform 59"/>
                <p:cNvSpPr/>
                <p:nvPr/>
              </p:nvSpPr>
              <p:spPr>
                <a:xfrm>
                  <a:off x="1562100" y="4667250"/>
                  <a:ext cx="9525" cy="114300"/>
                </a:xfrm>
                <a:custGeom>
                  <a:avLst/>
                  <a:gdLst/>
                  <a:ahLst/>
                  <a:cxnLst/>
                  <a:rect l="l" t="t" r="r" b="b"/>
                  <a:pathLst>
                    <a:path w="9525" h="114300">
                      <a:moveTo>
                        <a:pt x="0" y="0"/>
                      </a:moveTo>
                      <a:lnTo>
                        <a:pt x="0" y="114300"/>
                      </a:lnTo>
                    </a:path>
                  </a:pathLst>
                </a:custGeom>
                <a:noFill/>
                <a:ln w="19050">
                  <a:solidFill>
                    <a:srgbClr val="FFFFFF"/>
                  </a:solidFill>
                </a:ln>
              </p:spPr>
            </p:sp>
            <p:sp>
              <p:nvSpPr>
                <p:cNvPr id="60" name="Freeform 60"/>
                <p:cNvSpPr/>
                <p:nvPr/>
              </p:nvSpPr>
              <p:spPr>
                <a:xfrm>
                  <a:off x="1435100" y="4692650"/>
                  <a:ext cx="50800" cy="25400"/>
                </a:xfrm>
                <a:custGeom>
                  <a:avLst/>
                  <a:gdLst/>
                  <a:ahLst/>
                  <a:cxnLst/>
                  <a:rect l="l" t="t" r="r" b="b"/>
                  <a:pathLst>
                    <a:path w="50800" h="25400">
                      <a:moveTo>
                        <a:pt x="0" y="25400"/>
                      </a:moveTo>
                      <a:lnTo>
                        <a:pt x="50800" y="0"/>
                      </a:lnTo>
                    </a:path>
                  </a:pathLst>
                </a:custGeom>
                <a:noFill/>
                <a:ln w="19050">
                  <a:solidFill>
                    <a:srgbClr val="FFFFFF"/>
                  </a:solidFill>
                </a:ln>
              </p:spPr>
            </p:sp>
            <p:sp>
              <p:nvSpPr>
                <p:cNvPr id="61" name="Freeform 61"/>
                <p:cNvSpPr/>
                <p:nvPr/>
              </p:nvSpPr>
              <p:spPr>
                <a:xfrm>
                  <a:off x="1562100" y="4692650"/>
                  <a:ext cx="50800" cy="25400"/>
                </a:xfrm>
                <a:custGeom>
                  <a:avLst/>
                  <a:gdLst/>
                  <a:ahLst/>
                  <a:cxnLst/>
                  <a:rect l="l" t="t" r="r" b="b"/>
                  <a:pathLst>
                    <a:path w="50800" h="25400">
                      <a:moveTo>
                        <a:pt x="0" y="0"/>
                      </a:moveTo>
                      <a:lnTo>
                        <a:pt x="50800" y="25400"/>
                      </a:lnTo>
                    </a:path>
                  </a:pathLst>
                </a:custGeom>
                <a:noFill/>
                <a:ln w="19050">
                  <a:solidFill>
                    <a:srgbClr val="FFFFFF"/>
                  </a:solidFill>
                </a:ln>
              </p:spPr>
            </p:sp>
            <p:sp>
              <p:nvSpPr>
                <p:cNvPr id="62" name="Freeform 62"/>
                <p:cNvSpPr/>
                <p:nvPr/>
              </p:nvSpPr>
              <p:spPr>
                <a:xfrm>
                  <a:off x="1485900" y="4743450"/>
                  <a:ext cx="76200" cy="9525"/>
                </a:xfrm>
                <a:custGeom>
                  <a:avLst/>
                  <a:gdLst/>
                  <a:ahLst/>
                  <a:cxnLst/>
                  <a:rect l="l" t="t" r="r" b="b"/>
                  <a:pathLst>
                    <a:path w="76200" h="9525">
                      <a:moveTo>
                        <a:pt x="0" y="0"/>
                      </a:moveTo>
                      <a:lnTo>
                        <a:pt x="76200" y="0"/>
                      </a:lnTo>
                    </a:path>
                  </a:pathLst>
                </a:custGeom>
                <a:noFill/>
                <a:ln w="19050">
                  <a:solidFill>
                    <a:srgbClr val="FFFFFF"/>
                  </a:solidFill>
                </a:ln>
              </p:spPr>
            </p:sp>
            <p:sp>
              <p:nvSpPr>
                <p:cNvPr id="63" name="Freeform 63"/>
                <p:cNvSpPr/>
                <p:nvPr/>
              </p:nvSpPr>
              <p:spPr>
                <a:xfrm>
                  <a:off x="1498600" y="4616450"/>
                  <a:ext cx="9525" cy="9525"/>
                </a:xfrm>
                <a:custGeom>
                  <a:avLst/>
                  <a:gdLst/>
                  <a:ahLst/>
                  <a:cxnLst/>
                  <a:rect l="l" t="t" r="r" b="b"/>
                  <a:pathLst>
                    <a:path w="9525" h="9525">
                      <a:moveTo>
                        <a:pt x="0" y="0"/>
                      </a:moveTo>
                      <a:lnTo>
                        <a:pt x="0" y="127"/>
                      </a:lnTo>
                    </a:path>
                  </a:pathLst>
                </a:custGeom>
                <a:noFill/>
                <a:ln w="19050">
                  <a:solidFill>
                    <a:srgbClr val="FFFFFF"/>
                  </a:solidFill>
                </a:ln>
              </p:spPr>
            </p:sp>
            <p:sp>
              <p:nvSpPr>
                <p:cNvPr id="64" name="Freeform 64"/>
                <p:cNvSpPr/>
                <p:nvPr/>
              </p:nvSpPr>
              <p:spPr>
                <a:xfrm>
                  <a:off x="1549400" y="4616450"/>
                  <a:ext cx="9525" cy="9525"/>
                </a:xfrm>
                <a:custGeom>
                  <a:avLst/>
                  <a:gdLst/>
                  <a:ahLst/>
                  <a:cxnLst/>
                  <a:rect l="l" t="t" r="r" b="b"/>
                  <a:pathLst>
                    <a:path w="9525" h="9525">
                      <a:moveTo>
                        <a:pt x="0" y="0"/>
                      </a:moveTo>
                      <a:lnTo>
                        <a:pt x="0" y="127"/>
                      </a:lnTo>
                    </a:path>
                  </a:pathLst>
                </a:custGeom>
                <a:noFill/>
                <a:ln w="19050">
                  <a:solidFill>
                    <a:srgbClr val="FFFFFF"/>
                  </a:solidFill>
                </a:ln>
              </p:spPr>
            </p:sp>
          </p:grpSp>
          <p:sp>
            <p:nvSpPr>
              <p:cNvPr id="66" name="TextBox 66"/>
              <p:cNvSpPr txBox="1"/>
              <p:nvPr/>
            </p:nvSpPr>
            <p:spPr>
              <a:xfrm>
                <a:off x="1893570" y="4455795"/>
                <a:ext cx="766353" cy="182880"/>
              </a:xfrm>
              <a:prstGeom prst="rect">
                <a:avLst/>
              </a:prstGeom>
              <a:noFill/>
              <a:ln>
                <a:noFill/>
              </a:ln>
            </p:spPr>
            <p:txBody>
              <a:bodyPr wrap="none" lIns="0" tIns="0" rIns="0" bIns="0" anchor="t" anchorCtr="0">
                <a:spAutoFit/>
              </a:bodyPr>
              <a:lstStyle/>
              <a:p>
                <a:pPr algn="l"/>
                <a:r>
                  <a:rPr lang="zh-CN" sz="900" b="1" dirty="0">
                    <a:solidFill>
                      <a:srgbClr val="1565C0"/>
                    </a:solidFill>
                    <a:latin typeface="Arial"/>
                    <a:ea typeface="Microsoft YaHei"/>
                    <a:cs typeface="Arial"/>
                  </a:rPr>
                  <a:t>小营 · AGENT</a:t>
                </a:r>
              </a:p>
            </p:txBody>
          </p:sp>
          <p:sp>
            <p:nvSpPr>
              <p:cNvPr id="67" name="TextBox 67"/>
              <p:cNvSpPr txBox="1"/>
              <p:nvPr/>
            </p:nvSpPr>
            <p:spPr>
              <a:xfrm>
                <a:off x="1892618" y="4657249"/>
                <a:ext cx="2509376"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总热量 874.7 kcal, 占每日需求约 43.7%</a:t>
                </a:r>
              </a:p>
            </p:txBody>
          </p:sp>
          <p:sp>
            <p:nvSpPr>
              <p:cNvPr id="68" name="TextBox 68"/>
              <p:cNvSpPr txBox="1"/>
              <p:nvPr/>
            </p:nvSpPr>
            <p:spPr>
              <a:xfrm>
                <a:off x="1893570" y="4855845"/>
                <a:ext cx="2369153"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属于较高水平,建议搭配低热量菜品平衡摄入</a:t>
                </a:r>
              </a:p>
            </p:txBody>
          </p:sp>
        </p:grpSp>
      </p:grpSp>
      <p:grpSp>
        <p:nvGrpSpPr>
          <p:cNvPr id="99" name="Group 99"/>
          <p:cNvGrpSpPr/>
          <p:nvPr/>
        </p:nvGrpSpPr>
        <p:grpSpPr>
          <a:xfrm>
            <a:off x="488559" y="4857750"/>
            <a:ext cx="10369941" cy="1638300"/>
            <a:chOff x="488559" y="4857750"/>
            <a:chExt cx="10369941" cy="1638300"/>
          </a:xfrm>
        </p:grpSpPr>
        <p:sp>
          <p:nvSpPr>
            <p:cNvPr id="71" name="TextBox 71"/>
            <p:cNvSpPr txBox="1"/>
            <p:nvPr/>
          </p:nvSpPr>
          <p:spPr>
            <a:xfrm>
              <a:off x="488559" y="5430179"/>
              <a:ext cx="2614193" cy="213360"/>
            </a:xfrm>
            <a:prstGeom prst="rect">
              <a:avLst/>
            </a:prstGeom>
            <a:noFill/>
            <a:ln>
              <a:noFill/>
            </a:ln>
          </p:spPr>
          <p:txBody>
            <a:bodyPr wrap="none" lIns="0" tIns="0" rIns="0" bIns="0" anchor="t" anchorCtr="0">
              <a:spAutoFit/>
            </a:bodyPr>
            <a:lstStyle/>
            <a:p>
              <a:pPr algn="l"/>
              <a:r>
                <a:rPr lang="zh-CN" sz="1050" b="1" dirty="0">
                  <a:solidFill>
                    <a:srgbClr val="FF8F00"/>
                  </a:solidFill>
                  <a:latin typeface="Cambria"/>
                  <a:ea typeface="SimSun"/>
                  <a:cs typeface="Cambria"/>
                </a:rPr>
                <a:t>ROUND 03 · 指代消解(已不存在的菜品)</a:t>
              </a:r>
            </a:p>
          </p:txBody>
        </p:sp>
        <p:grpSp>
          <p:nvGrpSpPr>
            <p:cNvPr id="81" name="Group 81"/>
            <p:cNvGrpSpPr/>
            <p:nvPr/>
          </p:nvGrpSpPr>
          <p:grpSpPr>
            <a:xfrm>
              <a:off x="7239000" y="4857750"/>
              <a:ext cx="3619500" cy="609600"/>
              <a:chOff x="7239000" y="4857750"/>
              <a:chExt cx="3619500" cy="609600"/>
            </a:xfrm>
          </p:grpSpPr>
          <p:sp>
            <p:nvSpPr>
              <p:cNvPr id="72" name="Rectangle 72"/>
              <p:cNvSpPr/>
              <p:nvPr/>
            </p:nvSpPr>
            <p:spPr>
              <a:xfrm>
                <a:off x="7239000" y="4857750"/>
                <a:ext cx="3619500" cy="609600"/>
              </a:xfrm>
              <a:prstGeom prst="roundRect">
                <a:avLst>
                  <a:gd name="adj" fmla="val 50000"/>
                </a:avLst>
              </a:prstGeom>
              <a:gradFill>
                <a:gsLst>
                  <a:gs pos="0">
                    <a:srgbClr val="5C6BC0"/>
                  </a:gs>
                  <a:gs pos="100000">
                    <a:srgbClr val="1565C0"/>
                  </a:gs>
                </a:gsLst>
                <a:lin ang="5400000" scaled="1"/>
              </a:gradFill>
              <a:ln>
                <a:noFill/>
              </a:ln>
              <a:effectLst>
                <a:outerShdw blurRad="95250" dist="28575" dir="5400000" algn="ctr" rotWithShape="0">
                  <a:srgbClr val="0F172A">
                    <a:alpha val="7500"/>
                  </a:srgbClr>
                </a:outerShdw>
              </a:effectLst>
            </p:spPr>
          </p:sp>
          <p:sp>
            <p:nvSpPr>
              <p:cNvPr id="73" name="Ellipse 73"/>
              <p:cNvSpPr/>
              <p:nvPr/>
            </p:nvSpPr>
            <p:spPr>
              <a:xfrm>
                <a:off x="7391400" y="4972050"/>
                <a:ext cx="381000" cy="381000"/>
              </a:xfrm>
              <a:prstGeom prst="ellipse">
                <a:avLst/>
              </a:prstGeom>
              <a:solidFill>
                <a:srgbClr val="FFFFFF">
                  <a:alpha val="20000"/>
                </a:srgbClr>
              </a:solidFill>
              <a:ln>
                <a:noFill/>
              </a:ln>
            </p:spPr>
          </p:sp>
          <p:grpSp>
            <p:nvGrpSpPr>
              <p:cNvPr id="78" name="Group 78"/>
              <p:cNvGrpSpPr/>
              <p:nvPr/>
            </p:nvGrpSpPr>
            <p:grpSpPr>
              <a:xfrm>
                <a:off x="7467600" y="5048250"/>
                <a:ext cx="228600" cy="228600"/>
                <a:chOff x="7467600" y="5048250"/>
                <a:chExt cx="228600" cy="228600"/>
              </a:xfrm>
            </p:grpSpPr>
            <p:sp>
              <p:nvSpPr>
                <p:cNvPr id="74" name="Freeform 74"/>
                <p:cNvSpPr/>
                <p:nvPr/>
              </p:nvSpPr>
              <p:spPr>
                <a:xfrm>
                  <a:off x="7493000" y="504825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19050">
                  <a:solidFill>
                    <a:srgbClr val="FFFFFF"/>
                  </a:solidFill>
                </a:ln>
              </p:spPr>
            </p:sp>
            <p:sp>
              <p:nvSpPr>
                <p:cNvPr id="75" name="Freeform 75"/>
                <p:cNvSpPr/>
                <p:nvPr/>
              </p:nvSpPr>
              <p:spPr>
                <a:xfrm>
                  <a:off x="7467600" y="5200650"/>
                  <a:ext cx="152400" cy="76200"/>
                </a:xfrm>
                <a:custGeom>
                  <a:avLst/>
                  <a:gdLst/>
                  <a:ahLst/>
                  <a:cxnLst/>
                  <a:rect l="l" t="t" r="r" b="b"/>
                  <a:pathLst>
                    <a:path w="152400" h="76200">
                      <a:moveTo>
                        <a:pt x="0" y="76200"/>
                      </a:moveTo>
                      <a:lnTo>
                        <a:pt x="0" y="50800"/>
                      </a:lnTo>
                      <a:cubicBezTo>
                        <a:pt x="0" y="22744"/>
                        <a:pt x="22744" y="0"/>
                        <a:pt x="50800" y="0"/>
                      </a:cubicBezTo>
                      <a:lnTo>
                        <a:pt x="101600" y="0"/>
                      </a:lnTo>
                      <a:cubicBezTo>
                        <a:pt x="129656" y="0"/>
                        <a:pt x="152400" y="22744"/>
                        <a:pt x="152400" y="50800"/>
                      </a:cubicBezTo>
                      <a:lnTo>
                        <a:pt x="152400" y="76200"/>
                      </a:lnTo>
                    </a:path>
                  </a:pathLst>
                </a:custGeom>
                <a:noFill/>
                <a:ln w="19050">
                  <a:solidFill>
                    <a:srgbClr val="FFFFFF"/>
                  </a:solidFill>
                </a:ln>
              </p:spPr>
            </p:sp>
            <p:sp>
              <p:nvSpPr>
                <p:cNvPr id="76" name="Freeform 76"/>
                <p:cNvSpPr/>
                <p:nvPr/>
              </p:nvSpPr>
              <p:spPr>
                <a:xfrm>
                  <a:off x="7632700" y="5049901"/>
                  <a:ext cx="38200" cy="98425"/>
                </a:xfrm>
                <a:custGeom>
                  <a:avLst/>
                  <a:gdLst/>
                  <a:ahLst/>
                  <a:cxnLst/>
                  <a:rect l="l" t="t" r="r" b="b"/>
                  <a:pathLst>
                    <a:path w="38200" h="98425">
                      <a:moveTo>
                        <a:pt x="0" y="0"/>
                      </a:moveTo>
                      <a:cubicBezTo>
                        <a:pt x="22478" y="5755"/>
                        <a:pt x="38200" y="26009"/>
                        <a:pt x="38200" y="49213"/>
                      </a:cubicBezTo>
                      <a:cubicBezTo>
                        <a:pt x="38200" y="72416"/>
                        <a:pt x="22478" y="92670"/>
                        <a:pt x="0" y="98425"/>
                      </a:cubicBezTo>
                    </a:path>
                  </a:pathLst>
                </a:custGeom>
                <a:noFill/>
                <a:ln w="19050">
                  <a:solidFill>
                    <a:srgbClr val="FFFFFF"/>
                  </a:solidFill>
                </a:ln>
              </p:spPr>
            </p:sp>
            <p:sp>
              <p:nvSpPr>
                <p:cNvPr id="77" name="Freeform 77"/>
                <p:cNvSpPr/>
                <p:nvPr/>
              </p:nvSpPr>
              <p:spPr>
                <a:xfrm>
                  <a:off x="7658100" y="5202555"/>
                  <a:ext cx="38100" cy="74295"/>
                </a:xfrm>
                <a:custGeom>
                  <a:avLst/>
                  <a:gdLst/>
                  <a:ahLst/>
                  <a:cxnLst/>
                  <a:rect l="l" t="t" r="r" b="b"/>
                  <a:pathLst>
                    <a:path w="38100" h="74295">
                      <a:moveTo>
                        <a:pt x="38100" y="74295"/>
                      </a:moveTo>
                      <a:lnTo>
                        <a:pt x="38100" y="48895"/>
                      </a:lnTo>
                      <a:cubicBezTo>
                        <a:pt x="37967" y="25839"/>
                        <a:pt x="22324" y="5764"/>
                        <a:pt x="0" y="0"/>
                      </a:cubicBezTo>
                    </a:path>
                  </a:pathLst>
                </a:custGeom>
                <a:noFill/>
                <a:ln w="19050">
                  <a:solidFill>
                    <a:srgbClr val="FFFFFF"/>
                  </a:solidFill>
                </a:ln>
              </p:spPr>
            </p:sp>
          </p:grpSp>
          <p:sp>
            <p:nvSpPr>
              <p:cNvPr id="79" name="TextBox 79"/>
              <p:cNvSpPr txBox="1"/>
              <p:nvPr/>
            </p:nvSpPr>
            <p:spPr>
              <a:xfrm>
                <a:off x="7932420" y="5027295"/>
                <a:ext cx="300095" cy="182880"/>
              </a:xfrm>
              <a:prstGeom prst="rect">
                <a:avLst/>
              </a:prstGeom>
              <a:noFill/>
              <a:ln>
                <a:noFill/>
              </a:ln>
            </p:spPr>
            <p:txBody>
              <a:bodyPr wrap="none" lIns="0" tIns="0" rIns="0" bIns="0" anchor="t" anchorCtr="0">
                <a:spAutoFit/>
              </a:bodyPr>
              <a:lstStyle/>
              <a:p>
                <a:pPr algn="l"/>
                <a:r>
                  <a:rPr lang="zh-CN" sz="900" b="1" dirty="0">
                    <a:solidFill>
                      <a:srgbClr val="FFFFFF">
                        <a:alphaMod val="85000"/>
                      </a:srgbClr>
                    </a:solidFill>
                    <a:latin typeface="Arial"/>
                    <a:ea typeface="Microsoft YaHei"/>
                    <a:cs typeface="Arial"/>
                  </a:rPr>
                  <a:t>USER</a:t>
                </a:r>
              </a:p>
            </p:txBody>
          </p:sp>
          <p:sp>
            <p:nvSpPr>
              <p:cNvPr id="80" name="TextBox 80"/>
              <p:cNvSpPr txBox="1"/>
              <p:nvPr/>
            </p:nvSpPr>
            <p:spPr>
              <a:xfrm>
                <a:off x="7931468" y="5209699"/>
                <a:ext cx="1465020"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番茄炒蛋有多少蛋白质?</a:t>
                </a:r>
              </a:p>
            </p:txBody>
          </p:sp>
        </p:grpSp>
        <p:sp>
          <p:nvSpPr>
            <p:cNvPr id="82" name="Freeform 82"/>
            <p:cNvSpPr/>
            <p:nvPr/>
          </p:nvSpPr>
          <p:spPr>
            <a:xfrm>
              <a:off x="9001125" y="5572125"/>
              <a:ext cx="142875" cy="190500"/>
            </a:xfrm>
            <a:custGeom>
              <a:avLst/>
              <a:gdLst/>
              <a:ahLst/>
              <a:cxnLst/>
              <a:rect l="l" t="t" r="r" b="b"/>
              <a:pathLst>
                <a:path w="142875" h="190500">
                  <a:moveTo>
                    <a:pt x="47625" y="0"/>
                  </a:moveTo>
                  <a:lnTo>
                    <a:pt x="47625" y="95250"/>
                  </a:lnTo>
                  <a:lnTo>
                    <a:pt x="0" y="95250"/>
                  </a:lnTo>
                  <a:lnTo>
                    <a:pt x="47625" y="190500"/>
                  </a:lnTo>
                  <a:lnTo>
                    <a:pt x="95250" y="95250"/>
                  </a:lnTo>
                  <a:lnTo>
                    <a:pt x="142875" y="95250"/>
                  </a:lnTo>
                  <a:lnTo>
                    <a:pt x="142875" y="0"/>
                  </a:lnTo>
                  <a:close/>
                </a:path>
              </a:pathLst>
            </a:custGeom>
            <a:solidFill>
              <a:srgbClr val="9AA0A6"/>
            </a:solidFill>
            <a:ln>
              <a:noFill/>
            </a:ln>
          </p:spPr>
        </p:sp>
        <p:grpSp>
          <p:nvGrpSpPr>
            <p:cNvPr id="98" name="Group 98"/>
            <p:cNvGrpSpPr/>
            <p:nvPr/>
          </p:nvGrpSpPr>
          <p:grpSpPr>
            <a:xfrm>
              <a:off x="1143000" y="5762625"/>
              <a:ext cx="7429500" cy="733425"/>
              <a:chOff x="1143000" y="5762625"/>
              <a:chExt cx="7429500" cy="733425"/>
            </a:xfrm>
          </p:grpSpPr>
          <p:sp>
            <p:nvSpPr>
              <p:cNvPr id="83" name="Rectangle 83"/>
              <p:cNvSpPr/>
              <p:nvPr/>
            </p:nvSpPr>
            <p:spPr>
              <a:xfrm>
                <a:off x="1143000" y="5762625"/>
                <a:ext cx="7429500" cy="723900"/>
              </a:xfrm>
              <a:prstGeom prst="roundRect">
                <a:avLst>
                  <a:gd name="adj" fmla="val 18421"/>
                </a:avLst>
              </a:prstGeom>
              <a:solidFill>
                <a:srgbClr val="FFF8E1"/>
              </a:solidFill>
              <a:ln w="14288">
                <a:solidFill>
                  <a:srgbClr val="FF8F00"/>
                </a:solidFill>
              </a:ln>
              <a:effectLst>
                <a:outerShdw blurRad="95250" dist="28575" dir="5400000" algn="ctr" rotWithShape="0">
                  <a:srgbClr val="0F172A">
                    <a:alpha val="7500"/>
                  </a:srgbClr>
                </a:outerShdw>
              </a:effectLst>
            </p:spPr>
          </p:sp>
          <p:sp>
            <p:nvSpPr>
              <p:cNvPr id="84" name="Ellipse 84"/>
              <p:cNvSpPr/>
              <p:nvPr/>
            </p:nvSpPr>
            <p:spPr>
              <a:xfrm>
                <a:off x="1295400" y="5895975"/>
                <a:ext cx="457200" cy="457200"/>
              </a:xfrm>
              <a:prstGeom prst="ellipse">
                <a:avLst/>
              </a:prstGeom>
              <a:solidFill>
                <a:srgbClr val="FF8F00"/>
              </a:solidFill>
              <a:ln>
                <a:noFill/>
              </a:ln>
            </p:spPr>
          </p:sp>
          <p:grpSp>
            <p:nvGrpSpPr>
              <p:cNvPr id="94" name="Group 94"/>
              <p:cNvGrpSpPr/>
              <p:nvPr/>
            </p:nvGrpSpPr>
            <p:grpSpPr>
              <a:xfrm>
                <a:off x="1435100" y="5997575"/>
                <a:ext cx="177800" cy="241300"/>
                <a:chOff x="1435100" y="5997575"/>
                <a:chExt cx="177800" cy="241300"/>
              </a:xfrm>
            </p:grpSpPr>
            <p:sp>
              <p:nvSpPr>
                <p:cNvPr id="85" name="Freeform 85"/>
                <p:cNvSpPr/>
                <p:nvPr/>
              </p:nvSpPr>
              <p:spPr>
                <a:xfrm>
                  <a:off x="1447800" y="6022975"/>
                  <a:ext cx="152400" cy="101600"/>
                </a:xfrm>
                <a:custGeom>
                  <a:avLst/>
                  <a:gdLst/>
                  <a:ahLst/>
                  <a:cxnLst/>
                  <a:rect l="l" t="t" r="r" b="b"/>
                  <a:pathLst>
                    <a:path w="152400" h="101600">
                      <a:moveTo>
                        <a:pt x="0" y="25400"/>
                      </a:moveTo>
                      <a:cubicBezTo>
                        <a:pt x="0" y="11372"/>
                        <a:pt x="11372" y="0"/>
                        <a:pt x="25400" y="0"/>
                      </a:cubicBezTo>
                      <a:lnTo>
                        <a:pt x="127000" y="0"/>
                      </a:lnTo>
                      <a:cubicBezTo>
                        <a:pt x="141028" y="0"/>
                        <a:pt x="152400" y="11372"/>
                        <a:pt x="152400" y="25400"/>
                      </a:cubicBezTo>
                      <a:lnTo>
                        <a:pt x="152400" y="76200"/>
                      </a:lnTo>
                      <a:cubicBezTo>
                        <a:pt x="152400" y="90228"/>
                        <a:pt x="141028" y="101600"/>
                        <a:pt x="127000" y="101600"/>
                      </a:cubicBezTo>
                      <a:lnTo>
                        <a:pt x="25400" y="101600"/>
                      </a:lnTo>
                      <a:cubicBezTo>
                        <a:pt x="11372" y="101600"/>
                        <a:pt x="0" y="90228"/>
                        <a:pt x="0" y="76200"/>
                      </a:cubicBezTo>
                      <a:lnTo>
                        <a:pt x="0" y="25400"/>
                      </a:lnTo>
                    </a:path>
                  </a:pathLst>
                </a:custGeom>
                <a:noFill/>
                <a:ln w="19050">
                  <a:solidFill>
                    <a:srgbClr val="FFFFFF"/>
                  </a:solidFill>
                </a:ln>
              </p:spPr>
            </p:sp>
            <p:sp>
              <p:nvSpPr>
                <p:cNvPr id="86" name="Freeform 86"/>
                <p:cNvSpPr/>
                <p:nvPr/>
              </p:nvSpPr>
              <p:spPr>
                <a:xfrm>
                  <a:off x="1524000" y="5997575"/>
                  <a:ext cx="9525" cy="25400"/>
                </a:xfrm>
                <a:custGeom>
                  <a:avLst/>
                  <a:gdLst/>
                  <a:ahLst/>
                  <a:cxnLst/>
                  <a:rect l="l" t="t" r="r" b="b"/>
                  <a:pathLst>
                    <a:path w="9525" h="25400">
                      <a:moveTo>
                        <a:pt x="0" y="0"/>
                      </a:moveTo>
                      <a:lnTo>
                        <a:pt x="0" y="25400"/>
                      </a:lnTo>
                    </a:path>
                  </a:pathLst>
                </a:custGeom>
                <a:noFill/>
                <a:ln w="19050">
                  <a:solidFill>
                    <a:srgbClr val="FFFFFF"/>
                  </a:solidFill>
                </a:ln>
              </p:spPr>
            </p:sp>
            <p:sp>
              <p:nvSpPr>
                <p:cNvPr id="87" name="Freeform 87"/>
                <p:cNvSpPr/>
                <p:nvPr/>
              </p:nvSpPr>
              <p:spPr>
                <a:xfrm>
                  <a:off x="1485900" y="6124575"/>
                  <a:ext cx="9525" cy="114300"/>
                </a:xfrm>
                <a:custGeom>
                  <a:avLst/>
                  <a:gdLst/>
                  <a:ahLst/>
                  <a:cxnLst/>
                  <a:rect l="l" t="t" r="r" b="b"/>
                  <a:pathLst>
                    <a:path w="9525" h="114300">
                      <a:moveTo>
                        <a:pt x="0" y="0"/>
                      </a:moveTo>
                      <a:lnTo>
                        <a:pt x="0" y="114300"/>
                      </a:lnTo>
                    </a:path>
                  </a:pathLst>
                </a:custGeom>
                <a:noFill/>
                <a:ln w="19050">
                  <a:solidFill>
                    <a:srgbClr val="FFFFFF"/>
                  </a:solidFill>
                </a:ln>
              </p:spPr>
            </p:sp>
            <p:sp>
              <p:nvSpPr>
                <p:cNvPr id="88" name="Freeform 88"/>
                <p:cNvSpPr/>
                <p:nvPr/>
              </p:nvSpPr>
              <p:spPr>
                <a:xfrm>
                  <a:off x="1562100" y="6124575"/>
                  <a:ext cx="9525" cy="114300"/>
                </a:xfrm>
                <a:custGeom>
                  <a:avLst/>
                  <a:gdLst/>
                  <a:ahLst/>
                  <a:cxnLst/>
                  <a:rect l="l" t="t" r="r" b="b"/>
                  <a:pathLst>
                    <a:path w="9525" h="114300">
                      <a:moveTo>
                        <a:pt x="0" y="0"/>
                      </a:moveTo>
                      <a:lnTo>
                        <a:pt x="0" y="114300"/>
                      </a:lnTo>
                    </a:path>
                  </a:pathLst>
                </a:custGeom>
                <a:noFill/>
                <a:ln w="19050">
                  <a:solidFill>
                    <a:srgbClr val="FFFFFF"/>
                  </a:solidFill>
                </a:ln>
              </p:spPr>
            </p:sp>
            <p:sp>
              <p:nvSpPr>
                <p:cNvPr id="89" name="Freeform 89"/>
                <p:cNvSpPr/>
                <p:nvPr/>
              </p:nvSpPr>
              <p:spPr>
                <a:xfrm>
                  <a:off x="1435100" y="6149975"/>
                  <a:ext cx="50800" cy="25400"/>
                </a:xfrm>
                <a:custGeom>
                  <a:avLst/>
                  <a:gdLst/>
                  <a:ahLst/>
                  <a:cxnLst/>
                  <a:rect l="l" t="t" r="r" b="b"/>
                  <a:pathLst>
                    <a:path w="50800" h="25400">
                      <a:moveTo>
                        <a:pt x="0" y="25400"/>
                      </a:moveTo>
                      <a:lnTo>
                        <a:pt x="50800" y="0"/>
                      </a:lnTo>
                    </a:path>
                  </a:pathLst>
                </a:custGeom>
                <a:noFill/>
                <a:ln w="19050">
                  <a:solidFill>
                    <a:srgbClr val="FFFFFF"/>
                  </a:solidFill>
                </a:ln>
              </p:spPr>
            </p:sp>
            <p:sp>
              <p:nvSpPr>
                <p:cNvPr id="90" name="Freeform 90"/>
                <p:cNvSpPr/>
                <p:nvPr/>
              </p:nvSpPr>
              <p:spPr>
                <a:xfrm>
                  <a:off x="1562100" y="6149975"/>
                  <a:ext cx="50800" cy="25400"/>
                </a:xfrm>
                <a:custGeom>
                  <a:avLst/>
                  <a:gdLst/>
                  <a:ahLst/>
                  <a:cxnLst/>
                  <a:rect l="l" t="t" r="r" b="b"/>
                  <a:pathLst>
                    <a:path w="50800" h="25400">
                      <a:moveTo>
                        <a:pt x="0" y="0"/>
                      </a:moveTo>
                      <a:lnTo>
                        <a:pt x="50800" y="25400"/>
                      </a:lnTo>
                    </a:path>
                  </a:pathLst>
                </a:custGeom>
                <a:noFill/>
                <a:ln w="19050">
                  <a:solidFill>
                    <a:srgbClr val="FFFFFF"/>
                  </a:solidFill>
                </a:ln>
              </p:spPr>
            </p:sp>
            <p:sp>
              <p:nvSpPr>
                <p:cNvPr id="91" name="Freeform 91"/>
                <p:cNvSpPr/>
                <p:nvPr/>
              </p:nvSpPr>
              <p:spPr>
                <a:xfrm>
                  <a:off x="1485900" y="6200775"/>
                  <a:ext cx="76200" cy="9525"/>
                </a:xfrm>
                <a:custGeom>
                  <a:avLst/>
                  <a:gdLst/>
                  <a:ahLst/>
                  <a:cxnLst/>
                  <a:rect l="l" t="t" r="r" b="b"/>
                  <a:pathLst>
                    <a:path w="76200" h="9525">
                      <a:moveTo>
                        <a:pt x="0" y="0"/>
                      </a:moveTo>
                      <a:lnTo>
                        <a:pt x="76200" y="0"/>
                      </a:lnTo>
                    </a:path>
                  </a:pathLst>
                </a:custGeom>
                <a:noFill/>
                <a:ln w="19050">
                  <a:solidFill>
                    <a:srgbClr val="FFFFFF"/>
                  </a:solidFill>
                </a:ln>
              </p:spPr>
            </p:sp>
            <p:sp>
              <p:nvSpPr>
                <p:cNvPr id="92" name="Freeform 92"/>
                <p:cNvSpPr/>
                <p:nvPr/>
              </p:nvSpPr>
              <p:spPr>
                <a:xfrm>
                  <a:off x="1498600" y="6073775"/>
                  <a:ext cx="9525" cy="9525"/>
                </a:xfrm>
                <a:custGeom>
                  <a:avLst/>
                  <a:gdLst/>
                  <a:ahLst/>
                  <a:cxnLst/>
                  <a:rect l="l" t="t" r="r" b="b"/>
                  <a:pathLst>
                    <a:path w="9525" h="9525">
                      <a:moveTo>
                        <a:pt x="0" y="0"/>
                      </a:moveTo>
                      <a:lnTo>
                        <a:pt x="0" y="127"/>
                      </a:lnTo>
                    </a:path>
                  </a:pathLst>
                </a:custGeom>
                <a:noFill/>
                <a:ln w="19050">
                  <a:solidFill>
                    <a:srgbClr val="FFFFFF"/>
                  </a:solidFill>
                </a:ln>
              </p:spPr>
            </p:sp>
            <p:sp>
              <p:nvSpPr>
                <p:cNvPr id="93" name="Freeform 93"/>
                <p:cNvSpPr/>
                <p:nvPr/>
              </p:nvSpPr>
              <p:spPr>
                <a:xfrm>
                  <a:off x="1549400" y="6073775"/>
                  <a:ext cx="9525" cy="9525"/>
                </a:xfrm>
                <a:custGeom>
                  <a:avLst/>
                  <a:gdLst/>
                  <a:ahLst/>
                  <a:cxnLst/>
                  <a:rect l="l" t="t" r="r" b="b"/>
                  <a:pathLst>
                    <a:path w="9525" h="9525">
                      <a:moveTo>
                        <a:pt x="0" y="0"/>
                      </a:moveTo>
                      <a:lnTo>
                        <a:pt x="0" y="127"/>
                      </a:lnTo>
                    </a:path>
                  </a:pathLst>
                </a:custGeom>
                <a:noFill/>
                <a:ln w="19050">
                  <a:solidFill>
                    <a:srgbClr val="FFFFFF"/>
                  </a:solidFill>
                </a:ln>
              </p:spPr>
            </p:sp>
          </p:grpSp>
          <p:sp>
            <p:nvSpPr>
              <p:cNvPr id="95" name="TextBox 95"/>
              <p:cNvSpPr txBox="1"/>
              <p:nvPr/>
            </p:nvSpPr>
            <p:spPr>
              <a:xfrm>
                <a:off x="1893570" y="5932170"/>
                <a:ext cx="1541350" cy="182880"/>
              </a:xfrm>
              <a:prstGeom prst="rect">
                <a:avLst/>
              </a:prstGeom>
              <a:noFill/>
              <a:ln>
                <a:noFill/>
              </a:ln>
            </p:spPr>
            <p:txBody>
              <a:bodyPr wrap="none" lIns="0" tIns="0" rIns="0" bIns="0" anchor="t" anchorCtr="0">
                <a:spAutoFit/>
              </a:bodyPr>
              <a:lstStyle/>
              <a:p>
                <a:pPr algn="l"/>
                <a:r>
                  <a:rPr lang="zh-CN" sz="900" b="1" dirty="0">
                    <a:solidFill>
                      <a:srgbClr val="FF8F00"/>
                    </a:solidFill>
                    <a:latin typeface="Arial"/>
                    <a:ea typeface="Microsoft YaHei"/>
                    <a:cs typeface="Arial"/>
                  </a:rPr>
                  <a:t>小营 · AGENT · 上下文记忆</a:t>
                </a:r>
              </a:p>
            </p:txBody>
          </p:sp>
          <p:sp>
            <p:nvSpPr>
              <p:cNvPr id="96" name="TextBox 96"/>
              <p:cNvSpPr txBox="1"/>
              <p:nvPr/>
            </p:nvSpPr>
            <p:spPr>
              <a:xfrm>
                <a:off x="1892618" y="6133624"/>
                <a:ext cx="1799487"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当前图片中未检测到番茄炒蛋</a:t>
                </a:r>
              </a:p>
            </p:txBody>
          </p:sp>
          <p:sp>
            <p:nvSpPr>
              <p:cNvPr id="97" name="TextBox 97"/>
              <p:cNvSpPr txBox="1"/>
              <p:nvPr/>
            </p:nvSpPr>
            <p:spPr>
              <a:xfrm>
                <a:off x="1893570" y="6313170"/>
                <a:ext cx="2945225"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当前菜品蛋白质总计 17.2g(鸡肉松 6.5g + 米饭 10.7g)</a:t>
                </a:r>
              </a:p>
            </p:txBody>
          </p:sp>
        </p:grpSp>
      </p:grpSp>
      <p:sp>
        <p:nvSpPr>
          <p:cNvPr id="100" name="TextBox 100"/>
          <p:cNvSpPr txBox="1"/>
          <p:nvPr/>
        </p:nvSpPr>
        <p:spPr>
          <a:xfrm>
            <a:off x="561022" y="6578441"/>
            <a:ext cx="3353547"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3 · Q4 Interaction Demo</a:t>
            </a:r>
          </a:p>
        </p:txBody>
      </p:sp>
      <p:sp>
        <p:nvSpPr>
          <p:cNvPr id="101" name="TextBox 101"/>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22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400"/>
                                        <p:tgtEl>
                                          <p:spTgt spid="4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slide(fromBottom)">
                                      <p:cBhvr>
                                        <p:cTn id="15" dur="400"/>
                                        <p:tgtEl>
                                          <p:spTgt spid="70"/>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99"/>
                                        </p:tgtEl>
                                        <p:attrNameLst>
                                          <p:attrName>style.visibility</p:attrName>
                                        </p:attrNameLst>
                                      </p:cBhvr>
                                      <p:to>
                                        <p:strVal val="visible"/>
                                      </p:to>
                                    </p:set>
                                    <p:animEffect transition="in" filter="image">
                                      <p:cBhvr>
                                        <p:cTn id="19" dur="4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1" grpId="0"/>
      <p:bldP spid="70" grpId="0"/>
      <p:bldP spid="9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1049000" cy="685800"/>
            <a:chOff x="571500" y="457200"/>
            <a:chExt cx="11049000" cy="685800"/>
          </a:xfrm>
        </p:grpSpPr>
        <p:sp>
          <p:nvSpPr>
            <p:cNvPr id="3" name="Rectangle 3"/>
            <p:cNvSpPr/>
            <p:nvPr/>
          </p:nvSpPr>
          <p:spPr>
            <a:xfrm>
              <a:off x="571500" y="457200"/>
              <a:ext cx="57150" cy="381000"/>
            </a:xfrm>
            <a:prstGeom prst="roundRect">
              <a:avLst>
                <a:gd name="adj" fmla="val 50000"/>
              </a:avLst>
            </a:prstGeom>
            <a:solidFill>
              <a:srgbClr val="C62828"/>
            </a:solidFill>
            <a:ln>
              <a:noFill/>
            </a:ln>
          </p:spPr>
        </p:sp>
        <p:sp>
          <p:nvSpPr>
            <p:cNvPr id="4" name="TextBox 4"/>
            <p:cNvSpPr txBox="1"/>
            <p:nvPr/>
          </p:nvSpPr>
          <p:spPr>
            <a:xfrm>
              <a:off x="733425" y="500062"/>
              <a:ext cx="4467701"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第一问失败案例 · 4 种失败模式</a:t>
              </a:r>
            </a:p>
          </p:txBody>
        </p:sp>
        <p:sp>
          <p:nvSpPr>
            <p:cNvPr id="5" name="TextBox 5"/>
            <p:cNvSpPr txBox="1"/>
            <p:nvPr/>
          </p:nvSpPr>
          <p:spPr>
            <a:xfrm>
              <a:off x="748665" y="896302"/>
              <a:ext cx="4260799"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CHAPTER 5 · FAILURE CASES · Q1 ENGLISH-CLIP ERROR ANALYSIS</a:t>
              </a:r>
            </a:p>
          </p:txBody>
        </p:sp>
        <p:grpSp>
          <p:nvGrpSpPr>
            <p:cNvPr id="9" name="Group 9"/>
            <p:cNvGrpSpPr/>
            <p:nvPr/>
          </p:nvGrpSpPr>
          <p:grpSpPr>
            <a:xfrm>
              <a:off x="9715500" y="571500"/>
              <a:ext cx="1905000" cy="571500"/>
              <a:chOff x="9715500" y="571500"/>
              <a:chExt cx="1905000" cy="571500"/>
            </a:xfrm>
          </p:grpSpPr>
          <p:sp>
            <p:nvSpPr>
              <p:cNvPr id="6" name="Rectangle 6"/>
              <p:cNvSpPr/>
              <p:nvPr/>
            </p:nvSpPr>
            <p:spPr>
              <a:xfrm>
                <a:off x="9715500" y="571500"/>
                <a:ext cx="1905000" cy="571500"/>
              </a:xfrm>
              <a:prstGeom prst="roundRect">
                <a:avLst>
                  <a:gd name="adj" fmla="val 16667"/>
                </a:avLst>
              </a:prstGeom>
              <a:solidFill>
                <a:srgbClr val="FFEBEE"/>
              </a:solidFill>
              <a:ln>
                <a:noFill/>
              </a:ln>
            </p:spPr>
          </p:sp>
          <p:sp>
            <p:nvSpPr>
              <p:cNvPr id="7" name="TextBox 7"/>
              <p:cNvSpPr txBox="1"/>
              <p:nvPr/>
            </p:nvSpPr>
            <p:spPr>
              <a:xfrm>
                <a:off x="10183022" y="692468"/>
                <a:ext cx="969957" cy="274320"/>
              </a:xfrm>
              <a:prstGeom prst="rect">
                <a:avLst/>
              </a:prstGeom>
              <a:noFill/>
              <a:ln>
                <a:noFill/>
              </a:ln>
            </p:spPr>
            <p:txBody>
              <a:bodyPr wrap="none" lIns="0" tIns="0" rIns="0" bIns="0" anchor="t" anchorCtr="0">
                <a:spAutoFit/>
              </a:bodyPr>
              <a:lstStyle/>
              <a:p>
                <a:pPr algn="ctr"/>
                <a:r>
                  <a:rPr lang="zh-CN" sz="1350" b="1" dirty="0">
                    <a:solidFill>
                      <a:srgbClr val="C62828"/>
                    </a:solidFill>
                    <a:latin typeface="Cambria"/>
                    <a:ea typeface="SimSun"/>
                    <a:cs typeface="Cambria"/>
                  </a:rPr>
                  <a:t>677 条错误</a:t>
                </a:r>
              </a:p>
            </p:txBody>
          </p:sp>
          <p:sp>
            <p:nvSpPr>
              <p:cNvPr id="8" name="TextBox 8"/>
              <p:cNvSpPr txBox="1"/>
              <p:nvPr/>
            </p:nvSpPr>
            <p:spPr>
              <a:xfrm>
                <a:off x="10235895" y="958691"/>
                <a:ext cx="864210"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ERROR SAMPLES</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2" name="TextBox 12"/>
          <p:cNvSpPr txBox="1"/>
          <p:nvPr/>
        </p:nvSpPr>
        <p:spPr>
          <a:xfrm>
            <a:off x="3289316" y="1505902"/>
            <a:ext cx="5613368"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对 English-CLIP 在 55 类食物识别中的错误样本分析,识别出 4 种主要失败模式(2×2 框架)</a:t>
            </a:r>
          </a:p>
        </p:txBody>
      </p:sp>
      <p:sp>
        <p:nvSpPr>
          <p:cNvPr id="13" name="Line 13"/>
          <p:cNvSpPr/>
          <p:nvPr/>
        </p:nvSpPr>
        <p:spPr>
          <a:xfrm>
            <a:off x="6096000" y="1905000"/>
            <a:ext cx="9525" cy="4381500"/>
          </a:xfrm>
          <a:custGeom>
            <a:avLst/>
            <a:gdLst/>
            <a:ahLst/>
            <a:cxnLst/>
            <a:rect l="l" t="t" r="r" b="b"/>
            <a:pathLst>
              <a:path w="9525" h="4381500">
                <a:moveTo>
                  <a:pt x="0" y="0"/>
                </a:moveTo>
                <a:lnTo>
                  <a:pt x="0" y="4381500"/>
                </a:lnTo>
              </a:path>
            </a:pathLst>
          </a:custGeom>
          <a:noFill/>
          <a:ln w="19050">
            <a:solidFill>
              <a:srgbClr val="9AA0A6"/>
            </a:solidFill>
          </a:ln>
        </p:spPr>
      </p:sp>
      <p:sp>
        <p:nvSpPr>
          <p:cNvPr id="14" name="Line 14"/>
          <p:cNvSpPr/>
          <p:nvPr/>
        </p:nvSpPr>
        <p:spPr>
          <a:xfrm>
            <a:off x="571500" y="4095750"/>
            <a:ext cx="11049000" cy="9525"/>
          </a:xfrm>
          <a:custGeom>
            <a:avLst/>
            <a:gdLst/>
            <a:ahLst/>
            <a:cxnLst/>
            <a:rect l="l" t="t" r="r" b="b"/>
            <a:pathLst>
              <a:path w="11049000" h="9525">
                <a:moveTo>
                  <a:pt x="0" y="0"/>
                </a:moveTo>
                <a:lnTo>
                  <a:pt x="11049000" y="0"/>
                </a:lnTo>
              </a:path>
            </a:pathLst>
          </a:custGeom>
          <a:noFill/>
          <a:ln w="19050">
            <a:solidFill>
              <a:srgbClr val="9AA0A6"/>
            </a:solidFill>
          </a:ln>
        </p:spPr>
      </p:sp>
      <p:sp>
        <p:nvSpPr>
          <p:cNvPr id="15" name="TextBox 15"/>
          <p:cNvSpPr txBox="1"/>
          <p:nvPr/>
        </p:nvSpPr>
        <p:spPr>
          <a:xfrm>
            <a:off x="5640792" y="1768316"/>
            <a:ext cx="910416"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Cambria"/>
                <a:ea typeface="SimSun"/>
                <a:cs typeface="Cambria"/>
              </a:rPr>
              <a:t>← 视觉特征差异 →</a:t>
            </a:r>
          </a:p>
        </p:txBody>
      </p:sp>
      <p:sp>
        <p:nvSpPr>
          <p:cNvPr id="16" name="TextBox 16"/>
          <p:cNvSpPr txBox="1"/>
          <p:nvPr/>
        </p:nvSpPr>
        <p:spPr>
          <a:xfrm rot="-5400000">
            <a:off x="-21690" y="3624957"/>
            <a:ext cx="794902" cy="167640"/>
          </a:xfrm>
          <a:prstGeom prst="rect">
            <a:avLst/>
          </a:prstGeom>
          <a:noFill/>
          <a:ln>
            <a:noFill/>
          </a:ln>
        </p:spPr>
        <p:txBody>
          <a:bodyPr wrap="none" lIns="0" tIns="0" rIns="0" bIns="0" anchor="t" anchorCtr="0">
            <a:spAutoFit/>
          </a:bodyPr>
          <a:lstStyle/>
          <a:p>
            <a:pPr algn="l"/>
            <a:r>
              <a:rPr lang="zh-CN" sz="825" b="1" dirty="0">
                <a:solidFill>
                  <a:srgbClr val="5F6368"/>
                </a:solidFill>
                <a:latin typeface="Cambria"/>
                <a:ea typeface="SimSun"/>
                <a:cs typeface="Cambria"/>
              </a:rPr>
              <a:t>← 语义相关度 →</a:t>
            </a:r>
          </a:p>
        </p:txBody>
      </p:sp>
      <p:grpSp>
        <p:nvGrpSpPr>
          <p:cNvPr id="34" name="Group 34"/>
          <p:cNvGrpSpPr/>
          <p:nvPr/>
        </p:nvGrpSpPr>
        <p:grpSpPr>
          <a:xfrm>
            <a:off x="762000" y="2000250"/>
            <a:ext cx="5143500" cy="1905000"/>
            <a:chOff x="762000" y="2000250"/>
            <a:chExt cx="5143500" cy="1905000"/>
          </a:xfrm>
        </p:grpSpPr>
        <p:sp>
          <p:nvSpPr>
            <p:cNvPr id="17" name="Rectangle 17"/>
            <p:cNvSpPr/>
            <p:nvPr/>
          </p:nvSpPr>
          <p:spPr>
            <a:xfrm>
              <a:off x="762000" y="2000250"/>
              <a:ext cx="5143500" cy="1905000"/>
            </a:xfrm>
            <a:prstGeom prst="roundRect">
              <a:avLst>
                <a:gd name="adj" fmla="val 6000"/>
              </a:avLst>
            </a:prstGeom>
            <a:solidFill>
              <a:srgbClr val="FFFFFF"/>
            </a:solidFill>
            <a:ln w="14288">
              <a:solidFill>
                <a:srgbClr val="1565C0"/>
              </a:solidFill>
            </a:ln>
            <a:effectLst>
              <a:outerShdw blurRad="114300" dist="38100" dir="5400000" algn="ctr" rotWithShape="0">
                <a:srgbClr val="0F172A">
                  <a:alpha val="7500"/>
                </a:srgbClr>
              </a:outerShdw>
            </a:effectLst>
          </p:spPr>
        </p:sp>
        <p:sp>
          <p:nvSpPr>
            <p:cNvPr id="18" name="Freeform 18"/>
            <p:cNvSpPr/>
            <p:nvPr/>
          </p:nvSpPr>
          <p:spPr>
            <a:xfrm>
              <a:off x="762000" y="2000250"/>
              <a:ext cx="5143500" cy="476250"/>
            </a:xfrm>
            <a:custGeom>
              <a:avLst/>
              <a:gdLst/>
              <a:ahLst/>
              <a:cxnLst/>
              <a:rect l="l" t="t" r="r" b="b"/>
              <a:pathLst>
                <a:path w="5143500" h="476250">
                  <a:moveTo>
                    <a:pt x="0" y="114300"/>
                  </a:moveTo>
                  <a:cubicBezTo>
                    <a:pt x="0" y="51174"/>
                    <a:pt x="51174" y="0"/>
                    <a:pt x="114300" y="0"/>
                  </a:cubicBezTo>
                  <a:lnTo>
                    <a:pt x="5029200" y="0"/>
                  </a:lnTo>
                  <a:cubicBezTo>
                    <a:pt x="5092326" y="0"/>
                    <a:pt x="5143500" y="51174"/>
                    <a:pt x="5143500" y="114300"/>
                  </a:cubicBezTo>
                  <a:lnTo>
                    <a:pt x="5143500" y="476250"/>
                  </a:lnTo>
                  <a:lnTo>
                    <a:pt x="0" y="476250"/>
                  </a:lnTo>
                  <a:close/>
                </a:path>
              </a:pathLst>
            </a:custGeom>
            <a:gradFill>
              <a:gsLst>
                <a:gs pos="0">
                  <a:srgbClr val="1565C0"/>
                </a:gs>
                <a:gs pos="100000">
                  <a:srgbClr val="5C6BC0"/>
                </a:gs>
              </a:gsLst>
              <a:lin ang="2700000" scaled="1"/>
            </a:gradFill>
            <a:ln>
              <a:noFill/>
            </a:ln>
          </p:spPr>
        </p:sp>
        <p:sp>
          <p:nvSpPr>
            <p:cNvPr id="19" name="Rectangle 19"/>
            <p:cNvSpPr/>
            <p:nvPr/>
          </p:nvSpPr>
          <p:spPr>
            <a:xfrm>
              <a:off x="952500" y="2133600"/>
              <a:ext cx="304800" cy="304800"/>
            </a:xfrm>
            <a:prstGeom prst="roundRect">
              <a:avLst>
                <a:gd name="adj" fmla="val 18750"/>
              </a:avLst>
            </a:prstGeom>
            <a:solidFill>
              <a:srgbClr val="FFFFFF">
                <a:alpha val="20000"/>
              </a:srgbClr>
            </a:solidFill>
            <a:ln>
              <a:noFill/>
            </a:ln>
          </p:spPr>
        </p:sp>
        <p:grpSp>
          <p:nvGrpSpPr>
            <p:cNvPr id="22" name="Group 22"/>
            <p:cNvGrpSpPr/>
            <p:nvPr/>
          </p:nvGrpSpPr>
          <p:grpSpPr>
            <a:xfrm>
              <a:off x="990600" y="2209800"/>
              <a:ext cx="228600" cy="152400"/>
              <a:chOff x="990600" y="2209800"/>
              <a:chExt cx="228600" cy="152400"/>
            </a:xfrm>
          </p:grpSpPr>
          <p:sp>
            <p:nvSpPr>
              <p:cNvPr id="20" name="Freeform 20"/>
              <p:cNvSpPr/>
              <p:nvPr/>
            </p:nvSpPr>
            <p:spPr>
              <a:xfrm>
                <a:off x="1079500" y="22606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FFFFFF"/>
                </a:solidFill>
              </a:ln>
            </p:spPr>
          </p:sp>
          <p:sp>
            <p:nvSpPr>
              <p:cNvPr id="21" name="Freeform 21"/>
              <p:cNvSpPr/>
              <p:nvPr/>
            </p:nvSpPr>
            <p:spPr>
              <a:xfrm>
                <a:off x="990600" y="2209800"/>
                <a:ext cx="228600" cy="152400"/>
              </a:xfrm>
              <a:custGeom>
                <a:avLst/>
                <a:gdLst/>
                <a:ahLst/>
                <a:cxnLst/>
                <a:rect l="l" t="t" r="r" b="b"/>
                <a:pathLst>
                  <a:path w="228600" h="152400">
                    <a:moveTo>
                      <a:pt x="228600" y="76200"/>
                    </a:moveTo>
                    <a:cubicBezTo>
                      <a:pt x="198120" y="127000"/>
                      <a:pt x="160020" y="152400"/>
                      <a:pt x="114300" y="152400"/>
                    </a:cubicBezTo>
                    <a:cubicBezTo>
                      <a:pt x="68580" y="152400"/>
                      <a:pt x="30480" y="127000"/>
                      <a:pt x="0" y="76200"/>
                    </a:cubicBezTo>
                    <a:cubicBezTo>
                      <a:pt x="30480" y="25400"/>
                      <a:pt x="68580" y="0"/>
                      <a:pt x="114300" y="0"/>
                    </a:cubicBezTo>
                    <a:cubicBezTo>
                      <a:pt x="160020" y="0"/>
                      <a:pt x="198120" y="25400"/>
                      <a:pt x="228600" y="76200"/>
                    </a:cubicBezTo>
                  </a:path>
                </a:pathLst>
              </a:custGeom>
              <a:noFill/>
              <a:ln w="19050">
                <a:solidFill>
                  <a:srgbClr val="FFFFFF"/>
                </a:solidFill>
              </a:ln>
            </p:spPr>
          </p:sp>
        </p:grpSp>
        <p:sp>
          <p:nvSpPr>
            <p:cNvPr id="23" name="TextBox 23"/>
            <p:cNvSpPr txBox="1"/>
            <p:nvPr/>
          </p:nvSpPr>
          <p:spPr>
            <a:xfrm>
              <a:off x="1337310" y="2175510"/>
              <a:ext cx="870585"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mbria"/>
                  <a:ea typeface="SimSun"/>
                  <a:cs typeface="Cambria"/>
                </a:rPr>
                <a:t>细粒度混淆</a:t>
              </a:r>
            </a:p>
          </p:txBody>
        </p:sp>
        <p:sp>
          <p:nvSpPr>
            <p:cNvPr id="24" name="TextBox 24"/>
            <p:cNvSpPr txBox="1"/>
            <p:nvPr/>
          </p:nvSpPr>
          <p:spPr>
            <a:xfrm>
              <a:off x="1343025" y="2357438"/>
              <a:ext cx="1169194" cy="152400"/>
            </a:xfrm>
            <a:prstGeom prst="rect">
              <a:avLst/>
            </a:prstGeom>
            <a:noFill/>
            <a:ln>
              <a:noFill/>
            </a:ln>
          </p:spPr>
          <p:txBody>
            <a:bodyPr wrap="none" lIns="0" tIns="0" rIns="0" bIns="0" anchor="t" anchorCtr="0">
              <a:spAutoFit/>
            </a:bodyPr>
            <a:lstStyle/>
            <a:p>
              <a:pPr algn="l"/>
              <a:r>
                <a:rPr lang="zh-CN" sz="750" dirty="0">
                  <a:solidFill>
                    <a:srgbClr val="FFFFFF">
                      <a:alphaMod val="85000"/>
                    </a:srgbClr>
                  </a:solidFill>
                  <a:latin typeface="Arial"/>
                  <a:ea typeface="Microsoft YaHei"/>
                  <a:cs typeface="Arial"/>
                </a:rPr>
                <a:t>FINE-GRAINED CONFUSION</a:t>
              </a:r>
            </a:p>
          </p:txBody>
        </p:sp>
        <p:sp>
          <p:nvSpPr>
            <p:cNvPr id="25" name="TextBox 25"/>
            <p:cNvSpPr txBox="1"/>
            <p:nvPr/>
          </p:nvSpPr>
          <p:spPr>
            <a:xfrm>
              <a:off x="5349407" y="2143125"/>
              <a:ext cx="384643" cy="304800"/>
            </a:xfrm>
            <a:prstGeom prst="rect">
              <a:avLst/>
            </a:prstGeom>
            <a:noFill/>
            <a:ln>
              <a:noFill/>
            </a:ln>
          </p:spPr>
          <p:txBody>
            <a:bodyPr wrap="none" lIns="0" tIns="0" rIns="0" bIns="0" anchor="t" anchorCtr="0">
              <a:spAutoFit/>
            </a:bodyPr>
            <a:lstStyle/>
            <a:p>
              <a:pPr algn="r"/>
              <a:r>
                <a:rPr lang="zh-CN" sz="1500" b="1" dirty="0">
                  <a:solidFill>
                    <a:srgbClr val="FFB300"/>
                  </a:solidFill>
                  <a:latin typeface="Cambria"/>
                  <a:ea typeface="SimSun"/>
                  <a:cs typeface="Cambria"/>
                </a:rPr>
                <a:t>35%</a:t>
              </a:r>
            </a:p>
          </p:txBody>
        </p:sp>
        <p:sp>
          <p:nvSpPr>
            <p:cNvPr id="26" name="TextBox 26"/>
            <p:cNvSpPr txBox="1"/>
            <p:nvPr/>
          </p:nvSpPr>
          <p:spPr>
            <a:xfrm>
              <a:off x="940118" y="2618899"/>
              <a:ext cx="57083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典型案例</a:t>
              </a:r>
            </a:p>
          </p:txBody>
        </p:sp>
        <p:sp>
          <p:nvSpPr>
            <p:cNvPr id="27" name="Rectangle 27"/>
            <p:cNvSpPr/>
            <p:nvPr/>
          </p:nvSpPr>
          <p:spPr>
            <a:xfrm>
              <a:off x="952500" y="2819400"/>
              <a:ext cx="4762500" cy="342900"/>
            </a:xfrm>
            <a:prstGeom prst="roundRect">
              <a:avLst>
                <a:gd name="adj" fmla="val 16667"/>
              </a:avLst>
            </a:prstGeom>
            <a:solidFill>
              <a:srgbClr val="E3F2FD"/>
            </a:solidFill>
            <a:ln>
              <a:noFill/>
            </a:ln>
          </p:spPr>
        </p:sp>
        <p:sp>
          <p:nvSpPr>
            <p:cNvPr id="28" name="TextBox 28"/>
            <p:cNvSpPr txBox="1"/>
            <p:nvPr/>
          </p:nvSpPr>
          <p:spPr>
            <a:xfrm>
              <a:off x="2254337" y="2931795"/>
              <a:ext cx="2158827" cy="182880"/>
            </a:xfrm>
            <a:prstGeom prst="rect">
              <a:avLst/>
            </a:prstGeom>
            <a:noFill/>
            <a:ln>
              <a:noFill/>
            </a:ln>
          </p:spPr>
          <p:txBody>
            <a:bodyPr wrap="none" lIns="0" tIns="0" rIns="0" bIns="0" anchor="t" anchorCtr="0">
              <a:spAutoFit/>
            </a:bodyPr>
            <a:lstStyle/>
            <a:p>
              <a:pPr algn="ctr"/>
              <a:r>
                <a:rPr lang="zh-CN" sz="900" b="1" dirty="0">
                  <a:solidFill>
                    <a:srgbClr val="1565C0"/>
                  </a:solidFill>
                  <a:latin typeface="Consolas"/>
                  <a:ea typeface="Microsoft YaHei"/>
                  <a:cs typeface="Consolas"/>
                </a:rPr>
                <a:t>Fried Chicken → Fried Chicken Wings</a:t>
              </a:r>
            </a:p>
          </p:txBody>
        </p:sp>
        <p:sp>
          <p:nvSpPr>
            <p:cNvPr id="29" name="TextBox 29"/>
            <p:cNvSpPr txBox="1"/>
            <p:nvPr/>
          </p:nvSpPr>
          <p:spPr>
            <a:xfrm>
              <a:off x="940118" y="3247549"/>
              <a:ext cx="57083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原因分析</a:t>
              </a:r>
            </a:p>
          </p:txBody>
        </p:sp>
        <p:sp>
          <p:nvSpPr>
            <p:cNvPr id="30" name="Ellipse 30"/>
            <p:cNvSpPr/>
            <p:nvPr/>
          </p:nvSpPr>
          <p:spPr>
            <a:xfrm>
              <a:off x="1000125" y="3514725"/>
              <a:ext cx="57150" cy="57150"/>
            </a:xfrm>
            <a:prstGeom prst="ellipse">
              <a:avLst/>
            </a:prstGeom>
            <a:solidFill>
              <a:srgbClr val="FF8F00"/>
            </a:solidFill>
            <a:ln>
              <a:noFill/>
            </a:ln>
          </p:spPr>
        </p:sp>
        <p:sp>
          <p:nvSpPr>
            <p:cNvPr id="31" name="TextBox 31"/>
            <p:cNvSpPr txBox="1"/>
            <p:nvPr/>
          </p:nvSpPr>
          <p:spPr>
            <a:xfrm>
              <a:off x="1131570" y="3484245"/>
              <a:ext cx="1649063"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视觉相似度高,类别间差异细微</a:t>
              </a:r>
            </a:p>
          </p:txBody>
        </p:sp>
        <p:sp>
          <p:nvSpPr>
            <p:cNvPr id="32" name="Ellipse 32"/>
            <p:cNvSpPr/>
            <p:nvPr/>
          </p:nvSpPr>
          <p:spPr>
            <a:xfrm>
              <a:off x="1000125" y="3724275"/>
              <a:ext cx="57150" cy="57150"/>
            </a:xfrm>
            <a:prstGeom prst="ellipse">
              <a:avLst/>
            </a:prstGeom>
            <a:solidFill>
              <a:srgbClr val="FF8F00"/>
            </a:solidFill>
            <a:ln>
              <a:noFill/>
            </a:ln>
          </p:spPr>
        </p:sp>
        <p:sp>
          <p:nvSpPr>
            <p:cNvPr id="33" name="TextBox 33"/>
            <p:cNvSpPr txBox="1"/>
            <p:nvPr/>
          </p:nvSpPr>
          <p:spPr>
            <a:xfrm>
              <a:off x="1131570" y="3693795"/>
              <a:ext cx="1595056"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同类细分(炒鸡、汤面)易混淆</a:t>
              </a:r>
            </a:p>
          </p:txBody>
        </p:sp>
      </p:grpSp>
      <p:grpSp>
        <p:nvGrpSpPr>
          <p:cNvPr id="53" name="Group 53"/>
          <p:cNvGrpSpPr/>
          <p:nvPr/>
        </p:nvGrpSpPr>
        <p:grpSpPr>
          <a:xfrm>
            <a:off x="6286500" y="2000250"/>
            <a:ext cx="5143500" cy="1905000"/>
            <a:chOff x="6286500" y="2000250"/>
            <a:chExt cx="5143500" cy="1905000"/>
          </a:xfrm>
        </p:grpSpPr>
        <p:sp>
          <p:nvSpPr>
            <p:cNvPr id="35" name="Rectangle 35"/>
            <p:cNvSpPr/>
            <p:nvPr/>
          </p:nvSpPr>
          <p:spPr>
            <a:xfrm>
              <a:off x="6286500" y="2000250"/>
              <a:ext cx="5143500" cy="1905000"/>
            </a:xfrm>
            <a:prstGeom prst="roundRect">
              <a:avLst>
                <a:gd name="adj" fmla="val 6000"/>
              </a:avLst>
            </a:prstGeom>
            <a:solidFill>
              <a:srgbClr val="FFFFFF"/>
            </a:solidFill>
            <a:ln w="14288">
              <a:solidFill>
                <a:srgbClr val="C62828"/>
              </a:solidFill>
            </a:ln>
            <a:effectLst>
              <a:outerShdw blurRad="114300" dist="38100" dir="5400000" algn="ctr" rotWithShape="0">
                <a:srgbClr val="0F172A">
                  <a:alpha val="7500"/>
                </a:srgbClr>
              </a:outerShdw>
            </a:effectLst>
          </p:spPr>
        </p:sp>
        <p:sp>
          <p:nvSpPr>
            <p:cNvPr id="36" name="Freeform 36"/>
            <p:cNvSpPr/>
            <p:nvPr/>
          </p:nvSpPr>
          <p:spPr>
            <a:xfrm>
              <a:off x="6286500" y="2000250"/>
              <a:ext cx="5143500" cy="476250"/>
            </a:xfrm>
            <a:custGeom>
              <a:avLst/>
              <a:gdLst/>
              <a:ahLst/>
              <a:cxnLst/>
              <a:rect l="l" t="t" r="r" b="b"/>
              <a:pathLst>
                <a:path w="5143500" h="476250">
                  <a:moveTo>
                    <a:pt x="0" y="114300"/>
                  </a:moveTo>
                  <a:cubicBezTo>
                    <a:pt x="0" y="51174"/>
                    <a:pt x="51174" y="0"/>
                    <a:pt x="114300" y="0"/>
                  </a:cubicBezTo>
                  <a:lnTo>
                    <a:pt x="5029200" y="0"/>
                  </a:lnTo>
                  <a:cubicBezTo>
                    <a:pt x="5092326" y="0"/>
                    <a:pt x="5143500" y="51174"/>
                    <a:pt x="5143500" y="114300"/>
                  </a:cubicBezTo>
                  <a:lnTo>
                    <a:pt x="5143500" y="476250"/>
                  </a:lnTo>
                  <a:lnTo>
                    <a:pt x="0" y="476250"/>
                  </a:lnTo>
                  <a:close/>
                </a:path>
              </a:pathLst>
            </a:custGeom>
            <a:gradFill>
              <a:gsLst>
                <a:gs pos="0">
                  <a:srgbClr val="C62828"/>
                </a:gs>
                <a:gs pos="100000">
                  <a:srgbClr val="FF8F00"/>
                </a:gs>
              </a:gsLst>
              <a:lin ang="2700000" scaled="1"/>
            </a:gradFill>
            <a:ln>
              <a:noFill/>
            </a:ln>
          </p:spPr>
        </p:sp>
        <p:sp>
          <p:nvSpPr>
            <p:cNvPr id="37" name="Rectangle 37"/>
            <p:cNvSpPr/>
            <p:nvPr/>
          </p:nvSpPr>
          <p:spPr>
            <a:xfrm>
              <a:off x="6477000" y="2133600"/>
              <a:ext cx="304800" cy="304800"/>
            </a:xfrm>
            <a:prstGeom prst="roundRect">
              <a:avLst>
                <a:gd name="adj" fmla="val 18750"/>
              </a:avLst>
            </a:prstGeom>
            <a:solidFill>
              <a:srgbClr val="FFFFFF">
                <a:alpha val="20000"/>
              </a:srgbClr>
            </a:solidFill>
            <a:ln>
              <a:noFill/>
            </a:ln>
          </p:spPr>
        </p:sp>
        <p:grpSp>
          <p:nvGrpSpPr>
            <p:cNvPr id="41" name="Group 41"/>
            <p:cNvGrpSpPr/>
            <p:nvPr/>
          </p:nvGrpSpPr>
          <p:grpSpPr>
            <a:xfrm>
              <a:off x="6501319" y="2167481"/>
              <a:ext cx="256152" cy="220068"/>
              <a:chOff x="6501319" y="2167481"/>
              <a:chExt cx="256152" cy="220068"/>
            </a:xfrm>
          </p:grpSpPr>
          <p:sp>
            <p:nvSpPr>
              <p:cNvPr id="38" name="Freeform 38"/>
              <p:cNvSpPr/>
              <p:nvPr/>
            </p:nvSpPr>
            <p:spPr>
              <a:xfrm>
                <a:off x="6629400" y="2247900"/>
                <a:ext cx="9525" cy="50800"/>
              </a:xfrm>
              <a:custGeom>
                <a:avLst/>
                <a:gdLst/>
                <a:ahLst/>
                <a:cxnLst/>
                <a:rect l="l" t="t" r="r" b="b"/>
                <a:pathLst>
                  <a:path w="9525" h="50800">
                    <a:moveTo>
                      <a:pt x="0" y="0"/>
                    </a:moveTo>
                    <a:lnTo>
                      <a:pt x="0" y="50800"/>
                    </a:lnTo>
                  </a:path>
                </a:pathLst>
              </a:custGeom>
              <a:noFill/>
              <a:ln w="19050">
                <a:solidFill>
                  <a:srgbClr val="FFFFFF"/>
                </a:solidFill>
              </a:ln>
            </p:spPr>
          </p:sp>
          <p:sp>
            <p:nvSpPr>
              <p:cNvPr id="39" name="Freeform 39"/>
              <p:cNvSpPr/>
              <p:nvPr/>
            </p:nvSpPr>
            <p:spPr>
              <a:xfrm>
                <a:off x="6501319" y="2167481"/>
                <a:ext cx="256152" cy="220068"/>
              </a:xfrm>
              <a:custGeom>
                <a:avLst/>
                <a:gdLst/>
                <a:ahLst/>
                <a:cxnLst/>
                <a:rect l="l" t="t" r="r" b="b"/>
                <a:pathLst>
                  <a:path w="256152" h="220068">
                    <a:moveTo>
                      <a:pt x="107291" y="11725"/>
                    </a:moveTo>
                    <a:lnTo>
                      <a:pt x="4345" y="183607"/>
                    </a:lnTo>
                    <a:cubicBezTo>
                      <a:pt x="26" y="191085"/>
                      <a:pt x="0" y="200294"/>
                      <a:pt x="4276" y="207797"/>
                    </a:cubicBezTo>
                    <a:cubicBezTo>
                      <a:pt x="8551" y="215300"/>
                      <a:pt x="16487" y="219971"/>
                      <a:pt x="25122" y="220068"/>
                    </a:cubicBezTo>
                    <a:lnTo>
                      <a:pt x="231040" y="220068"/>
                    </a:lnTo>
                    <a:cubicBezTo>
                      <a:pt x="239671" y="219969"/>
                      <a:pt x="247602" y="215299"/>
                      <a:pt x="251877" y="207800"/>
                    </a:cubicBezTo>
                    <a:cubicBezTo>
                      <a:pt x="256152" y="200301"/>
                      <a:pt x="256129" y="191097"/>
                      <a:pt x="251817" y="183619"/>
                    </a:cubicBezTo>
                    <a:lnTo>
                      <a:pt x="148871" y="11712"/>
                    </a:lnTo>
                    <a:cubicBezTo>
                      <a:pt x="144466" y="4441"/>
                      <a:pt x="136582" y="0"/>
                      <a:pt x="128081" y="0"/>
                    </a:cubicBezTo>
                    <a:cubicBezTo>
                      <a:pt x="119580" y="0"/>
                      <a:pt x="111696" y="4441"/>
                      <a:pt x="107291" y="11712"/>
                    </a:cubicBezTo>
                  </a:path>
                </a:pathLst>
              </a:custGeom>
              <a:noFill/>
              <a:ln w="19050">
                <a:solidFill>
                  <a:srgbClr val="FFFFFF"/>
                </a:solidFill>
              </a:ln>
            </p:spPr>
          </p:sp>
          <p:sp>
            <p:nvSpPr>
              <p:cNvPr id="40" name="Freeform 40"/>
              <p:cNvSpPr/>
              <p:nvPr/>
            </p:nvSpPr>
            <p:spPr>
              <a:xfrm>
                <a:off x="6629400" y="2336800"/>
                <a:ext cx="9525" cy="9525"/>
              </a:xfrm>
              <a:custGeom>
                <a:avLst/>
                <a:gdLst/>
                <a:ahLst/>
                <a:cxnLst/>
                <a:rect l="l" t="t" r="r" b="b"/>
                <a:pathLst>
                  <a:path w="9525" h="9525">
                    <a:moveTo>
                      <a:pt x="0" y="0"/>
                    </a:moveTo>
                    <a:lnTo>
                      <a:pt x="127" y="0"/>
                    </a:lnTo>
                  </a:path>
                </a:pathLst>
              </a:custGeom>
              <a:noFill/>
              <a:ln w="19050">
                <a:solidFill>
                  <a:srgbClr val="FFFFFF"/>
                </a:solidFill>
              </a:ln>
            </p:spPr>
          </p:sp>
        </p:grpSp>
        <p:sp>
          <p:nvSpPr>
            <p:cNvPr id="42" name="TextBox 42"/>
            <p:cNvSpPr txBox="1"/>
            <p:nvPr/>
          </p:nvSpPr>
          <p:spPr>
            <a:xfrm>
              <a:off x="6861810" y="2175510"/>
              <a:ext cx="870585"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mbria"/>
                  <a:ea typeface="SimSun"/>
                  <a:cs typeface="Cambria"/>
                </a:rPr>
                <a:t>垃圾桶效应</a:t>
              </a:r>
            </a:p>
          </p:txBody>
        </p:sp>
        <p:sp>
          <p:nvSpPr>
            <p:cNvPr id="43" name="TextBox 43"/>
            <p:cNvSpPr txBox="1"/>
            <p:nvPr/>
          </p:nvSpPr>
          <p:spPr>
            <a:xfrm>
              <a:off x="6867525" y="2357438"/>
              <a:ext cx="1239202" cy="152400"/>
            </a:xfrm>
            <a:prstGeom prst="rect">
              <a:avLst/>
            </a:prstGeom>
            <a:noFill/>
            <a:ln>
              <a:noFill/>
            </a:ln>
          </p:spPr>
          <p:txBody>
            <a:bodyPr wrap="none" lIns="0" tIns="0" rIns="0" bIns="0" anchor="t" anchorCtr="0">
              <a:spAutoFit/>
            </a:bodyPr>
            <a:lstStyle/>
            <a:p>
              <a:pPr algn="l"/>
              <a:r>
                <a:rPr lang="zh-CN" sz="750" dirty="0">
                  <a:solidFill>
                    <a:srgbClr val="FFFFFF">
                      <a:alphaMod val="85000"/>
                    </a:srgbClr>
                  </a:solidFill>
                  <a:latin typeface="Arial"/>
                  <a:ea typeface="Microsoft YaHei"/>
                  <a:cs typeface="Arial"/>
                </a:rPr>
                <a:t>MIXED CUISINE "TRASH BIN"</a:t>
              </a:r>
            </a:p>
          </p:txBody>
        </p:sp>
        <p:sp>
          <p:nvSpPr>
            <p:cNvPr id="44" name="TextBox 44"/>
            <p:cNvSpPr txBox="1"/>
            <p:nvPr/>
          </p:nvSpPr>
          <p:spPr>
            <a:xfrm>
              <a:off x="10873907" y="2143125"/>
              <a:ext cx="384643" cy="304800"/>
            </a:xfrm>
            <a:prstGeom prst="rect">
              <a:avLst/>
            </a:prstGeom>
            <a:noFill/>
            <a:ln>
              <a:noFill/>
            </a:ln>
          </p:spPr>
          <p:txBody>
            <a:bodyPr wrap="none" lIns="0" tIns="0" rIns="0" bIns="0" anchor="t" anchorCtr="0">
              <a:spAutoFit/>
            </a:bodyPr>
            <a:lstStyle/>
            <a:p>
              <a:pPr algn="r"/>
              <a:r>
                <a:rPr lang="zh-CN" sz="1500" b="1" dirty="0">
                  <a:solidFill>
                    <a:srgbClr val="FFB300"/>
                  </a:solidFill>
                  <a:latin typeface="Cambria"/>
                  <a:ea typeface="SimSun"/>
                  <a:cs typeface="Cambria"/>
                </a:rPr>
                <a:t>25%</a:t>
              </a:r>
            </a:p>
          </p:txBody>
        </p:sp>
        <p:sp>
          <p:nvSpPr>
            <p:cNvPr id="45" name="TextBox 45"/>
            <p:cNvSpPr txBox="1"/>
            <p:nvPr/>
          </p:nvSpPr>
          <p:spPr>
            <a:xfrm>
              <a:off x="6464618" y="2618899"/>
              <a:ext cx="57083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典型案例</a:t>
              </a:r>
            </a:p>
          </p:txBody>
        </p:sp>
        <p:sp>
          <p:nvSpPr>
            <p:cNvPr id="46" name="Rectangle 46"/>
            <p:cNvSpPr/>
            <p:nvPr/>
          </p:nvSpPr>
          <p:spPr>
            <a:xfrm>
              <a:off x="6477000" y="2819400"/>
              <a:ext cx="4762500" cy="342900"/>
            </a:xfrm>
            <a:prstGeom prst="roundRect">
              <a:avLst>
                <a:gd name="adj" fmla="val 16667"/>
              </a:avLst>
            </a:prstGeom>
            <a:solidFill>
              <a:srgbClr val="FFEBEE"/>
            </a:solidFill>
            <a:ln>
              <a:noFill/>
            </a:ln>
          </p:spPr>
        </p:sp>
        <p:sp>
          <p:nvSpPr>
            <p:cNvPr id="47" name="TextBox 47"/>
            <p:cNvSpPr txBox="1"/>
            <p:nvPr/>
          </p:nvSpPr>
          <p:spPr>
            <a:xfrm>
              <a:off x="7920604" y="2931795"/>
              <a:ext cx="1875292" cy="182880"/>
            </a:xfrm>
            <a:prstGeom prst="rect">
              <a:avLst/>
            </a:prstGeom>
            <a:noFill/>
            <a:ln>
              <a:noFill/>
            </a:ln>
          </p:spPr>
          <p:txBody>
            <a:bodyPr wrap="none" lIns="0" tIns="0" rIns="0" bIns="0" anchor="t" anchorCtr="0">
              <a:spAutoFit/>
            </a:bodyPr>
            <a:lstStyle/>
            <a:p>
              <a:pPr algn="ctr"/>
              <a:r>
                <a:rPr lang="zh-CN" sz="900" b="1" dirty="0">
                  <a:solidFill>
                    <a:srgbClr val="C62828"/>
                  </a:solidFill>
                  <a:latin typeface="Consolas"/>
                  <a:ea typeface="Microsoft YaHei"/>
                  <a:cs typeface="Consolas"/>
                </a:rPr>
                <a:t>Hot Pot → Mixed Chinese Dishes</a:t>
              </a:r>
            </a:p>
          </p:txBody>
        </p:sp>
        <p:sp>
          <p:nvSpPr>
            <p:cNvPr id="48" name="TextBox 48"/>
            <p:cNvSpPr txBox="1"/>
            <p:nvPr/>
          </p:nvSpPr>
          <p:spPr>
            <a:xfrm>
              <a:off x="6464618" y="3247549"/>
              <a:ext cx="57083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原因分析</a:t>
              </a:r>
            </a:p>
          </p:txBody>
        </p:sp>
        <p:sp>
          <p:nvSpPr>
            <p:cNvPr id="49" name="Ellipse 49"/>
            <p:cNvSpPr/>
            <p:nvPr/>
          </p:nvSpPr>
          <p:spPr>
            <a:xfrm>
              <a:off x="6524625" y="3514725"/>
              <a:ext cx="57150" cy="57150"/>
            </a:xfrm>
            <a:prstGeom prst="ellipse">
              <a:avLst/>
            </a:prstGeom>
            <a:solidFill>
              <a:srgbClr val="C62828"/>
            </a:solidFill>
            <a:ln>
              <a:noFill/>
            </a:ln>
          </p:spPr>
        </p:sp>
        <p:sp>
          <p:nvSpPr>
            <p:cNvPr id="50" name="TextBox 50"/>
            <p:cNvSpPr txBox="1"/>
            <p:nvPr/>
          </p:nvSpPr>
          <p:spPr>
            <a:xfrm>
              <a:off x="6656070" y="3484245"/>
              <a:ext cx="1343025"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宽泛类别吸收不确定样本</a:t>
              </a:r>
            </a:p>
          </p:txBody>
        </p:sp>
        <p:sp>
          <p:nvSpPr>
            <p:cNvPr id="51" name="Ellipse 51"/>
            <p:cNvSpPr/>
            <p:nvPr/>
          </p:nvSpPr>
          <p:spPr>
            <a:xfrm>
              <a:off x="6524625" y="3724275"/>
              <a:ext cx="57150" cy="57150"/>
            </a:xfrm>
            <a:prstGeom prst="ellipse">
              <a:avLst/>
            </a:prstGeom>
            <a:solidFill>
              <a:srgbClr val="C62828"/>
            </a:solidFill>
            <a:ln>
              <a:noFill/>
            </a:ln>
          </p:spPr>
        </p:sp>
        <p:sp>
          <p:nvSpPr>
            <p:cNvPr id="52" name="TextBox 52"/>
            <p:cNvSpPr txBox="1"/>
            <p:nvPr/>
          </p:nvSpPr>
          <p:spPr>
            <a:xfrm>
              <a:off x="6656070" y="3693795"/>
              <a:ext cx="1667065"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Mixed Asian/Cuisine 语义宽泛</a:t>
              </a:r>
            </a:p>
          </p:txBody>
        </p:sp>
      </p:grpSp>
      <p:grpSp>
        <p:nvGrpSpPr>
          <p:cNvPr id="72" name="Group 72"/>
          <p:cNvGrpSpPr/>
          <p:nvPr/>
        </p:nvGrpSpPr>
        <p:grpSpPr>
          <a:xfrm>
            <a:off x="762000" y="4191000"/>
            <a:ext cx="5143500" cy="1905000"/>
            <a:chOff x="762000" y="4191000"/>
            <a:chExt cx="5143500" cy="1905000"/>
          </a:xfrm>
        </p:grpSpPr>
        <p:sp>
          <p:nvSpPr>
            <p:cNvPr id="54" name="Rectangle 54"/>
            <p:cNvSpPr/>
            <p:nvPr/>
          </p:nvSpPr>
          <p:spPr>
            <a:xfrm>
              <a:off x="762000" y="4191000"/>
              <a:ext cx="5143500" cy="1905000"/>
            </a:xfrm>
            <a:prstGeom prst="roundRect">
              <a:avLst>
                <a:gd name="adj" fmla="val 6000"/>
              </a:avLst>
            </a:prstGeom>
            <a:solidFill>
              <a:srgbClr val="FFFFFF"/>
            </a:solidFill>
            <a:ln w="14288">
              <a:solidFill>
                <a:srgbClr val="FF8F00"/>
              </a:solidFill>
            </a:ln>
            <a:effectLst>
              <a:outerShdw blurRad="114300" dist="38100" dir="5400000" algn="ctr" rotWithShape="0">
                <a:srgbClr val="0F172A">
                  <a:alpha val="7500"/>
                </a:srgbClr>
              </a:outerShdw>
            </a:effectLst>
          </p:spPr>
        </p:sp>
        <p:sp>
          <p:nvSpPr>
            <p:cNvPr id="55" name="Freeform 55"/>
            <p:cNvSpPr/>
            <p:nvPr/>
          </p:nvSpPr>
          <p:spPr>
            <a:xfrm>
              <a:off x="762000" y="4191000"/>
              <a:ext cx="5143500" cy="476250"/>
            </a:xfrm>
            <a:custGeom>
              <a:avLst/>
              <a:gdLst/>
              <a:ahLst/>
              <a:cxnLst/>
              <a:rect l="l" t="t" r="r" b="b"/>
              <a:pathLst>
                <a:path w="5143500" h="476250">
                  <a:moveTo>
                    <a:pt x="0" y="114300"/>
                  </a:moveTo>
                  <a:cubicBezTo>
                    <a:pt x="0" y="51174"/>
                    <a:pt x="51174" y="0"/>
                    <a:pt x="114300" y="0"/>
                  </a:cubicBezTo>
                  <a:lnTo>
                    <a:pt x="5029200" y="0"/>
                  </a:lnTo>
                  <a:cubicBezTo>
                    <a:pt x="5092326" y="0"/>
                    <a:pt x="5143500" y="51174"/>
                    <a:pt x="5143500" y="114300"/>
                  </a:cubicBezTo>
                  <a:lnTo>
                    <a:pt x="5143500" y="476250"/>
                  </a:lnTo>
                  <a:lnTo>
                    <a:pt x="0" y="476250"/>
                  </a:lnTo>
                  <a:close/>
                </a:path>
              </a:pathLst>
            </a:custGeom>
            <a:gradFill>
              <a:gsLst>
                <a:gs pos="0">
                  <a:srgbClr val="FF8F00"/>
                </a:gs>
                <a:gs pos="100000">
                  <a:srgbClr val="FFB300"/>
                </a:gs>
              </a:gsLst>
              <a:lin ang="2700000" scaled="1"/>
            </a:gradFill>
            <a:ln>
              <a:noFill/>
            </a:ln>
          </p:spPr>
        </p:sp>
        <p:sp>
          <p:nvSpPr>
            <p:cNvPr id="56" name="Rectangle 56"/>
            <p:cNvSpPr/>
            <p:nvPr/>
          </p:nvSpPr>
          <p:spPr>
            <a:xfrm>
              <a:off x="952500" y="4324350"/>
              <a:ext cx="304800" cy="304800"/>
            </a:xfrm>
            <a:prstGeom prst="roundRect">
              <a:avLst>
                <a:gd name="adj" fmla="val 18750"/>
              </a:avLst>
            </a:prstGeom>
            <a:solidFill>
              <a:srgbClr val="FFFFFF">
                <a:alpha val="25000"/>
              </a:srgbClr>
            </a:solidFill>
            <a:ln>
              <a:noFill/>
            </a:ln>
          </p:spPr>
        </p:sp>
        <p:grpSp>
          <p:nvGrpSpPr>
            <p:cNvPr id="60" name="Group 60"/>
            <p:cNvGrpSpPr/>
            <p:nvPr/>
          </p:nvGrpSpPr>
          <p:grpSpPr>
            <a:xfrm>
              <a:off x="1003300" y="4362450"/>
              <a:ext cx="203200" cy="235522"/>
              <a:chOff x="1003300" y="4362450"/>
              <a:chExt cx="203200" cy="235522"/>
            </a:xfrm>
          </p:grpSpPr>
          <p:sp>
            <p:nvSpPr>
              <p:cNvPr id="57" name="Freeform 57"/>
              <p:cNvSpPr/>
              <p:nvPr/>
            </p:nvSpPr>
            <p:spPr>
              <a:xfrm>
                <a:off x="1003300" y="4400550"/>
                <a:ext cx="203200" cy="197422"/>
              </a:xfrm>
              <a:custGeom>
                <a:avLst/>
                <a:gdLst/>
                <a:ahLst/>
                <a:cxnLst/>
                <a:rect l="l" t="t" r="r" b="b"/>
                <a:pathLst>
                  <a:path w="203200" h="197422">
                    <a:moveTo>
                      <a:pt x="0" y="67551"/>
                    </a:moveTo>
                    <a:cubicBezTo>
                      <a:pt x="0" y="106947"/>
                      <a:pt x="5639" y="135103"/>
                      <a:pt x="28219" y="168872"/>
                    </a:cubicBezTo>
                    <a:cubicBezTo>
                      <a:pt x="45377" y="191694"/>
                      <a:pt x="68301" y="197409"/>
                      <a:pt x="92735" y="181420"/>
                    </a:cubicBezTo>
                    <a:cubicBezTo>
                      <a:pt x="98146" y="178016"/>
                      <a:pt x="105054" y="178016"/>
                      <a:pt x="110477" y="181420"/>
                    </a:cubicBezTo>
                    <a:cubicBezTo>
                      <a:pt x="134899" y="197422"/>
                      <a:pt x="157823" y="191694"/>
                      <a:pt x="174981" y="168872"/>
                    </a:cubicBezTo>
                    <a:cubicBezTo>
                      <a:pt x="197561" y="135090"/>
                      <a:pt x="203200" y="106947"/>
                      <a:pt x="203200" y="67564"/>
                    </a:cubicBezTo>
                    <a:cubicBezTo>
                      <a:pt x="203200" y="33769"/>
                      <a:pt x="177927" y="0"/>
                      <a:pt x="146761" y="0"/>
                    </a:cubicBezTo>
                    <a:cubicBezTo>
                      <a:pt x="130670" y="0"/>
                      <a:pt x="116154" y="8801"/>
                      <a:pt x="105867" y="18288"/>
                    </a:cubicBezTo>
                    <a:cubicBezTo>
                      <a:pt x="103446" y="20485"/>
                      <a:pt x="99754" y="20485"/>
                      <a:pt x="97333" y="18288"/>
                    </a:cubicBezTo>
                    <a:cubicBezTo>
                      <a:pt x="87058" y="8814"/>
                      <a:pt x="72530" y="0"/>
                      <a:pt x="56439" y="0"/>
                    </a:cubicBezTo>
                    <a:cubicBezTo>
                      <a:pt x="25273" y="0"/>
                      <a:pt x="0" y="33782"/>
                      <a:pt x="0" y="67551"/>
                    </a:cubicBezTo>
                  </a:path>
                </a:pathLst>
              </a:custGeom>
              <a:noFill/>
              <a:ln w="19050">
                <a:solidFill>
                  <a:srgbClr val="FFFFFF"/>
                </a:solidFill>
              </a:ln>
            </p:spPr>
          </p:sp>
          <p:sp>
            <p:nvSpPr>
              <p:cNvPr id="58" name="Freeform 58"/>
              <p:cNvSpPr/>
              <p:nvPr/>
            </p:nvSpPr>
            <p:spPr>
              <a:xfrm>
                <a:off x="1041400" y="4438650"/>
                <a:ext cx="19050" cy="38100"/>
              </a:xfrm>
              <a:custGeom>
                <a:avLst/>
                <a:gdLst/>
                <a:ahLst/>
                <a:cxnLst/>
                <a:rect l="l" t="t" r="r" b="b"/>
                <a:pathLst>
                  <a:path w="19050" h="38100">
                    <a:moveTo>
                      <a:pt x="0" y="38100"/>
                    </a:moveTo>
                    <a:cubicBezTo>
                      <a:pt x="0" y="19431"/>
                      <a:pt x="5766" y="8382"/>
                      <a:pt x="19050" y="0"/>
                    </a:cubicBezTo>
                  </a:path>
                </a:pathLst>
              </a:custGeom>
              <a:noFill/>
              <a:ln w="19050">
                <a:solidFill>
                  <a:srgbClr val="FFFFFF"/>
                </a:solidFill>
              </a:ln>
            </p:spPr>
          </p:sp>
          <p:sp>
            <p:nvSpPr>
              <p:cNvPr id="59" name="Freeform 59"/>
              <p:cNvSpPr/>
              <p:nvPr/>
            </p:nvSpPr>
            <p:spPr>
              <a:xfrm>
                <a:off x="1104900" y="4362450"/>
                <a:ext cx="38100" cy="50800"/>
              </a:xfrm>
              <a:custGeom>
                <a:avLst/>
                <a:gdLst/>
                <a:ahLst/>
                <a:cxnLst/>
                <a:rect l="l" t="t" r="r" b="b"/>
                <a:pathLst>
                  <a:path w="38100" h="50800">
                    <a:moveTo>
                      <a:pt x="0" y="50800"/>
                    </a:moveTo>
                    <a:cubicBezTo>
                      <a:pt x="0" y="35560"/>
                      <a:pt x="11011" y="0"/>
                      <a:pt x="38100" y="0"/>
                    </a:cubicBezTo>
                  </a:path>
                </a:pathLst>
              </a:custGeom>
              <a:noFill/>
              <a:ln w="19050">
                <a:solidFill>
                  <a:srgbClr val="FFFFFF"/>
                </a:solidFill>
              </a:ln>
            </p:spPr>
          </p:sp>
        </p:grpSp>
        <p:sp>
          <p:nvSpPr>
            <p:cNvPr id="61" name="TextBox 61"/>
            <p:cNvSpPr txBox="1"/>
            <p:nvPr/>
          </p:nvSpPr>
          <p:spPr>
            <a:xfrm>
              <a:off x="1337310" y="4366260"/>
              <a:ext cx="870585"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mbria"/>
                  <a:ea typeface="SimSun"/>
                  <a:cs typeface="Cambria"/>
                </a:rPr>
                <a:t>水果类混淆</a:t>
              </a:r>
            </a:p>
          </p:txBody>
        </p:sp>
        <p:sp>
          <p:nvSpPr>
            <p:cNvPr id="62" name="TextBox 62"/>
            <p:cNvSpPr txBox="1"/>
            <p:nvPr/>
          </p:nvSpPr>
          <p:spPr>
            <a:xfrm>
              <a:off x="1343025" y="4548188"/>
              <a:ext cx="809149" cy="152400"/>
            </a:xfrm>
            <a:prstGeom prst="rect">
              <a:avLst/>
            </a:prstGeom>
            <a:noFill/>
            <a:ln>
              <a:noFill/>
            </a:ln>
          </p:spPr>
          <p:txBody>
            <a:bodyPr wrap="none" lIns="0" tIns="0" rIns="0" bIns="0" anchor="t" anchorCtr="0">
              <a:spAutoFit/>
            </a:bodyPr>
            <a:lstStyle/>
            <a:p>
              <a:pPr algn="l"/>
              <a:r>
                <a:rPr lang="zh-CN" sz="750" dirty="0">
                  <a:solidFill>
                    <a:srgbClr val="FFFFFF">
                      <a:alphaMod val="85000"/>
                    </a:srgbClr>
                  </a:solidFill>
                  <a:latin typeface="Arial"/>
                  <a:ea typeface="Microsoft YaHei"/>
                  <a:cs typeface="Arial"/>
                </a:rPr>
                <a:t>FRUIT CONFUSION</a:t>
              </a:r>
            </a:p>
          </p:txBody>
        </p:sp>
        <p:sp>
          <p:nvSpPr>
            <p:cNvPr id="63" name="TextBox 63"/>
            <p:cNvSpPr txBox="1"/>
            <p:nvPr/>
          </p:nvSpPr>
          <p:spPr>
            <a:xfrm>
              <a:off x="5401913" y="4333875"/>
              <a:ext cx="332137" cy="304800"/>
            </a:xfrm>
            <a:prstGeom prst="rect">
              <a:avLst/>
            </a:prstGeom>
            <a:noFill/>
            <a:ln>
              <a:noFill/>
            </a:ln>
          </p:spPr>
          <p:txBody>
            <a:bodyPr wrap="none" lIns="0" tIns="0" rIns="0" bIns="0" anchor="t" anchorCtr="0">
              <a:spAutoFit/>
            </a:bodyPr>
            <a:lstStyle/>
            <a:p>
              <a:pPr algn="r"/>
              <a:r>
                <a:rPr lang="zh-CN" sz="1500" b="1" dirty="0">
                  <a:solidFill>
                    <a:srgbClr val="FFFFFF"/>
                  </a:solidFill>
                  <a:latin typeface="Cambria"/>
                  <a:ea typeface="SimSun"/>
                  <a:cs typeface="Cambria"/>
                </a:rPr>
                <a:t>15%</a:t>
              </a:r>
            </a:p>
          </p:txBody>
        </p:sp>
        <p:sp>
          <p:nvSpPr>
            <p:cNvPr id="64" name="TextBox 64"/>
            <p:cNvSpPr txBox="1"/>
            <p:nvPr/>
          </p:nvSpPr>
          <p:spPr>
            <a:xfrm>
              <a:off x="940118" y="4809649"/>
              <a:ext cx="57083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典型案例</a:t>
              </a:r>
            </a:p>
          </p:txBody>
        </p:sp>
        <p:sp>
          <p:nvSpPr>
            <p:cNvPr id="65" name="Rectangle 65"/>
            <p:cNvSpPr/>
            <p:nvPr/>
          </p:nvSpPr>
          <p:spPr>
            <a:xfrm>
              <a:off x="952500" y="5010150"/>
              <a:ext cx="4762500" cy="342900"/>
            </a:xfrm>
            <a:prstGeom prst="roundRect">
              <a:avLst>
                <a:gd name="adj" fmla="val 16667"/>
              </a:avLst>
            </a:prstGeom>
            <a:solidFill>
              <a:srgbClr val="FFF3E0"/>
            </a:solidFill>
            <a:ln>
              <a:noFill/>
            </a:ln>
          </p:spPr>
        </p:sp>
        <p:sp>
          <p:nvSpPr>
            <p:cNvPr id="66" name="TextBox 66"/>
            <p:cNvSpPr txBox="1"/>
            <p:nvPr/>
          </p:nvSpPr>
          <p:spPr>
            <a:xfrm>
              <a:off x="2884415" y="5122545"/>
              <a:ext cx="898669" cy="182880"/>
            </a:xfrm>
            <a:prstGeom prst="rect">
              <a:avLst/>
            </a:prstGeom>
            <a:noFill/>
            <a:ln>
              <a:noFill/>
            </a:ln>
          </p:spPr>
          <p:txBody>
            <a:bodyPr wrap="none" lIns="0" tIns="0" rIns="0" bIns="0" anchor="t" anchorCtr="0">
              <a:spAutoFit/>
            </a:bodyPr>
            <a:lstStyle/>
            <a:p>
              <a:pPr algn="ctr"/>
              <a:r>
                <a:rPr lang="zh-CN" sz="900" b="1" dirty="0">
                  <a:solidFill>
                    <a:srgbClr val="FF8F00"/>
                  </a:solidFill>
                  <a:latin typeface="Consolas"/>
                  <a:ea typeface="Microsoft YaHei"/>
                  <a:cs typeface="Consolas"/>
                </a:rPr>
                <a:t>Apple → Lychee</a:t>
              </a:r>
            </a:p>
          </p:txBody>
        </p:sp>
        <p:sp>
          <p:nvSpPr>
            <p:cNvPr id="67" name="TextBox 67"/>
            <p:cNvSpPr txBox="1"/>
            <p:nvPr/>
          </p:nvSpPr>
          <p:spPr>
            <a:xfrm>
              <a:off x="940118" y="5438299"/>
              <a:ext cx="57083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原因分析</a:t>
              </a:r>
            </a:p>
          </p:txBody>
        </p:sp>
        <p:sp>
          <p:nvSpPr>
            <p:cNvPr id="68" name="Ellipse 68"/>
            <p:cNvSpPr/>
            <p:nvPr/>
          </p:nvSpPr>
          <p:spPr>
            <a:xfrm>
              <a:off x="1000125" y="5705475"/>
              <a:ext cx="57150" cy="57150"/>
            </a:xfrm>
            <a:prstGeom prst="ellipse">
              <a:avLst/>
            </a:prstGeom>
            <a:solidFill>
              <a:srgbClr val="FF8F00"/>
            </a:solidFill>
            <a:ln>
              <a:noFill/>
            </a:ln>
          </p:spPr>
        </p:sp>
        <p:sp>
          <p:nvSpPr>
            <p:cNvPr id="69" name="TextBox 69"/>
            <p:cNvSpPr txBox="1"/>
            <p:nvPr/>
          </p:nvSpPr>
          <p:spPr>
            <a:xfrm>
              <a:off x="1131570" y="5674995"/>
              <a:ext cx="1355026"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圆形,颜色接近,视觉相似</a:t>
              </a:r>
            </a:p>
          </p:txBody>
        </p:sp>
        <p:sp>
          <p:nvSpPr>
            <p:cNvPr id="70" name="Ellipse 70"/>
            <p:cNvSpPr/>
            <p:nvPr/>
          </p:nvSpPr>
          <p:spPr>
            <a:xfrm>
              <a:off x="1000125" y="5915025"/>
              <a:ext cx="57150" cy="57150"/>
            </a:xfrm>
            <a:prstGeom prst="ellipse">
              <a:avLst/>
            </a:prstGeom>
            <a:solidFill>
              <a:srgbClr val="FF8F00"/>
            </a:solidFill>
            <a:ln>
              <a:noFill/>
            </a:ln>
          </p:spPr>
        </p:sp>
        <p:sp>
          <p:nvSpPr>
            <p:cNvPr id="71" name="TextBox 71"/>
            <p:cNvSpPr txBox="1"/>
            <p:nvPr/>
          </p:nvSpPr>
          <p:spPr>
            <a:xfrm>
              <a:off x="1131570" y="5884545"/>
              <a:ext cx="1301020"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同属 fruits 大类易混淆</a:t>
              </a:r>
            </a:p>
          </p:txBody>
        </p:sp>
      </p:grpSp>
      <p:grpSp>
        <p:nvGrpSpPr>
          <p:cNvPr id="90" name="Group 90"/>
          <p:cNvGrpSpPr/>
          <p:nvPr/>
        </p:nvGrpSpPr>
        <p:grpSpPr>
          <a:xfrm>
            <a:off x="6286500" y="4191000"/>
            <a:ext cx="5143500" cy="1905000"/>
            <a:chOff x="6286500" y="4191000"/>
            <a:chExt cx="5143500" cy="1905000"/>
          </a:xfrm>
        </p:grpSpPr>
        <p:sp>
          <p:nvSpPr>
            <p:cNvPr id="73" name="Rectangle 73"/>
            <p:cNvSpPr/>
            <p:nvPr/>
          </p:nvSpPr>
          <p:spPr>
            <a:xfrm>
              <a:off x="6286500" y="4191000"/>
              <a:ext cx="5143500" cy="1905000"/>
            </a:xfrm>
            <a:prstGeom prst="roundRect">
              <a:avLst>
                <a:gd name="adj" fmla="val 6000"/>
              </a:avLst>
            </a:prstGeom>
            <a:solidFill>
              <a:srgbClr val="FFFFFF"/>
            </a:solidFill>
            <a:ln w="14288">
              <a:solidFill>
                <a:srgbClr val="311B92"/>
              </a:solidFill>
            </a:ln>
            <a:effectLst>
              <a:outerShdw blurRad="114300" dist="38100" dir="5400000" algn="ctr" rotWithShape="0">
                <a:srgbClr val="0F172A">
                  <a:alpha val="7500"/>
                </a:srgbClr>
              </a:outerShdw>
            </a:effectLst>
          </p:spPr>
        </p:sp>
        <p:sp>
          <p:nvSpPr>
            <p:cNvPr id="74" name="Freeform 74"/>
            <p:cNvSpPr/>
            <p:nvPr/>
          </p:nvSpPr>
          <p:spPr>
            <a:xfrm>
              <a:off x="6286500" y="4191000"/>
              <a:ext cx="5143500" cy="476250"/>
            </a:xfrm>
            <a:custGeom>
              <a:avLst/>
              <a:gdLst/>
              <a:ahLst/>
              <a:cxnLst/>
              <a:rect l="l" t="t" r="r" b="b"/>
              <a:pathLst>
                <a:path w="5143500" h="476250">
                  <a:moveTo>
                    <a:pt x="0" y="114300"/>
                  </a:moveTo>
                  <a:cubicBezTo>
                    <a:pt x="0" y="51174"/>
                    <a:pt x="51174" y="0"/>
                    <a:pt x="114300" y="0"/>
                  </a:cubicBezTo>
                  <a:lnTo>
                    <a:pt x="5029200" y="0"/>
                  </a:lnTo>
                  <a:cubicBezTo>
                    <a:pt x="5092326" y="0"/>
                    <a:pt x="5143500" y="51174"/>
                    <a:pt x="5143500" y="114300"/>
                  </a:cubicBezTo>
                  <a:lnTo>
                    <a:pt x="5143500" y="476250"/>
                  </a:lnTo>
                  <a:lnTo>
                    <a:pt x="0" y="476250"/>
                  </a:lnTo>
                  <a:close/>
                </a:path>
              </a:pathLst>
            </a:custGeom>
            <a:gradFill>
              <a:gsLst>
                <a:gs pos="0">
                  <a:srgbClr val="5C6BC0"/>
                </a:gs>
                <a:gs pos="100000">
                  <a:srgbClr val="311B92"/>
                </a:gs>
              </a:gsLst>
              <a:lin ang="2700000" scaled="1"/>
            </a:gradFill>
            <a:ln>
              <a:noFill/>
            </a:ln>
          </p:spPr>
        </p:sp>
        <p:sp>
          <p:nvSpPr>
            <p:cNvPr id="75" name="Rectangle 75"/>
            <p:cNvSpPr/>
            <p:nvPr/>
          </p:nvSpPr>
          <p:spPr>
            <a:xfrm>
              <a:off x="6477000" y="4324350"/>
              <a:ext cx="304800" cy="304800"/>
            </a:xfrm>
            <a:prstGeom prst="roundRect">
              <a:avLst>
                <a:gd name="adj" fmla="val 18750"/>
              </a:avLst>
            </a:prstGeom>
            <a:solidFill>
              <a:srgbClr val="FFFFFF">
                <a:alpha val="20000"/>
              </a:srgbClr>
            </a:solidFill>
            <a:ln>
              <a:noFill/>
            </a:ln>
          </p:spPr>
        </p:sp>
        <p:grpSp>
          <p:nvGrpSpPr>
            <p:cNvPr id="78" name="Group 78"/>
            <p:cNvGrpSpPr/>
            <p:nvPr/>
          </p:nvGrpSpPr>
          <p:grpSpPr>
            <a:xfrm>
              <a:off x="6553200" y="4400550"/>
              <a:ext cx="152400" cy="152400"/>
              <a:chOff x="6553200" y="4400550"/>
              <a:chExt cx="152400" cy="152400"/>
            </a:xfrm>
          </p:grpSpPr>
          <p:sp>
            <p:nvSpPr>
              <p:cNvPr id="76" name="Freeform 76"/>
              <p:cNvSpPr/>
              <p:nvPr/>
            </p:nvSpPr>
            <p:spPr>
              <a:xfrm>
                <a:off x="6553200" y="4400550"/>
                <a:ext cx="152400" cy="152400"/>
              </a:xfrm>
              <a:custGeom>
                <a:avLst/>
                <a:gdLst/>
                <a:ahLst/>
                <a:cxnLst/>
                <a:rect l="l" t="t" r="r" b="b"/>
                <a:pathLst>
                  <a:path w="152400" h="152400">
                    <a:moveTo>
                      <a:pt x="152400" y="0"/>
                    </a:moveTo>
                    <a:lnTo>
                      <a:pt x="0" y="152400"/>
                    </a:lnTo>
                  </a:path>
                </a:pathLst>
              </a:custGeom>
              <a:noFill/>
              <a:ln w="19050">
                <a:solidFill>
                  <a:srgbClr val="FFFFFF"/>
                </a:solidFill>
              </a:ln>
            </p:spPr>
          </p:sp>
          <p:sp>
            <p:nvSpPr>
              <p:cNvPr id="77" name="Freeform 77"/>
              <p:cNvSpPr/>
              <p:nvPr/>
            </p:nvSpPr>
            <p:spPr>
              <a:xfrm>
                <a:off x="6553200" y="4400550"/>
                <a:ext cx="152400" cy="152400"/>
              </a:xfrm>
              <a:custGeom>
                <a:avLst/>
                <a:gdLst/>
                <a:ahLst/>
                <a:cxnLst/>
                <a:rect l="l" t="t" r="r" b="b"/>
                <a:pathLst>
                  <a:path w="152400" h="152400">
                    <a:moveTo>
                      <a:pt x="0" y="0"/>
                    </a:moveTo>
                    <a:lnTo>
                      <a:pt x="152400" y="152400"/>
                    </a:lnTo>
                  </a:path>
                </a:pathLst>
              </a:custGeom>
              <a:noFill/>
              <a:ln w="19050">
                <a:solidFill>
                  <a:srgbClr val="FFFFFF"/>
                </a:solidFill>
              </a:ln>
            </p:spPr>
          </p:sp>
        </p:grpSp>
        <p:sp>
          <p:nvSpPr>
            <p:cNvPr id="79" name="TextBox 79"/>
            <p:cNvSpPr txBox="1"/>
            <p:nvPr/>
          </p:nvSpPr>
          <p:spPr>
            <a:xfrm>
              <a:off x="6861810" y="4366260"/>
              <a:ext cx="103860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Cambria"/>
                  <a:ea typeface="SimSun"/>
                  <a:cs typeface="Cambria"/>
                </a:rPr>
                <a:t>跨类严重错误</a:t>
              </a:r>
            </a:p>
          </p:txBody>
        </p:sp>
        <p:sp>
          <p:nvSpPr>
            <p:cNvPr id="80" name="TextBox 80"/>
            <p:cNvSpPr txBox="1"/>
            <p:nvPr/>
          </p:nvSpPr>
          <p:spPr>
            <a:xfrm>
              <a:off x="6867525" y="4548188"/>
              <a:ext cx="1154192" cy="152400"/>
            </a:xfrm>
            <a:prstGeom prst="rect">
              <a:avLst/>
            </a:prstGeom>
            <a:noFill/>
            <a:ln>
              <a:noFill/>
            </a:ln>
          </p:spPr>
          <p:txBody>
            <a:bodyPr wrap="none" lIns="0" tIns="0" rIns="0" bIns="0" anchor="t" anchorCtr="0">
              <a:spAutoFit/>
            </a:bodyPr>
            <a:lstStyle/>
            <a:p>
              <a:pPr algn="l"/>
              <a:r>
                <a:rPr lang="zh-CN" sz="750" dirty="0">
                  <a:solidFill>
                    <a:srgbClr val="FFFFFF">
                      <a:alphaMod val="85000"/>
                    </a:srgbClr>
                  </a:solidFill>
                  <a:latin typeface="Arial"/>
                  <a:ea typeface="Microsoft YaHei"/>
                  <a:cs typeface="Arial"/>
                </a:rPr>
                <a:t>CROSS-CATEGORY ERROR</a:t>
              </a:r>
            </a:p>
          </p:txBody>
        </p:sp>
        <p:sp>
          <p:nvSpPr>
            <p:cNvPr id="81" name="TextBox 81"/>
            <p:cNvSpPr txBox="1"/>
            <p:nvPr/>
          </p:nvSpPr>
          <p:spPr>
            <a:xfrm>
              <a:off x="10926413" y="4333875"/>
              <a:ext cx="332137" cy="304800"/>
            </a:xfrm>
            <a:prstGeom prst="rect">
              <a:avLst/>
            </a:prstGeom>
            <a:noFill/>
            <a:ln>
              <a:noFill/>
            </a:ln>
          </p:spPr>
          <p:txBody>
            <a:bodyPr wrap="none" lIns="0" tIns="0" rIns="0" bIns="0" anchor="t" anchorCtr="0">
              <a:spAutoFit/>
            </a:bodyPr>
            <a:lstStyle/>
            <a:p>
              <a:pPr algn="r"/>
              <a:r>
                <a:rPr lang="zh-CN" sz="1500" b="1" dirty="0">
                  <a:solidFill>
                    <a:srgbClr val="FFFFFF"/>
                  </a:solidFill>
                  <a:latin typeface="Cambria"/>
                  <a:ea typeface="SimSun"/>
                  <a:cs typeface="Cambria"/>
                </a:rPr>
                <a:t>10%</a:t>
              </a:r>
            </a:p>
          </p:txBody>
        </p:sp>
        <p:sp>
          <p:nvSpPr>
            <p:cNvPr id="82" name="TextBox 82"/>
            <p:cNvSpPr txBox="1"/>
            <p:nvPr/>
          </p:nvSpPr>
          <p:spPr>
            <a:xfrm>
              <a:off x="6464618" y="4809649"/>
              <a:ext cx="57083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典型案例</a:t>
              </a:r>
            </a:p>
          </p:txBody>
        </p:sp>
        <p:sp>
          <p:nvSpPr>
            <p:cNvPr id="83" name="Rectangle 83"/>
            <p:cNvSpPr/>
            <p:nvPr/>
          </p:nvSpPr>
          <p:spPr>
            <a:xfrm>
              <a:off x="6477000" y="5010150"/>
              <a:ext cx="4762500" cy="342900"/>
            </a:xfrm>
            <a:prstGeom prst="roundRect">
              <a:avLst>
                <a:gd name="adj" fmla="val 16667"/>
              </a:avLst>
            </a:prstGeom>
            <a:solidFill>
              <a:srgbClr val="EDE7F6"/>
            </a:solidFill>
            <a:ln>
              <a:noFill/>
            </a:ln>
          </p:spPr>
        </p:sp>
        <p:sp>
          <p:nvSpPr>
            <p:cNvPr id="84" name="TextBox 84"/>
            <p:cNvSpPr txBox="1"/>
            <p:nvPr/>
          </p:nvSpPr>
          <p:spPr>
            <a:xfrm>
              <a:off x="8308103" y="5122545"/>
              <a:ext cx="1100295" cy="182880"/>
            </a:xfrm>
            <a:prstGeom prst="rect">
              <a:avLst/>
            </a:prstGeom>
            <a:noFill/>
            <a:ln>
              <a:noFill/>
            </a:ln>
          </p:spPr>
          <p:txBody>
            <a:bodyPr wrap="none" lIns="0" tIns="0" rIns="0" bIns="0" anchor="t" anchorCtr="0">
              <a:spAutoFit/>
            </a:bodyPr>
            <a:lstStyle/>
            <a:p>
              <a:pPr algn="ctr"/>
              <a:r>
                <a:rPr lang="zh-CN" sz="900" b="1" dirty="0">
                  <a:solidFill>
                    <a:srgbClr val="311B92"/>
                  </a:solidFill>
                  <a:latin typeface="Consolas"/>
                  <a:ea typeface="Microsoft YaHei"/>
                  <a:cs typeface="Consolas"/>
                </a:rPr>
                <a:t>Sushi → Mapo Tofu</a:t>
              </a:r>
            </a:p>
          </p:txBody>
        </p:sp>
        <p:sp>
          <p:nvSpPr>
            <p:cNvPr id="85" name="TextBox 85"/>
            <p:cNvSpPr txBox="1"/>
            <p:nvPr/>
          </p:nvSpPr>
          <p:spPr>
            <a:xfrm>
              <a:off x="6464618" y="5438299"/>
              <a:ext cx="570833"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原因分析</a:t>
              </a:r>
            </a:p>
          </p:txBody>
        </p:sp>
        <p:sp>
          <p:nvSpPr>
            <p:cNvPr id="86" name="Ellipse 86"/>
            <p:cNvSpPr/>
            <p:nvPr/>
          </p:nvSpPr>
          <p:spPr>
            <a:xfrm>
              <a:off x="6524625" y="5705475"/>
              <a:ext cx="57150" cy="57150"/>
            </a:xfrm>
            <a:prstGeom prst="ellipse">
              <a:avLst/>
            </a:prstGeom>
            <a:solidFill>
              <a:srgbClr val="311B92"/>
            </a:solidFill>
            <a:ln>
              <a:noFill/>
            </a:ln>
          </p:spPr>
        </p:sp>
        <p:sp>
          <p:nvSpPr>
            <p:cNvPr id="87" name="TextBox 87"/>
            <p:cNvSpPr txBox="1"/>
            <p:nvPr/>
          </p:nvSpPr>
          <p:spPr>
            <a:xfrm>
              <a:off x="6656070" y="5674995"/>
              <a:ext cx="1102995"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视觉特征完全不匹配</a:t>
              </a:r>
            </a:p>
          </p:txBody>
        </p:sp>
        <p:sp>
          <p:nvSpPr>
            <p:cNvPr id="88" name="Ellipse 88"/>
            <p:cNvSpPr/>
            <p:nvPr/>
          </p:nvSpPr>
          <p:spPr>
            <a:xfrm>
              <a:off x="6524625" y="5915025"/>
              <a:ext cx="57150" cy="57150"/>
            </a:xfrm>
            <a:prstGeom prst="ellipse">
              <a:avLst/>
            </a:prstGeom>
            <a:solidFill>
              <a:srgbClr val="311B92"/>
            </a:solidFill>
            <a:ln>
              <a:noFill/>
            </a:ln>
          </p:spPr>
        </p:sp>
        <p:sp>
          <p:nvSpPr>
            <p:cNvPr id="89" name="TextBox 89"/>
            <p:cNvSpPr txBox="1"/>
            <p:nvPr/>
          </p:nvSpPr>
          <p:spPr>
            <a:xfrm>
              <a:off x="6656070" y="5884545"/>
              <a:ext cx="1289018"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严重度高,需置信度校准</a:t>
              </a:r>
            </a:p>
          </p:txBody>
        </p:sp>
      </p:grpSp>
      <p:sp>
        <p:nvSpPr>
          <p:cNvPr id="91" name="TextBox 91"/>
          <p:cNvSpPr txBox="1"/>
          <p:nvPr/>
        </p:nvSpPr>
        <p:spPr>
          <a:xfrm>
            <a:off x="561022" y="6578441"/>
            <a:ext cx="3134069"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5 · Q1 Failure Modes</a:t>
            </a:r>
          </a:p>
        </p:txBody>
      </p:sp>
      <p:sp>
        <p:nvSpPr>
          <p:cNvPr id="92" name="TextBox 92"/>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23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400"/>
                                        <p:tgtEl>
                                          <p:spTgt spid="3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slide(fromBottom)">
                                      <p:cBhvr>
                                        <p:cTn id="15" dur="400"/>
                                        <p:tgtEl>
                                          <p:spTgt spid="53"/>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image">
                                      <p:cBhvr>
                                        <p:cTn id="19" dur="400"/>
                                        <p:tgtEl>
                                          <p:spTgt spid="72"/>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90"/>
                                        </p:tgtEl>
                                        <p:attrNameLst>
                                          <p:attrName>style.visibility</p:attrName>
                                        </p:attrNameLst>
                                      </p:cBhvr>
                                      <p:to>
                                        <p:strVal val="visible"/>
                                      </p:to>
                                    </p:set>
                                    <p:animEffect transition="in" filter="fade">
                                      <p:cBhvr>
                                        <p:cTn id="23" dur="4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4" grpId="0"/>
      <p:bldP spid="53" grpId="0"/>
      <p:bldP spid="72" grpId="0"/>
      <p:bldP spid="9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1049000" cy="685800"/>
            <a:chOff x="571500" y="457200"/>
            <a:chExt cx="11049000" cy="685800"/>
          </a:xfrm>
        </p:grpSpPr>
        <p:sp>
          <p:nvSpPr>
            <p:cNvPr id="3" name="Rectangle 3"/>
            <p:cNvSpPr/>
            <p:nvPr/>
          </p:nvSpPr>
          <p:spPr>
            <a:xfrm>
              <a:off x="571500" y="457200"/>
              <a:ext cx="57150" cy="381000"/>
            </a:xfrm>
            <a:prstGeom prst="roundRect">
              <a:avLst>
                <a:gd name="adj" fmla="val 50000"/>
              </a:avLst>
            </a:prstGeom>
            <a:solidFill>
              <a:srgbClr val="C62828"/>
            </a:solidFill>
            <a:ln>
              <a:noFill/>
            </a:ln>
          </p:spPr>
        </p:sp>
        <p:sp>
          <p:nvSpPr>
            <p:cNvPr id="4" name="TextBox 4"/>
            <p:cNvSpPr txBox="1"/>
            <p:nvPr/>
          </p:nvSpPr>
          <p:spPr>
            <a:xfrm>
              <a:off x="733425" y="500062"/>
              <a:ext cx="5885378"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第二问失败案例 · Exp1-4 对比与关键洞察</a:t>
              </a:r>
            </a:p>
          </p:txBody>
        </p:sp>
        <p:sp>
          <p:nvSpPr>
            <p:cNvPr id="5" name="TextBox 5"/>
            <p:cNvSpPr txBox="1"/>
            <p:nvPr/>
          </p:nvSpPr>
          <p:spPr>
            <a:xfrm>
              <a:off x="748665" y="896302"/>
              <a:ext cx="4496029"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CHAPTER 5 · FAILURE CASES · Q2 FUSION EXPERIMENT COMPARISON</a:t>
              </a:r>
            </a:p>
          </p:txBody>
        </p:sp>
        <p:grpSp>
          <p:nvGrpSpPr>
            <p:cNvPr id="9" name="Group 9"/>
            <p:cNvGrpSpPr/>
            <p:nvPr/>
          </p:nvGrpSpPr>
          <p:grpSpPr>
            <a:xfrm>
              <a:off x="9715500" y="571500"/>
              <a:ext cx="1905000" cy="571500"/>
              <a:chOff x="9715500" y="571500"/>
              <a:chExt cx="1905000" cy="571500"/>
            </a:xfrm>
          </p:grpSpPr>
          <p:sp>
            <p:nvSpPr>
              <p:cNvPr id="6" name="Rectangle 6"/>
              <p:cNvSpPr/>
              <p:nvPr/>
            </p:nvSpPr>
            <p:spPr>
              <a:xfrm>
                <a:off x="9715500" y="571500"/>
                <a:ext cx="1905000" cy="571500"/>
              </a:xfrm>
              <a:prstGeom prst="roundRect">
                <a:avLst>
                  <a:gd name="adj" fmla="val 16667"/>
                </a:avLst>
              </a:prstGeom>
              <a:solidFill>
                <a:srgbClr val="F5F7FA"/>
              </a:solidFill>
              <a:ln>
                <a:noFill/>
              </a:ln>
            </p:spPr>
          </p:sp>
          <p:sp>
            <p:nvSpPr>
              <p:cNvPr id="7" name="TextBox 7"/>
              <p:cNvSpPr txBox="1"/>
              <p:nvPr/>
            </p:nvSpPr>
            <p:spPr>
              <a:xfrm>
                <a:off x="10003449" y="692468"/>
                <a:ext cx="1329102"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Cambria"/>
                    <a:ea typeface="SimSun"/>
                    <a:cs typeface="Cambria"/>
                  </a:rPr>
                  <a:t>4 实验 · 6 维度</a:t>
                </a:r>
              </a:p>
            </p:txBody>
          </p:sp>
          <p:sp>
            <p:nvSpPr>
              <p:cNvPr id="8" name="TextBox 8"/>
              <p:cNvSpPr txBox="1"/>
              <p:nvPr/>
            </p:nvSpPr>
            <p:spPr>
              <a:xfrm>
                <a:off x="10114605" y="958691"/>
                <a:ext cx="1106791"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COMPARISON MATRIX</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2" name="TextBox 12"/>
          <p:cNvSpPr txBox="1"/>
          <p:nvPr/>
        </p:nvSpPr>
        <p:spPr>
          <a:xfrm>
            <a:off x="4087416" y="1505902"/>
            <a:ext cx="4017169"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4 个递进融合实验在多维度上的对比 · Exp3 唯一表现优异的方案</a:t>
            </a:r>
          </a:p>
        </p:txBody>
      </p:sp>
      <p:grpSp>
        <p:nvGrpSpPr>
          <p:cNvPr id="62" name="Group 62"/>
          <p:cNvGrpSpPr/>
          <p:nvPr/>
        </p:nvGrpSpPr>
        <p:grpSpPr>
          <a:xfrm>
            <a:off x="571500" y="1676400"/>
            <a:ext cx="11049000" cy="4381500"/>
            <a:chOff x="571500" y="1676400"/>
            <a:chExt cx="11049000" cy="4381500"/>
          </a:xfrm>
        </p:grpSpPr>
        <p:sp>
          <p:nvSpPr>
            <p:cNvPr id="13" name="Rectangle 13"/>
            <p:cNvSpPr/>
            <p:nvPr/>
          </p:nvSpPr>
          <p:spPr>
            <a:xfrm>
              <a:off x="571500" y="1809750"/>
              <a:ext cx="11049000" cy="476250"/>
            </a:xfrm>
            <a:prstGeom prst="roundRect">
              <a:avLst>
                <a:gd name="adj" fmla="val 16000"/>
              </a:avLst>
            </a:prstGeom>
            <a:solidFill>
              <a:srgbClr val="1565C0"/>
            </a:solidFill>
            <a:ln>
              <a:noFill/>
            </a:ln>
          </p:spPr>
        </p:sp>
        <p:sp>
          <p:nvSpPr>
            <p:cNvPr id="14" name="TextBox 14"/>
            <p:cNvSpPr txBox="1"/>
            <p:nvPr/>
          </p:nvSpPr>
          <p:spPr>
            <a:xfrm>
              <a:off x="1429083" y="1990249"/>
              <a:ext cx="57083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评估维度</a:t>
              </a:r>
            </a:p>
          </p:txBody>
        </p:sp>
        <p:sp>
          <p:nvSpPr>
            <p:cNvPr id="15" name="TextBox 15"/>
            <p:cNvSpPr txBox="1"/>
            <p:nvPr/>
          </p:nvSpPr>
          <p:spPr>
            <a:xfrm>
              <a:off x="3017305" y="1990249"/>
              <a:ext cx="82339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Exp1 · A+B+C</a:t>
              </a:r>
            </a:p>
          </p:txBody>
        </p:sp>
        <p:sp>
          <p:nvSpPr>
            <p:cNvPr id="16" name="TextBox 16"/>
            <p:cNvSpPr txBox="1"/>
            <p:nvPr/>
          </p:nvSpPr>
          <p:spPr>
            <a:xfrm>
              <a:off x="4772136" y="1990249"/>
              <a:ext cx="112372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Exp2 · A+B_fix+C</a:t>
              </a:r>
            </a:p>
          </p:txBody>
        </p:sp>
        <p:sp>
          <p:nvSpPr>
            <p:cNvPr id="17" name="Rectangle 17"/>
            <p:cNvSpPr/>
            <p:nvPr/>
          </p:nvSpPr>
          <p:spPr>
            <a:xfrm>
              <a:off x="6381750" y="1752600"/>
              <a:ext cx="2286000" cy="590550"/>
            </a:xfrm>
            <a:prstGeom prst="roundRect">
              <a:avLst>
                <a:gd name="adj" fmla="val 16129"/>
              </a:avLst>
            </a:prstGeom>
            <a:solidFill>
              <a:srgbClr val="2E7D32"/>
            </a:solidFill>
            <a:ln>
              <a:noFill/>
            </a:ln>
          </p:spPr>
        </p:sp>
        <p:sp>
          <p:nvSpPr>
            <p:cNvPr id="18" name="Rectangle 18"/>
            <p:cNvSpPr/>
            <p:nvPr/>
          </p:nvSpPr>
          <p:spPr>
            <a:xfrm>
              <a:off x="7715250" y="1676400"/>
              <a:ext cx="762000" cy="190500"/>
            </a:xfrm>
            <a:prstGeom prst="roundRect">
              <a:avLst>
                <a:gd name="adj" fmla="val 50000"/>
              </a:avLst>
            </a:prstGeom>
            <a:solidFill>
              <a:srgbClr val="FF8F00"/>
            </a:solidFill>
            <a:ln>
              <a:noFill/>
            </a:ln>
          </p:spPr>
        </p:sp>
        <p:sp>
          <p:nvSpPr>
            <p:cNvPr id="19" name="TextBox 19"/>
            <p:cNvSpPr txBox="1"/>
            <p:nvPr/>
          </p:nvSpPr>
          <p:spPr>
            <a:xfrm>
              <a:off x="7737556" y="1728788"/>
              <a:ext cx="71738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Cambria"/>
                  <a:ea typeface="SimSun"/>
                  <a:cs typeface="Cambria"/>
                </a:rPr>
                <a:t>RECOMMENDED</a:t>
              </a:r>
            </a:p>
          </p:txBody>
        </p:sp>
        <p:sp>
          <p:nvSpPr>
            <p:cNvPr id="20" name="TextBox 20"/>
            <p:cNvSpPr txBox="1"/>
            <p:nvPr/>
          </p:nvSpPr>
          <p:spPr>
            <a:xfrm>
              <a:off x="6979951" y="2009299"/>
              <a:ext cx="108959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Exp3 · B_fix+C ✓</a:t>
              </a:r>
            </a:p>
          </p:txBody>
        </p:sp>
        <p:sp>
          <p:nvSpPr>
            <p:cNvPr id="21" name="TextBox 21"/>
            <p:cNvSpPr txBox="1"/>
            <p:nvPr/>
          </p:nvSpPr>
          <p:spPr>
            <a:xfrm>
              <a:off x="9160150" y="1990249"/>
              <a:ext cx="13012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Exp4 · B_fix+C+MLP</a:t>
              </a:r>
            </a:p>
          </p:txBody>
        </p:sp>
        <p:sp>
          <p:nvSpPr>
            <p:cNvPr id="22" name="Rectangle 22"/>
            <p:cNvSpPr/>
            <p:nvPr/>
          </p:nvSpPr>
          <p:spPr>
            <a:xfrm>
              <a:off x="571500" y="2343150"/>
              <a:ext cx="11049000" cy="571500"/>
            </a:xfrm>
            <a:prstGeom prst="roundRect">
              <a:avLst>
                <a:gd name="adj" fmla="val 10000"/>
              </a:avLst>
            </a:prstGeom>
            <a:solidFill>
              <a:srgbClr val="FFEBEE"/>
            </a:solidFill>
            <a:ln>
              <a:noFill/>
            </a:ln>
          </p:spPr>
        </p:sp>
        <p:sp>
          <p:nvSpPr>
            <p:cNvPr id="23" name="TextBox 23"/>
            <p:cNvSpPr txBox="1"/>
            <p:nvPr/>
          </p:nvSpPr>
          <p:spPr>
            <a:xfrm>
              <a:off x="1507581" y="2580799"/>
              <a:ext cx="413839"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A 模型</a:t>
              </a:r>
            </a:p>
          </p:txBody>
        </p:sp>
        <p:sp>
          <p:nvSpPr>
            <p:cNvPr id="24" name="TextBox 24"/>
            <p:cNvSpPr txBox="1"/>
            <p:nvPr/>
          </p:nvSpPr>
          <p:spPr>
            <a:xfrm>
              <a:off x="2928509" y="2588895"/>
              <a:ext cx="1000982" cy="182880"/>
            </a:xfrm>
            <a:prstGeom prst="rect">
              <a:avLst/>
            </a:prstGeom>
            <a:noFill/>
            <a:ln>
              <a:noFill/>
            </a:ln>
          </p:spPr>
          <p:txBody>
            <a:bodyPr wrap="none" lIns="0" tIns="0" rIns="0" bIns="0" anchor="t" anchorCtr="0">
              <a:spAutoFit/>
            </a:bodyPr>
            <a:lstStyle/>
            <a:p>
              <a:pPr algn="ctr"/>
              <a:r>
                <a:rPr lang="zh-CN" sz="900" dirty="0">
                  <a:solidFill>
                    <a:srgbClr val="C62828"/>
                  </a:solidFill>
                  <a:latin typeface="Arial"/>
                  <a:ea typeface="Microsoft YaHei"/>
                  <a:cs typeface="Arial"/>
                </a:rPr>
                <a:t>启用 · 异常值污染</a:t>
              </a:r>
            </a:p>
          </p:txBody>
        </p:sp>
        <p:sp>
          <p:nvSpPr>
            <p:cNvPr id="25" name="TextBox 25"/>
            <p:cNvSpPr txBox="1"/>
            <p:nvPr/>
          </p:nvSpPr>
          <p:spPr>
            <a:xfrm>
              <a:off x="4893516" y="2588895"/>
              <a:ext cx="880967" cy="182880"/>
            </a:xfrm>
            <a:prstGeom prst="rect">
              <a:avLst/>
            </a:prstGeom>
            <a:noFill/>
            <a:ln>
              <a:noFill/>
            </a:ln>
          </p:spPr>
          <p:txBody>
            <a:bodyPr wrap="none" lIns="0" tIns="0" rIns="0" bIns="0" anchor="t" anchorCtr="0">
              <a:spAutoFit/>
            </a:bodyPr>
            <a:lstStyle/>
            <a:p>
              <a:pPr algn="ctr"/>
              <a:r>
                <a:rPr lang="zh-CN" sz="900" dirty="0">
                  <a:solidFill>
                    <a:srgbClr val="C62828"/>
                  </a:solidFill>
                  <a:latin typeface="Arial"/>
                  <a:ea typeface="Microsoft YaHei"/>
                  <a:cs typeface="Arial"/>
                </a:rPr>
                <a:t>仍启用 · 异常值</a:t>
              </a:r>
            </a:p>
          </p:txBody>
        </p:sp>
        <p:sp>
          <p:nvSpPr>
            <p:cNvPr id="26" name="TextBox 26"/>
            <p:cNvSpPr txBox="1"/>
            <p:nvPr/>
          </p:nvSpPr>
          <p:spPr>
            <a:xfrm>
              <a:off x="7301914" y="2572702"/>
              <a:ext cx="445672"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Cambria"/>
                  <a:ea typeface="SimSun"/>
                  <a:cs typeface="Cambria"/>
                </a:rPr>
                <a:t>禁用 ✓</a:t>
              </a:r>
            </a:p>
          </p:txBody>
        </p:sp>
        <p:sp>
          <p:nvSpPr>
            <p:cNvPr id="27" name="TextBox 27"/>
            <p:cNvSpPr txBox="1"/>
            <p:nvPr/>
          </p:nvSpPr>
          <p:spPr>
            <a:xfrm>
              <a:off x="9587914" y="2572702"/>
              <a:ext cx="445672"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Cambria"/>
                  <a:ea typeface="SimSun"/>
                  <a:cs typeface="Cambria"/>
                </a:rPr>
                <a:t>禁用 ✓</a:t>
              </a:r>
            </a:p>
          </p:txBody>
        </p:sp>
        <p:sp>
          <p:nvSpPr>
            <p:cNvPr id="28" name="Rectangle 28"/>
            <p:cNvSpPr/>
            <p:nvPr/>
          </p:nvSpPr>
          <p:spPr>
            <a:xfrm>
              <a:off x="571500" y="2971800"/>
              <a:ext cx="11049000" cy="571500"/>
            </a:xfrm>
            <a:prstGeom prst="roundRect">
              <a:avLst>
                <a:gd name="adj" fmla="val 10000"/>
              </a:avLst>
            </a:prstGeom>
            <a:solidFill>
              <a:srgbClr val="FFFFFF"/>
            </a:solidFill>
            <a:ln>
              <a:noFill/>
            </a:ln>
          </p:spPr>
        </p:sp>
        <p:sp>
          <p:nvSpPr>
            <p:cNvPr id="29" name="TextBox 29"/>
            <p:cNvSpPr txBox="1"/>
            <p:nvPr/>
          </p:nvSpPr>
          <p:spPr>
            <a:xfrm>
              <a:off x="1507581" y="3209449"/>
              <a:ext cx="413839"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B 模型</a:t>
              </a:r>
            </a:p>
          </p:txBody>
        </p:sp>
        <p:sp>
          <p:nvSpPr>
            <p:cNvPr id="30" name="TextBox 30"/>
            <p:cNvSpPr txBox="1"/>
            <p:nvPr/>
          </p:nvSpPr>
          <p:spPr>
            <a:xfrm>
              <a:off x="3042523" y="3217545"/>
              <a:ext cx="772954" cy="182880"/>
            </a:xfrm>
            <a:prstGeom prst="rect">
              <a:avLst/>
            </a:prstGeom>
            <a:noFill/>
            <a:ln>
              <a:noFill/>
            </a:ln>
          </p:spPr>
          <p:txBody>
            <a:bodyPr wrap="none" lIns="0" tIns="0" rIns="0" bIns="0" anchor="t" anchorCtr="0">
              <a:spAutoFit/>
            </a:bodyPr>
            <a:lstStyle/>
            <a:p>
              <a:pPr algn="ctr"/>
              <a:r>
                <a:rPr lang="zh-CN" sz="900" dirty="0">
                  <a:solidFill>
                    <a:srgbClr val="C62828"/>
                  </a:solidFill>
                  <a:latin typeface="Arial"/>
                  <a:ea typeface="Microsoft YaHei"/>
                  <a:cs typeface="Arial"/>
                </a:rPr>
                <a:t>全为 0 (失效)</a:t>
              </a:r>
            </a:p>
          </p:txBody>
        </p:sp>
        <p:sp>
          <p:nvSpPr>
            <p:cNvPr id="31" name="TextBox 31"/>
            <p:cNvSpPr txBox="1"/>
            <p:nvPr/>
          </p:nvSpPr>
          <p:spPr>
            <a:xfrm>
              <a:off x="4983528" y="3217545"/>
              <a:ext cx="700945" cy="182880"/>
            </a:xfrm>
            <a:prstGeom prst="rect">
              <a:avLst/>
            </a:prstGeom>
            <a:noFill/>
            <a:ln>
              <a:noFill/>
            </a:ln>
          </p:spPr>
          <p:txBody>
            <a:bodyPr wrap="none" lIns="0" tIns="0" rIns="0" bIns="0" anchor="t" anchorCtr="0">
              <a:spAutoFit/>
            </a:bodyPr>
            <a:lstStyle/>
            <a:p>
              <a:pPr algn="ctr"/>
              <a:r>
                <a:rPr lang="zh-CN" sz="900" dirty="0">
                  <a:solidFill>
                    <a:srgbClr val="1565C0"/>
                  </a:solidFill>
                  <a:latin typeface="Arial"/>
                  <a:ea typeface="Microsoft YaHei"/>
                  <a:cs typeface="Arial"/>
                </a:rPr>
                <a:t>B_fix · 有效</a:t>
              </a:r>
            </a:p>
          </p:txBody>
        </p:sp>
        <p:sp>
          <p:nvSpPr>
            <p:cNvPr id="32" name="TextBox 32"/>
            <p:cNvSpPr txBox="1"/>
            <p:nvPr/>
          </p:nvSpPr>
          <p:spPr>
            <a:xfrm>
              <a:off x="7103769" y="3217545"/>
              <a:ext cx="841962" cy="182880"/>
            </a:xfrm>
            <a:prstGeom prst="rect">
              <a:avLst/>
            </a:prstGeom>
            <a:noFill/>
            <a:ln>
              <a:noFill/>
            </a:ln>
          </p:spPr>
          <p:txBody>
            <a:bodyPr wrap="none" lIns="0" tIns="0" rIns="0" bIns="0" anchor="t" anchorCtr="0">
              <a:spAutoFit/>
            </a:bodyPr>
            <a:lstStyle/>
            <a:p>
              <a:pPr algn="ctr"/>
              <a:r>
                <a:rPr lang="zh-CN" sz="900" b="1" dirty="0">
                  <a:solidFill>
                    <a:srgbClr val="2E7D32"/>
                  </a:solidFill>
                  <a:latin typeface="Arial"/>
                  <a:ea typeface="Microsoft YaHei"/>
                  <a:cs typeface="Arial"/>
                </a:rPr>
                <a:t>B_fix · 有效 ✓</a:t>
              </a:r>
            </a:p>
          </p:txBody>
        </p:sp>
        <p:sp>
          <p:nvSpPr>
            <p:cNvPr id="33" name="TextBox 33"/>
            <p:cNvSpPr txBox="1"/>
            <p:nvPr/>
          </p:nvSpPr>
          <p:spPr>
            <a:xfrm>
              <a:off x="9389769" y="3217545"/>
              <a:ext cx="841962" cy="182880"/>
            </a:xfrm>
            <a:prstGeom prst="rect">
              <a:avLst/>
            </a:prstGeom>
            <a:noFill/>
            <a:ln>
              <a:noFill/>
            </a:ln>
          </p:spPr>
          <p:txBody>
            <a:bodyPr wrap="none" lIns="0" tIns="0" rIns="0" bIns="0" anchor="t" anchorCtr="0">
              <a:spAutoFit/>
            </a:bodyPr>
            <a:lstStyle/>
            <a:p>
              <a:pPr algn="ctr"/>
              <a:r>
                <a:rPr lang="zh-CN" sz="900" b="1" dirty="0">
                  <a:solidFill>
                    <a:srgbClr val="2E7D32"/>
                  </a:solidFill>
                  <a:latin typeface="Arial"/>
                  <a:ea typeface="Microsoft YaHei"/>
                  <a:cs typeface="Arial"/>
                </a:rPr>
                <a:t>B_fix · 有效 ✓</a:t>
              </a:r>
            </a:p>
          </p:txBody>
        </p:sp>
        <p:sp>
          <p:nvSpPr>
            <p:cNvPr id="34" name="Rectangle 34"/>
            <p:cNvSpPr/>
            <p:nvPr/>
          </p:nvSpPr>
          <p:spPr>
            <a:xfrm>
              <a:off x="571500" y="3600450"/>
              <a:ext cx="11049000" cy="571500"/>
            </a:xfrm>
            <a:prstGeom prst="roundRect">
              <a:avLst>
                <a:gd name="adj" fmla="val 10000"/>
              </a:avLst>
            </a:prstGeom>
            <a:solidFill>
              <a:srgbClr val="FFEBEE"/>
            </a:solidFill>
            <a:ln>
              <a:noFill/>
            </a:ln>
          </p:spPr>
        </p:sp>
        <p:sp>
          <p:nvSpPr>
            <p:cNvPr id="35" name="TextBox 35"/>
            <p:cNvSpPr txBox="1"/>
            <p:nvPr/>
          </p:nvSpPr>
          <p:spPr>
            <a:xfrm>
              <a:off x="1507581" y="3838099"/>
              <a:ext cx="413839"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C 模型</a:t>
              </a:r>
            </a:p>
          </p:txBody>
        </p:sp>
        <p:sp>
          <p:nvSpPr>
            <p:cNvPr id="36" name="TextBox 36"/>
            <p:cNvSpPr txBox="1"/>
            <p:nvPr/>
          </p:nvSpPr>
          <p:spPr>
            <a:xfrm>
              <a:off x="3117532" y="3846195"/>
              <a:ext cx="622935"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固定经验值</a:t>
              </a:r>
            </a:p>
          </p:txBody>
        </p:sp>
        <p:sp>
          <p:nvSpPr>
            <p:cNvPr id="37" name="TextBox 37"/>
            <p:cNvSpPr txBox="1"/>
            <p:nvPr/>
          </p:nvSpPr>
          <p:spPr>
            <a:xfrm>
              <a:off x="5022532" y="3846195"/>
              <a:ext cx="622935"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固定经验值</a:t>
              </a:r>
            </a:p>
          </p:txBody>
        </p:sp>
        <p:sp>
          <p:nvSpPr>
            <p:cNvPr id="38" name="TextBox 38"/>
            <p:cNvSpPr txBox="1"/>
            <p:nvPr/>
          </p:nvSpPr>
          <p:spPr>
            <a:xfrm>
              <a:off x="7144724" y="3846195"/>
              <a:ext cx="760052" cy="182880"/>
            </a:xfrm>
            <a:prstGeom prst="rect">
              <a:avLst/>
            </a:prstGeom>
            <a:noFill/>
            <a:ln>
              <a:noFill/>
            </a:ln>
          </p:spPr>
          <p:txBody>
            <a:bodyPr wrap="none" lIns="0" tIns="0" rIns="0" bIns="0" anchor="t" anchorCtr="0">
              <a:spAutoFit/>
            </a:bodyPr>
            <a:lstStyle/>
            <a:p>
              <a:pPr algn="ctr"/>
              <a:r>
                <a:rPr lang="zh-CN" sz="900" b="1" dirty="0">
                  <a:solidFill>
                    <a:srgbClr val="2E7D32"/>
                  </a:solidFill>
                  <a:latin typeface="Arial"/>
                  <a:ea typeface="Microsoft YaHei"/>
                  <a:cs typeface="Arial"/>
                </a:rPr>
                <a:t>固定经验值 ✓</a:t>
              </a:r>
            </a:p>
          </p:txBody>
        </p:sp>
        <p:sp>
          <p:nvSpPr>
            <p:cNvPr id="39" name="TextBox 39"/>
            <p:cNvSpPr txBox="1"/>
            <p:nvPr/>
          </p:nvSpPr>
          <p:spPr>
            <a:xfrm>
              <a:off x="9430724" y="3846195"/>
              <a:ext cx="760052" cy="182880"/>
            </a:xfrm>
            <a:prstGeom prst="rect">
              <a:avLst/>
            </a:prstGeom>
            <a:noFill/>
            <a:ln>
              <a:noFill/>
            </a:ln>
          </p:spPr>
          <p:txBody>
            <a:bodyPr wrap="none" lIns="0" tIns="0" rIns="0" bIns="0" anchor="t" anchorCtr="0">
              <a:spAutoFit/>
            </a:bodyPr>
            <a:lstStyle/>
            <a:p>
              <a:pPr algn="ctr"/>
              <a:r>
                <a:rPr lang="zh-CN" sz="900" b="1" dirty="0">
                  <a:solidFill>
                    <a:srgbClr val="2E7D32"/>
                  </a:solidFill>
                  <a:latin typeface="Arial"/>
                  <a:ea typeface="Microsoft YaHei"/>
                  <a:cs typeface="Arial"/>
                </a:rPr>
                <a:t>固定经验值 ✓</a:t>
              </a:r>
            </a:p>
          </p:txBody>
        </p:sp>
        <p:sp>
          <p:nvSpPr>
            <p:cNvPr id="40" name="Rectangle 40"/>
            <p:cNvSpPr/>
            <p:nvPr/>
          </p:nvSpPr>
          <p:spPr>
            <a:xfrm>
              <a:off x="571500" y="4229100"/>
              <a:ext cx="11049000" cy="571500"/>
            </a:xfrm>
            <a:prstGeom prst="roundRect">
              <a:avLst>
                <a:gd name="adj" fmla="val 10000"/>
              </a:avLst>
            </a:prstGeom>
            <a:solidFill>
              <a:srgbClr val="FFFFFF"/>
            </a:solidFill>
            <a:ln>
              <a:noFill/>
            </a:ln>
          </p:spPr>
        </p:sp>
        <p:sp>
          <p:nvSpPr>
            <p:cNvPr id="41" name="TextBox 41"/>
            <p:cNvSpPr txBox="1"/>
            <p:nvPr/>
          </p:nvSpPr>
          <p:spPr>
            <a:xfrm>
              <a:off x="1429083" y="4466749"/>
              <a:ext cx="570833"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融合策略</a:t>
              </a:r>
            </a:p>
          </p:txBody>
        </p:sp>
        <p:sp>
          <p:nvSpPr>
            <p:cNvPr id="42" name="TextBox 42"/>
            <p:cNvSpPr txBox="1"/>
            <p:nvPr/>
          </p:nvSpPr>
          <p:spPr>
            <a:xfrm>
              <a:off x="3177540" y="4474845"/>
              <a:ext cx="502920"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加权平均</a:t>
              </a:r>
            </a:p>
          </p:txBody>
        </p:sp>
        <p:sp>
          <p:nvSpPr>
            <p:cNvPr id="43" name="TextBox 43"/>
            <p:cNvSpPr txBox="1"/>
            <p:nvPr/>
          </p:nvSpPr>
          <p:spPr>
            <a:xfrm>
              <a:off x="5082540" y="4474845"/>
              <a:ext cx="502920"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加权平均</a:t>
              </a:r>
            </a:p>
          </p:txBody>
        </p:sp>
        <p:sp>
          <p:nvSpPr>
            <p:cNvPr id="44" name="TextBox 44"/>
            <p:cNvSpPr txBox="1"/>
            <p:nvPr/>
          </p:nvSpPr>
          <p:spPr>
            <a:xfrm>
              <a:off x="7144724" y="4474845"/>
              <a:ext cx="760052" cy="182880"/>
            </a:xfrm>
            <a:prstGeom prst="rect">
              <a:avLst/>
            </a:prstGeom>
            <a:noFill/>
            <a:ln>
              <a:noFill/>
            </a:ln>
          </p:spPr>
          <p:txBody>
            <a:bodyPr wrap="none" lIns="0" tIns="0" rIns="0" bIns="0" anchor="t" anchorCtr="0">
              <a:spAutoFit/>
            </a:bodyPr>
            <a:lstStyle/>
            <a:p>
              <a:pPr algn="ctr"/>
              <a:r>
                <a:rPr lang="zh-CN" sz="900" b="1" dirty="0">
                  <a:solidFill>
                    <a:srgbClr val="2E7D32"/>
                  </a:solidFill>
                  <a:latin typeface="Arial"/>
                  <a:ea typeface="Microsoft YaHei"/>
                  <a:cs typeface="Arial"/>
                </a:rPr>
                <a:t>置信度加权 ✓</a:t>
              </a:r>
            </a:p>
          </p:txBody>
        </p:sp>
        <p:sp>
          <p:nvSpPr>
            <p:cNvPr id="45" name="TextBox 45"/>
            <p:cNvSpPr txBox="1"/>
            <p:nvPr/>
          </p:nvSpPr>
          <p:spPr>
            <a:xfrm>
              <a:off x="9490281" y="4474845"/>
              <a:ext cx="640937"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MLP 学习型</a:t>
              </a:r>
            </a:p>
          </p:txBody>
        </p:sp>
        <p:sp>
          <p:nvSpPr>
            <p:cNvPr id="46" name="Rectangle 46"/>
            <p:cNvSpPr/>
            <p:nvPr/>
          </p:nvSpPr>
          <p:spPr>
            <a:xfrm>
              <a:off x="571500" y="4857750"/>
              <a:ext cx="11049000" cy="571500"/>
            </a:xfrm>
            <a:prstGeom prst="roundRect">
              <a:avLst>
                <a:gd name="adj" fmla="val 10000"/>
              </a:avLst>
            </a:prstGeom>
            <a:solidFill>
              <a:srgbClr val="FFEBEE"/>
            </a:solidFill>
            <a:ln>
              <a:noFill/>
            </a:ln>
          </p:spPr>
        </p:sp>
        <p:sp>
          <p:nvSpPr>
            <p:cNvPr id="47" name="TextBox 47"/>
            <p:cNvSpPr txBox="1"/>
            <p:nvPr/>
          </p:nvSpPr>
          <p:spPr>
            <a:xfrm>
              <a:off x="1442735" y="5095399"/>
              <a:ext cx="543530"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MAE (g)</a:t>
              </a:r>
            </a:p>
          </p:txBody>
        </p:sp>
        <p:sp>
          <p:nvSpPr>
            <p:cNvPr id="48" name="TextBox 48"/>
            <p:cNvSpPr txBox="1"/>
            <p:nvPr/>
          </p:nvSpPr>
          <p:spPr>
            <a:xfrm>
              <a:off x="3157528" y="5071110"/>
              <a:ext cx="542944"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204.31</a:t>
              </a:r>
            </a:p>
          </p:txBody>
        </p:sp>
        <p:sp>
          <p:nvSpPr>
            <p:cNvPr id="49" name="TextBox 49"/>
            <p:cNvSpPr txBox="1"/>
            <p:nvPr/>
          </p:nvSpPr>
          <p:spPr>
            <a:xfrm>
              <a:off x="5083531" y="5071110"/>
              <a:ext cx="500939"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199.51</a:t>
              </a:r>
            </a:p>
          </p:txBody>
        </p:sp>
        <p:sp>
          <p:nvSpPr>
            <p:cNvPr id="50" name="TextBox 50"/>
            <p:cNvSpPr txBox="1"/>
            <p:nvPr/>
          </p:nvSpPr>
          <p:spPr>
            <a:xfrm>
              <a:off x="7127653" y="5038725"/>
              <a:ext cx="794195"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Cambria"/>
                  <a:ea typeface="SimSun"/>
                  <a:cs typeface="Cambria"/>
                </a:rPr>
                <a:t>49.43 ★</a:t>
              </a:r>
            </a:p>
          </p:txBody>
        </p:sp>
        <p:sp>
          <p:nvSpPr>
            <p:cNvPr id="51" name="TextBox 51"/>
            <p:cNvSpPr txBox="1"/>
            <p:nvPr/>
          </p:nvSpPr>
          <p:spPr>
            <a:xfrm>
              <a:off x="9564481" y="5071110"/>
              <a:ext cx="492538"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Cambria"/>
                  <a:ea typeface="SimSun"/>
                  <a:cs typeface="Cambria"/>
                </a:rPr>
                <a:t>79.20</a:t>
              </a:r>
            </a:p>
          </p:txBody>
        </p:sp>
        <p:sp>
          <p:nvSpPr>
            <p:cNvPr id="52" name="Rectangle 52"/>
            <p:cNvSpPr/>
            <p:nvPr/>
          </p:nvSpPr>
          <p:spPr>
            <a:xfrm>
              <a:off x="571500" y="5486400"/>
              <a:ext cx="11049000" cy="571500"/>
            </a:xfrm>
            <a:prstGeom prst="roundRect">
              <a:avLst>
                <a:gd name="adj" fmla="val 10000"/>
              </a:avLst>
            </a:prstGeom>
            <a:solidFill>
              <a:srgbClr val="FFFFFF"/>
            </a:solidFill>
            <a:ln>
              <a:noFill/>
            </a:ln>
          </p:spPr>
        </p:sp>
        <p:sp>
          <p:nvSpPr>
            <p:cNvPr id="53" name="TextBox 53"/>
            <p:cNvSpPr txBox="1"/>
            <p:nvPr/>
          </p:nvSpPr>
          <p:spPr>
            <a:xfrm>
              <a:off x="1292566" y="5724049"/>
              <a:ext cx="843867" cy="198120"/>
            </a:xfrm>
            <a:prstGeom prst="rect">
              <a:avLst/>
            </a:prstGeom>
            <a:noFill/>
            <a:ln>
              <a:noFill/>
            </a:ln>
          </p:spPr>
          <p:txBody>
            <a:bodyPr wrap="none" lIns="0" tIns="0" rIns="0" bIns="0" anchor="t" anchorCtr="0">
              <a:spAutoFit/>
            </a:bodyPr>
            <a:lstStyle/>
            <a:p>
              <a:pPr algn="ctr"/>
              <a:r>
                <a:rPr lang="zh-CN" sz="975" b="1" dirty="0">
                  <a:solidFill>
                    <a:srgbClr val="1A1A1A"/>
                  </a:solidFill>
                  <a:latin typeface="Arial"/>
                  <a:ea typeface="Microsoft YaHei"/>
                  <a:cs typeface="Arial"/>
                </a:rPr>
                <a:t>主要失败模式</a:t>
              </a:r>
            </a:p>
          </p:txBody>
        </p:sp>
        <p:sp>
          <p:nvSpPr>
            <p:cNvPr id="54" name="TextBox 54"/>
            <p:cNvSpPr txBox="1"/>
            <p:nvPr/>
          </p:nvSpPr>
          <p:spPr>
            <a:xfrm>
              <a:off x="3096732" y="5683091"/>
              <a:ext cx="664535" cy="167640"/>
            </a:xfrm>
            <a:prstGeom prst="rect">
              <a:avLst/>
            </a:prstGeom>
            <a:noFill/>
            <a:ln>
              <a:noFill/>
            </a:ln>
          </p:spPr>
          <p:txBody>
            <a:bodyPr wrap="none" lIns="0" tIns="0" rIns="0" bIns="0" anchor="t" anchorCtr="0">
              <a:spAutoFit/>
            </a:bodyPr>
            <a:lstStyle/>
            <a:p>
              <a:pPr algn="ctr"/>
              <a:r>
                <a:rPr lang="zh-CN" sz="825" dirty="0">
                  <a:solidFill>
                    <a:srgbClr val="C62828"/>
                  </a:solidFill>
                  <a:latin typeface="Arial"/>
                  <a:ea typeface="Microsoft YaHei"/>
                  <a:cs typeface="Arial"/>
                </a:rPr>
                <a:t>A 异常值污染</a:t>
              </a:r>
            </a:p>
          </p:txBody>
        </p:sp>
        <p:sp>
          <p:nvSpPr>
            <p:cNvPr id="55" name="TextBox 55"/>
            <p:cNvSpPr txBox="1"/>
            <p:nvPr/>
          </p:nvSpPr>
          <p:spPr>
            <a:xfrm>
              <a:off x="3085731" y="5835491"/>
              <a:ext cx="686538" cy="167640"/>
            </a:xfrm>
            <a:prstGeom prst="rect">
              <a:avLst/>
            </a:prstGeom>
            <a:noFill/>
            <a:ln>
              <a:noFill/>
            </a:ln>
          </p:spPr>
          <p:txBody>
            <a:bodyPr wrap="none" lIns="0" tIns="0" rIns="0" bIns="0" anchor="t" anchorCtr="0">
              <a:spAutoFit/>
            </a:bodyPr>
            <a:lstStyle/>
            <a:p>
              <a:pPr algn="ctr"/>
              <a:r>
                <a:rPr lang="zh-CN" sz="825" dirty="0">
                  <a:solidFill>
                    <a:srgbClr val="C62828"/>
                  </a:solidFill>
                  <a:latin typeface="Cambria"/>
                  <a:ea typeface="SimSun"/>
                  <a:cs typeface="Cambria"/>
                </a:rPr>
                <a:t>严重度 ⭐⭐⭐⭐⭐</a:t>
              </a:r>
            </a:p>
          </p:txBody>
        </p:sp>
        <p:sp>
          <p:nvSpPr>
            <p:cNvPr id="56" name="TextBox 56"/>
            <p:cNvSpPr txBox="1"/>
            <p:nvPr/>
          </p:nvSpPr>
          <p:spPr>
            <a:xfrm>
              <a:off x="5073241" y="5683091"/>
              <a:ext cx="521518" cy="167640"/>
            </a:xfrm>
            <a:prstGeom prst="rect">
              <a:avLst/>
            </a:prstGeom>
            <a:noFill/>
            <a:ln>
              <a:noFill/>
            </a:ln>
          </p:spPr>
          <p:txBody>
            <a:bodyPr wrap="none" lIns="0" tIns="0" rIns="0" bIns="0" anchor="t" anchorCtr="0">
              <a:spAutoFit/>
            </a:bodyPr>
            <a:lstStyle/>
            <a:p>
              <a:pPr algn="ctr"/>
              <a:r>
                <a:rPr lang="zh-CN" sz="825" dirty="0">
                  <a:solidFill>
                    <a:srgbClr val="C62828"/>
                  </a:solidFill>
                  <a:latin typeface="Arial"/>
                  <a:ea typeface="Microsoft YaHei"/>
                  <a:cs typeface="Arial"/>
                </a:rPr>
                <a:t>A + B 偏低</a:t>
              </a:r>
            </a:p>
          </p:txBody>
        </p:sp>
        <p:sp>
          <p:nvSpPr>
            <p:cNvPr id="57" name="TextBox 57"/>
            <p:cNvSpPr txBox="1"/>
            <p:nvPr/>
          </p:nvSpPr>
          <p:spPr>
            <a:xfrm>
              <a:off x="4990731" y="5835491"/>
              <a:ext cx="686538" cy="167640"/>
            </a:xfrm>
            <a:prstGeom prst="rect">
              <a:avLst/>
            </a:prstGeom>
            <a:noFill/>
            <a:ln>
              <a:noFill/>
            </a:ln>
          </p:spPr>
          <p:txBody>
            <a:bodyPr wrap="none" lIns="0" tIns="0" rIns="0" bIns="0" anchor="t" anchorCtr="0">
              <a:spAutoFit/>
            </a:bodyPr>
            <a:lstStyle/>
            <a:p>
              <a:pPr algn="ctr"/>
              <a:r>
                <a:rPr lang="zh-CN" sz="825" dirty="0">
                  <a:solidFill>
                    <a:srgbClr val="C62828"/>
                  </a:solidFill>
                  <a:latin typeface="Cambria"/>
                  <a:ea typeface="SimSun"/>
                  <a:cs typeface="Cambria"/>
                </a:rPr>
                <a:t>严重度 ⭐⭐⭐⭐⭐</a:t>
              </a:r>
            </a:p>
          </p:txBody>
        </p:sp>
        <p:sp>
          <p:nvSpPr>
            <p:cNvPr id="58" name="TextBox 58"/>
            <p:cNvSpPr txBox="1"/>
            <p:nvPr/>
          </p:nvSpPr>
          <p:spPr>
            <a:xfrm>
              <a:off x="7170617" y="5683091"/>
              <a:ext cx="708266" cy="167640"/>
            </a:xfrm>
            <a:prstGeom prst="rect">
              <a:avLst/>
            </a:prstGeom>
            <a:noFill/>
            <a:ln>
              <a:noFill/>
            </a:ln>
          </p:spPr>
          <p:txBody>
            <a:bodyPr wrap="none" lIns="0" tIns="0" rIns="0" bIns="0" anchor="t" anchorCtr="0">
              <a:spAutoFit/>
            </a:bodyPr>
            <a:lstStyle/>
            <a:p>
              <a:pPr algn="ctr"/>
              <a:r>
                <a:rPr lang="zh-CN" sz="825" b="1" dirty="0">
                  <a:solidFill>
                    <a:srgbClr val="2E7D32"/>
                  </a:solidFill>
                  <a:latin typeface="Arial"/>
                  <a:ea typeface="Microsoft YaHei"/>
                  <a:cs typeface="Arial"/>
                </a:rPr>
                <a:t>B/C 同向偏差</a:t>
              </a:r>
            </a:p>
          </p:txBody>
        </p:sp>
        <p:sp>
          <p:nvSpPr>
            <p:cNvPr id="59" name="TextBox 59"/>
            <p:cNvSpPr txBox="1"/>
            <p:nvPr/>
          </p:nvSpPr>
          <p:spPr>
            <a:xfrm>
              <a:off x="7260141" y="5835491"/>
              <a:ext cx="529219" cy="167640"/>
            </a:xfrm>
            <a:prstGeom prst="rect">
              <a:avLst/>
            </a:prstGeom>
            <a:noFill/>
            <a:ln>
              <a:noFill/>
            </a:ln>
          </p:spPr>
          <p:txBody>
            <a:bodyPr wrap="none" lIns="0" tIns="0" rIns="0" bIns="0" anchor="t" anchorCtr="0">
              <a:spAutoFit/>
            </a:bodyPr>
            <a:lstStyle/>
            <a:p>
              <a:pPr algn="ctr"/>
              <a:r>
                <a:rPr lang="zh-CN" sz="825" b="1" dirty="0">
                  <a:solidFill>
                    <a:srgbClr val="2E7D32"/>
                  </a:solidFill>
                  <a:latin typeface="Cambria"/>
                  <a:ea typeface="SimSun"/>
                  <a:cs typeface="Cambria"/>
                </a:rPr>
                <a:t>严重度 ⭐⭐</a:t>
              </a:r>
            </a:p>
          </p:txBody>
        </p:sp>
        <p:sp>
          <p:nvSpPr>
            <p:cNvPr id="60" name="TextBox 60"/>
            <p:cNvSpPr txBox="1"/>
            <p:nvPr/>
          </p:nvSpPr>
          <p:spPr>
            <a:xfrm>
              <a:off x="9461980" y="5683091"/>
              <a:ext cx="697540" cy="167640"/>
            </a:xfrm>
            <a:prstGeom prst="rect">
              <a:avLst/>
            </a:prstGeom>
            <a:noFill/>
            <a:ln>
              <a:noFill/>
            </a:ln>
          </p:spPr>
          <p:txBody>
            <a:bodyPr wrap="none" lIns="0" tIns="0" rIns="0" bIns="0" anchor="t" anchorCtr="0">
              <a:spAutoFit/>
            </a:bodyPr>
            <a:lstStyle/>
            <a:p>
              <a:pPr algn="ctr"/>
              <a:r>
                <a:rPr lang="zh-CN" sz="825" dirty="0">
                  <a:solidFill>
                    <a:srgbClr val="C62828"/>
                  </a:solidFill>
                  <a:latin typeface="Arial"/>
                  <a:ea typeface="Microsoft YaHei"/>
                  <a:cs typeface="Arial"/>
                </a:rPr>
                <a:t>MLP 过度压缩</a:t>
              </a:r>
            </a:p>
          </p:txBody>
        </p:sp>
        <p:sp>
          <p:nvSpPr>
            <p:cNvPr id="61" name="TextBox 61"/>
            <p:cNvSpPr txBox="1"/>
            <p:nvPr/>
          </p:nvSpPr>
          <p:spPr>
            <a:xfrm>
              <a:off x="9497735" y="5835491"/>
              <a:ext cx="626031" cy="167640"/>
            </a:xfrm>
            <a:prstGeom prst="rect">
              <a:avLst/>
            </a:prstGeom>
            <a:noFill/>
            <a:ln>
              <a:noFill/>
            </a:ln>
          </p:spPr>
          <p:txBody>
            <a:bodyPr wrap="none" lIns="0" tIns="0" rIns="0" bIns="0" anchor="t" anchorCtr="0">
              <a:spAutoFit/>
            </a:bodyPr>
            <a:lstStyle/>
            <a:p>
              <a:pPr algn="ctr"/>
              <a:r>
                <a:rPr lang="zh-CN" sz="825" dirty="0">
                  <a:solidFill>
                    <a:srgbClr val="C62828"/>
                  </a:solidFill>
                  <a:latin typeface="Cambria"/>
                  <a:ea typeface="SimSun"/>
                  <a:cs typeface="Cambria"/>
                </a:rPr>
                <a:t>严重度 ⭐⭐⭐⭐</a:t>
              </a:r>
            </a:p>
          </p:txBody>
        </p:sp>
      </p:grpSp>
      <p:grpSp>
        <p:nvGrpSpPr>
          <p:cNvPr id="73" name="Group 73"/>
          <p:cNvGrpSpPr/>
          <p:nvPr/>
        </p:nvGrpSpPr>
        <p:grpSpPr>
          <a:xfrm>
            <a:off x="571500" y="5381625"/>
            <a:ext cx="11049000" cy="1000125"/>
            <a:chOff x="571500" y="5381625"/>
            <a:chExt cx="11049000" cy="1000125"/>
          </a:xfrm>
        </p:grpSpPr>
        <p:sp>
          <p:nvSpPr>
            <p:cNvPr id="63" name="Rectangle 63"/>
            <p:cNvSpPr/>
            <p:nvPr/>
          </p:nvSpPr>
          <p:spPr>
            <a:xfrm>
              <a:off x="571500" y="5381625"/>
              <a:ext cx="11049000" cy="1000125"/>
            </a:xfrm>
            <a:prstGeom prst="roundRect">
              <a:avLst>
                <a:gd name="adj" fmla="val 9524"/>
              </a:avLst>
            </a:prstGeom>
            <a:solidFill>
              <a:srgbClr val="0D2A4F"/>
            </a:solidFill>
            <a:ln>
              <a:noFill/>
            </a:ln>
          </p:spPr>
        </p:sp>
        <p:sp>
          <p:nvSpPr>
            <p:cNvPr id="64" name="TextBox 64"/>
            <p:cNvSpPr txBox="1"/>
            <p:nvPr/>
          </p:nvSpPr>
          <p:spPr>
            <a:xfrm>
              <a:off x="746760" y="5556885"/>
              <a:ext cx="1878711" cy="243840"/>
            </a:xfrm>
            <a:prstGeom prst="rect">
              <a:avLst/>
            </a:prstGeom>
            <a:noFill/>
            <a:ln>
              <a:noFill/>
            </a:ln>
          </p:spPr>
          <p:txBody>
            <a:bodyPr wrap="none" lIns="0" tIns="0" rIns="0" bIns="0" anchor="t" anchorCtr="0">
              <a:spAutoFit/>
            </a:bodyPr>
            <a:lstStyle/>
            <a:p>
              <a:pPr algn="l"/>
              <a:r>
                <a:rPr lang="zh-CN" sz="1200" b="1" dirty="0">
                  <a:solidFill>
                    <a:srgbClr val="FFB300"/>
                  </a:solidFill>
                  <a:latin typeface="Cambria"/>
                  <a:ea typeface="SimSun"/>
                  <a:cs typeface="Cambria"/>
                </a:rPr>
                <a:t>关键洞察 · KEY INSIGHTS</a:t>
              </a:r>
            </a:p>
          </p:txBody>
        </p:sp>
        <p:sp>
          <p:nvSpPr>
            <p:cNvPr id="65" name="Ellipse 65"/>
            <p:cNvSpPr/>
            <p:nvPr/>
          </p:nvSpPr>
          <p:spPr>
            <a:xfrm>
              <a:off x="914400" y="5915025"/>
              <a:ext cx="76200" cy="76200"/>
            </a:xfrm>
            <a:prstGeom prst="ellipse">
              <a:avLst/>
            </a:prstGeom>
            <a:solidFill>
              <a:srgbClr val="FFB300"/>
            </a:solidFill>
            <a:ln>
              <a:noFill/>
            </a:ln>
          </p:spPr>
        </p:sp>
        <p:sp>
          <p:nvSpPr>
            <p:cNvPr id="66" name="TextBox 66"/>
            <p:cNvSpPr txBox="1"/>
            <p:nvPr/>
          </p:nvSpPr>
          <p:spPr>
            <a:xfrm>
              <a:off x="1073468" y="5885974"/>
              <a:ext cx="289162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A 模型完全失败 — 异常值污染是融合的隐形杀手</a:t>
              </a:r>
            </a:p>
          </p:txBody>
        </p:sp>
        <p:sp>
          <p:nvSpPr>
            <p:cNvPr id="67" name="Ellipse 67"/>
            <p:cNvSpPr/>
            <p:nvPr/>
          </p:nvSpPr>
          <p:spPr>
            <a:xfrm>
              <a:off x="914400" y="6143625"/>
              <a:ext cx="76200" cy="76200"/>
            </a:xfrm>
            <a:prstGeom prst="ellipse">
              <a:avLst/>
            </a:prstGeom>
            <a:solidFill>
              <a:srgbClr val="FFB300"/>
            </a:solidFill>
            <a:ln>
              <a:noFill/>
            </a:ln>
          </p:spPr>
        </p:sp>
        <p:sp>
          <p:nvSpPr>
            <p:cNvPr id="68" name="TextBox 68"/>
            <p:cNvSpPr txBox="1"/>
            <p:nvPr/>
          </p:nvSpPr>
          <p:spPr>
            <a:xfrm>
              <a:off x="1073468" y="6114574"/>
              <a:ext cx="4591261"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简单加权融合优于 MLP — 复杂度不等于效果 (Exp3 49.43g &gt; Exp4 79.20g)</a:t>
              </a:r>
            </a:p>
          </p:txBody>
        </p:sp>
        <p:sp>
          <p:nvSpPr>
            <p:cNvPr id="69" name="Ellipse 69"/>
            <p:cNvSpPr/>
            <p:nvPr/>
          </p:nvSpPr>
          <p:spPr>
            <a:xfrm>
              <a:off x="6248400" y="5915025"/>
              <a:ext cx="76200" cy="76200"/>
            </a:xfrm>
            <a:prstGeom prst="ellipse">
              <a:avLst/>
            </a:prstGeom>
            <a:solidFill>
              <a:srgbClr val="FFB300"/>
            </a:solidFill>
            <a:ln>
              <a:noFill/>
            </a:ln>
          </p:spPr>
        </p:sp>
        <p:sp>
          <p:nvSpPr>
            <p:cNvPr id="70" name="TextBox 70"/>
            <p:cNvSpPr txBox="1"/>
            <p:nvPr/>
          </p:nvSpPr>
          <p:spPr>
            <a:xfrm>
              <a:off x="6407468" y="5885974"/>
              <a:ext cx="1369458"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C 固定值需类别内回归</a:t>
              </a:r>
            </a:p>
          </p:txBody>
        </p:sp>
        <p:sp>
          <p:nvSpPr>
            <p:cNvPr id="71" name="Ellipse 71"/>
            <p:cNvSpPr/>
            <p:nvPr/>
          </p:nvSpPr>
          <p:spPr>
            <a:xfrm>
              <a:off x="6248400" y="6143625"/>
              <a:ext cx="76200" cy="76200"/>
            </a:xfrm>
            <a:prstGeom prst="ellipse">
              <a:avLst/>
            </a:prstGeom>
            <a:solidFill>
              <a:srgbClr val="FFB300"/>
            </a:solidFill>
            <a:ln>
              <a:noFill/>
            </a:ln>
          </p:spPr>
        </p:sp>
        <p:sp>
          <p:nvSpPr>
            <p:cNvPr id="72" name="TextBox 72"/>
            <p:cNvSpPr txBox="1"/>
            <p:nvPr/>
          </p:nvSpPr>
          <p:spPr>
            <a:xfrm>
              <a:off x="6407468" y="6114574"/>
              <a:ext cx="2495724"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B-C 互补是关键 — 异向偏差时融合最有效</a:t>
              </a:r>
            </a:p>
          </p:txBody>
        </p:sp>
      </p:grpSp>
      <p:sp>
        <p:nvSpPr>
          <p:cNvPr id="74" name="TextBox 74"/>
          <p:cNvSpPr txBox="1"/>
          <p:nvPr/>
        </p:nvSpPr>
        <p:spPr>
          <a:xfrm>
            <a:off x="561022" y="6578441"/>
            <a:ext cx="3417079"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5 · Q2 Fusion Comparison</a:t>
            </a:r>
          </a:p>
        </p:txBody>
      </p:sp>
      <p:sp>
        <p:nvSpPr>
          <p:cNvPr id="75" name="TextBox 75"/>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24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62"/>
                                        </p:tgtEl>
                                        <p:attrNameLst>
                                          <p:attrName>style.visibility</p:attrName>
                                        </p:attrNameLst>
                                      </p:cBhvr>
                                      <p:to>
                                        <p:strVal val="visible"/>
                                      </p:to>
                                    </p:set>
                                    <p:animEffect transition="in" filter="wipe(left)">
                                      <p:cBhvr>
                                        <p:cTn id="11" dur="400"/>
                                        <p:tgtEl>
                                          <p:spTgt spid="62"/>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image">
                                      <p:cBhvr>
                                        <p:cTn id="15"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2" grpId="0"/>
      <p:bldP spid="7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0953750" cy="685800"/>
            <a:chOff x="571500" y="457200"/>
            <a:chExt cx="10953750" cy="685800"/>
          </a:xfrm>
        </p:grpSpPr>
        <p:sp>
          <p:nvSpPr>
            <p:cNvPr id="3" name="Rectangle 3"/>
            <p:cNvSpPr/>
            <p:nvPr/>
          </p:nvSpPr>
          <p:spPr>
            <a:xfrm>
              <a:off x="571500" y="457200"/>
              <a:ext cx="57150" cy="381000"/>
            </a:xfrm>
            <a:prstGeom prst="roundRect">
              <a:avLst>
                <a:gd name="adj" fmla="val 50000"/>
              </a:avLst>
            </a:prstGeom>
            <a:solidFill>
              <a:srgbClr val="C62828"/>
            </a:solidFill>
            <a:ln>
              <a:noFill/>
            </a:ln>
          </p:spPr>
        </p:sp>
        <p:sp>
          <p:nvSpPr>
            <p:cNvPr id="4" name="TextBox 4"/>
            <p:cNvSpPr txBox="1"/>
            <p:nvPr/>
          </p:nvSpPr>
          <p:spPr>
            <a:xfrm>
              <a:off x="733425" y="500062"/>
              <a:ext cx="5507331"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第三问失败案例 · 系统级 3 个典型问题</a:t>
              </a:r>
            </a:p>
          </p:txBody>
        </p:sp>
        <p:sp>
          <p:nvSpPr>
            <p:cNvPr id="5" name="TextBox 5"/>
            <p:cNvSpPr txBox="1"/>
            <p:nvPr/>
          </p:nvSpPr>
          <p:spPr>
            <a:xfrm>
              <a:off x="748665" y="896302"/>
              <a:ext cx="3996166"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CHAPTER 5 · FAILURE CASES · Q3 SYSTEM-LEVEL DIAGNOSIS</a:t>
              </a:r>
            </a:p>
          </p:txBody>
        </p:sp>
        <p:grpSp>
          <p:nvGrpSpPr>
            <p:cNvPr id="9" name="Group 9"/>
            <p:cNvGrpSpPr/>
            <p:nvPr/>
          </p:nvGrpSpPr>
          <p:grpSpPr>
            <a:xfrm>
              <a:off x="9620250" y="571500"/>
              <a:ext cx="1905000" cy="571500"/>
              <a:chOff x="9620250" y="571500"/>
              <a:chExt cx="1905000" cy="571500"/>
            </a:xfrm>
          </p:grpSpPr>
          <p:sp>
            <p:nvSpPr>
              <p:cNvPr id="6" name="Rectangle 6"/>
              <p:cNvSpPr/>
              <p:nvPr/>
            </p:nvSpPr>
            <p:spPr>
              <a:xfrm>
                <a:off x="9620250" y="571500"/>
                <a:ext cx="1905000" cy="571500"/>
              </a:xfrm>
              <a:prstGeom prst="roundRect">
                <a:avLst>
                  <a:gd name="adj" fmla="val 16667"/>
                </a:avLst>
              </a:prstGeom>
              <a:solidFill>
                <a:srgbClr val="FFEBEE"/>
              </a:solidFill>
              <a:ln>
                <a:noFill/>
              </a:ln>
            </p:spPr>
          </p:sp>
          <p:sp>
            <p:nvSpPr>
              <p:cNvPr id="7" name="TextBox 7"/>
              <p:cNvSpPr txBox="1"/>
              <p:nvPr/>
            </p:nvSpPr>
            <p:spPr>
              <a:xfrm>
                <a:off x="10002711" y="692468"/>
                <a:ext cx="1140078" cy="274320"/>
              </a:xfrm>
              <a:prstGeom prst="rect">
                <a:avLst/>
              </a:prstGeom>
              <a:noFill/>
              <a:ln>
                <a:noFill/>
              </a:ln>
            </p:spPr>
            <p:txBody>
              <a:bodyPr wrap="none" lIns="0" tIns="0" rIns="0" bIns="0" anchor="t" anchorCtr="0">
                <a:spAutoFit/>
              </a:bodyPr>
              <a:lstStyle/>
              <a:p>
                <a:pPr algn="ctr"/>
                <a:r>
                  <a:rPr lang="zh-CN" sz="1350" b="1" dirty="0">
                    <a:solidFill>
                      <a:srgbClr val="C62828"/>
                    </a:solidFill>
                    <a:latin typeface="Cambria"/>
                    <a:ea typeface="SimSun"/>
                    <a:cs typeface="Cambria"/>
                  </a:rPr>
                  <a:t>3 个典型失败</a:t>
                </a:r>
              </a:p>
            </p:txBody>
          </p:sp>
          <p:sp>
            <p:nvSpPr>
              <p:cNvPr id="8" name="TextBox 8"/>
              <p:cNvSpPr txBox="1"/>
              <p:nvPr/>
            </p:nvSpPr>
            <p:spPr>
              <a:xfrm>
                <a:off x="9976037" y="958691"/>
                <a:ext cx="1193427"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SYSTEM-LEVEL ISSUES</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2" name="TextBox 12"/>
          <p:cNvSpPr txBox="1"/>
          <p:nvPr/>
        </p:nvSpPr>
        <p:spPr>
          <a:xfrm>
            <a:off x="4230934" y="1505902"/>
            <a:ext cx="3730133"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多盘菜营养分析系统三类典型问题 · 表现 → 根因 → 改进方向</a:t>
            </a:r>
          </a:p>
        </p:txBody>
      </p:sp>
      <p:grpSp>
        <p:nvGrpSpPr>
          <p:cNvPr id="55" name="Group 55"/>
          <p:cNvGrpSpPr/>
          <p:nvPr/>
        </p:nvGrpSpPr>
        <p:grpSpPr>
          <a:xfrm>
            <a:off x="571500" y="1809750"/>
            <a:ext cx="11049000" cy="3505200"/>
            <a:chOff x="571500" y="1809750"/>
            <a:chExt cx="11049000" cy="3505200"/>
          </a:xfrm>
        </p:grpSpPr>
        <p:sp>
          <p:nvSpPr>
            <p:cNvPr id="13" name="Rectangle 13"/>
            <p:cNvSpPr/>
            <p:nvPr/>
          </p:nvSpPr>
          <p:spPr>
            <a:xfrm>
              <a:off x="571500" y="1809750"/>
              <a:ext cx="11049000" cy="476250"/>
            </a:xfrm>
            <a:prstGeom prst="roundRect">
              <a:avLst>
                <a:gd name="adj" fmla="val 16000"/>
              </a:avLst>
            </a:prstGeom>
            <a:solidFill>
              <a:srgbClr val="C62828"/>
            </a:solidFill>
            <a:ln>
              <a:noFill/>
            </a:ln>
          </p:spPr>
        </p:sp>
        <p:sp>
          <p:nvSpPr>
            <p:cNvPr id="14" name="TextBox 14"/>
            <p:cNvSpPr txBox="1"/>
            <p:nvPr/>
          </p:nvSpPr>
          <p:spPr>
            <a:xfrm>
              <a:off x="1470235" y="19821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t>
              </a:r>
            </a:p>
          </p:txBody>
        </p:sp>
        <p:sp>
          <p:nvSpPr>
            <p:cNvPr id="15" name="TextBox 15"/>
            <p:cNvSpPr txBox="1"/>
            <p:nvPr/>
          </p:nvSpPr>
          <p:spPr>
            <a:xfrm>
              <a:off x="3078147" y="198215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问题</a:t>
              </a:r>
            </a:p>
          </p:txBody>
        </p:sp>
        <p:sp>
          <p:nvSpPr>
            <p:cNvPr id="16" name="TextBox 16"/>
            <p:cNvSpPr txBox="1"/>
            <p:nvPr/>
          </p:nvSpPr>
          <p:spPr>
            <a:xfrm>
              <a:off x="5364147" y="198215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表现</a:t>
              </a:r>
            </a:p>
          </p:txBody>
        </p:sp>
        <p:sp>
          <p:nvSpPr>
            <p:cNvPr id="17" name="TextBox 17"/>
            <p:cNvSpPr txBox="1"/>
            <p:nvPr/>
          </p:nvSpPr>
          <p:spPr>
            <a:xfrm>
              <a:off x="7650147" y="198215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根因</a:t>
              </a:r>
            </a:p>
          </p:txBody>
        </p:sp>
        <p:sp>
          <p:nvSpPr>
            <p:cNvPr id="18" name="TextBox 18"/>
            <p:cNvSpPr txBox="1"/>
            <p:nvPr/>
          </p:nvSpPr>
          <p:spPr>
            <a:xfrm>
              <a:off x="9979628" y="198215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改进方向</a:t>
              </a:r>
            </a:p>
          </p:txBody>
        </p:sp>
        <p:sp>
          <p:nvSpPr>
            <p:cNvPr id="19" name="Rectangle 19"/>
            <p:cNvSpPr/>
            <p:nvPr/>
          </p:nvSpPr>
          <p:spPr>
            <a:xfrm>
              <a:off x="571500" y="2343150"/>
              <a:ext cx="11049000" cy="952500"/>
            </a:xfrm>
            <a:prstGeom prst="roundRect">
              <a:avLst>
                <a:gd name="adj" fmla="val 6000"/>
              </a:avLst>
            </a:prstGeom>
            <a:solidFill>
              <a:srgbClr val="FFEBEE"/>
            </a:solidFill>
            <a:ln>
              <a:noFill/>
            </a:ln>
          </p:spPr>
        </p:sp>
        <p:sp>
          <p:nvSpPr>
            <p:cNvPr id="20" name="Rectangle 20"/>
            <p:cNvSpPr/>
            <p:nvPr/>
          </p:nvSpPr>
          <p:spPr>
            <a:xfrm>
              <a:off x="762000" y="2552700"/>
              <a:ext cx="476250" cy="476250"/>
            </a:xfrm>
            <a:prstGeom prst="roundRect">
              <a:avLst>
                <a:gd name="adj" fmla="val 50000"/>
              </a:avLst>
            </a:prstGeom>
            <a:solidFill>
              <a:srgbClr val="C62828"/>
            </a:solidFill>
            <a:ln>
              <a:noFill/>
            </a:ln>
          </p:spPr>
        </p:sp>
        <p:sp>
          <p:nvSpPr>
            <p:cNvPr id="21" name="TextBox 21"/>
            <p:cNvSpPr txBox="1"/>
            <p:nvPr/>
          </p:nvSpPr>
          <p:spPr>
            <a:xfrm>
              <a:off x="1473446" y="2695575"/>
              <a:ext cx="101108" cy="304800"/>
            </a:xfrm>
            <a:prstGeom prst="rect">
              <a:avLst/>
            </a:prstGeom>
            <a:noFill/>
            <a:ln>
              <a:noFill/>
            </a:ln>
          </p:spPr>
          <p:txBody>
            <a:bodyPr wrap="none" lIns="0" tIns="0" rIns="0" bIns="0" anchor="t" anchorCtr="0">
              <a:spAutoFit/>
            </a:bodyPr>
            <a:lstStyle/>
            <a:p>
              <a:pPr algn="ctr"/>
              <a:r>
                <a:rPr lang="zh-CN" sz="1500" b="1" dirty="0">
                  <a:solidFill>
                    <a:srgbClr val="C62828"/>
                  </a:solidFill>
                  <a:latin typeface="Cambria"/>
                  <a:ea typeface="SimSun"/>
                  <a:cs typeface="Cambria"/>
                </a:rPr>
                <a:t>1</a:t>
              </a:r>
            </a:p>
          </p:txBody>
        </p:sp>
        <p:sp>
          <p:nvSpPr>
            <p:cNvPr id="22" name="TextBox 22"/>
            <p:cNvSpPr txBox="1"/>
            <p:nvPr/>
          </p:nvSpPr>
          <p:spPr>
            <a:xfrm>
              <a:off x="2081212" y="2640806"/>
              <a:ext cx="973693"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食物分类不准</a:t>
              </a:r>
            </a:p>
          </p:txBody>
        </p:sp>
        <p:sp>
          <p:nvSpPr>
            <p:cNvPr id="23" name="TextBox 23"/>
            <p:cNvSpPr txBox="1"/>
            <p:nvPr/>
          </p:nvSpPr>
          <p:spPr>
            <a:xfrm>
              <a:off x="2084070" y="2893695"/>
              <a:ext cx="50292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类别误识</a:t>
              </a:r>
            </a:p>
          </p:txBody>
        </p:sp>
        <p:sp>
          <p:nvSpPr>
            <p:cNvPr id="24" name="TextBox 24"/>
            <p:cNvSpPr txBox="1"/>
            <p:nvPr/>
          </p:nvSpPr>
          <p:spPr>
            <a:xfrm>
              <a:off x="4369118" y="2656999"/>
              <a:ext cx="1164682" cy="198120"/>
            </a:xfrm>
            <a:prstGeom prst="rect">
              <a:avLst/>
            </a:prstGeom>
            <a:noFill/>
            <a:ln>
              <a:noFill/>
            </a:ln>
          </p:spPr>
          <p:txBody>
            <a:bodyPr wrap="none" lIns="0" tIns="0" rIns="0" bIns="0" anchor="t" anchorCtr="0">
              <a:spAutoFit/>
            </a:bodyPr>
            <a:lstStyle/>
            <a:p>
              <a:pPr algn="l"/>
              <a:r>
                <a:rPr lang="zh-CN" sz="975" b="1" dirty="0">
                  <a:solidFill>
                    <a:srgbClr val="C62828"/>
                  </a:solidFill>
                  <a:latin typeface="Arial"/>
                  <a:ea typeface="Microsoft YaHei"/>
                  <a:cs typeface="Arial"/>
                </a:rPr>
                <a:t>"鸡肉" → "鸡肉松"</a:t>
              </a:r>
            </a:p>
          </p:txBody>
        </p:sp>
        <p:sp>
          <p:nvSpPr>
            <p:cNvPr id="25" name="TextBox 25"/>
            <p:cNvSpPr txBox="1"/>
            <p:nvPr/>
          </p:nvSpPr>
          <p:spPr>
            <a:xfrm>
              <a:off x="4370070" y="2893695"/>
              <a:ext cx="122301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颜色纹理接近导致误判</a:t>
              </a:r>
            </a:p>
          </p:txBody>
        </p:sp>
        <p:sp>
          <p:nvSpPr>
            <p:cNvPr id="26" name="TextBox 26"/>
            <p:cNvSpPr txBox="1"/>
            <p:nvPr/>
          </p:nvSpPr>
          <p:spPr>
            <a:xfrm>
              <a:off x="6655118" y="2656999"/>
              <a:ext cx="1064895"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颜色规则过于粗糙</a:t>
              </a:r>
            </a:p>
          </p:txBody>
        </p:sp>
        <p:sp>
          <p:nvSpPr>
            <p:cNvPr id="27" name="TextBox 27"/>
            <p:cNvSpPr txBox="1"/>
            <p:nvPr/>
          </p:nvSpPr>
          <p:spPr>
            <a:xfrm>
              <a:off x="6656070" y="2893695"/>
              <a:ext cx="122301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规则无法捕获语义差异</a:t>
              </a:r>
            </a:p>
          </p:txBody>
        </p:sp>
        <p:sp>
          <p:nvSpPr>
            <p:cNvPr id="28" name="Rectangle 28"/>
            <p:cNvSpPr/>
            <p:nvPr/>
          </p:nvSpPr>
          <p:spPr>
            <a:xfrm>
              <a:off x="9144000" y="2552700"/>
              <a:ext cx="2286000" cy="476250"/>
            </a:xfrm>
            <a:prstGeom prst="roundRect">
              <a:avLst>
                <a:gd name="adj" fmla="val 16000"/>
              </a:avLst>
            </a:prstGeom>
            <a:solidFill>
              <a:srgbClr val="E8F5E9"/>
            </a:solidFill>
            <a:ln>
              <a:noFill/>
            </a:ln>
          </p:spPr>
        </p:sp>
        <p:sp>
          <p:nvSpPr>
            <p:cNvPr id="29" name="Freeform 29"/>
            <p:cNvSpPr/>
            <p:nvPr/>
          </p:nvSpPr>
          <p:spPr>
            <a:xfrm>
              <a:off x="9317038" y="2741612"/>
              <a:ext cx="119062" cy="79375"/>
            </a:xfrm>
            <a:custGeom>
              <a:avLst/>
              <a:gdLst/>
              <a:ahLst/>
              <a:cxnLst/>
              <a:rect l="l" t="t" r="r" b="b"/>
              <a:pathLst>
                <a:path w="119062" h="79375">
                  <a:moveTo>
                    <a:pt x="0" y="39688"/>
                  </a:moveTo>
                  <a:lnTo>
                    <a:pt x="39688" y="79375"/>
                  </a:lnTo>
                  <a:lnTo>
                    <a:pt x="119062" y="0"/>
                  </a:lnTo>
                </a:path>
              </a:pathLst>
            </a:custGeom>
            <a:noFill/>
            <a:ln w="19050">
              <a:solidFill>
                <a:srgbClr val="2E7D32"/>
              </a:solidFill>
            </a:ln>
          </p:spPr>
        </p:sp>
        <p:sp>
          <p:nvSpPr>
            <p:cNvPr id="30" name="TextBox 30"/>
            <p:cNvSpPr txBox="1"/>
            <p:nvPr/>
          </p:nvSpPr>
          <p:spPr>
            <a:xfrm>
              <a:off x="9512618" y="2733199"/>
              <a:ext cx="1328503"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改用 CLIP 零样本分类</a:t>
              </a:r>
            </a:p>
          </p:txBody>
        </p:sp>
        <p:sp>
          <p:nvSpPr>
            <p:cNvPr id="31" name="Rectangle 31"/>
            <p:cNvSpPr/>
            <p:nvPr/>
          </p:nvSpPr>
          <p:spPr>
            <a:xfrm>
              <a:off x="571500" y="3352800"/>
              <a:ext cx="11049000" cy="952500"/>
            </a:xfrm>
            <a:prstGeom prst="roundRect">
              <a:avLst>
                <a:gd name="adj" fmla="val 6000"/>
              </a:avLst>
            </a:prstGeom>
            <a:solidFill>
              <a:srgbClr val="FFFFFF"/>
            </a:solidFill>
            <a:ln>
              <a:noFill/>
            </a:ln>
          </p:spPr>
        </p:sp>
        <p:sp>
          <p:nvSpPr>
            <p:cNvPr id="32" name="Rectangle 32"/>
            <p:cNvSpPr/>
            <p:nvPr/>
          </p:nvSpPr>
          <p:spPr>
            <a:xfrm>
              <a:off x="762000" y="3562350"/>
              <a:ext cx="476250" cy="476250"/>
            </a:xfrm>
            <a:prstGeom prst="roundRect">
              <a:avLst>
                <a:gd name="adj" fmla="val 50000"/>
              </a:avLst>
            </a:prstGeom>
            <a:solidFill>
              <a:srgbClr val="C62828"/>
            </a:solidFill>
            <a:ln>
              <a:noFill/>
            </a:ln>
          </p:spPr>
        </p:sp>
        <p:sp>
          <p:nvSpPr>
            <p:cNvPr id="33" name="TextBox 33"/>
            <p:cNvSpPr txBox="1"/>
            <p:nvPr/>
          </p:nvSpPr>
          <p:spPr>
            <a:xfrm>
              <a:off x="1447193" y="3705225"/>
              <a:ext cx="153614" cy="304800"/>
            </a:xfrm>
            <a:prstGeom prst="rect">
              <a:avLst/>
            </a:prstGeom>
            <a:noFill/>
            <a:ln>
              <a:noFill/>
            </a:ln>
          </p:spPr>
          <p:txBody>
            <a:bodyPr wrap="none" lIns="0" tIns="0" rIns="0" bIns="0" anchor="t" anchorCtr="0">
              <a:spAutoFit/>
            </a:bodyPr>
            <a:lstStyle/>
            <a:p>
              <a:pPr algn="ctr"/>
              <a:r>
                <a:rPr lang="zh-CN" sz="1500" b="1" dirty="0">
                  <a:solidFill>
                    <a:srgbClr val="C62828"/>
                  </a:solidFill>
                  <a:latin typeface="Cambria"/>
                  <a:ea typeface="SimSun"/>
                  <a:cs typeface="Cambria"/>
                </a:rPr>
                <a:t>2</a:t>
              </a:r>
            </a:p>
          </p:txBody>
        </p:sp>
        <p:sp>
          <p:nvSpPr>
            <p:cNvPr id="34" name="TextBox 34"/>
            <p:cNvSpPr txBox="1"/>
            <p:nvPr/>
          </p:nvSpPr>
          <p:spPr>
            <a:xfrm>
              <a:off x="2081212" y="3650456"/>
              <a:ext cx="973693"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热量预测偏高</a:t>
              </a:r>
            </a:p>
          </p:txBody>
        </p:sp>
        <p:sp>
          <p:nvSpPr>
            <p:cNvPr id="35" name="TextBox 35"/>
            <p:cNvSpPr txBox="1"/>
            <p:nvPr/>
          </p:nvSpPr>
          <p:spPr>
            <a:xfrm>
              <a:off x="2084070" y="3903345"/>
              <a:ext cx="50292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分量异常</a:t>
              </a:r>
            </a:p>
          </p:txBody>
        </p:sp>
        <p:sp>
          <p:nvSpPr>
            <p:cNvPr id="36" name="TextBox 36"/>
            <p:cNvSpPr txBox="1"/>
            <p:nvPr/>
          </p:nvSpPr>
          <p:spPr>
            <a:xfrm>
              <a:off x="4369118" y="3666649"/>
              <a:ext cx="604963" cy="198120"/>
            </a:xfrm>
            <a:prstGeom prst="rect">
              <a:avLst/>
            </a:prstGeom>
            <a:noFill/>
            <a:ln>
              <a:noFill/>
            </a:ln>
          </p:spPr>
          <p:txBody>
            <a:bodyPr wrap="none" lIns="0" tIns="0" rIns="0" bIns="0" anchor="t" anchorCtr="0">
              <a:spAutoFit/>
            </a:bodyPr>
            <a:lstStyle/>
            <a:p>
              <a:pPr algn="l"/>
              <a:r>
                <a:rPr lang="zh-CN" sz="975" b="1" dirty="0">
                  <a:solidFill>
                    <a:srgbClr val="C62828"/>
                  </a:solidFill>
                  <a:latin typeface="Arial"/>
                  <a:ea typeface="Microsoft YaHei"/>
                  <a:cs typeface="Arial"/>
                </a:rPr>
                <a:t>米饭 412g</a:t>
              </a:r>
            </a:p>
          </p:txBody>
        </p:sp>
        <p:sp>
          <p:nvSpPr>
            <p:cNvPr id="37" name="TextBox 37"/>
            <p:cNvSpPr txBox="1"/>
            <p:nvPr/>
          </p:nvSpPr>
          <p:spPr>
            <a:xfrm>
              <a:off x="4370070" y="3903345"/>
              <a:ext cx="1157002"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正常范围仅 150-200g</a:t>
              </a:r>
            </a:p>
          </p:txBody>
        </p:sp>
        <p:sp>
          <p:nvSpPr>
            <p:cNvPr id="38" name="TextBox 38"/>
            <p:cNvSpPr txBox="1"/>
            <p:nvPr/>
          </p:nvSpPr>
          <p:spPr>
            <a:xfrm>
              <a:off x="6655118" y="3666649"/>
              <a:ext cx="1006388"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缺像素-厘米参照</a:t>
              </a:r>
            </a:p>
          </p:txBody>
        </p:sp>
        <p:sp>
          <p:nvSpPr>
            <p:cNvPr id="39" name="TextBox 39"/>
            <p:cNvSpPr txBox="1"/>
            <p:nvPr/>
          </p:nvSpPr>
          <p:spPr>
            <a:xfrm>
              <a:off x="6656070" y="3903345"/>
              <a:ext cx="98298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无法标定绝对尺度</a:t>
              </a:r>
            </a:p>
          </p:txBody>
        </p:sp>
        <p:sp>
          <p:nvSpPr>
            <p:cNvPr id="40" name="Rectangle 40"/>
            <p:cNvSpPr/>
            <p:nvPr/>
          </p:nvSpPr>
          <p:spPr>
            <a:xfrm>
              <a:off x="9144000" y="3562350"/>
              <a:ext cx="2286000" cy="476250"/>
            </a:xfrm>
            <a:prstGeom prst="roundRect">
              <a:avLst>
                <a:gd name="adj" fmla="val 16000"/>
              </a:avLst>
            </a:prstGeom>
            <a:solidFill>
              <a:srgbClr val="E8F5E9"/>
            </a:solidFill>
            <a:ln>
              <a:noFill/>
            </a:ln>
          </p:spPr>
        </p:sp>
        <p:sp>
          <p:nvSpPr>
            <p:cNvPr id="41" name="Freeform 41"/>
            <p:cNvSpPr/>
            <p:nvPr/>
          </p:nvSpPr>
          <p:spPr>
            <a:xfrm>
              <a:off x="9317038" y="3751262"/>
              <a:ext cx="119062" cy="79375"/>
            </a:xfrm>
            <a:custGeom>
              <a:avLst/>
              <a:gdLst/>
              <a:ahLst/>
              <a:cxnLst/>
              <a:rect l="l" t="t" r="r" b="b"/>
              <a:pathLst>
                <a:path w="119062" h="79375">
                  <a:moveTo>
                    <a:pt x="0" y="39688"/>
                  </a:moveTo>
                  <a:lnTo>
                    <a:pt x="39688" y="79375"/>
                  </a:lnTo>
                  <a:lnTo>
                    <a:pt x="119062" y="0"/>
                  </a:lnTo>
                </a:path>
              </a:pathLst>
            </a:custGeom>
            <a:noFill/>
            <a:ln w="19050">
              <a:solidFill>
                <a:srgbClr val="2E7D32"/>
              </a:solidFill>
            </a:ln>
          </p:spPr>
        </p:sp>
        <p:sp>
          <p:nvSpPr>
            <p:cNvPr id="42" name="TextBox 42"/>
            <p:cNvSpPr txBox="1"/>
            <p:nvPr/>
          </p:nvSpPr>
          <p:spPr>
            <a:xfrm>
              <a:off x="9512618" y="3742849"/>
              <a:ext cx="980384"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加入参照物检测</a:t>
              </a:r>
            </a:p>
          </p:txBody>
        </p:sp>
        <p:sp>
          <p:nvSpPr>
            <p:cNvPr id="43" name="Rectangle 43"/>
            <p:cNvSpPr/>
            <p:nvPr/>
          </p:nvSpPr>
          <p:spPr>
            <a:xfrm>
              <a:off x="571500" y="4362450"/>
              <a:ext cx="11049000" cy="952500"/>
            </a:xfrm>
            <a:prstGeom prst="roundRect">
              <a:avLst>
                <a:gd name="adj" fmla="val 6000"/>
              </a:avLst>
            </a:prstGeom>
            <a:solidFill>
              <a:srgbClr val="FFEBEE"/>
            </a:solidFill>
            <a:ln>
              <a:noFill/>
            </a:ln>
          </p:spPr>
        </p:sp>
        <p:sp>
          <p:nvSpPr>
            <p:cNvPr id="44" name="Rectangle 44"/>
            <p:cNvSpPr/>
            <p:nvPr/>
          </p:nvSpPr>
          <p:spPr>
            <a:xfrm>
              <a:off x="762000" y="4572000"/>
              <a:ext cx="476250" cy="476250"/>
            </a:xfrm>
            <a:prstGeom prst="roundRect">
              <a:avLst>
                <a:gd name="adj" fmla="val 50000"/>
              </a:avLst>
            </a:prstGeom>
            <a:solidFill>
              <a:srgbClr val="C62828"/>
            </a:solidFill>
            <a:ln>
              <a:noFill/>
            </a:ln>
          </p:spPr>
        </p:sp>
        <p:sp>
          <p:nvSpPr>
            <p:cNvPr id="45" name="TextBox 45"/>
            <p:cNvSpPr txBox="1"/>
            <p:nvPr/>
          </p:nvSpPr>
          <p:spPr>
            <a:xfrm>
              <a:off x="1447193" y="4714875"/>
              <a:ext cx="153614" cy="304800"/>
            </a:xfrm>
            <a:prstGeom prst="rect">
              <a:avLst/>
            </a:prstGeom>
            <a:noFill/>
            <a:ln>
              <a:noFill/>
            </a:ln>
          </p:spPr>
          <p:txBody>
            <a:bodyPr wrap="none" lIns="0" tIns="0" rIns="0" bIns="0" anchor="t" anchorCtr="0">
              <a:spAutoFit/>
            </a:bodyPr>
            <a:lstStyle/>
            <a:p>
              <a:pPr algn="ctr"/>
              <a:r>
                <a:rPr lang="zh-CN" sz="1500" b="1" dirty="0">
                  <a:solidFill>
                    <a:srgbClr val="C62828"/>
                  </a:solidFill>
                  <a:latin typeface="Cambria"/>
                  <a:ea typeface="SimSun"/>
                  <a:cs typeface="Cambria"/>
                </a:rPr>
                <a:t>3</a:t>
              </a:r>
            </a:p>
          </p:txBody>
        </p:sp>
        <p:sp>
          <p:nvSpPr>
            <p:cNvPr id="46" name="TextBox 46"/>
            <p:cNvSpPr txBox="1"/>
            <p:nvPr/>
          </p:nvSpPr>
          <p:spPr>
            <a:xfrm>
              <a:off x="2081212" y="4660106"/>
              <a:ext cx="973693"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区域切分过大</a:t>
              </a:r>
            </a:p>
          </p:txBody>
        </p:sp>
        <p:sp>
          <p:nvSpPr>
            <p:cNvPr id="47" name="TextBox 47"/>
            <p:cNvSpPr txBox="1"/>
            <p:nvPr/>
          </p:nvSpPr>
          <p:spPr>
            <a:xfrm>
              <a:off x="2084070" y="4912995"/>
              <a:ext cx="50292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分割失效</a:t>
              </a:r>
            </a:p>
          </p:txBody>
        </p:sp>
        <p:sp>
          <p:nvSpPr>
            <p:cNvPr id="48" name="TextBox 48"/>
            <p:cNvSpPr txBox="1"/>
            <p:nvPr/>
          </p:nvSpPr>
          <p:spPr>
            <a:xfrm>
              <a:off x="4369118" y="4676299"/>
              <a:ext cx="980384" cy="198120"/>
            </a:xfrm>
            <a:prstGeom prst="rect">
              <a:avLst/>
            </a:prstGeom>
            <a:noFill/>
            <a:ln>
              <a:noFill/>
            </a:ln>
          </p:spPr>
          <p:txBody>
            <a:bodyPr wrap="none" lIns="0" tIns="0" rIns="0" bIns="0" anchor="t" anchorCtr="0">
              <a:spAutoFit/>
            </a:bodyPr>
            <a:lstStyle/>
            <a:p>
              <a:pPr algn="l"/>
              <a:r>
                <a:rPr lang="zh-CN" sz="975" b="1" dirty="0">
                  <a:solidFill>
                    <a:srgbClr val="C62828"/>
                  </a:solidFill>
                  <a:latin typeface="Arial"/>
                  <a:ea typeface="Microsoft YaHei"/>
                  <a:cs typeface="Arial"/>
                </a:rPr>
                <a:t>网格覆盖 1/4 图</a:t>
              </a:r>
            </a:p>
          </p:txBody>
        </p:sp>
        <p:sp>
          <p:nvSpPr>
            <p:cNvPr id="49" name="TextBox 49"/>
            <p:cNvSpPr txBox="1"/>
            <p:nvPr/>
          </p:nvSpPr>
          <p:spPr>
            <a:xfrm>
              <a:off x="4370070" y="4912995"/>
              <a:ext cx="98298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兜底策略过度触发</a:t>
              </a:r>
            </a:p>
          </p:txBody>
        </p:sp>
        <p:sp>
          <p:nvSpPr>
            <p:cNvPr id="50" name="TextBox 50"/>
            <p:cNvSpPr txBox="1"/>
            <p:nvPr/>
          </p:nvSpPr>
          <p:spPr>
            <a:xfrm>
              <a:off x="6655118" y="4676299"/>
              <a:ext cx="804862"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缺盘子级分割</a:t>
              </a:r>
            </a:p>
          </p:txBody>
        </p:sp>
        <p:sp>
          <p:nvSpPr>
            <p:cNvPr id="51" name="TextBox 51"/>
            <p:cNvSpPr txBox="1"/>
            <p:nvPr/>
          </p:nvSpPr>
          <p:spPr>
            <a:xfrm>
              <a:off x="6656070" y="4912995"/>
              <a:ext cx="1090994"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YOLO 训练样本不足</a:t>
              </a:r>
            </a:p>
          </p:txBody>
        </p:sp>
        <p:sp>
          <p:nvSpPr>
            <p:cNvPr id="52" name="Rectangle 52"/>
            <p:cNvSpPr/>
            <p:nvPr/>
          </p:nvSpPr>
          <p:spPr>
            <a:xfrm>
              <a:off x="9144000" y="4572000"/>
              <a:ext cx="2286000" cy="476250"/>
            </a:xfrm>
            <a:prstGeom prst="roundRect">
              <a:avLst>
                <a:gd name="adj" fmla="val 16000"/>
              </a:avLst>
            </a:prstGeom>
            <a:solidFill>
              <a:srgbClr val="E8F5E9"/>
            </a:solidFill>
            <a:ln>
              <a:noFill/>
            </a:ln>
          </p:spPr>
        </p:sp>
        <p:sp>
          <p:nvSpPr>
            <p:cNvPr id="53" name="Freeform 53"/>
            <p:cNvSpPr/>
            <p:nvPr/>
          </p:nvSpPr>
          <p:spPr>
            <a:xfrm>
              <a:off x="9317038" y="4760912"/>
              <a:ext cx="119062" cy="79375"/>
            </a:xfrm>
            <a:custGeom>
              <a:avLst/>
              <a:gdLst/>
              <a:ahLst/>
              <a:cxnLst/>
              <a:rect l="l" t="t" r="r" b="b"/>
              <a:pathLst>
                <a:path w="119062" h="79375">
                  <a:moveTo>
                    <a:pt x="0" y="39688"/>
                  </a:moveTo>
                  <a:lnTo>
                    <a:pt x="39688" y="79375"/>
                  </a:lnTo>
                  <a:lnTo>
                    <a:pt x="119062" y="0"/>
                  </a:lnTo>
                </a:path>
              </a:pathLst>
            </a:custGeom>
            <a:noFill/>
            <a:ln w="19050">
              <a:solidFill>
                <a:srgbClr val="2E7D32"/>
              </a:solidFill>
            </a:ln>
          </p:spPr>
        </p:sp>
        <p:sp>
          <p:nvSpPr>
            <p:cNvPr id="54" name="TextBox 54"/>
            <p:cNvSpPr txBox="1"/>
            <p:nvPr/>
          </p:nvSpPr>
          <p:spPr>
            <a:xfrm>
              <a:off x="9512618" y="4752499"/>
              <a:ext cx="1280722"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优化 YOLO 训练数据</a:t>
              </a:r>
            </a:p>
          </p:txBody>
        </p:sp>
      </p:grpSp>
      <p:grpSp>
        <p:nvGrpSpPr>
          <p:cNvPr id="70" name="Group 70"/>
          <p:cNvGrpSpPr/>
          <p:nvPr/>
        </p:nvGrpSpPr>
        <p:grpSpPr>
          <a:xfrm>
            <a:off x="571500" y="5476875"/>
            <a:ext cx="11049000" cy="904875"/>
            <a:chOff x="571500" y="5476875"/>
            <a:chExt cx="11049000" cy="904875"/>
          </a:xfrm>
        </p:grpSpPr>
        <p:sp>
          <p:nvSpPr>
            <p:cNvPr id="56" name="Rectangle 56"/>
            <p:cNvSpPr/>
            <p:nvPr/>
          </p:nvSpPr>
          <p:spPr>
            <a:xfrm>
              <a:off x="571500" y="5476875"/>
              <a:ext cx="11049000" cy="904875"/>
            </a:xfrm>
            <a:prstGeom prst="roundRect">
              <a:avLst>
                <a:gd name="adj" fmla="val 10526"/>
              </a:avLst>
            </a:prstGeom>
            <a:solidFill>
              <a:srgbClr val="0D2A4F"/>
            </a:solidFill>
            <a:ln>
              <a:noFill/>
            </a:ln>
          </p:spPr>
        </p:sp>
        <p:sp>
          <p:nvSpPr>
            <p:cNvPr id="57" name="TextBox 57"/>
            <p:cNvSpPr txBox="1"/>
            <p:nvPr/>
          </p:nvSpPr>
          <p:spPr>
            <a:xfrm>
              <a:off x="746760" y="5633085"/>
              <a:ext cx="2281961" cy="243840"/>
            </a:xfrm>
            <a:prstGeom prst="rect">
              <a:avLst/>
            </a:prstGeom>
            <a:noFill/>
            <a:ln>
              <a:noFill/>
            </a:ln>
          </p:spPr>
          <p:txBody>
            <a:bodyPr wrap="none" lIns="0" tIns="0" rIns="0" bIns="0" anchor="t" anchorCtr="0">
              <a:spAutoFit/>
            </a:bodyPr>
            <a:lstStyle/>
            <a:p>
              <a:pPr algn="l"/>
              <a:r>
                <a:rPr lang="zh-CN" sz="1200" b="1" dirty="0">
                  <a:solidFill>
                    <a:srgbClr val="FFB300"/>
                  </a:solidFill>
                  <a:latin typeface="Cambria"/>
                  <a:ea typeface="SimSun"/>
                  <a:cs typeface="Cambria"/>
                </a:rPr>
                <a:t>共性诊断 · COMMON PATTERN</a:t>
              </a:r>
            </a:p>
          </p:txBody>
        </p:sp>
        <p:grpSp>
          <p:nvGrpSpPr>
            <p:cNvPr id="61" name="Group 61"/>
            <p:cNvGrpSpPr/>
            <p:nvPr/>
          </p:nvGrpSpPr>
          <p:grpSpPr>
            <a:xfrm>
              <a:off x="5731719" y="5633518"/>
              <a:ext cx="176105" cy="151297"/>
              <a:chOff x="5731719" y="5633518"/>
              <a:chExt cx="176105" cy="151297"/>
            </a:xfrm>
          </p:grpSpPr>
          <p:sp>
            <p:nvSpPr>
              <p:cNvPr id="58" name="Freeform 58"/>
              <p:cNvSpPr/>
              <p:nvPr/>
            </p:nvSpPr>
            <p:spPr>
              <a:xfrm>
                <a:off x="5819775" y="5688806"/>
                <a:ext cx="9525" cy="34925"/>
              </a:xfrm>
              <a:custGeom>
                <a:avLst/>
                <a:gdLst/>
                <a:ahLst/>
                <a:cxnLst/>
                <a:rect l="l" t="t" r="r" b="b"/>
                <a:pathLst>
                  <a:path w="9525" h="34925">
                    <a:moveTo>
                      <a:pt x="0" y="0"/>
                    </a:moveTo>
                    <a:lnTo>
                      <a:pt x="0" y="34925"/>
                    </a:lnTo>
                  </a:path>
                </a:pathLst>
              </a:custGeom>
              <a:noFill/>
              <a:ln w="19050">
                <a:solidFill>
                  <a:srgbClr val="FFB300"/>
                </a:solidFill>
              </a:ln>
            </p:spPr>
          </p:sp>
          <p:sp>
            <p:nvSpPr>
              <p:cNvPr id="59" name="Freeform 59"/>
              <p:cNvSpPr/>
              <p:nvPr/>
            </p:nvSpPr>
            <p:spPr>
              <a:xfrm>
                <a:off x="5731719" y="5633518"/>
                <a:ext cx="176105" cy="151297"/>
              </a:xfrm>
              <a:custGeom>
                <a:avLst/>
                <a:gdLst/>
                <a:ahLst/>
                <a:cxnLst/>
                <a:rect l="l" t="t" r="r" b="b"/>
                <a:pathLst>
                  <a:path w="176105" h="151297">
                    <a:moveTo>
                      <a:pt x="73763" y="8061"/>
                    </a:moveTo>
                    <a:lnTo>
                      <a:pt x="2987" y="126230"/>
                    </a:lnTo>
                    <a:cubicBezTo>
                      <a:pt x="18" y="131371"/>
                      <a:pt x="0" y="137702"/>
                      <a:pt x="2939" y="142860"/>
                    </a:cubicBezTo>
                    <a:cubicBezTo>
                      <a:pt x="5879" y="148019"/>
                      <a:pt x="11335" y="151230"/>
                      <a:pt x="17271" y="151297"/>
                    </a:cubicBezTo>
                    <a:lnTo>
                      <a:pt x="158840" y="151297"/>
                    </a:lnTo>
                    <a:cubicBezTo>
                      <a:pt x="164774" y="151229"/>
                      <a:pt x="170227" y="148018"/>
                      <a:pt x="173166" y="142863"/>
                    </a:cubicBezTo>
                    <a:cubicBezTo>
                      <a:pt x="176105" y="137707"/>
                      <a:pt x="176089" y="131379"/>
                      <a:pt x="173124" y="126238"/>
                    </a:cubicBezTo>
                    <a:lnTo>
                      <a:pt x="102349" y="8052"/>
                    </a:lnTo>
                    <a:cubicBezTo>
                      <a:pt x="99320" y="3053"/>
                      <a:pt x="93900" y="0"/>
                      <a:pt x="88056" y="0"/>
                    </a:cubicBezTo>
                    <a:cubicBezTo>
                      <a:pt x="82211" y="0"/>
                      <a:pt x="76791" y="3053"/>
                      <a:pt x="73763" y="8052"/>
                    </a:cubicBezTo>
                  </a:path>
                </a:pathLst>
              </a:custGeom>
              <a:noFill/>
              <a:ln w="19050">
                <a:solidFill>
                  <a:srgbClr val="FFB300"/>
                </a:solidFill>
              </a:ln>
            </p:spPr>
          </p:sp>
          <p:sp>
            <p:nvSpPr>
              <p:cNvPr id="60" name="Freeform 60"/>
              <p:cNvSpPr/>
              <p:nvPr/>
            </p:nvSpPr>
            <p:spPr>
              <a:xfrm>
                <a:off x="5819775" y="5749925"/>
                <a:ext cx="9525" cy="9525"/>
              </a:xfrm>
              <a:custGeom>
                <a:avLst/>
                <a:gdLst/>
                <a:ahLst/>
                <a:cxnLst/>
                <a:rect l="l" t="t" r="r" b="b"/>
                <a:pathLst>
                  <a:path w="9525" h="9525">
                    <a:moveTo>
                      <a:pt x="0" y="0"/>
                    </a:moveTo>
                    <a:lnTo>
                      <a:pt x="87" y="0"/>
                    </a:lnTo>
                  </a:path>
                </a:pathLst>
              </a:custGeom>
              <a:noFill/>
              <a:ln w="19050">
                <a:solidFill>
                  <a:srgbClr val="FFB300"/>
                </a:solidFill>
              </a:ln>
            </p:spPr>
          </p:sp>
        </p:grpSp>
        <p:sp>
          <p:nvSpPr>
            <p:cNvPr id="62" name="TextBox 62"/>
            <p:cNvSpPr txBox="1"/>
            <p:nvPr/>
          </p:nvSpPr>
          <p:spPr>
            <a:xfrm>
              <a:off x="5969318" y="5657374"/>
              <a:ext cx="5110026"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三类问题均源于"通用方法缺乏食物领域先验" — 系统级失败本质是模块级不足的累积</a:t>
              </a:r>
            </a:p>
          </p:txBody>
        </p:sp>
        <p:sp>
          <p:nvSpPr>
            <p:cNvPr id="63" name="Ellipse 63"/>
            <p:cNvSpPr/>
            <p:nvPr/>
          </p:nvSpPr>
          <p:spPr>
            <a:xfrm>
              <a:off x="914400" y="6029325"/>
              <a:ext cx="76200" cy="76200"/>
            </a:xfrm>
            <a:prstGeom prst="ellipse">
              <a:avLst/>
            </a:prstGeom>
            <a:solidFill>
              <a:srgbClr val="FFB300"/>
            </a:solidFill>
            <a:ln>
              <a:noFill/>
            </a:ln>
          </p:spPr>
        </p:sp>
        <p:sp>
          <p:nvSpPr>
            <p:cNvPr id="64" name="TextBox 64"/>
            <p:cNvSpPr txBox="1"/>
            <p:nvPr/>
          </p:nvSpPr>
          <p:spPr>
            <a:xfrm>
              <a:off x="1073468" y="6000274"/>
              <a:ext cx="2045218"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分类层:CLIP 零样本替代颜色规则</a:t>
              </a:r>
            </a:p>
          </p:txBody>
        </p:sp>
        <p:sp>
          <p:nvSpPr>
            <p:cNvPr id="65" name="Ellipse 65"/>
            <p:cNvSpPr/>
            <p:nvPr/>
          </p:nvSpPr>
          <p:spPr>
            <a:xfrm>
              <a:off x="4533900" y="6029325"/>
              <a:ext cx="76200" cy="76200"/>
            </a:xfrm>
            <a:prstGeom prst="ellipse">
              <a:avLst/>
            </a:prstGeom>
            <a:solidFill>
              <a:srgbClr val="FFB300"/>
            </a:solidFill>
            <a:ln>
              <a:noFill/>
            </a:ln>
          </p:spPr>
        </p:sp>
        <p:sp>
          <p:nvSpPr>
            <p:cNvPr id="66" name="TextBox 66"/>
            <p:cNvSpPr txBox="1"/>
            <p:nvPr/>
          </p:nvSpPr>
          <p:spPr>
            <a:xfrm>
              <a:off x="4692968" y="6000274"/>
              <a:ext cx="1622015"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分量层:参照物 + 类别校准</a:t>
              </a:r>
            </a:p>
          </p:txBody>
        </p:sp>
        <p:sp>
          <p:nvSpPr>
            <p:cNvPr id="67" name="Ellipse 67"/>
            <p:cNvSpPr/>
            <p:nvPr/>
          </p:nvSpPr>
          <p:spPr>
            <a:xfrm>
              <a:off x="7962900" y="6029325"/>
              <a:ext cx="76200" cy="76200"/>
            </a:xfrm>
            <a:prstGeom prst="ellipse">
              <a:avLst/>
            </a:prstGeom>
            <a:solidFill>
              <a:srgbClr val="FFB300"/>
            </a:solidFill>
            <a:ln>
              <a:noFill/>
            </a:ln>
          </p:spPr>
        </p:sp>
        <p:sp>
          <p:nvSpPr>
            <p:cNvPr id="68" name="TextBox 68"/>
            <p:cNvSpPr txBox="1"/>
            <p:nvPr/>
          </p:nvSpPr>
          <p:spPr>
            <a:xfrm>
              <a:off x="8121968" y="6000274"/>
              <a:ext cx="203839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分割层:YOLO 多级 + SAM 精分割</a:t>
              </a:r>
            </a:p>
          </p:txBody>
        </p:sp>
        <p:sp>
          <p:nvSpPr>
            <p:cNvPr id="69" name="TextBox 69"/>
            <p:cNvSpPr txBox="1"/>
            <p:nvPr/>
          </p:nvSpPr>
          <p:spPr>
            <a:xfrm>
              <a:off x="751522" y="6206966"/>
              <a:ext cx="3227856" cy="167640"/>
            </a:xfrm>
            <a:prstGeom prst="rect">
              <a:avLst/>
            </a:prstGeom>
            <a:noFill/>
            <a:ln>
              <a:noFill/>
            </a:ln>
          </p:spPr>
          <p:txBody>
            <a:bodyPr wrap="none" lIns="0" tIns="0" rIns="0" bIns="0" anchor="t" anchorCtr="0">
              <a:spAutoFit/>
            </a:bodyPr>
            <a:lstStyle/>
            <a:p>
              <a:pPr algn="l"/>
              <a:r>
                <a:rPr lang="zh-CN" sz="825" i="1" dirty="0">
                  <a:solidFill>
                    <a:srgbClr val="FFFFFF">
                      <a:alphaMod val="65000"/>
                    </a:srgbClr>
                  </a:solidFill>
                  <a:latin typeface="Cambria"/>
                  <a:ea typeface="SimSun"/>
                  <a:cs typeface="Cambria"/>
                </a:rPr>
                <a:t>改进方向与本研究的最终方案高度一致 — 印证方法论转向的合理性</a:t>
              </a:r>
            </a:p>
          </p:txBody>
        </p:sp>
      </p:grpSp>
      <p:sp>
        <p:nvSpPr>
          <p:cNvPr id="71" name="TextBox 71"/>
          <p:cNvSpPr txBox="1"/>
          <p:nvPr/>
        </p:nvSpPr>
        <p:spPr>
          <a:xfrm>
            <a:off x="561022" y="6578441"/>
            <a:ext cx="3642333"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5 · Q3 System-Level Failures</a:t>
            </a:r>
          </a:p>
        </p:txBody>
      </p:sp>
      <p:sp>
        <p:nvSpPr>
          <p:cNvPr id="72" name="TextBox 72"/>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25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wipe(left)">
                                      <p:cBhvr>
                                        <p:cTn id="11" dur="400"/>
                                        <p:tgtEl>
                                          <p:spTgt spid="5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slide(fromBottom)">
                                      <p:cBhvr>
                                        <p:cTn id="1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5" grpId="0"/>
      <p:bldP spid="7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D2A4F"/>
              </a:gs>
              <a:gs pos="60000">
                <a:srgbClr val="1565C0"/>
              </a:gs>
              <a:gs pos="100000">
                <a:srgbClr val="5C6BC0"/>
              </a:gs>
            </a:gsLst>
            <a:lin ang="2700000" scaled="1"/>
          </a:gradFill>
          <a:ln>
            <a:noFill/>
          </a:ln>
        </p:spPr>
      </p:sp>
      <p:sp>
        <p:nvSpPr>
          <p:cNvPr id="3" name="Rectangle 3"/>
          <p:cNvSpPr/>
          <p:nvPr/>
        </p:nvSpPr>
        <p:spPr>
          <a:xfrm>
            <a:off x="0" y="0"/>
            <a:ext cx="12192000" cy="6858000"/>
          </a:xfrm>
          <a:prstGeom prst="rect">
            <a:avLst/>
          </a:prstGeom>
          <a:gradFill>
            <a:gsLst>
              <a:gs pos="0">
                <a:srgbClr val="FF8F00">
                  <a:alpha val="20000"/>
                </a:srgbClr>
              </a:gs>
              <a:gs pos="100000">
                <a:srgbClr val="FF8F00">
                  <a:alpha val="0"/>
                </a:srgbClr>
              </a:gs>
            </a:gsLst>
            <a:path path="circle">
              <a:fillToRect l="50000" t="50000" r="50000" b="50000"/>
            </a:path>
          </a:gradFill>
          <a:ln>
            <a:noFill/>
          </a:ln>
        </p:spPr>
      </p:sp>
      <p:sp>
        <p:nvSpPr>
          <p:cNvPr id="4" name="Rectangle 4"/>
          <p:cNvSpPr/>
          <p:nvPr/>
        </p:nvSpPr>
        <p:spPr>
          <a:xfrm>
            <a:off x="0" y="0"/>
            <a:ext cx="12192000" cy="6858000"/>
          </a:xfrm>
          <a:prstGeom prst="rect">
            <a:avLst/>
          </a:prstGeom>
          <a:gradFill>
            <a:gsLst>
              <a:gs pos="0">
                <a:srgbClr val="FFB300">
                  <a:alpha val="15000"/>
                </a:srgbClr>
              </a:gs>
              <a:gs pos="100000">
                <a:srgbClr val="FFB300">
                  <a:alpha val="0"/>
                </a:srgbClr>
              </a:gs>
            </a:gsLst>
            <a:path path="circle">
              <a:fillToRect l="50000" t="50000" r="50000" b="50000"/>
            </a:path>
          </a:gradFill>
          <a:ln>
            <a:noFill/>
          </a:ln>
        </p:spPr>
      </p:sp>
      <p:sp>
        <p:nvSpPr>
          <p:cNvPr id="5" name="Ellipse 5"/>
          <p:cNvSpPr/>
          <p:nvPr/>
        </p:nvSpPr>
        <p:spPr>
          <a:xfrm>
            <a:off x="11215688" y="1119188"/>
            <a:ext cx="47625" cy="47625"/>
          </a:xfrm>
          <a:prstGeom prst="ellipse">
            <a:avLst/>
          </a:prstGeom>
          <a:solidFill>
            <a:srgbClr val="FFFFFF">
              <a:alpha val="30000"/>
            </a:srgbClr>
          </a:solidFill>
          <a:ln>
            <a:noFill/>
          </a:ln>
        </p:spPr>
      </p:sp>
      <p:sp>
        <p:nvSpPr>
          <p:cNvPr id="6" name="Ellipse 6"/>
          <p:cNvSpPr/>
          <p:nvPr/>
        </p:nvSpPr>
        <p:spPr>
          <a:xfrm>
            <a:off x="11506200" y="1457325"/>
            <a:ext cx="38100" cy="38100"/>
          </a:xfrm>
          <a:prstGeom prst="ellipse">
            <a:avLst/>
          </a:prstGeom>
          <a:solidFill>
            <a:srgbClr val="FFFFFF">
              <a:alpha val="22000"/>
            </a:srgbClr>
          </a:solidFill>
          <a:ln>
            <a:noFill/>
          </a:ln>
        </p:spPr>
      </p:sp>
      <p:sp>
        <p:nvSpPr>
          <p:cNvPr id="7" name="Ellipse 7"/>
          <p:cNvSpPr/>
          <p:nvPr/>
        </p:nvSpPr>
        <p:spPr>
          <a:xfrm>
            <a:off x="11029950" y="1695450"/>
            <a:ext cx="38100" cy="38100"/>
          </a:xfrm>
          <a:prstGeom prst="ellipse">
            <a:avLst/>
          </a:prstGeom>
          <a:solidFill>
            <a:srgbClr val="FF8F00">
              <a:alpha val="45000"/>
            </a:srgbClr>
          </a:solidFill>
          <a:ln>
            <a:noFill/>
          </a:ln>
        </p:spPr>
      </p:sp>
      <p:sp>
        <p:nvSpPr>
          <p:cNvPr id="8" name="Ellipse 8"/>
          <p:cNvSpPr/>
          <p:nvPr/>
        </p:nvSpPr>
        <p:spPr>
          <a:xfrm>
            <a:off x="738188" y="6072188"/>
            <a:ext cx="47625" cy="47625"/>
          </a:xfrm>
          <a:prstGeom prst="ellipse">
            <a:avLst/>
          </a:prstGeom>
          <a:solidFill>
            <a:srgbClr val="FFFFFF">
              <a:alpha val="25000"/>
            </a:srgbClr>
          </a:solidFill>
          <a:ln>
            <a:noFill/>
          </a:ln>
        </p:spPr>
      </p:sp>
      <p:sp>
        <p:nvSpPr>
          <p:cNvPr id="9" name="Ellipse 9"/>
          <p:cNvSpPr/>
          <p:nvPr/>
        </p:nvSpPr>
        <p:spPr>
          <a:xfrm>
            <a:off x="457200" y="6457950"/>
            <a:ext cx="38100" cy="38100"/>
          </a:xfrm>
          <a:prstGeom prst="ellipse">
            <a:avLst/>
          </a:prstGeom>
          <a:solidFill>
            <a:srgbClr val="FF8F00">
              <a:alpha val="35000"/>
            </a:srgbClr>
          </a:solidFill>
          <a:ln>
            <a:noFill/>
          </a:ln>
        </p:spPr>
      </p:sp>
      <p:sp>
        <p:nvSpPr>
          <p:cNvPr id="10" name="TextBox 10"/>
          <p:cNvSpPr txBox="1"/>
          <p:nvPr/>
        </p:nvSpPr>
        <p:spPr>
          <a:xfrm>
            <a:off x="4950526" y="561499"/>
            <a:ext cx="2290948" cy="198120"/>
          </a:xfrm>
          <a:prstGeom prst="rect">
            <a:avLst/>
          </a:prstGeom>
          <a:noFill/>
          <a:ln>
            <a:noFill/>
          </a:ln>
        </p:spPr>
        <p:txBody>
          <a:bodyPr wrap="none" lIns="0" tIns="0" rIns="0" bIns="0" anchor="t" anchorCtr="0">
            <a:spAutoFit/>
          </a:bodyPr>
          <a:lstStyle/>
          <a:p>
            <a:pPr algn="ctr"/>
            <a:r>
              <a:rPr lang="zh-CN" sz="975" b="1" dirty="0">
                <a:solidFill>
                  <a:srgbClr val="FFFFFF">
                    <a:alphaMod val="65000"/>
                  </a:srgbClr>
                </a:solidFill>
                <a:latin typeface="Cambria"/>
                <a:ea typeface="SimSun"/>
                <a:cs typeface="Cambria"/>
              </a:rPr>
              <a:t>CHAPTER 5 · FAILURE TELLS US WHAT</a:t>
            </a:r>
          </a:p>
        </p:txBody>
      </p:sp>
      <p:sp>
        <p:nvSpPr>
          <p:cNvPr id="11" name="Line 11"/>
          <p:cNvSpPr/>
          <p:nvPr/>
        </p:nvSpPr>
        <p:spPr>
          <a:xfrm>
            <a:off x="5143500" y="838200"/>
            <a:ext cx="1905000" cy="9525"/>
          </a:xfrm>
          <a:custGeom>
            <a:avLst/>
            <a:gdLst/>
            <a:ahLst/>
            <a:cxnLst/>
            <a:rect l="l" t="t" r="r" b="b"/>
            <a:pathLst>
              <a:path w="1905000" h="9525">
                <a:moveTo>
                  <a:pt x="0" y="0"/>
                </a:moveTo>
                <a:lnTo>
                  <a:pt x="1905000" y="0"/>
                </a:lnTo>
              </a:path>
            </a:pathLst>
          </a:custGeom>
          <a:noFill/>
          <a:ln w="19050" cap="rnd">
            <a:solidFill>
              <a:srgbClr val="FF8F00"/>
            </a:solidFill>
          </a:ln>
        </p:spPr>
      </p:sp>
      <p:sp>
        <p:nvSpPr>
          <p:cNvPr id="12" name="TextBox 12"/>
          <p:cNvSpPr txBox="1"/>
          <p:nvPr/>
        </p:nvSpPr>
        <p:spPr>
          <a:xfrm>
            <a:off x="5173885" y="1012508"/>
            <a:ext cx="1844231" cy="640080"/>
          </a:xfrm>
          <a:prstGeom prst="rect">
            <a:avLst/>
          </a:prstGeom>
          <a:noFill/>
          <a:ln>
            <a:noFill/>
          </a:ln>
        </p:spPr>
        <p:txBody>
          <a:bodyPr wrap="none" lIns="0" tIns="0" rIns="0" bIns="0" anchor="t" anchorCtr="0">
            <a:spAutoFit/>
          </a:bodyPr>
          <a:lstStyle/>
          <a:p>
            <a:pPr algn="ctr"/>
            <a:r>
              <a:rPr lang="zh-CN" sz="3150" b="1" dirty="0">
                <a:gradFill>
                  <a:gsLst>
                    <a:gs pos="0">
                      <a:srgbClr val="FFFFFF"/>
                    </a:gs>
                    <a:gs pos="100000">
                      <a:srgbClr val="FFB300"/>
                    </a:gs>
                  </a:gsLst>
                  <a:lin ang="0" scaled="1"/>
                </a:gradFill>
                <a:latin typeface="Cambria"/>
                <a:ea typeface="SimSun"/>
                <a:cs typeface="Cambria"/>
              </a:rPr>
              <a:t>关键洞察</a:t>
            </a:r>
          </a:p>
        </p:txBody>
      </p:sp>
      <p:sp>
        <p:nvSpPr>
          <p:cNvPr id="13" name="TextBox 13"/>
          <p:cNvSpPr txBox="1"/>
          <p:nvPr/>
        </p:nvSpPr>
        <p:spPr>
          <a:xfrm>
            <a:off x="4355140" y="1549718"/>
            <a:ext cx="3481721" cy="274320"/>
          </a:xfrm>
          <a:prstGeom prst="rect">
            <a:avLst/>
          </a:prstGeom>
          <a:noFill/>
          <a:ln>
            <a:noFill/>
          </a:ln>
        </p:spPr>
        <p:txBody>
          <a:bodyPr wrap="none" lIns="0" tIns="0" rIns="0" bIns="0" anchor="t" anchorCtr="0">
            <a:spAutoFit/>
          </a:bodyPr>
          <a:lstStyle/>
          <a:p>
            <a:pPr algn="ctr"/>
            <a:r>
              <a:rPr lang="zh-CN" sz="1350" dirty="0">
                <a:solidFill>
                  <a:srgbClr val="FFFFFF">
                    <a:alphaMod val="92000"/>
                  </a:srgbClr>
                </a:solidFill>
                <a:latin typeface="Arial"/>
                <a:ea typeface="Microsoft YaHei"/>
                <a:cs typeface="Arial"/>
              </a:rPr>
              <a:t>从失败中提炼 — 四条贯穿全研究的核心洞察</a:t>
            </a:r>
          </a:p>
        </p:txBody>
      </p:sp>
      <p:grpSp>
        <p:nvGrpSpPr>
          <p:cNvPr id="37" name="Group 37"/>
          <p:cNvGrpSpPr/>
          <p:nvPr/>
        </p:nvGrpSpPr>
        <p:grpSpPr>
          <a:xfrm>
            <a:off x="1333500" y="2124075"/>
            <a:ext cx="8953500" cy="2928937"/>
            <a:chOff x="1333500" y="2124075"/>
            <a:chExt cx="8953500" cy="2928937"/>
          </a:xfrm>
        </p:grpSpPr>
        <p:grpSp>
          <p:nvGrpSpPr>
            <p:cNvPr id="19" name="Group 19"/>
            <p:cNvGrpSpPr/>
            <p:nvPr/>
          </p:nvGrpSpPr>
          <p:grpSpPr>
            <a:xfrm>
              <a:off x="1333500" y="2124075"/>
              <a:ext cx="8953500" cy="600075"/>
              <a:chOff x="1333500" y="2124075"/>
              <a:chExt cx="8953500" cy="600075"/>
            </a:xfrm>
          </p:grpSpPr>
          <p:sp>
            <p:nvSpPr>
              <p:cNvPr id="14" name="Ellipse 14"/>
              <p:cNvSpPr/>
              <p:nvPr/>
            </p:nvSpPr>
            <p:spPr>
              <a:xfrm>
                <a:off x="1409700" y="2124075"/>
                <a:ext cx="419100" cy="419100"/>
              </a:xfrm>
              <a:prstGeom prst="ellipse">
                <a:avLst/>
              </a:prstGeom>
              <a:solidFill>
                <a:srgbClr val="FF8F00"/>
              </a:solidFill>
              <a:ln>
                <a:noFill/>
              </a:ln>
              <a:effectLst>
                <a:outerShdw blurRad="114300" dist="28575" dir="5400000" algn="ctr" rotWithShape="0">
                  <a:srgbClr val="0F172A">
                    <a:alpha val="18750"/>
                  </a:srgbClr>
                </a:outerShdw>
              </a:effectLst>
            </p:spPr>
          </p:sp>
          <p:sp>
            <p:nvSpPr>
              <p:cNvPr id="15" name="TextBox 15"/>
              <p:cNvSpPr txBox="1"/>
              <p:nvPr/>
            </p:nvSpPr>
            <p:spPr>
              <a:xfrm>
                <a:off x="1521770" y="2264092"/>
                <a:ext cx="194960"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01</a:t>
                </a:r>
              </a:p>
            </p:txBody>
          </p:sp>
          <p:sp>
            <p:nvSpPr>
              <p:cNvPr id="16" name="TextBox 16"/>
              <p:cNvSpPr txBox="1"/>
              <p:nvPr/>
            </p:nvSpPr>
            <p:spPr>
              <a:xfrm>
                <a:off x="1983105" y="2168842"/>
                <a:ext cx="1848917"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pred_A 模型完全失败</a:t>
                </a:r>
              </a:p>
            </p:txBody>
          </p:sp>
          <p:sp>
            <p:nvSpPr>
              <p:cNvPr id="17" name="TextBox 17"/>
              <p:cNvSpPr txBox="1"/>
              <p:nvPr/>
            </p:nvSpPr>
            <p:spPr>
              <a:xfrm>
                <a:off x="1986915" y="2410778"/>
                <a:ext cx="4108180" cy="213360"/>
              </a:xfrm>
              <a:prstGeom prst="rect">
                <a:avLst/>
              </a:prstGeom>
              <a:noFill/>
              <a:ln>
                <a:noFill/>
              </a:ln>
            </p:spPr>
            <p:txBody>
              <a:bodyPr wrap="none" lIns="0" tIns="0" rIns="0" bIns="0" anchor="t" anchorCtr="0">
                <a:spAutoFit/>
              </a:bodyPr>
              <a:lstStyle/>
              <a:p>
                <a:pPr algn="l"/>
                <a:r>
                  <a:rPr lang="zh-CN" sz="1050" dirty="0">
                    <a:solidFill>
                      <a:srgbClr val="FFFFFF">
                        <a:alphaMod val="78000"/>
                      </a:srgbClr>
                    </a:solidFill>
                    <a:latin typeface="Arial"/>
                    <a:ea typeface="Microsoft YaHei"/>
                    <a:cs typeface="Arial"/>
                  </a:rPr>
                  <a:t>异常值污染是融合的隐形杀手 — 一个失效模型可拖垮整个融合系统</a:t>
                </a:r>
              </a:p>
            </p:txBody>
          </p:sp>
          <p:sp>
            <p:nvSpPr>
              <p:cNvPr id="18" name="Line 18"/>
              <p:cNvSpPr/>
              <p:nvPr/>
            </p:nvSpPr>
            <p:spPr>
              <a:xfrm>
                <a:off x="1333500" y="2714625"/>
                <a:ext cx="8953500" cy="9525"/>
              </a:xfrm>
              <a:custGeom>
                <a:avLst/>
                <a:gdLst/>
                <a:ahLst/>
                <a:cxnLst/>
                <a:rect l="l" t="t" r="r" b="b"/>
                <a:pathLst>
                  <a:path w="8953500" h="9525">
                    <a:moveTo>
                      <a:pt x="0" y="0"/>
                    </a:moveTo>
                    <a:lnTo>
                      <a:pt x="8953500" y="0"/>
                    </a:lnTo>
                  </a:path>
                </a:pathLst>
              </a:custGeom>
              <a:noFill/>
              <a:ln w="9525">
                <a:solidFill>
                  <a:srgbClr val="FFFFFF">
                    <a:alpha val="18000"/>
                  </a:srgbClr>
                </a:solidFill>
              </a:ln>
            </p:spPr>
          </p:sp>
        </p:grpSp>
        <p:grpSp>
          <p:nvGrpSpPr>
            <p:cNvPr id="25" name="Group 25"/>
            <p:cNvGrpSpPr/>
            <p:nvPr/>
          </p:nvGrpSpPr>
          <p:grpSpPr>
            <a:xfrm>
              <a:off x="1333500" y="2933700"/>
              <a:ext cx="8953500" cy="600075"/>
              <a:chOff x="1333500" y="2933700"/>
              <a:chExt cx="8953500" cy="600075"/>
            </a:xfrm>
          </p:grpSpPr>
          <p:sp>
            <p:nvSpPr>
              <p:cNvPr id="20" name="Ellipse 20"/>
              <p:cNvSpPr/>
              <p:nvPr/>
            </p:nvSpPr>
            <p:spPr>
              <a:xfrm>
                <a:off x="1409700" y="2933700"/>
                <a:ext cx="419100" cy="419100"/>
              </a:xfrm>
              <a:prstGeom prst="ellipse">
                <a:avLst/>
              </a:prstGeom>
              <a:solidFill>
                <a:srgbClr val="FF8F00"/>
              </a:solidFill>
              <a:ln>
                <a:noFill/>
              </a:ln>
              <a:effectLst>
                <a:outerShdw blurRad="114300" dist="28575" dir="5400000" algn="ctr" rotWithShape="0">
                  <a:srgbClr val="0F172A">
                    <a:alpha val="18750"/>
                  </a:srgbClr>
                </a:outerShdw>
              </a:effectLst>
            </p:spPr>
          </p:sp>
          <p:sp>
            <p:nvSpPr>
              <p:cNvPr id="21" name="TextBox 21"/>
              <p:cNvSpPr txBox="1"/>
              <p:nvPr/>
            </p:nvSpPr>
            <p:spPr>
              <a:xfrm>
                <a:off x="1498142" y="3073718"/>
                <a:ext cx="24221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02</a:t>
                </a:r>
              </a:p>
            </p:txBody>
          </p:sp>
          <p:sp>
            <p:nvSpPr>
              <p:cNvPr id="22" name="TextBox 22"/>
              <p:cNvSpPr txBox="1"/>
              <p:nvPr/>
            </p:nvSpPr>
            <p:spPr>
              <a:xfrm>
                <a:off x="1983105" y="2978468"/>
                <a:ext cx="1952880"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简单加权融合优于 MLP</a:t>
                </a:r>
              </a:p>
            </p:txBody>
          </p:sp>
          <p:sp>
            <p:nvSpPr>
              <p:cNvPr id="23" name="TextBox 23"/>
              <p:cNvSpPr txBox="1"/>
              <p:nvPr/>
            </p:nvSpPr>
            <p:spPr>
              <a:xfrm>
                <a:off x="1986915" y="3220402"/>
                <a:ext cx="4199191" cy="213360"/>
              </a:xfrm>
              <a:prstGeom prst="rect">
                <a:avLst/>
              </a:prstGeom>
              <a:noFill/>
              <a:ln>
                <a:noFill/>
              </a:ln>
            </p:spPr>
            <p:txBody>
              <a:bodyPr wrap="none" lIns="0" tIns="0" rIns="0" bIns="0" anchor="t" anchorCtr="0">
                <a:spAutoFit/>
              </a:bodyPr>
              <a:lstStyle/>
              <a:p>
                <a:pPr algn="l"/>
                <a:r>
                  <a:rPr lang="zh-CN" sz="1050" dirty="0">
                    <a:solidFill>
                      <a:srgbClr val="FFFFFF">
                        <a:alphaMod val="78000"/>
                      </a:srgbClr>
                    </a:solidFill>
                    <a:latin typeface="Arial"/>
                    <a:ea typeface="Microsoft YaHei"/>
                    <a:cs typeface="Arial"/>
                  </a:rPr>
                  <a:t>复杂度不等于效果 — Exp3 加权 49.43g 显著优于 Exp4 MLP 79.20g</a:t>
                </a:r>
              </a:p>
            </p:txBody>
          </p:sp>
          <p:sp>
            <p:nvSpPr>
              <p:cNvPr id="24" name="Line 24"/>
              <p:cNvSpPr/>
              <p:nvPr/>
            </p:nvSpPr>
            <p:spPr>
              <a:xfrm>
                <a:off x="1333500" y="3524250"/>
                <a:ext cx="8953500" cy="9525"/>
              </a:xfrm>
              <a:custGeom>
                <a:avLst/>
                <a:gdLst/>
                <a:ahLst/>
                <a:cxnLst/>
                <a:rect l="l" t="t" r="r" b="b"/>
                <a:pathLst>
                  <a:path w="8953500" h="9525">
                    <a:moveTo>
                      <a:pt x="0" y="0"/>
                    </a:moveTo>
                    <a:lnTo>
                      <a:pt x="8953500" y="0"/>
                    </a:lnTo>
                  </a:path>
                </a:pathLst>
              </a:custGeom>
              <a:noFill/>
              <a:ln w="9525">
                <a:solidFill>
                  <a:srgbClr val="FFFFFF">
                    <a:alpha val="18000"/>
                  </a:srgbClr>
                </a:solidFill>
              </a:ln>
            </p:spPr>
          </p:sp>
        </p:grpSp>
        <p:grpSp>
          <p:nvGrpSpPr>
            <p:cNvPr id="31" name="Group 31"/>
            <p:cNvGrpSpPr/>
            <p:nvPr/>
          </p:nvGrpSpPr>
          <p:grpSpPr>
            <a:xfrm>
              <a:off x="1333500" y="3743325"/>
              <a:ext cx="8953500" cy="600075"/>
              <a:chOff x="1333500" y="3743325"/>
              <a:chExt cx="8953500" cy="600075"/>
            </a:xfrm>
          </p:grpSpPr>
          <p:sp>
            <p:nvSpPr>
              <p:cNvPr id="26" name="Ellipse 26"/>
              <p:cNvSpPr/>
              <p:nvPr/>
            </p:nvSpPr>
            <p:spPr>
              <a:xfrm>
                <a:off x="1409700" y="3743325"/>
                <a:ext cx="419100" cy="419100"/>
              </a:xfrm>
              <a:prstGeom prst="ellipse">
                <a:avLst/>
              </a:prstGeom>
              <a:solidFill>
                <a:srgbClr val="FF8F00"/>
              </a:solidFill>
              <a:ln>
                <a:noFill/>
              </a:ln>
              <a:effectLst>
                <a:outerShdw blurRad="114300" dist="28575" dir="5400000" algn="ctr" rotWithShape="0">
                  <a:srgbClr val="0F172A">
                    <a:alpha val="18750"/>
                  </a:srgbClr>
                </a:outerShdw>
              </a:effectLst>
            </p:spPr>
          </p:sp>
          <p:sp>
            <p:nvSpPr>
              <p:cNvPr id="27" name="TextBox 27"/>
              <p:cNvSpPr txBox="1"/>
              <p:nvPr/>
            </p:nvSpPr>
            <p:spPr>
              <a:xfrm>
                <a:off x="1498142" y="3883342"/>
                <a:ext cx="24221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03</a:t>
                </a:r>
              </a:p>
            </p:txBody>
          </p:sp>
          <p:sp>
            <p:nvSpPr>
              <p:cNvPr id="28" name="TextBox 28"/>
              <p:cNvSpPr txBox="1"/>
              <p:nvPr/>
            </p:nvSpPr>
            <p:spPr>
              <a:xfrm>
                <a:off x="1983105" y="3788092"/>
                <a:ext cx="2415988"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pred_C 固定值需类别内回归</a:t>
                </a:r>
              </a:p>
            </p:txBody>
          </p:sp>
          <p:sp>
            <p:nvSpPr>
              <p:cNvPr id="29" name="TextBox 29"/>
              <p:cNvSpPr txBox="1"/>
              <p:nvPr/>
            </p:nvSpPr>
            <p:spPr>
              <a:xfrm>
                <a:off x="1986915" y="4030028"/>
                <a:ext cx="4451223" cy="213360"/>
              </a:xfrm>
              <a:prstGeom prst="rect">
                <a:avLst/>
              </a:prstGeom>
              <a:noFill/>
              <a:ln>
                <a:noFill/>
              </a:ln>
            </p:spPr>
            <p:txBody>
              <a:bodyPr wrap="none" lIns="0" tIns="0" rIns="0" bIns="0" anchor="t" anchorCtr="0">
                <a:spAutoFit/>
              </a:bodyPr>
              <a:lstStyle/>
              <a:p>
                <a:pPr algn="l"/>
                <a:r>
                  <a:rPr lang="zh-CN" sz="1050" dirty="0">
                    <a:solidFill>
                      <a:srgbClr val="FFFFFF">
                        <a:alphaMod val="78000"/>
                      </a:srgbClr>
                    </a:solidFill>
                    <a:latin typeface="Arial"/>
                    <a:ea typeface="Microsoft YaHei"/>
                    <a:cs typeface="Arial"/>
                  </a:rPr>
                  <a:t>同类样本重量差异大 — 类别级线性校准 ŷ = α_c · y + β_c 才能逼近真实</a:t>
                </a:r>
              </a:p>
            </p:txBody>
          </p:sp>
          <p:sp>
            <p:nvSpPr>
              <p:cNvPr id="30" name="Line 30"/>
              <p:cNvSpPr/>
              <p:nvPr/>
            </p:nvSpPr>
            <p:spPr>
              <a:xfrm>
                <a:off x="1333500" y="4333875"/>
                <a:ext cx="8953500" cy="9525"/>
              </a:xfrm>
              <a:custGeom>
                <a:avLst/>
                <a:gdLst/>
                <a:ahLst/>
                <a:cxnLst/>
                <a:rect l="l" t="t" r="r" b="b"/>
                <a:pathLst>
                  <a:path w="8953500" h="9525">
                    <a:moveTo>
                      <a:pt x="0" y="0"/>
                    </a:moveTo>
                    <a:lnTo>
                      <a:pt x="8953500" y="0"/>
                    </a:lnTo>
                  </a:path>
                </a:pathLst>
              </a:custGeom>
              <a:noFill/>
              <a:ln w="9525">
                <a:solidFill>
                  <a:srgbClr val="FFFFFF">
                    <a:alpha val="18000"/>
                  </a:srgbClr>
                </a:solidFill>
              </a:ln>
            </p:spPr>
          </p:sp>
        </p:grpSp>
        <p:grpSp>
          <p:nvGrpSpPr>
            <p:cNvPr id="36" name="Group 36"/>
            <p:cNvGrpSpPr/>
            <p:nvPr/>
          </p:nvGrpSpPr>
          <p:grpSpPr>
            <a:xfrm>
              <a:off x="1409700" y="4552950"/>
              <a:ext cx="4601385" cy="500062"/>
              <a:chOff x="1409700" y="4552950"/>
              <a:chExt cx="4601385" cy="500062"/>
            </a:xfrm>
          </p:grpSpPr>
          <p:sp>
            <p:nvSpPr>
              <p:cNvPr id="32" name="Ellipse 32"/>
              <p:cNvSpPr/>
              <p:nvPr/>
            </p:nvSpPr>
            <p:spPr>
              <a:xfrm>
                <a:off x="1409700" y="4552950"/>
                <a:ext cx="419100" cy="419100"/>
              </a:xfrm>
              <a:prstGeom prst="ellipse">
                <a:avLst/>
              </a:prstGeom>
              <a:solidFill>
                <a:srgbClr val="FF8F00"/>
              </a:solidFill>
              <a:ln>
                <a:noFill/>
              </a:ln>
              <a:effectLst>
                <a:outerShdw blurRad="114300" dist="28575" dir="5400000" algn="ctr" rotWithShape="0">
                  <a:srgbClr val="0F172A">
                    <a:alpha val="18750"/>
                  </a:srgbClr>
                </a:outerShdw>
              </a:effectLst>
            </p:spPr>
          </p:sp>
          <p:sp>
            <p:nvSpPr>
              <p:cNvPr id="33" name="TextBox 33"/>
              <p:cNvSpPr txBox="1"/>
              <p:nvPr/>
            </p:nvSpPr>
            <p:spPr>
              <a:xfrm>
                <a:off x="1498142" y="4692968"/>
                <a:ext cx="24221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04</a:t>
                </a:r>
              </a:p>
            </p:txBody>
          </p:sp>
          <p:sp>
            <p:nvSpPr>
              <p:cNvPr id="34" name="TextBox 34"/>
              <p:cNvSpPr txBox="1"/>
              <p:nvPr/>
            </p:nvSpPr>
            <p:spPr>
              <a:xfrm>
                <a:off x="1983105" y="4597718"/>
                <a:ext cx="173550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B 与 C 的互补是关键</a:t>
                </a:r>
              </a:p>
            </p:txBody>
          </p:sp>
          <p:sp>
            <p:nvSpPr>
              <p:cNvPr id="35" name="TextBox 35"/>
              <p:cNvSpPr txBox="1"/>
              <p:nvPr/>
            </p:nvSpPr>
            <p:spPr>
              <a:xfrm>
                <a:off x="1986915" y="4839652"/>
                <a:ext cx="4024170" cy="213360"/>
              </a:xfrm>
              <a:prstGeom prst="rect">
                <a:avLst/>
              </a:prstGeom>
              <a:noFill/>
              <a:ln>
                <a:noFill/>
              </a:ln>
            </p:spPr>
            <p:txBody>
              <a:bodyPr wrap="none" lIns="0" tIns="0" rIns="0" bIns="0" anchor="t" anchorCtr="0">
                <a:spAutoFit/>
              </a:bodyPr>
              <a:lstStyle/>
              <a:p>
                <a:pPr algn="l"/>
                <a:r>
                  <a:rPr lang="zh-CN" sz="1050" dirty="0">
                    <a:solidFill>
                      <a:srgbClr val="FFFFFF">
                        <a:alphaMod val="78000"/>
                      </a:srgbClr>
                    </a:solidFill>
                    <a:latin typeface="Arial"/>
                    <a:ea typeface="Microsoft YaHei"/>
                    <a:cs typeface="Arial"/>
                  </a:rPr>
                  <a:t>异向偏差时融合最有效 — B 系统性偏低 / C 固定经验值,正好互补</a:t>
                </a:r>
              </a:p>
            </p:txBody>
          </p:sp>
        </p:grpSp>
      </p:grpSp>
      <p:grpSp>
        <p:nvGrpSpPr>
          <p:cNvPr id="59" name="Group 59"/>
          <p:cNvGrpSpPr/>
          <p:nvPr/>
        </p:nvGrpSpPr>
        <p:grpSpPr>
          <a:xfrm>
            <a:off x="10287000" y="2381250"/>
            <a:ext cx="952500" cy="3048000"/>
            <a:chOff x="10287000" y="2381250"/>
            <a:chExt cx="952500" cy="3048000"/>
          </a:xfrm>
        </p:grpSpPr>
        <p:sp>
          <p:nvSpPr>
            <p:cNvPr id="38" name="Rectangle 38"/>
            <p:cNvSpPr/>
            <p:nvPr/>
          </p:nvSpPr>
          <p:spPr>
            <a:xfrm>
              <a:off x="10287000" y="2381250"/>
              <a:ext cx="952500" cy="3048000"/>
            </a:xfrm>
            <a:prstGeom prst="roundRect">
              <a:avLst>
                <a:gd name="adj" fmla="val 14000"/>
              </a:avLst>
            </a:prstGeom>
            <a:solidFill>
              <a:srgbClr val="FFFFFF">
                <a:alpha val="10000"/>
              </a:srgbClr>
            </a:solidFill>
            <a:ln>
              <a:noFill/>
            </a:ln>
            <a:effectLst>
              <a:outerShdw blurRad="114300" dist="28575" dir="5400000" algn="ctr" rotWithShape="0">
                <a:srgbClr val="0F172A">
                  <a:alpha val="18750"/>
                </a:srgbClr>
              </a:outerShdw>
            </a:effectLst>
          </p:spPr>
        </p:sp>
        <p:sp>
          <p:nvSpPr>
            <p:cNvPr id="39" name="Rectangle 39"/>
            <p:cNvSpPr/>
            <p:nvPr/>
          </p:nvSpPr>
          <p:spPr>
            <a:xfrm>
              <a:off x="10287000" y="2381250"/>
              <a:ext cx="952500" cy="3048000"/>
            </a:xfrm>
            <a:prstGeom prst="roundRect">
              <a:avLst>
                <a:gd name="adj" fmla="val 14000"/>
              </a:avLst>
            </a:prstGeom>
            <a:noFill/>
            <a:ln w="14288">
              <a:solidFill>
                <a:srgbClr val="FF8F00">
                  <a:alpha val="45000"/>
                </a:srgbClr>
              </a:solidFill>
            </a:ln>
          </p:spPr>
        </p:sp>
        <p:grpSp>
          <p:nvGrpSpPr>
            <p:cNvPr id="43" name="Group 43"/>
            <p:cNvGrpSpPr/>
            <p:nvPr/>
          </p:nvGrpSpPr>
          <p:grpSpPr>
            <a:xfrm>
              <a:off x="10656094" y="2702719"/>
              <a:ext cx="214312" cy="214313"/>
              <a:chOff x="10656094" y="2702719"/>
              <a:chExt cx="214312" cy="214313"/>
            </a:xfrm>
          </p:grpSpPr>
          <p:sp>
            <p:nvSpPr>
              <p:cNvPr id="40" name="Freeform 40"/>
              <p:cNvSpPr/>
              <p:nvPr/>
            </p:nvSpPr>
            <p:spPr>
              <a:xfrm>
                <a:off x="10656094" y="2702719"/>
                <a:ext cx="214312" cy="107156"/>
              </a:xfrm>
              <a:custGeom>
                <a:avLst/>
                <a:gdLst/>
                <a:ahLst/>
                <a:cxnLst/>
                <a:rect l="l" t="t" r="r" b="b"/>
                <a:pathLst>
                  <a:path w="214312" h="107156">
                    <a:moveTo>
                      <a:pt x="0" y="107156"/>
                    </a:moveTo>
                    <a:lnTo>
                      <a:pt x="11906" y="107156"/>
                    </a:lnTo>
                    <a:moveTo>
                      <a:pt x="107156" y="0"/>
                    </a:moveTo>
                    <a:lnTo>
                      <a:pt x="107156" y="11906"/>
                    </a:lnTo>
                    <a:moveTo>
                      <a:pt x="202406" y="107156"/>
                    </a:moveTo>
                    <a:lnTo>
                      <a:pt x="214312" y="107156"/>
                    </a:lnTo>
                    <a:moveTo>
                      <a:pt x="30956" y="30956"/>
                    </a:moveTo>
                    <a:lnTo>
                      <a:pt x="39291" y="39291"/>
                    </a:lnTo>
                    <a:moveTo>
                      <a:pt x="183356" y="30956"/>
                    </a:moveTo>
                    <a:lnTo>
                      <a:pt x="175022" y="39291"/>
                    </a:lnTo>
                  </a:path>
                </a:pathLst>
              </a:custGeom>
              <a:noFill/>
              <a:ln w="19050">
                <a:solidFill>
                  <a:srgbClr val="FFB300"/>
                </a:solidFill>
              </a:ln>
            </p:spPr>
          </p:sp>
          <p:sp>
            <p:nvSpPr>
              <p:cNvPr id="41" name="Freeform 41"/>
              <p:cNvSpPr/>
              <p:nvPr/>
            </p:nvSpPr>
            <p:spPr>
              <a:xfrm>
                <a:off x="10698671" y="2750344"/>
                <a:ext cx="129159" cy="166688"/>
              </a:xfrm>
              <a:custGeom>
                <a:avLst/>
                <a:gdLst/>
                <a:ahLst/>
                <a:cxnLst/>
                <a:rect l="l" t="t" r="r" b="b"/>
                <a:pathLst>
                  <a:path w="129159" h="166688">
                    <a:moveTo>
                      <a:pt x="28861" y="107156"/>
                    </a:moveTo>
                    <a:cubicBezTo>
                      <a:pt x="8361" y="91782"/>
                      <a:pt x="0" y="65015"/>
                      <a:pt x="8103" y="40706"/>
                    </a:cubicBezTo>
                    <a:cubicBezTo>
                      <a:pt x="16206" y="16397"/>
                      <a:pt x="38955" y="0"/>
                      <a:pt x="64579" y="0"/>
                    </a:cubicBezTo>
                    <a:cubicBezTo>
                      <a:pt x="90203" y="0"/>
                      <a:pt x="112953" y="16397"/>
                      <a:pt x="121056" y="40706"/>
                    </a:cubicBezTo>
                    <a:cubicBezTo>
                      <a:pt x="129159" y="65015"/>
                      <a:pt x="120797" y="91782"/>
                      <a:pt x="100298" y="107156"/>
                    </a:cubicBezTo>
                    <a:cubicBezTo>
                      <a:pt x="90870" y="116489"/>
                      <a:pt x="86449" y="129752"/>
                      <a:pt x="88392" y="142875"/>
                    </a:cubicBezTo>
                    <a:cubicBezTo>
                      <a:pt x="88392" y="156026"/>
                      <a:pt x="77731" y="166688"/>
                      <a:pt x="64579" y="166688"/>
                    </a:cubicBezTo>
                    <a:cubicBezTo>
                      <a:pt x="51428" y="166688"/>
                      <a:pt x="40767" y="156026"/>
                      <a:pt x="40767" y="142875"/>
                    </a:cubicBezTo>
                    <a:cubicBezTo>
                      <a:pt x="42710" y="129752"/>
                      <a:pt x="38288" y="116489"/>
                      <a:pt x="28861" y="107156"/>
                    </a:cubicBezTo>
                  </a:path>
                </a:pathLst>
              </a:custGeom>
              <a:noFill/>
              <a:ln w="19050">
                <a:solidFill>
                  <a:srgbClr val="FFB300"/>
                </a:solidFill>
              </a:ln>
            </p:spPr>
          </p:sp>
          <p:sp>
            <p:nvSpPr>
              <p:cNvPr id="42" name="Freeform 42"/>
              <p:cNvSpPr/>
              <p:nvPr/>
            </p:nvSpPr>
            <p:spPr>
              <a:xfrm>
                <a:off x="10735866" y="2869406"/>
                <a:ext cx="54769" cy="9525"/>
              </a:xfrm>
              <a:custGeom>
                <a:avLst/>
                <a:gdLst/>
                <a:ahLst/>
                <a:cxnLst/>
                <a:rect l="l" t="t" r="r" b="b"/>
                <a:pathLst>
                  <a:path w="54769" h="9525">
                    <a:moveTo>
                      <a:pt x="0" y="0"/>
                    </a:moveTo>
                    <a:lnTo>
                      <a:pt x="54769" y="0"/>
                    </a:lnTo>
                  </a:path>
                </a:pathLst>
              </a:custGeom>
              <a:noFill/>
              <a:ln w="19050">
                <a:solidFill>
                  <a:srgbClr val="FFB300"/>
                </a:solidFill>
              </a:ln>
            </p:spPr>
          </p:sp>
        </p:grpSp>
        <p:sp>
          <p:nvSpPr>
            <p:cNvPr id="44" name="TextBox 44"/>
            <p:cNvSpPr txBox="1"/>
            <p:nvPr/>
          </p:nvSpPr>
          <p:spPr>
            <a:xfrm>
              <a:off x="10614155" y="3149441"/>
              <a:ext cx="298190" cy="167640"/>
            </a:xfrm>
            <a:prstGeom prst="rect">
              <a:avLst/>
            </a:prstGeom>
            <a:noFill/>
            <a:ln>
              <a:noFill/>
            </a:ln>
          </p:spPr>
          <p:txBody>
            <a:bodyPr wrap="none" lIns="0" tIns="0" rIns="0" bIns="0" anchor="t" anchorCtr="0">
              <a:spAutoFit/>
            </a:bodyPr>
            <a:lstStyle/>
            <a:p>
              <a:pPr algn="ctr"/>
              <a:r>
                <a:rPr lang="zh-CN" sz="825" b="1" dirty="0">
                  <a:solidFill>
                    <a:srgbClr val="FFB300"/>
                  </a:solidFill>
                  <a:latin typeface="Cambria"/>
                  <a:ea typeface="SimSun"/>
                  <a:cs typeface="Cambria"/>
                </a:rPr>
                <a:t>CORE</a:t>
              </a:r>
            </a:p>
          </p:txBody>
        </p:sp>
        <p:sp>
          <p:nvSpPr>
            <p:cNvPr id="45" name="TextBox 45"/>
            <p:cNvSpPr txBox="1"/>
            <p:nvPr/>
          </p:nvSpPr>
          <p:spPr>
            <a:xfrm>
              <a:off x="10495753" y="3320891"/>
              <a:ext cx="534994" cy="167640"/>
            </a:xfrm>
            <a:prstGeom prst="rect">
              <a:avLst/>
            </a:prstGeom>
            <a:noFill/>
            <a:ln>
              <a:noFill/>
            </a:ln>
          </p:spPr>
          <p:txBody>
            <a:bodyPr wrap="none" lIns="0" tIns="0" rIns="0" bIns="0" anchor="t" anchorCtr="0">
              <a:spAutoFit/>
            </a:bodyPr>
            <a:lstStyle/>
            <a:p>
              <a:pPr algn="ctr"/>
              <a:r>
                <a:rPr lang="zh-CN" sz="825" b="1" dirty="0">
                  <a:solidFill>
                    <a:srgbClr val="FFB300"/>
                  </a:solidFill>
                  <a:latin typeface="Cambria"/>
                  <a:ea typeface="SimSun"/>
                  <a:cs typeface="Cambria"/>
                </a:rPr>
                <a:t>PRINCIPLE</a:t>
              </a:r>
            </a:p>
          </p:txBody>
        </p:sp>
        <p:sp>
          <p:nvSpPr>
            <p:cNvPr id="46" name="Line 46"/>
            <p:cNvSpPr/>
            <p:nvPr/>
          </p:nvSpPr>
          <p:spPr>
            <a:xfrm>
              <a:off x="10477500" y="3619500"/>
              <a:ext cx="571500" cy="9525"/>
            </a:xfrm>
            <a:custGeom>
              <a:avLst/>
              <a:gdLst/>
              <a:ahLst/>
              <a:cxnLst/>
              <a:rect l="l" t="t" r="r" b="b"/>
              <a:pathLst>
                <a:path w="571500" h="9525">
                  <a:moveTo>
                    <a:pt x="0" y="0"/>
                  </a:moveTo>
                  <a:lnTo>
                    <a:pt x="571500" y="0"/>
                  </a:lnTo>
                </a:path>
              </a:pathLst>
            </a:custGeom>
            <a:noFill/>
            <a:ln w="14288" cap="rnd">
              <a:solidFill>
                <a:srgbClr val="FF8F00"/>
              </a:solidFill>
            </a:ln>
          </p:spPr>
        </p:sp>
        <p:sp>
          <p:nvSpPr>
            <p:cNvPr id="47" name="TextBox 47"/>
            <p:cNvSpPr txBox="1"/>
            <p:nvPr/>
          </p:nvSpPr>
          <p:spPr>
            <a:xfrm>
              <a:off x="10529387" y="3772852"/>
              <a:ext cx="46772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剔除劣</a:t>
              </a:r>
            </a:p>
          </p:txBody>
        </p:sp>
        <p:sp>
          <p:nvSpPr>
            <p:cNvPr id="48" name="TextBox 48"/>
            <p:cNvSpPr txBox="1"/>
            <p:nvPr/>
          </p:nvSpPr>
          <p:spPr>
            <a:xfrm>
              <a:off x="10529387" y="3982402"/>
              <a:ext cx="46772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质模块</a:t>
              </a:r>
            </a:p>
          </p:txBody>
        </p:sp>
        <p:sp>
          <p:nvSpPr>
            <p:cNvPr id="49" name="TextBox 49"/>
            <p:cNvSpPr txBox="1"/>
            <p:nvPr/>
          </p:nvSpPr>
          <p:spPr>
            <a:xfrm>
              <a:off x="10529387" y="4191952"/>
              <a:ext cx="46772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比引入</a:t>
              </a:r>
            </a:p>
          </p:txBody>
        </p:sp>
        <p:sp>
          <p:nvSpPr>
            <p:cNvPr id="50" name="TextBox 50"/>
            <p:cNvSpPr txBox="1"/>
            <p:nvPr/>
          </p:nvSpPr>
          <p:spPr>
            <a:xfrm>
              <a:off x="10455878" y="4401502"/>
              <a:ext cx="614744" cy="213360"/>
            </a:xfrm>
            <a:prstGeom prst="rect">
              <a:avLst/>
            </a:prstGeom>
            <a:noFill/>
            <a:ln>
              <a:noFill/>
            </a:ln>
          </p:spPr>
          <p:txBody>
            <a:bodyPr wrap="none" lIns="0" tIns="0" rIns="0" bIns="0" anchor="t" anchorCtr="0">
              <a:spAutoFit/>
            </a:bodyPr>
            <a:lstStyle/>
            <a:p>
              <a:pPr algn="ctr"/>
              <a:r>
                <a:rPr lang="zh-CN" sz="1050" b="1" dirty="0">
                  <a:solidFill>
                    <a:srgbClr val="FFB300"/>
                  </a:solidFill>
                  <a:latin typeface="Arial"/>
                  <a:ea typeface="Microsoft YaHei"/>
                  <a:cs typeface="Arial"/>
                </a:rPr>
                <a:t>复杂融合</a:t>
              </a:r>
            </a:p>
          </p:txBody>
        </p:sp>
        <p:sp>
          <p:nvSpPr>
            <p:cNvPr id="51" name="TextBox 51"/>
            <p:cNvSpPr txBox="1"/>
            <p:nvPr/>
          </p:nvSpPr>
          <p:spPr>
            <a:xfrm>
              <a:off x="10529387" y="4611052"/>
              <a:ext cx="467725" cy="213360"/>
            </a:xfrm>
            <a:prstGeom prst="rect">
              <a:avLst/>
            </a:prstGeom>
            <a:noFill/>
            <a:ln>
              <a:noFill/>
            </a:ln>
          </p:spPr>
          <p:txBody>
            <a:bodyPr wrap="none" lIns="0" tIns="0" rIns="0" bIns="0" anchor="t" anchorCtr="0">
              <a:spAutoFit/>
            </a:bodyPr>
            <a:lstStyle/>
            <a:p>
              <a:pPr algn="ctr"/>
              <a:r>
                <a:rPr lang="zh-CN" sz="1050" b="1" dirty="0">
                  <a:solidFill>
                    <a:srgbClr val="FFB300"/>
                  </a:solidFill>
                  <a:latin typeface="Arial"/>
                  <a:ea typeface="Microsoft YaHei"/>
                  <a:cs typeface="Arial"/>
                </a:rPr>
                <a:t>更有效</a:t>
              </a:r>
            </a:p>
          </p:txBody>
        </p:sp>
        <p:grpSp>
          <p:nvGrpSpPr>
            <p:cNvPr id="58" name="Group 58"/>
            <p:cNvGrpSpPr/>
            <p:nvPr/>
          </p:nvGrpSpPr>
          <p:grpSpPr>
            <a:xfrm>
              <a:off x="10656211" y="4988726"/>
              <a:ext cx="214120" cy="214305"/>
              <a:chOff x="10656211" y="4988726"/>
              <a:chExt cx="214120" cy="214305"/>
            </a:xfrm>
          </p:grpSpPr>
          <p:sp>
            <p:nvSpPr>
              <p:cNvPr id="52" name="Freeform 52"/>
              <p:cNvSpPr/>
              <p:nvPr/>
            </p:nvSpPr>
            <p:spPr>
              <a:xfrm>
                <a:off x="10739438" y="5155406"/>
                <a:ext cx="23812" cy="47625"/>
              </a:xfrm>
              <a:custGeom>
                <a:avLst/>
                <a:gdLst/>
                <a:ahLst/>
                <a:cxnLst/>
                <a:rect l="l" t="t" r="r" b="b"/>
                <a:pathLst>
                  <a:path w="23812" h="47625">
                    <a:moveTo>
                      <a:pt x="23812" y="0"/>
                    </a:moveTo>
                    <a:lnTo>
                      <a:pt x="0" y="23812"/>
                    </a:lnTo>
                    <a:lnTo>
                      <a:pt x="23812" y="47625"/>
                    </a:lnTo>
                  </a:path>
                </a:pathLst>
              </a:custGeom>
              <a:noFill/>
              <a:ln w="19050">
                <a:solidFill>
                  <a:srgbClr val="FFB300"/>
                </a:solidFill>
              </a:ln>
            </p:spPr>
          </p:sp>
          <p:sp>
            <p:nvSpPr>
              <p:cNvPr id="53" name="Freeform 53"/>
              <p:cNvSpPr/>
              <p:nvPr/>
            </p:nvSpPr>
            <p:spPr>
              <a:xfrm>
                <a:off x="10739438" y="5134570"/>
                <a:ext cx="130893" cy="44648"/>
              </a:xfrm>
              <a:custGeom>
                <a:avLst/>
                <a:gdLst/>
                <a:ahLst/>
                <a:cxnLst/>
                <a:rect l="l" t="t" r="r" b="b"/>
                <a:pathLst>
                  <a:path w="130893" h="44648">
                    <a:moveTo>
                      <a:pt x="0" y="44648"/>
                    </a:moveTo>
                    <a:lnTo>
                      <a:pt x="107156" y="44648"/>
                    </a:lnTo>
                    <a:cubicBezTo>
                      <a:pt x="114853" y="44252"/>
                      <a:pt x="121882" y="40154"/>
                      <a:pt x="126020" y="33652"/>
                    </a:cubicBezTo>
                    <a:cubicBezTo>
                      <a:pt x="130158" y="27150"/>
                      <a:pt x="130893" y="19047"/>
                      <a:pt x="127992" y="11906"/>
                    </a:cubicBezTo>
                    <a:lnTo>
                      <a:pt x="121444" y="0"/>
                    </a:lnTo>
                  </a:path>
                </a:pathLst>
              </a:custGeom>
              <a:noFill/>
              <a:ln w="19050">
                <a:solidFill>
                  <a:srgbClr val="FFB300"/>
                </a:solidFill>
              </a:ln>
            </p:spPr>
          </p:sp>
          <p:sp>
            <p:nvSpPr>
              <p:cNvPr id="54" name="Freeform 54"/>
              <p:cNvSpPr/>
              <p:nvPr/>
            </p:nvSpPr>
            <p:spPr>
              <a:xfrm>
                <a:off x="10680764" y="5051441"/>
                <a:ext cx="41243" cy="32528"/>
              </a:xfrm>
              <a:custGeom>
                <a:avLst/>
                <a:gdLst/>
                <a:ahLst/>
                <a:cxnLst/>
                <a:rect l="l" t="t" r="r" b="b"/>
                <a:pathLst>
                  <a:path w="41243" h="32528">
                    <a:moveTo>
                      <a:pt x="41243" y="32528"/>
                    </a:moveTo>
                    <a:lnTo>
                      <a:pt x="32528" y="0"/>
                    </a:lnTo>
                    <a:lnTo>
                      <a:pt x="0" y="8715"/>
                    </a:lnTo>
                  </a:path>
                </a:pathLst>
              </a:custGeom>
              <a:noFill/>
              <a:ln w="19050">
                <a:solidFill>
                  <a:srgbClr val="FFB300"/>
                </a:solidFill>
              </a:ln>
            </p:spPr>
          </p:sp>
          <p:sp>
            <p:nvSpPr>
              <p:cNvPr id="55" name="Freeform 55"/>
              <p:cNvSpPr/>
              <p:nvPr/>
            </p:nvSpPr>
            <p:spPr>
              <a:xfrm>
                <a:off x="10656211" y="5051441"/>
                <a:ext cx="57080" cy="127492"/>
              </a:xfrm>
              <a:custGeom>
                <a:avLst/>
                <a:gdLst/>
                <a:ahLst/>
                <a:cxnLst/>
                <a:rect l="l" t="t" r="r" b="b"/>
                <a:pathLst>
                  <a:path w="57080" h="127492">
                    <a:moveTo>
                      <a:pt x="57080" y="0"/>
                    </a:moveTo>
                    <a:lnTo>
                      <a:pt x="3502" y="92797"/>
                    </a:lnTo>
                    <a:cubicBezTo>
                      <a:pt x="0" y="99660"/>
                      <a:pt x="35" y="107793"/>
                      <a:pt x="3595" y="114625"/>
                    </a:cubicBezTo>
                    <a:cubicBezTo>
                      <a:pt x="7156" y="121458"/>
                      <a:pt x="13802" y="126145"/>
                      <a:pt x="21433" y="127206"/>
                    </a:cubicBezTo>
                    <a:lnTo>
                      <a:pt x="35018" y="127492"/>
                    </a:lnTo>
                  </a:path>
                </a:pathLst>
              </a:custGeom>
              <a:noFill/>
              <a:ln w="19050">
                <a:solidFill>
                  <a:srgbClr val="FFB300"/>
                </a:solidFill>
              </a:ln>
            </p:spPr>
          </p:sp>
          <p:sp>
            <p:nvSpPr>
              <p:cNvPr id="56" name="Freeform 56"/>
              <p:cNvSpPr/>
              <p:nvPr/>
            </p:nvSpPr>
            <p:spPr>
              <a:xfrm>
                <a:off x="10804493" y="5060156"/>
                <a:ext cx="41243" cy="32528"/>
              </a:xfrm>
              <a:custGeom>
                <a:avLst/>
                <a:gdLst/>
                <a:ahLst/>
                <a:cxnLst/>
                <a:rect l="l" t="t" r="r" b="b"/>
                <a:pathLst>
                  <a:path w="41243" h="32528">
                    <a:moveTo>
                      <a:pt x="0" y="23812"/>
                    </a:moveTo>
                    <a:lnTo>
                      <a:pt x="32528" y="32528"/>
                    </a:lnTo>
                    <a:lnTo>
                      <a:pt x="41243" y="0"/>
                    </a:lnTo>
                  </a:path>
                </a:pathLst>
              </a:custGeom>
              <a:noFill/>
              <a:ln w="19050">
                <a:solidFill>
                  <a:srgbClr val="FFB300"/>
                </a:solidFill>
              </a:ln>
            </p:spPr>
          </p:sp>
          <p:sp>
            <p:nvSpPr>
              <p:cNvPr id="57" name="Freeform 57"/>
              <p:cNvSpPr/>
              <p:nvPr/>
            </p:nvSpPr>
            <p:spPr>
              <a:xfrm>
                <a:off x="10737640" y="4988726"/>
                <a:ext cx="99381" cy="103958"/>
              </a:xfrm>
              <a:custGeom>
                <a:avLst/>
                <a:gdLst/>
                <a:ahLst/>
                <a:cxnLst/>
                <a:rect l="l" t="t" r="r" b="b"/>
                <a:pathLst>
                  <a:path w="99381" h="103958">
                    <a:moveTo>
                      <a:pt x="99381" y="103958"/>
                    </a:moveTo>
                    <a:lnTo>
                      <a:pt x="45803" y="11161"/>
                    </a:lnTo>
                    <a:cubicBezTo>
                      <a:pt x="41610" y="4697"/>
                      <a:pt x="34548" y="662"/>
                      <a:pt x="26850" y="331"/>
                    </a:cubicBezTo>
                    <a:cubicBezTo>
                      <a:pt x="19152" y="0"/>
                      <a:pt x="11770" y="3414"/>
                      <a:pt x="7037" y="9494"/>
                    </a:cubicBezTo>
                    <a:lnTo>
                      <a:pt x="0" y="21115"/>
                    </a:lnTo>
                  </a:path>
                </a:pathLst>
              </a:custGeom>
              <a:noFill/>
              <a:ln w="19050">
                <a:solidFill>
                  <a:srgbClr val="FFB300"/>
                </a:solidFill>
              </a:ln>
            </p:spPr>
          </p:sp>
        </p:grpSp>
      </p:grpSp>
      <p:grpSp>
        <p:nvGrpSpPr>
          <p:cNvPr id="61" name="Group 61"/>
          <p:cNvGrpSpPr/>
          <p:nvPr/>
        </p:nvGrpSpPr>
        <p:grpSpPr>
          <a:xfrm>
            <a:off x="1321118" y="5752624"/>
            <a:ext cx="5992511" cy="198120"/>
            <a:chOff x="1321118" y="5752624"/>
            <a:chExt cx="5992511" cy="198120"/>
          </a:xfrm>
        </p:grpSpPr>
        <p:sp>
          <p:nvSpPr>
            <p:cNvPr id="60" name="TextBox 60"/>
            <p:cNvSpPr txBox="1"/>
            <p:nvPr/>
          </p:nvSpPr>
          <p:spPr>
            <a:xfrm>
              <a:off x="1321118" y="5752624"/>
              <a:ext cx="5992511" cy="198120"/>
            </a:xfrm>
            <a:prstGeom prst="rect">
              <a:avLst/>
            </a:prstGeom>
            <a:noFill/>
            <a:ln>
              <a:noFill/>
            </a:ln>
          </p:spPr>
          <p:txBody>
            <a:bodyPr wrap="none" lIns="0" tIns="0" rIns="0" bIns="0" anchor="t" anchorCtr="0">
              <a:spAutoFit/>
            </a:bodyPr>
            <a:lstStyle/>
            <a:p>
              <a:pPr algn="l"/>
              <a:r>
                <a:rPr lang="zh-CN" sz="975" i="1" dirty="0">
                  <a:solidFill>
                    <a:srgbClr val="FFFFFF">
                      <a:alphaMod val="65000"/>
                    </a:srgbClr>
                  </a:solidFill>
                  <a:latin typeface="Cambria"/>
                  <a:ea typeface="SimSun"/>
                  <a:cs typeface="Cambria"/>
                </a:rPr>
                <a:t>"Failure is informative — 每一类失败都指向同一个改进方向:引入领域先验,而非盲目堆叠模型容量。"</a:t>
              </a:r>
            </a:p>
          </p:txBody>
        </p:sp>
      </p:grpSp>
      <p:sp>
        <p:nvSpPr>
          <p:cNvPr id="62" name="TextBox 62"/>
          <p:cNvSpPr txBox="1"/>
          <p:nvPr/>
        </p:nvSpPr>
        <p:spPr>
          <a:xfrm>
            <a:off x="4471071" y="6464141"/>
            <a:ext cx="3249859" cy="167640"/>
          </a:xfrm>
          <a:prstGeom prst="rect">
            <a:avLst/>
          </a:prstGeom>
          <a:noFill/>
          <a:ln>
            <a:noFill/>
          </a:ln>
        </p:spPr>
        <p:txBody>
          <a:bodyPr wrap="none" lIns="0" tIns="0" rIns="0" bIns="0" anchor="t" anchorCtr="0">
            <a:spAutoFit/>
          </a:bodyPr>
          <a:lstStyle/>
          <a:p>
            <a:pPr algn="ctr"/>
            <a:r>
              <a:rPr lang="zh-CN" sz="825" dirty="0">
                <a:solidFill>
                  <a:srgbClr val="FFFFFF">
                    <a:alphaMod val="55000"/>
                  </a:srgbClr>
                </a:solidFill>
                <a:latin typeface="Arial"/>
                <a:ea typeface="Microsoft YaHei"/>
                <a:cs typeface="Arial"/>
              </a:rPr>
              <a:t>智能食物营养分析系统答辩 · Chapter 5 · Key Insights · 26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image">
                                      <p:cBhvr>
                                        <p:cTn id="7" dur="400"/>
                                        <p:tgtEl>
                                          <p:spTgt spid="3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fade">
                                      <p:cBhvr>
                                        <p:cTn id="11" dur="400"/>
                                        <p:tgtEl>
                                          <p:spTgt spid="59"/>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fade">
                                      <p:cBhvr>
                                        <p:cTn id="15"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59" grpId="0"/>
      <p:bldP spid="6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0953750" cy="685800"/>
            <a:chOff x="571500" y="457200"/>
            <a:chExt cx="10953750" cy="685800"/>
          </a:xfrm>
        </p:grpSpPr>
        <p:sp>
          <p:nvSpPr>
            <p:cNvPr id="3" name="Rectangle 3"/>
            <p:cNvSpPr/>
            <p:nvPr/>
          </p:nvSpPr>
          <p:spPr>
            <a:xfrm>
              <a:off x="571500" y="457200"/>
              <a:ext cx="57150" cy="381000"/>
            </a:xfrm>
            <a:prstGeom prst="roundRect">
              <a:avLst>
                <a:gd name="adj" fmla="val 50000"/>
              </a:avLst>
            </a:prstGeom>
            <a:solidFill>
              <a:srgbClr val="2E7D32"/>
            </a:solidFill>
            <a:ln>
              <a:noFill/>
            </a:ln>
          </p:spPr>
        </p:sp>
        <p:sp>
          <p:nvSpPr>
            <p:cNvPr id="4" name="TextBox 4"/>
            <p:cNvSpPr txBox="1"/>
            <p:nvPr/>
          </p:nvSpPr>
          <p:spPr>
            <a:xfrm>
              <a:off x="733425" y="500062"/>
              <a:ext cx="3522583"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核心结论 · 7 项研究产出</a:t>
              </a:r>
            </a:p>
          </p:txBody>
        </p:sp>
        <p:sp>
          <p:nvSpPr>
            <p:cNvPr id="5" name="TextBox 5"/>
            <p:cNvSpPr txBox="1"/>
            <p:nvPr/>
          </p:nvSpPr>
          <p:spPr>
            <a:xfrm>
              <a:off x="748665" y="896302"/>
              <a:ext cx="3841797"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CHAPTER 6 · CONCLUSIONS · SEVEN RESEARCH OUTCOMES</a:t>
              </a:r>
            </a:p>
          </p:txBody>
        </p:sp>
        <p:grpSp>
          <p:nvGrpSpPr>
            <p:cNvPr id="9" name="Group 9"/>
            <p:cNvGrpSpPr/>
            <p:nvPr/>
          </p:nvGrpSpPr>
          <p:grpSpPr>
            <a:xfrm>
              <a:off x="9620250" y="571500"/>
              <a:ext cx="1905000" cy="571500"/>
              <a:chOff x="9620250" y="571500"/>
              <a:chExt cx="1905000" cy="571500"/>
            </a:xfrm>
          </p:grpSpPr>
          <p:sp>
            <p:nvSpPr>
              <p:cNvPr id="6" name="Rectangle 6"/>
              <p:cNvSpPr/>
              <p:nvPr/>
            </p:nvSpPr>
            <p:spPr>
              <a:xfrm>
                <a:off x="9620250" y="571500"/>
                <a:ext cx="1905000" cy="571500"/>
              </a:xfrm>
              <a:prstGeom prst="roundRect">
                <a:avLst>
                  <a:gd name="adj" fmla="val 16667"/>
                </a:avLst>
              </a:prstGeom>
              <a:solidFill>
                <a:srgbClr val="E8F5E9"/>
              </a:solidFill>
              <a:ln>
                <a:noFill/>
              </a:ln>
            </p:spPr>
          </p:sp>
          <p:sp>
            <p:nvSpPr>
              <p:cNvPr id="7" name="TextBox 7"/>
              <p:cNvSpPr txBox="1"/>
              <p:nvPr/>
            </p:nvSpPr>
            <p:spPr>
              <a:xfrm>
                <a:off x="10002711" y="692468"/>
                <a:ext cx="1140078" cy="274320"/>
              </a:xfrm>
              <a:prstGeom prst="rect">
                <a:avLst/>
              </a:prstGeom>
              <a:noFill/>
              <a:ln>
                <a:noFill/>
              </a:ln>
            </p:spPr>
            <p:txBody>
              <a:bodyPr wrap="none" lIns="0" tIns="0" rIns="0" bIns="0" anchor="t" anchorCtr="0">
                <a:spAutoFit/>
              </a:bodyPr>
              <a:lstStyle/>
              <a:p>
                <a:pPr algn="ctr"/>
                <a:r>
                  <a:rPr lang="zh-CN" sz="1350" b="1" dirty="0">
                    <a:solidFill>
                      <a:srgbClr val="2E7D32"/>
                    </a:solidFill>
                    <a:latin typeface="Cambria"/>
                    <a:ea typeface="SimSun"/>
                    <a:cs typeface="Cambria"/>
                  </a:rPr>
                  <a:t>7 项核心产出</a:t>
                </a:r>
              </a:p>
            </p:txBody>
          </p:sp>
          <p:sp>
            <p:nvSpPr>
              <p:cNvPr id="8" name="TextBox 8"/>
              <p:cNvSpPr txBox="1"/>
              <p:nvPr/>
            </p:nvSpPr>
            <p:spPr>
              <a:xfrm>
                <a:off x="9926943" y="958691"/>
                <a:ext cx="1291614"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END-TO-END OUTCOMES</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grpSp>
        <p:nvGrpSpPr>
          <p:cNvPr id="68" name="Group 68"/>
          <p:cNvGrpSpPr/>
          <p:nvPr/>
        </p:nvGrpSpPr>
        <p:grpSpPr>
          <a:xfrm>
            <a:off x="571500" y="1476375"/>
            <a:ext cx="11049000" cy="4705350"/>
            <a:chOff x="571500" y="1476375"/>
            <a:chExt cx="11049000" cy="4705350"/>
          </a:xfrm>
        </p:grpSpPr>
        <p:grpSp>
          <p:nvGrpSpPr>
            <p:cNvPr id="19" name="Group 19"/>
            <p:cNvGrpSpPr/>
            <p:nvPr/>
          </p:nvGrpSpPr>
          <p:grpSpPr>
            <a:xfrm>
              <a:off x="571500" y="1476375"/>
              <a:ext cx="11049000" cy="590550"/>
              <a:chOff x="571500" y="1476375"/>
              <a:chExt cx="11049000" cy="590550"/>
            </a:xfrm>
          </p:grpSpPr>
          <p:sp>
            <p:nvSpPr>
              <p:cNvPr id="12" name="Rectangle 12"/>
              <p:cNvSpPr/>
              <p:nvPr/>
            </p:nvSpPr>
            <p:spPr>
              <a:xfrm>
                <a:off x="571500" y="1476375"/>
                <a:ext cx="11049000" cy="590550"/>
              </a:xfrm>
              <a:prstGeom prst="roundRect">
                <a:avLst>
                  <a:gd name="adj" fmla="val 12903"/>
                </a:avLst>
              </a:prstGeom>
              <a:solidFill>
                <a:srgbClr val="F5F7FA"/>
              </a:solidFill>
              <a:ln>
                <a:noFill/>
              </a:ln>
              <a:effectLst>
                <a:outerShdw blurRad="57150" dist="19050" dir="5400000" algn="ctr" rotWithShape="0">
                  <a:srgbClr val="0F172A">
                    <a:alpha val="5250"/>
                  </a:srgbClr>
                </a:outerShdw>
              </a:effectLst>
            </p:spPr>
          </p:sp>
          <p:sp>
            <p:nvSpPr>
              <p:cNvPr id="13" name="Rectangle 13"/>
              <p:cNvSpPr/>
              <p:nvPr/>
            </p:nvSpPr>
            <p:spPr>
              <a:xfrm>
                <a:off x="666750" y="1581150"/>
                <a:ext cx="381000" cy="381000"/>
              </a:xfrm>
              <a:prstGeom prst="roundRect">
                <a:avLst>
                  <a:gd name="adj" fmla="val 50000"/>
                </a:avLst>
              </a:prstGeom>
              <a:gradFill>
                <a:gsLst>
                  <a:gs pos="0">
                    <a:srgbClr val="1565C0"/>
                  </a:gs>
                  <a:gs pos="100000">
                    <a:srgbClr val="5C6BC0"/>
                  </a:gs>
                </a:gsLst>
                <a:lin ang="2700000" scaled="1"/>
              </a:gradFill>
              <a:ln>
                <a:noFill/>
              </a:ln>
            </p:spPr>
          </p:sp>
          <p:sp>
            <p:nvSpPr>
              <p:cNvPr id="14" name="TextBox 14"/>
              <p:cNvSpPr txBox="1"/>
              <p:nvPr/>
            </p:nvSpPr>
            <p:spPr>
              <a:xfrm>
                <a:off x="811751" y="1692592"/>
                <a:ext cx="9099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1</a:t>
                </a:r>
              </a:p>
            </p:txBody>
          </p:sp>
          <p:sp>
            <p:nvSpPr>
              <p:cNvPr id="15" name="TextBox 15"/>
              <p:cNvSpPr txBox="1"/>
              <p:nvPr/>
            </p:nvSpPr>
            <p:spPr>
              <a:xfrm>
                <a:off x="1176338" y="1621631"/>
                <a:ext cx="2076331"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语言对齐决定零样本分类效果</a:t>
                </a:r>
              </a:p>
            </p:txBody>
          </p:sp>
          <p:sp>
            <p:nvSpPr>
              <p:cNvPr id="16" name="TextBox 16"/>
              <p:cNvSpPr txBox="1"/>
              <p:nvPr/>
            </p:nvSpPr>
            <p:spPr>
              <a:xfrm>
                <a:off x="1179195" y="1836420"/>
                <a:ext cx="497948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English-CLIP 62.14% vs Chinese-CLIP 44.65% — 英文类别名匹配英文 CLIP 时语义对齐更精确</a:t>
                </a:r>
              </a:p>
            </p:txBody>
          </p:sp>
          <p:sp>
            <p:nvSpPr>
              <p:cNvPr id="17" name="Rectangle 17"/>
              <p:cNvSpPr/>
              <p:nvPr/>
            </p:nvSpPr>
            <p:spPr>
              <a:xfrm>
                <a:off x="10096500" y="1638300"/>
                <a:ext cx="1428750" cy="266700"/>
              </a:xfrm>
              <a:prstGeom prst="roundRect">
                <a:avLst>
                  <a:gd name="adj" fmla="val 50000"/>
                </a:avLst>
              </a:prstGeom>
              <a:solidFill>
                <a:srgbClr val="E3F2FD"/>
              </a:solidFill>
              <a:ln>
                <a:noFill/>
              </a:ln>
            </p:spPr>
          </p:sp>
          <p:sp>
            <p:nvSpPr>
              <p:cNvPr id="18" name="TextBox 18"/>
              <p:cNvSpPr txBox="1"/>
              <p:nvPr/>
            </p:nvSpPr>
            <p:spPr>
              <a:xfrm>
                <a:off x="10519060" y="1712595"/>
                <a:ext cx="583630" cy="182880"/>
              </a:xfrm>
              <a:prstGeom prst="rect">
                <a:avLst/>
              </a:prstGeom>
              <a:noFill/>
              <a:ln>
                <a:noFill/>
              </a:ln>
            </p:spPr>
            <p:txBody>
              <a:bodyPr wrap="none" lIns="0" tIns="0" rIns="0" bIns="0" anchor="t" anchorCtr="0">
                <a:spAutoFit/>
              </a:bodyPr>
              <a:lstStyle/>
              <a:p>
                <a:pPr algn="ctr"/>
                <a:r>
                  <a:rPr lang="zh-CN" sz="900" b="1" dirty="0">
                    <a:solidFill>
                      <a:srgbClr val="1565C0"/>
                    </a:solidFill>
                    <a:latin typeface="Cambria"/>
                    <a:ea typeface="SimSun"/>
                    <a:cs typeface="Cambria"/>
                  </a:rPr>
                  <a:t>+17.49 pp</a:t>
                </a:r>
              </a:p>
            </p:txBody>
          </p:sp>
        </p:grpSp>
        <p:grpSp>
          <p:nvGrpSpPr>
            <p:cNvPr id="27" name="Group 27"/>
            <p:cNvGrpSpPr/>
            <p:nvPr/>
          </p:nvGrpSpPr>
          <p:grpSpPr>
            <a:xfrm>
              <a:off x="571500" y="2162175"/>
              <a:ext cx="11049000" cy="590550"/>
              <a:chOff x="571500" y="2162175"/>
              <a:chExt cx="11049000" cy="590550"/>
            </a:xfrm>
          </p:grpSpPr>
          <p:sp>
            <p:nvSpPr>
              <p:cNvPr id="20" name="Rectangle 20"/>
              <p:cNvSpPr/>
              <p:nvPr/>
            </p:nvSpPr>
            <p:spPr>
              <a:xfrm>
                <a:off x="571500" y="2162175"/>
                <a:ext cx="11049000" cy="590550"/>
              </a:xfrm>
              <a:prstGeom prst="roundRect">
                <a:avLst>
                  <a:gd name="adj" fmla="val 12903"/>
                </a:avLst>
              </a:prstGeom>
              <a:solidFill>
                <a:srgbClr val="FFFFFF"/>
              </a:solidFill>
              <a:ln>
                <a:noFill/>
              </a:ln>
              <a:effectLst>
                <a:outerShdw blurRad="57150" dist="19050" dir="5400000" algn="ctr" rotWithShape="0">
                  <a:srgbClr val="0F172A">
                    <a:alpha val="5250"/>
                  </a:srgbClr>
                </a:outerShdw>
              </a:effectLst>
            </p:spPr>
          </p:sp>
          <p:sp>
            <p:nvSpPr>
              <p:cNvPr id="21" name="Rectangle 21"/>
              <p:cNvSpPr/>
              <p:nvPr/>
            </p:nvSpPr>
            <p:spPr>
              <a:xfrm>
                <a:off x="666750" y="2266950"/>
                <a:ext cx="381000" cy="381000"/>
              </a:xfrm>
              <a:prstGeom prst="roundRect">
                <a:avLst>
                  <a:gd name="adj" fmla="val 50000"/>
                </a:avLst>
              </a:prstGeom>
              <a:gradFill>
                <a:gsLst>
                  <a:gs pos="0">
                    <a:srgbClr val="1565C0"/>
                  </a:gs>
                  <a:gs pos="100000">
                    <a:srgbClr val="5C6BC0"/>
                  </a:gs>
                </a:gsLst>
                <a:lin ang="2700000" scaled="1"/>
              </a:gradFill>
              <a:ln>
                <a:noFill/>
              </a:ln>
            </p:spPr>
          </p:sp>
          <p:sp>
            <p:nvSpPr>
              <p:cNvPr id="22" name="TextBox 22"/>
              <p:cNvSpPr txBox="1"/>
              <p:nvPr/>
            </p:nvSpPr>
            <p:spPr>
              <a:xfrm>
                <a:off x="788124" y="23783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2</a:t>
                </a:r>
              </a:p>
            </p:txBody>
          </p:sp>
          <p:sp>
            <p:nvSpPr>
              <p:cNvPr id="23" name="TextBox 23"/>
              <p:cNvSpPr txBox="1"/>
              <p:nvPr/>
            </p:nvSpPr>
            <p:spPr>
              <a:xfrm>
                <a:off x="1176338" y="2307431"/>
                <a:ext cx="2099959"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检测器 + CoT 协同增益 6.50%</a:t>
                </a:r>
              </a:p>
            </p:txBody>
          </p:sp>
          <p:sp>
            <p:nvSpPr>
              <p:cNvPr id="24" name="TextBox 24"/>
              <p:cNvSpPr txBox="1"/>
              <p:nvPr/>
            </p:nvSpPr>
            <p:spPr>
              <a:xfrm>
                <a:off x="1179195" y="2522220"/>
                <a:ext cx="4109371"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检测器贡献 +4.00%(聚焦食物主体)· CoT 贡献 +2.50%(逻辑验证)· 协同效应</a:t>
                </a:r>
              </a:p>
            </p:txBody>
          </p:sp>
          <p:sp>
            <p:nvSpPr>
              <p:cNvPr id="25" name="Rectangle 25"/>
              <p:cNvSpPr/>
              <p:nvPr/>
            </p:nvSpPr>
            <p:spPr>
              <a:xfrm>
                <a:off x="10096500" y="2324100"/>
                <a:ext cx="1428750" cy="266700"/>
              </a:xfrm>
              <a:prstGeom prst="roundRect">
                <a:avLst>
                  <a:gd name="adj" fmla="val 50000"/>
                </a:avLst>
              </a:prstGeom>
              <a:solidFill>
                <a:srgbClr val="E3F2FD"/>
              </a:solidFill>
              <a:ln>
                <a:noFill/>
              </a:ln>
            </p:spPr>
          </p:sp>
          <p:sp>
            <p:nvSpPr>
              <p:cNvPr id="26" name="TextBox 26"/>
              <p:cNvSpPr txBox="1"/>
              <p:nvPr/>
            </p:nvSpPr>
            <p:spPr>
              <a:xfrm>
                <a:off x="10415097" y="2398395"/>
                <a:ext cx="791556" cy="182880"/>
              </a:xfrm>
              <a:prstGeom prst="rect">
                <a:avLst/>
              </a:prstGeom>
              <a:noFill/>
              <a:ln>
                <a:noFill/>
              </a:ln>
            </p:spPr>
            <p:txBody>
              <a:bodyPr wrap="none" lIns="0" tIns="0" rIns="0" bIns="0" anchor="t" anchorCtr="0">
                <a:spAutoFit/>
              </a:bodyPr>
              <a:lstStyle/>
              <a:p>
                <a:pPr algn="ctr"/>
                <a:r>
                  <a:rPr lang="zh-CN" sz="900" b="1" dirty="0">
                    <a:solidFill>
                      <a:srgbClr val="1565C0"/>
                    </a:solidFill>
                    <a:latin typeface="Cambria"/>
                    <a:ea typeface="SimSun"/>
                    <a:cs typeface="Cambria"/>
                  </a:rPr>
                  <a:t>Top-1 68.64%</a:t>
                </a:r>
              </a:p>
            </p:txBody>
          </p:sp>
        </p:grpSp>
        <p:grpSp>
          <p:nvGrpSpPr>
            <p:cNvPr id="35" name="Group 35"/>
            <p:cNvGrpSpPr/>
            <p:nvPr/>
          </p:nvGrpSpPr>
          <p:grpSpPr>
            <a:xfrm>
              <a:off x="571500" y="2847975"/>
              <a:ext cx="11049000" cy="590550"/>
              <a:chOff x="571500" y="2847975"/>
              <a:chExt cx="11049000" cy="590550"/>
            </a:xfrm>
          </p:grpSpPr>
          <p:sp>
            <p:nvSpPr>
              <p:cNvPr id="28" name="Rectangle 28"/>
              <p:cNvSpPr/>
              <p:nvPr/>
            </p:nvSpPr>
            <p:spPr>
              <a:xfrm>
                <a:off x="571500" y="2847975"/>
                <a:ext cx="11049000" cy="590550"/>
              </a:xfrm>
              <a:prstGeom prst="roundRect">
                <a:avLst>
                  <a:gd name="adj" fmla="val 12903"/>
                </a:avLst>
              </a:prstGeom>
              <a:solidFill>
                <a:srgbClr val="FFEBEE"/>
              </a:solidFill>
              <a:ln>
                <a:noFill/>
              </a:ln>
              <a:effectLst>
                <a:outerShdw blurRad="57150" dist="19050" dir="5400000" algn="ctr" rotWithShape="0">
                  <a:srgbClr val="0F172A">
                    <a:alpha val="5250"/>
                  </a:srgbClr>
                </a:outerShdw>
              </a:effectLst>
            </p:spPr>
          </p:sp>
          <p:sp>
            <p:nvSpPr>
              <p:cNvPr id="29" name="Rectangle 29"/>
              <p:cNvSpPr/>
              <p:nvPr/>
            </p:nvSpPr>
            <p:spPr>
              <a:xfrm>
                <a:off x="666750" y="2952750"/>
                <a:ext cx="381000" cy="381000"/>
              </a:xfrm>
              <a:prstGeom prst="roundRect">
                <a:avLst>
                  <a:gd name="adj" fmla="val 50000"/>
                </a:avLst>
              </a:prstGeom>
              <a:solidFill>
                <a:srgbClr val="C62828"/>
              </a:solidFill>
              <a:ln>
                <a:noFill/>
              </a:ln>
            </p:spPr>
          </p:sp>
          <p:sp>
            <p:nvSpPr>
              <p:cNvPr id="30" name="TextBox 30"/>
              <p:cNvSpPr txBox="1"/>
              <p:nvPr/>
            </p:nvSpPr>
            <p:spPr>
              <a:xfrm>
                <a:off x="788124" y="30641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3</a:t>
                </a:r>
              </a:p>
            </p:txBody>
          </p:sp>
          <p:sp>
            <p:nvSpPr>
              <p:cNvPr id="31" name="TextBox 31"/>
              <p:cNvSpPr txBox="1"/>
              <p:nvPr/>
            </p:nvSpPr>
            <p:spPr>
              <a:xfrm>
                <a:off x="1176338" y="2993231"/>
                <a:ext cx="2076331"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通用大模型不适用于重量估计</a:t>
                </a:r>
              </a:p>
            </p:txBody>
          </p:sp>
          <p:sp>
            <p:nvSpPr>
              <p:cNvPr id="32" name="TextBox 32"/>
              <p:cNvSpPr txBox="1"/>
              <p:nvPr/>
            </p:nvSpPr>
            <p:spPr>
              <a:xfrm>
                <a:off x="1179195" y="3208020"/>
                <a:ext cx="4871466"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SAM + MiDaS 误差 &gt;200% · Qwen-VL 同图多次推理波动 ±50g — 学习语义统计而非物理映射</a:t>
                </a:r>
              </a:p>
            </p:txBody>
          </p:sp>
          <p:sp>
            <p:nvSpPr>
              <p:cNvPr id="33" name="Rectangle 33"/>
              <p:cNvSpPr/>
              <p:nvPr/>
            </p:nvSpPr>
            <p:spPr>
              <a:xfrm>
                <a:off x="10096500" y="3009900"/>
                <a:ext cx="1428750" cy="266700"/>
              </a:xfrm>
              <a:prstGeom prst="roundRect">
                <a:avLst>
                  <a:gd name="adj" fmla="val 50000"/>
                </a:avLst>
              </a:prstGeom>
              <a:solidFill>
                <a:srgbClr val="FFEBEE"/>
              </a:solidFill>
              <a:ln>
                <a:noFill/>
              </a:ln>
            </p:spPr>
          </p:sp>
          <p:sp>
            <p:nvSpPr>
              <p:cNvPr id="34" name="TextBox 34"/>
              <p:cNvSpPr txBox="1"/>
              <p:nvPr/>
            </p:nvSpPr>
            <p:spPr>
              <a:xfrm>
                <a:off x="10619873" y="3084195"/>
                <a:ext cx="382005" cy="182880"/>
              </a:xfrm>
              <a:prstGeom prst="rect">
                <a:avLst/>
              </a:prstGeom>
              <a:noFill/>
              <a:ln>
                <a:noFill/>
              </a:ln>
            </p:spPr>
            <p:txBody>
              <a:bodyPr wrap="none" lIns="0" tIns="0" rIns="0" bIns="0" anchor="t" anchorCtr="0">
                <a:spAutoFit/>
              </a:bodyPr>
              <a:lstStyle/>
              <a:p>
                <a:pPr algn="ctr"/>
                <a:r>
                  <a:rPr lang="zh-CN" sz="900" b="1" dirty="0">
                    <a:solidFill>
                      <a:srgbClr val="C62828"/>
                    </a:solidFill>
                    <a:latin typeface="Cambria"/>
                    <a:ea typeface="SimSun"/>
                    <a:cs typeface="Cambria"/>
                  </a:rPr>
                  <a:t>✗ 失败</a:t>
                </a:r>
              </a:p>
            </p:txBody>
          </p:sp>
        </p:grpSp>
        <p:grpSp>
          <p:nvGrpSpPr>
            <p:cNvPr id="43" name="Group 43"/>
            <p:cNvGrpSpPr/>
            <p:nvPr/>
          </p:nvGrpSpPr>
          <p:grpSpPr>
            <a:xfrm>
              <a:off x="571500" y="3533775"/>
              <a:ext cx="11049000" cy="590550"/>
              <a:chOff x="571500" y="3533775"/>
              <a:chExt cx="11049000" cy="590550"/>
            </a:xfrm>
          </p:grpSpPr>
          <p:sp>
            <p:nvSpPr>
              <p:cNvPr id="36" name="Rectangle 36"/>
              <p:cNvSpPr/>
              <p:nvPr/>
            </p:nvSpPr>
            <p:spPr>
              <a:xfrm>
                <a:off x="571500" y="3533775"/>
                <a:ext cx="11049000" cy="590550"/>
              </a:xfrm>
              <a:prstGeom prst="roundRect">
                <a:avLst>
                  <a:gd name="adj" fmla="val 12903"/>
                </a:avLst>
              </a:prstGeom>
              <a:solidFill>
                <a:srgbClr val="FFF8E1"/>
              </a:solidFill>
              <a:ln w="14288">
                <a:solidFill>
                  <a:srgbClr val="FF8F00"/>
                </a:solidFill>
              </a:ln>
              <a:effectLst>
                <a:outerShdw blurRad="57150" dist="19050" dir="5400000" algn="ctr" rotWithShape="0">
                  <a:srgbClr val="0F172A">
                    <a:alpha val="5250"/>
                  </a:srgbClr>
                </a:outerShdw>
              </a:effectLst>
            </p:spPr>
          </p:sp>
          <p:sp>
            <p:nvSpPr>
              <p:cNvPr id="37" name="Rectangle 37"/>
              <p:cNvSpPr/>
              <p:nvPr/>
            </p:nvSpPr>
            <p:spPr>
              <a:xfrm>
                <a:off x="666750" y="3638550"/>
                <a:ext cx="381000" cy="381000"/>
              </a:xfrm>
              <a:prstGeom prst="roundRect">
                <a:avLst>
                  <a:gd name="adj" fmla="val 50000"/>
                </a:avLst>
              </a:prstGeom>
              <a:gradFill>
                <a:gsLst>
                  <a:gs pos="0">
                    <a:srgbClr val="FF8F00"/>
                  </a:gs>
                  <a:gs pos="100000">
                    <a:srgbClr val="FFB300"/>
                  </a:gs>
                </a:gsLst>
                <a:lin ang="2700000" scaled="1"/>
              </a:gradFill>
              <a:ln>
                <a:noFill/>
              </a:ln>
            </p:spPr>
          </p:sp>
          <p:sp>
            <p:nvSpPr>
              <p:cNvPr id="38" name="TextBox 38"/>
              <p:cNvSpPr txBox="1"/>
              <p:nvPr/>
            </p:nvSpPr>
            <p:spPr>
              <a:xfrm>
                <a:off x="788124" y="37499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4</a:t>
                </a:r>
              </a:p>
            </p:txBody>
          </p:sp>
          <p:sp>
            <p:nvSpPr>
              <p:cNvPr id="39" name="TextBox 39"/>
              <p:cNvSpPr txBox="1"/>
              <p:nvPr/>
            </p:nvSpPr>
            <p:spPr>
              <a:xfrm>
                <a:off x="1176338" y="3679031"/>
                <a:ext cx="3312860"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热量反推是重量估计有效路径</a:t>
                </a:r>
                <a:r>
                  <a:rPr lang="zh-CN" sz="825" b="1" dirty="0">
                    <a:solidFill>
                      <a:srgbClr val="FF8F00"/>
                    </a:solidFill>
                    <a:latin typeface="Arial"/>
                    <a:ea typeface="Microsoft YaHei"/>
                    <a:cs typeface="Arial"/>
                  </a:rPr>
                  <a:t>· 核心方法论转向</a:t>
                </a:r>
              </a:p>
            </p:txBody>
          </p:sp>
          <p:sp>
            <p:nvSpPr>
              <p:cNvPr id="40" name="TextBox 40"/>
              <p:cNvSpPr txBox="1"/>
              <p:nvPr/>
            </p:nvSpPr>
            <p:spPr>
              <a:xfrm>
                <a:off x="1179195" y="3893820"/>
                <a:ext cx="442141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图像 → 识别类别 → 查密度 → CalorieCLIP 估热 → 重量 = 热量 / 密度 — 利用领域先验</a:t>
                </a:r>
              </a:p>
            </p:txBody>
          </p:sp>
          <p:sp>
            <p:nvSpPr>
              <p:cNvPr id="41" name="Rectangle 41"/>
              <p:cNvSpPr/>
              <p:nvPr/>
            </p:nvSpPr>
            <p:spPr>
              <a:xfrm>
                <a:off x="10096500" y="3695700"/>
                <a:ext cx="1428750" cy="266700"/>
              </a:xfrm>
              <a:prstGeom prst="roundRect">
                <a:avLst>
                  <a:gd name="adj" fmla="val 50000"/>
                </a:avLst>
              </a:prstGeom>
              <a:solidFill>
                <a:srgbClr val="E8F5E9"/>
              </a:solidFill>
              <a:ln>
                <a:noFill/>
              </a:ln>
            </p:spPr>
          </p:sp>
          <p:sp>
            <p:nvSpPr>
              <p:cNvPr id="42" name="TextBox 42"/>
              <p:cNvSpPr txBox="1"/>
              <p:nvPr/>
            </p:nvSpPr>
            <p:spPr>
              <a:xfrm>
                <a:off x="10418247" y="3769995"/>
                <a:ext cx="785255" cy="182880"/>
              </a:xfrm>
              <a:prstGeom prst="rect">
                <a:avLst/>
              </a:prstGeom>
              <a:noFill/>
              <a:ln>
                <a:noFill/>
              </a:ln>
            </p:spPr>
            <p:txBody>
              <a:bodyPr wrap="none" lIns="0" tIns="0" rIns="0" bIns="0" anchor="t" anchorCtr="0">
                <a:spAutoFit/>
              </a:bodyPr>
              <a:lstStyle/>
              <a:p>
                <a:pPr algn="ctr"/>
                <a:r>
                  <a:rPr lang="zh-CN" sz="900" b="1" dirty="0">
                    <a:solidFill>
                      <a:srgbClr val="2E7D32"/>
                    </a:solidFill>
                    <a:latin typeface="Cambria"/>
                    <a:ea typeface="SimSun"/>
                    <a:cs typeface="Cambria"/>
                  </a:rPr>
                  <a:t>MAE 21.34g ★</a:t>
                </a:r>
              </a:p>
            </p:txBody>
          </p:sp>
        </p:grpSp>
        <p:grpSp>
          <p:nvGrpSpPr>
            <p:cNvPr id="51" name="Group 51"/>
            <p:cNvGrpSpPr/>
            <p:nvPr/>
          </p:nvGrpSpPr>
          <p:grpSpPr>
            <a:xfrm>
              <a:off x="571500" y="4219575"/>
              <a:ext cx="11049000" cy="590550"/>
              <a:chOff x="571500" y="4219575"/>
              <a:chExt cx="11049000" cy="590550"/>
            </a:xfrm>
          </p:grpSpPr>
          <p:sp>
            <p:nvSpPr>
              <p:cNvPr id="44" name="Rectangle 44"/>
              <p:cNvSpPr/>
              <p:nvPr/>
            </p:nvSpPr>
            <p:spPr>
              <a:xfrm>
                <a:off x="571500" y="4219575"/>
                <a:ext cx="11049000" cy="590550"/>
              </a:xfrm>
              <a:prstGeom prst="roundRect">
                <a:avLst>
                  <a:gd name="adj" fmla="val 12903"/>
                </a:avLst>
              </a:prstGeom>
              <a:solidFill>
                <a:srgbClr val="FFFFFF"/>
              </a:solidFill>
              <a:ln>
                <a:noFill/>
              </a:ln>
              <a:effectLst>
                <a:outerShdw blurRad="57150" dist="19050" dir="5400000" algn="ctr" rotWithShape="0">
                  <a:srgbClr val="0F172A">
                    <a:alpha val="5250"/>
                  </a:srgbClr>
                </a:outerShdw>
              </a:effectLst>
            </p:spPr>
          </p:sp>
          <p:sp>
            <p:nvSpPr>
              <p:cNvPr id="45" name="Rectangle 45"/>
              <p:cNvSpPr/>
              <p:nvPr/>
            </p:nvSpPr>
            <p:spPr>
              <a:xfrm>
                <a:off x="666750" y="4324350"/>
                <a:ext cx="381000" cy="381000"/>
              </a:xfrm>
              <a:prstGeom prst="roundRect">
                <a:avLst>
                  <a:gd name="adj" fmla="val 50000"/>
                </a:avLst>
              </a:prstGeom>
              <a:gradFill>
                <a:gsLst>
                  <a:gs pos="0">
                    <a:srgbClr val="1565C0"/>
                  </a:gs>
                  <a:gs pos="100000">
                    <a:srgbClr val="5C6BC0"/>
                  </a:gs>
                </a:gsLst>
                <a:lin ang="2700000" scaled="1"/>
              </a:gradFill>
              <a:ln>
                <a:noFill/>
              </a:ln>
            </p:spPr>
          </p:sp>
          <p:sp>
            <p:nvSpPr>
              <p:cNvPr id="46" name="TextBox 46"/>
              <p:cNvSpPr txBox="1"/>
              <p:nvPr/>
            </p:nvSpPr>
            <p:spPr>
              <a:xfrm>
                <a:off x="788124" y="44357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5</a:t>
                </a:r>
              </a:p>
            </p:txBody>
          </p:sp>
          <p:sp>
            <p:nvSpPr>
              <p:cNvPr id="47" name="TextBox 47"/>
              <p:cNvSpPr txBox="1"/>
              <p:nvPr/>
            </p:nvSpPr>
            <p:spPr>
              <a:xfrm>
                <a:off x="1176338" y="4364831"/>
                <a:ext cx="1761292"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轻量专用优于通用大模型</a:t>
                </a:r>
              </a:p>
            </p:txBody>
          </p:sp>
          <p:sp>
            <p:nvSpPr>
              <p:cNvPr id="48" name="TextBox 48"/>
              <p:cNvSpPr txBox="1"/>
              <p:nvPr/>
            </p:nvSpPr>
            <p:spPr>
              <a:xfrm>
                <a:off x="1179195" y="4579620"/>
                <a:ext cx="4367403"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CalorieCLIP + 校准 MAE 21.34g,Exp3 融合 49.43g — 远优于通用大模型 100-200g</a:t>
                </a:r>
              </a:p>
            </p:txBody>
          </p:sp>
          <p:sp>
            <p:nvSpPr>
              <p:cNvPr id="49" name="Rectangle 49"/>
              <p:cNvSpPr/>
              <p:nvPr/>
            </p:nvSpPr>
            <p:spPr>
              <a:xfrm>
                <a:off x="10096500" y="4381500"/>
                <a:ext cx="1428750" cy="266700"/>
              </a:xfrm>
              <a:prstGeom prst="roundRect">
                <a:avLst>
                  <a:gd name="adj" fmla="val 50000"/>
                </a:avLst>
              </a:prstGeom>
              <a:solidFill>
                <a:srgbClr val="E3F2FD"/>
              </a:solidFill>
              <a:ln>
                <a:noFill/>
              </a:ln>
            </p:spPr>
          </p:sp>
          <p:sp>
            <p:nvSpPr>
              <p:cNvPr id="50" name="TextBox 50"/>
              <p:cNvSpPr txBox="1"/>
              <p:nvPr/>
            </p:nvSpPr>
            <p:spPr>
              <a:xfrm>
                <a:off x="10238675" y="4455795"/>
                <a:ext cx="1144400" cy="182880"/>
              </a:xfrm>
              <a:prstGeom prst="rect">
                <a:avLst/>
              </a:prstGeom>
              <a:noFill/>
              <a:ln>
                <a:noFill/>
              </a:ln>
            </p:spPr>
            <p:txBody>
              <a:bodyPr wrap="none" lIns="0" tIns="0" rIns="0" bIns="0" anchor="t" anchorCtr="0">
                <a:spAutoFit/>
              </a:bodyPr>
              <a:lstStyle/>
              <a:p>
                <a:pPr algn="ctr"/>
                <a:r>
                  <a:rPr lang="zh-CN" sz="900" b="1" dirty="0">
                    <a:solidFill>
                      <a:srgbClr val="1565C0"/>
                    </a:solidFill>
                    <a:latin typeface="Cambria"/>
                    <a:ea typeface="SimSun"/>
                    <a:cs typeface="Cambria"/>
                  </a:rPr>
                  <a:t>21-49g vs 100-200g</a:t>
                </a:r>
              </a:p>
            </p:txBody>
          </p:sp>
        </p:grpSp>
        <p:grpSp>
          <p:nvGrpSpPr>
            <p:cNvPr id="59" name="Group 59"/>
            <p:cNvGrpSpPr/>
            <p:nvPr/>
          </p:nvGrpSpPr>
          <p:grpSpPr>
            <a:xfrm>
              <a:off x="571500" y="4905375"/>
              <a:ext cx="11049000" cy="590550"/>
              <a:chOff x="571500" y="4905375"/>
              <a:chExt cx="11049000" cy="590550"/>
            </a:xfrm>
          </p:grpSpPr>
          <p:sp>
            <p:nvSpPr>
              <p:cNvPr id="52" name="Rectangle 52"/>
              <p:cNvSpPr/>
              <p:nvPr/>
            </p:nvSpPr>
            <p:spPr>
              <a:xfrm>
                <a:off x="571500" y="4905375"/>
                <a:ext cx="11049000" cy="590550"/>
              </a:xfrm>
              <a:prstGeom prst="roundRect">
                <a:avLst>
                  <a:gd name="adj" fmla="val 12903"/>
                </a:avLst>
              </a:prstGeom>
              <a:solidFill>
                <a:srgbClr val="F5F7FA"/>
              </a:solidFill>
              <a:ln>
                <a:noFill/>
              </a:ln>
              <a:effectLst>
                <a:outerShdw blurRad="57150" dist="19050" dir="5400000" algn="ctr" rotWithShape="0">
                  <a:srgbClr val="0F172A">
                    <a:alpha val="5250"/>
                  </a:srgbClr>
                </a:outerShdw>
              </a:effectLst>
            </p:spPr>
          </p:sp>
          <p:sp>
            <p:nvSpPr>
              <p:cNvPr id="53" name="Rectangle 53"/>
              <p:cNvSpPr/>
              <p:nvPr/>
            </p:nvSpPr>
            <p:spPr>
              <a:xfrm>
                <a:off x="666750" y="5010150"/>
                <a:ext cx="381000" cy="381000"/>
              </a:xfrm>
              <a:prstGeom prst="roundRect">
                <a:avLst>
                  <a:gd name="adj" fmla="val 50000"/>
                </a:avLst>
              </a:prstGeom>
              <a:gradFill>
                <a:gsLst>
                  <a:gs pos="0">
                    <a:srgbClr val="1565C0"/>
                  </a:gs>
                  <a:gs pos="100000">
                    <a:srgbClr val="5C6BC0"/>
                  </a:gs>
                </a:gsLst>
                <a:lin ang="2700000" scaled="1"/>
              </a:gradFill>
              <a:ln>
                <a:noFill/>
              </a:ln>
            </p:spPr>
          </p:sp>
          <p:sp>
            <p:nvSpPr>
              <p:cNvPr id="54" name="TextBox 54"/>
              <p:cNvSpPr txBox="1"/>
              <p:nvPr/>
            </p:nvSpPr>
            <p:spPr>
              <a:xfrm>
                <a:off x="788124" y="51215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6</a:t>
                </a:r>
              </a:p>
            </p:txBody>
          </p:sp>
          <p:sp>
            <p:nvSpPr>
              <p:cNvPr id="55" name="TextBox 55"/>
              <p:cNvSpPr txBox="1"/>
              <p:nvPr/>
            </p:nvSpPr>
            <p:spPr>
              <a:xfrm>
                <a:off x="1176338" y="5050631"/>
                <a:ext cx="1603772"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精简融合优于复杂融合</a:t>
                </a:r>
              </a:p>
            </p:txBody>
          </p:sp>
          <p:sp>
            <p:nvSpPr>
              <p:cNvPr id="56" name="TextBox 56"/>
              <p:cNvSpPr txBox="1"/>
              <p:nvPr/>
            </p:nvSpPr>
            <p:spPr>
              <a:xfrm>
                <a:off x="1179195" y="5265420"/>
                <a:ext cx="4715447"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Exp3 加权融合 49.43g 优于 Exp4 MLP 学习融合 79.20g — 剔除劣质模块胜过堆叠融合层</a:t>
                </a:r>
              </a:p>
            </p:txBody>
          </p:sp>
          <p:sp>
            <p:nvSpPr>
              <p:cNvPr id="57" name="Rectangle 57"/>
              <p:cNvSpPr/>
              <p:nvPr/>
            </p:nvSpPr>
            <p:spPr>
              <a:xfrm>
                <a:off x="10096500" y="5067300"/>
                <a:ext cx="1428750" cy="266700"/>
              </a:xfrm>
              <a:prstGeom prst="roundRect">
                <a:avLst>
                  <a:gd name="adj" fmla="val 50000"/>
                </a:avLst>
              </a:prstGeom>
              <a:solidFill>
                <a:srgbClr val="E3F2FD"/>
              </a:solidFill>
              <a:ln>
                <a:noFill/>
              </a:ln>
            </p:spPr>
          </p:sp>
          <p:sp>
            <p:nvSpPr>
              <p:cNvPr id="58" name="TextBox 58"/>
              <p:cNvSpPr txBox="1"/>
              <p:nvPr/>
            </p:nvSpPr>
            <p:spPr>
              <a:xfrm>
                <a:off x="10380443" y="5141595"/>
                <a:ext cx="860865" cy="182880"/>
              </a:xfrm>
              <a:prstGeom prst="rect">
                <a:avLst/>
              </a:prstGeom>
              <a:noFill/>
              <a:ln>
                <a:noFill/>
              </a:ln>
            </p:spPr>
            <p:txBody>
              <a:bodyPr wrap="none" lIns="0" tIns="0" rIns="0" bIns="0" anchor="t" anchorCtr="0">
                <a:spAutoFit/>
              </a:bodyPr>
              <a:lstStyle/>
              <a:p>
                <a:pPr algn="ctr"/>
                <a:r>
                  <a:rPr lang="zh-CN" sz="900" b="1" dirty="0">
                    <a:solidFill>
                      <a:srgbClr val="1565C0"/>
                    </a:solidFill>
                    <a:latin typeface="Cambria"/>
                    <a:ea typeface="SimSun"/>
                    <a:cs typeface="Cambria"/>
                  </a:rPr>
                  <a:t>49.43 &lt; 79.20</a:t>
                </a:r>
              </a:p>
            </p:txBody>
          </p:sp>
        </p:grpSp>
        <p:grpSp>
          <p:nvGrpSpPr>
            <p:cNvPr id="67" name="Group 67"/>
            <p:cNvGrpSpPr/>
            <p:nvPr/>
          </p:nvGrpSpPr>
          <p:grpSpPr>
            <a:xfrm>
              <a:off x="571500" y="5591175"/>
              <a:ext cx="11049000" cy="590550"/>
              <a:chOff x="571500" y="5591175"/>
              <a:chExt cx="11049000" cy="590550"/>
            </a:xfrm>
          </p:grpSpPr>
          <p:sp>
            <p:nvSpPr>
              <p:cNvPr id="60" name="Rectangle 60"/>
              <p:cNvSpPr/>
              <p:nvPr/>
            </p:nvSpPr>
            <p:spPr>
              <a:xfrm>
                <a:off x="571500" y="5591175"/>
                <a:ext cx="11049000" cy="590550"/>
              </a:xfrm>
              <a:prstGeom prst="roundRect">
                <a:avLst>
                  <a:gd name="adj" fmla="val 12903"/>
                </a:avLst>
              </a:prstGeom>
              <a:solidFill>
                <a:srgbClr val="FFFFFF"/>
              </a:solidFill>
              <a:ln>
                <a:noFill/>
              </a:ln>
              <a:effectLst>
                <a:outerShdw blurRad="57150" dist="19050" dir="5400000" algn="ctr" rotWithShape="0">
                  <a:srgbClr val="0F172A">
                    <a:alpha val="5250"/>
                  </a:srgbClr>
                </a:outerShdw>
              </a:effectLst>
            </p:spPr>
          </p:sp>
          <p:sp>
            <p:nvSpPr>
              <p:cNvPr id="61" name="Rectangle 61"/>
              <p:cNvSpPr/>
              <p:nvPr/>
            </p:nvSpPr>
            <p:spPr>
              <a:xfrm>
                <a:off x="666750" y="5695950"/>
                <a:ext cx="381000" cy="381000"/>
              </a:xfrm>
              <a:prstGeom prst="roundRect">
                <a:avLst>
                  <a:gd name="adj" fmla="val 50000"/>
                </a:avLst>
              </a:prstGeom>
              <a:gradFill>
                <a:gsLst>
                  <a:gs pos="0">
                    <a:srgbClr val="1565C0"/>
                  </a:gs>
                  <a:gs pos="100000">
                    <a:srgbClr val="5C6BC0"/>
                  </a:gs>
                </a:gsLst>
                <a:lin ang="2700000" scaled="1"/>
              </a:gradFill>
              <a:ln>
                <a:noFill/>
              </a:ln>
            </p:spPr>
          </p:sp>
          <p:sp>
            <p:nvSpPr>
              <p:cNvPr id="62" name="TextBox 62"/>
              <p:cNvSpPr txBox="1"/>
              <p:nvPr/>
            </p:nvSpPr>
            <p:spPr>
              <a:xfrm>
                <a:off x="788124" y="58073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7</a:t>
                </a:r>
              </a:p>
            </p:txBody>
          </p:sp>
          <p:sp>
            <p:nvSpPr>
              <p:cNvPr id="63" name="TextBox 63"/>
              <p:cNvSpPr txBox="1"/>
              <p:nvPr/>
            </p:nvSpPr>
            <p:spPr>
              <a:xfrm>
                <a:off x="1176338" y="5736431"/>
                <a:ext cx="2076331"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多级分割策略保证系统鲁棒性</a:t>
                </a:r>
              </a:p>
            </p:txBody>
          </p:sp>
          <p:sp>
            <p:nvSpPr>
              <p:cNvPr id="64" name="TextBox 64"/>
              <p:cNvSpPr txBox="1"/>
              <p:nvPr/>
            </p:nvSpPr>
            <p:spPr>
              <a:xfrm>
                <a:off x="1179195" y="5951220"/>
                <a:ext cx="4517422"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YOLO 检测 → SAM 精分割 → OpenCV 兜底 → 网格切分 — 多级降级策略保证端到端可用</a:t>
                </a:r>
              </a:p>
            </p:txBody>
          </p:sp>
          <p:sp>
            <p:nvSpPr>
              <p:cNvPr id="65" name="Rectangle 65"/>
              <p:cNvSpPr/>
              <p:nvPr/>
            </p:nvSpPr>
            <p:spPr>
              <a:xfrm>
                <a:off x="10096500" y="5753100"/>
                <a:ext cx="1428750" cy="266700"/>
              </a:xfrm>
              <a:prstGeom prst="roundRect">
                <a:avLst>
                  <a:gd name="adj" fmla="val 50000"/>
                </a:avLst>
              </a:prstGeom>
              <a:solidFill>
                <a:srgbClr val="E3F2FD"/>
              </a:solidFill>
              <a:ln>
                <a:noFill/>
              </a:ln>
            </p:spPr>
          </p:sp>
          <p:sp>
            <p:nvSpPr>
              <p:cNvPr id="66" name="TextBox 66"/>
              <p:cNvSpPr txBox="1"/>
              <p:nvPr/>
            </p:nvSpPr>
            <p:spPr>
              <a:xfrm>
                <a:off x="10556865" y="5827395"/>
                <a:ext cx="508021" cy="182880"/>
              </a:xfrm>
              <a:prstGeom prst="rect">
                <a:avLst/>
              </a:prstGeom>
              <a:noFill/>
              <a:ln>
                <a:noFill/>
              </a:ln>
            </p:spPr>
            <p:txBody>
              <a:bodyPr wrap="none" lIns="0" tIns="0" rIns="0" bIns="0" anchor="t" anchorCtr="0">
                <a:spAutoFit/>
              </a:bodyPr>
              <a:lstStyle/>
              <a:p>
                <a:pPr algn="ctr"/>
                <a:r>
                  <a:rPr lang="zh-CN" sz="900" b="1" dirty="0">
                    <a:solidFill>
                      <a:srgbClr val="1565C0"/>
                    </a:solidFill>
                    <a:latin typeface="Cambria"/>
                    <a:ea typeface="SimSun"/>
                    <a:cs typeface="Cambria"/>
                  </a:rPr>
                  <a:t>4 级降级</a:t>
                </a:r>
              </a:p>
            </p:txBody>
          </p:sp>
        </p:grpSp>
      </p:grpSp>
      <p:grpSp>
        <p:nvGrpSpPr>
          <p:cNvPr id="70" name="Group 70"/>
          <p:cNvGrpSpPr/>
          <p:nvPr/>
        </p:nvGrpSpPr>
        <p:grpSpPr>
          <a:xfrm>
            <a:off x="559118" y="6181249"/>
            <a:ext cx="3385685" cy="198120"/>
            <a:chOff x="559118" y="6181249"/>
            <a:chExt cx="3385685" cy="198120"/>
          </a:xfrm>
        </p:grpSpPr>
        <p:sp>
          <p:nvSpPr>
            <p:cNvPr id="69" name="TextBox 69"/>
            <p:cNvSpPr txBox="1"/>
            <p:nvPr/>
          </p:nvSpPr>
          <p:spPr>
            <a:xfrm>
              <a:off x="559118" y="6181249"/>
              <a:ext cx="3385685" cy="198120"/>
            </a:xfrm>
            <a:prstGeom prst="rect">
              <a:avLst/>
            </a:prstGeom>
            <a:noFill/>
            <a:ln>
              <a:noFill/>
            </a:ln>
          </p:spPr>
          <p:txBody>
            <a:bodyPr wrap="none" lIns="0" tIns="0" rIns="0" bIns="0" anchor="t" anchorCtr="0">
              <a:spAutoFit/>
            </a:bodyPr>
            <a:lstStyle/>
            <a:p>
              <a:pPr algn="l"/>
              <a:r>
                <a:rPr lang="zh-CN" sz="975" i="1" dirty="0">
                  <a:solidFill>
                    <a:srgbClr val="5F6368"/>
                  </a:solidFill>
                  <a:latin typeface="Cambria"/>
                  <a:ea typeface="SimSun"/>
                  <a:cs typeface="Cambria"/>
                </a:rPr>
                <a:t>从识别 → 分量 → 系统集成,研究产出贯穿端到端方法学链路</a:t>
              </a:r>
            </a:p>
          </p:txBody>
        </p:sp>
      </p:grpSp>
      <p:sp>
        <p:nvSpPr>
          <p:cNvPr id="71" name="TextBox 71"/>
          <p:cNvSpPr txBox="1"/>
          <p:nvPr/>
        </p:nvSpPr>
        <p:spPr>
          <a:xfrm>
            <a:off x="561022" y="6578441"/>
            <a:ext cx="3145621"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6 · Core Conclusions</a:t>
            </a:r>
          </a:p>
        </p:txBody>
      </p:sp>
      <p:sp>
        <p:nvSpPr>
          <p:cNvPr id="72" name="TextBox 72"/>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27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400"/>
                                        <p:tgtEl>
                                          <p:spTgt spid="1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68"/>
                                        </p:tgtEl>
                                        <p:attrNameLst>
                                          <p:attrName>style.visibility</p:attrName>
                                        </p:attrNameLst>
                                      </p:cBhvr>
                                      <p:to>
                                        <p:strVal val="visible"/>
                                      </p:to>
                                    </p:set>
                                    <p:animEffect transition="in" filter="fade">
                                      <p:cBhvr>
                                        <p:cTn id="11" dur="400"/>
                                        <p:tgtEl>
                                          <p:spTgt spid="6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fade">
                                      <p:cBhvr>
                                        <p:cTn id="1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8" grpId="0"/>
      <p:bldP spid="7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0953750" cy="685800"/>
            <a:chOff x="571500" y="457200"/>
            <a:chExt cx="10953750" cy="685800"/>
          </a:xfrm>
        </p:grpSpPr>
        <p:sp>
          <p:nvSpPr>
            <p:cNvPr id="3" name="Rectangle 3"/>
            <p:cNvSpPr/>
            <p:nvPr/>
          </p:nvSpPr>
          <p:spPr>
            <a:xfrm>
              <a:off x="571500" y="457200"/>
              <a:ext cx="57150" cy="381000"/>
            </a:xfrm>
            <a:prstGeom prst="roundRect">
              <a:avLst>
                <a:gd name="adj" fmla="val 50000"/>
              </a:avLst>
            </a:prstGeom>
            <a:solidFill>
              <a:srgbClr val="2E7D32"/>
            </a:solidFill>
            <a:ln>
              <a:noFill/>
            </a:ln>
          </p:spPr>
        </p:sp>
        <p:sp>
          <p:nvSpPr>
            <p:cNvPr id="4" name="TextBox 4"/>
            <p:cNvSpPr txBox="1"/>
            <p:nvPr/>
          </p:nvSpPr>
          <p:spPr>
            <a:xfrm>
              <a:off x="733425" y="500062"/>
              <a:ext cx="3884878"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实验全景汇总 · 端到端成果</a:t>
              </a:r>
            </a:p>
          </p:txBody>
        </p:sp>
        <p:sp>
          <p:nvSpPr>
            <p:cNvPr id="5" name="TextBox 5"/>
            <p:cNvSpPr txBox="1"/>
            <p:nvPr/>
          </p:nvSpPr>
          <p:spPr>
            <a:xfrm>
              <a:off x="748665" y="896302"/>
              <a:ext cx="4282852"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CHAPTER 6 · END-TO-END PANORAMA · FOUR PROBLEMS UNIFIED</a:t>
              </a:r>
            </a:p>
          </p:txBody>
        </p:sp>
        <p:grpSp>
          <p:nvGrpSpPr>
            <p:cNvPr id="9" name="Group 9"/>
            <p:cNvGrpSpPr/>
            <p:nvPr/>
          </p:nvGrpSpPr>
          <p:grpSpPr>
            <a:xfrm>
              <a:off x="9620250" y="571500"/>
              <a:ext cx="1905000" cy="571500"/>
              <a:chOff x="9620250" y="571500"/>
              <a:chExt cx="1905000" cy="571500"/>
            </a:xfrm>
          </p:grpSpPr>
          <p:sp>
            <p:nvSpPr>
              <p:cNvPr id="6" name="Rectangle 6"/>
              <p:cNvSpPr/>
              <p:nvPr/>
            </p:nvSpPr>
            <p:spPr>
              <a:xfrm>
                <a:off x="9620250" y="571500"/>
                <a:ext cx="1905000" cy="571500"/>
              </a:xfrm>
              <a:prstGeom prst="roundRect">
                <a:avLst>
                  <a:gd name="adj" fmla="val 16667"/>
                </a:avLst>
              </a:prstGeom>
              <a:solidFill>
                <a:srgbClr val="E8F5E9"/>
              </a:solidFill>
              <a:ln>
                <a:noFill/>
              </a:ln>
            </p:spPr>
          </p:sp>
          <p:sp>
            <p:nvSpPr>
              <p:cNvPr id="7" name="TextBox 7"/>
              <p:cNvSpPr txBox="1"/>
              <p:nvPr/>
            </p:nvSpPr>
            <p:spPr>
              <a:xfrm>
                <a:off x="9908199" y="692468"/>
                <a:ext cx="1329102" cy="274320"/>
              </a:xfrm>
              <a:prstGeom prst="rect">
                <a:avLst/>
              </a:prstGeom>
              <a:noFill/>
              <a:ln>
                <a:noFill/>
              </a:ln>
            </p:spPr>
            <p:txBody>
              <a:bodyPr wrap="none" lIns="0" tIns="0" rIns="0" bIns="0" anchor="t" anchorCtr="0">
                <a:spAutoFit/>
              </a:bodyPr>
              <a:lstStyle/>
              <a:p>
                <a:pPr algn="ctr"/>
                <a:r>
                  <a:rPr lang="zh-CN" sz="1350" b="1" dirty="0">
                    <a:solidFill>
                      <a:srgbClr val="2E7D32"/>
                    </a:solidFill>
                    <a:latin typeface="Cambria"/>
                    <a:ea typeface="SimSun"/>
                    <a:cs typeface="Cambria"/>
                  </a:rPr>
                  <a:t>4 问题 · 4 方案</a:t>
                </a:r>
              </a:p>
            </p:txBody>
          </p:sp>
          <p:sp>
            <p:nvSpPr>
              <p:cNvPr id="8" name="TextBox 8"/>
              <p:cNvSpPr txBox="1"/>
              <p:nvPr/>
            </p:nvSpPr>
            <p:spPr>
              <a:xfrm>
                <a:off x="10030906" y="958691"/>
                <a:ext cx="1083688"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UNIFIED FRAMEWORK</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sp>
        <p:nvSpPr>
          <p:cNvPr id="12" name="TextBox 12"/>
          <p:cNvSpPr txBox="1"/>
          <p:nvPr/>
        </p:nvSpPr>
        <p:spPr>
          <a:xfrm>
            <a:off x="3971901" y="1505902"/>
            <a:ext cx="4248198" cy="213360"/>
          </a:xfrm>
          <a:prstGeom prst="rect">
            <a:avLst/>
          </a:prstGeom>
          <a:noFill/>
          <a:ln>
            <a:noFill/>
          </a:ln>
        </p:spPr>
        <p:txBody>
          <a:bodyPr wrap="none" lIns="0" tIns="0" rIns="0" bIns="0" anchor="t" anchorCtr="0">
            <a:spAutoFit/>
          </a:bodyPr>
          <a:lstStyle/>
          <a:p>
            <a:pPr algn="ctr"/>
            <a:r>
              <a:rPr lang="zh-CN" sz="1050" dirty="0">
                <a:solidFill>
                  <a:srgbClr val="5F6368"/>
                </a:solidFill>
                <a:latin typeface="Arial"/>
                <a:ea typeface="Microsoft YaHei"/>
                <a:cs typeface="Arial"/>
              </a:rPr>
              <a:t>从食物识别到智能问答 · 4 个递进问题对应 4 项最佳方案及价值产出</a:t>
            </a:r>
          </a:p>
        </p:txBody>
      </p:sp>
      <p:grpSp>
        <p:nvGrpSpPr>
          <p:cNvPr id="91" name="Group 91"/>
          <p:cNvGrpSpPr/>
          <p:nvPr/>
        </p:nvGrpSpPr>
        <p:grpSpPr>
          <a:xfrm>
            <a:off x="571500" y="1809750"/>
            <a:ext cx="11049000" cy="4410075"/>
            <a:chOff x="571500" y="1809750"/>
            <a:chExt cx="11049000" cy="4410075"/>
          </a:xfrm>
        </p:grpSpPr>
        <p:sp>
          <p:nvSpPr>
            <p:cNvPr id="13" name="Rectangle 13"/>
            <p:cNvSpPr/>
            <p:nvPr/>
          </p:nvSpPr>
          <p:spPr>
            <a:xfrm>
              <a:off x="571500" y="1809750"/>
              <a:ext cx="11049000" cy="523875"/>
            </a:xfrm>
            <a:prstGeom prst="roundRect">
              <a:avLst>
                <a:gd name="adj" fmla="val 14545"/>
              </a:avLst>
            </a:prstGeom>
            <a:gradFill>
              <a:gsLst>
                <a:gs pos="0">
                  <a:srgbClr val="1565C0"/>
                </a:gs>
                <a:gs pos="100000">
                  <a:srgbClr val="5C6BC0"/>
                </a:gs>
              </a:gsLst>
              <a:lin ang="0" scaled="1"/>
            </a:gradFill>
            <a:ln>
              <a:noFill/>
            </a:ln>
          </p:spPr>
        </p:sp>
        <p:sp>
          <p:nvSpPr>
            <p:cNvPr id="14" name="TextBox 14"/>
            <p:cNvSpPr txBox="1"/>
            <p:nvPr/>
          </p:nvSpPr>
          <p:spPr>
            <a:xfrm>
              <a:off x="1363647" y="202025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问题</a:t>
              </a:r>
            </a:p>
          </p:txBody>
        </p:sp>
        <p:sp>
          <p:nvSpPr>
            <p:cNvPr id="15" name="TextBox 15"/>
            <p:cNvSpPr txBox="1"/>
            <p:nvPr/>
          </p:nvSpPr>
          <p:spPr>
            <a:xfrm>
              <a:off x="3312128" y="202025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最佳方案</a:t>
              </a:r>
            </a:p>
          </p:txBody>
        </p:sp>
        <p:sp>
          <p:nvSpPr>
            <p:cNvPr id="16" name="TextBox 16"/>
            <p:cNvSpPr txBox="1"/>
            <p:nvPr/>
          </p:nvSpPr>
          <p:spPr>
            <a:xfrm>
              <a:off x="5979128" y="202025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核心指标</a:t>
              </a:r>
            </a:p>
          </p:txBody>
        </p:sp>
        <p:sp>
          <p:nvSpPr>
            <p:cNvPr id="17" name="TextBox 17"/>
            <p:cNvSpPr txBox="1"/>
            <p:nvPr/>
          </p:nvSpPr>
          <p:spPr>
            <a:xfrm>
              <a:off x="8741378" y="202025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研究价值</a:t>
              </a:r>
            </a:p>
          </p:txBody>
        </p:sp>
        <p:sp>
          <p:nvSpPr>
            <p:cNvPr id="18" name="Rectangle 18"/>
            <p:cNvSpPr/>
            <p:nvPr/>
          </p:nvSpPr>
          <p:spPr>
            <a:xfrm>
              <a:off x="571500" y="2428875"/>
              <a:ext cx="11049000" cy="904875"/>
            </a:xfrm>
            <a:prstGeom prst="roundRect">
              <a:avLst>
                <a:gd name="adj" fmla="val 6316"/>
              </a:avLst>
            </a:prstGeom>
            <a:solidFill>
              <a:srgbClr val="E3F2FD"/>
            </a:solidFill>
            <a:ln>
              <a:noFill/>
            </a:ln>
          </p:spPr>
        </p:sp>
        <p:sp>
          <p:nvSpPr>
            <p:cNvPr id="19" name="Rectangle 19"/>
            <p:cNvSpPr/>
            <p:nvPr/>
          </p:nvSpPr>
          <p:spPr>
            <a:xfrm>
              <a:off x="762000" y="2686050"/>
              <a:ext cx="571500" cy="381000"/>
            </a:xfrm>
            <a:prstGeom prst="roundRect">
              <a:avLst>
                <a:gd name="adj" fmla="val 20000"/>
              </a:avLst>
            </a:prstGeom>
            <a:solidFill>
              <a:srgbClr val="1565C0"/>
            </a:solidFill>
            <a:ln>
              <a:noFill/>
            </a:ln>
          </p:spPr>
        </p:sp>
        <p:sp>
          <p:nvSpPr>
            <p:cNvPr id="20" name="TextBox 20"/>
            <p:cNvSpPr txBox="1"/>
            <p:nvPr/>
          </p:nvSpPr>
          <p:spPr>
            <a:xfrm>
              <a:off x="963696" y="2809399"/>
              <a:ext cx="16810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ambria"/>
                  <a:ea typeface="SimSun"/>
                  <a:cs typeface="Cambria"/>
                </a:rPr>
                <a:t>Q1</a:t>
              </a:r>
            </a:p>
          </p:txBody>
        </p:sp>
        <p:sp>
          <p:nvSpPr>
            <p:cNvPr id="21" name="TextBox 21"/>
            <p:cNvSpPr txBox="1"/>
            <p:nvPr/>
          </p:nvSpPr>
          <p:spPr>
            <a:xfrm>
              <a:off x="1509712" y="2640806"/>
              <a:ext cx="658654"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食物识别</a:t>
              </a:r>
            </a:p>
          </p:txBody>
        </p:sp>
        <p:sp>
          <p:nvSpPr>
            <p:cNvPr id="22" name="TextBox 22"/>
            <p:cNvSpPr txBox="1"/>
            <p:nvPr/>
          </p:nvSpPr>
          <p:spPr>
            <a:xfrm>
              <a:off x="1512570" y="2893695"/>
              <a:ext cx="982980"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零样本细粒度分类</a:t>
              </a:r>
            </a:p>
          </p:txBody>
        </p:sp>
        <p:sp>
          <p:nvSpPr>
            <p:cNvPr id="23" name="TextBox 23"/>
            <p:cNvSpPr txBox="1"/>
            <p:nvPr/>
          </p:nvSpPr>
          <p:spPr>
            <a:xfrm>
              <a:off x="1513522" y="3073241"/>
              <a:ext cx="1203603" cy="167640"/>
            </a:xfrm>
            <a:prstGeom prst="rect">
              <a:avLst/>
            </a:prstGeom>
            <a:noFill/>
            <a:ln>
              <a:noFill/>
            </a:ln>
          </p:spPr>
          <p:txBody>
            <a:bodyPr wrap="none" lIns="0" tIns="0" rIns="0" bIns="0" anchor="t" anchorCtr="0">
              <a:spAutoFit/>
            </a:bodyPr>
            <a:lstStyle/>
            <a:p>
              <a:pPr algn="l"/>
              <a:r>
                <a:rPr lang="zh-CN" sz="825" dirty="0">
                  <a:solidFill>
                    <a:srgbClr val="9AA0A6"/>
                  </a:solidFill>
                  <a:latin typeface="Arial"/>
                  <a:ea typeface="Microsoft YaHei"/>
                  <a:cs typeface="Arial"/>
                </a:rPr>
                <a:t>MM-Food-100K 前 55 类</a:t>
              </a:r>
            </a:p>
          </p:txBody>
        </p:sp>
        <p:sp>
          <p:nvSpPr>
            <p:cNvPr id="24" name="TextBox 24"/>
            <p:cNvSpPr txBox="1"/>
            <p:nvPr/>
          </p:nvSpPr>
          <p:spPr>
            <a:xfrm>
              <a:off x="2844165" y="2648902"/>
              <a:ext cx="1496854" cy="213360"/>
            </a:xfrm>
            <a:prstGeom prst="rect">
              <a:avLst/>
            </a:prstGeom>
            <a:noFill/>
            <a:ln>
              <a:noFill/>
            </a:ln>
          </p:spPr>
          <p:txBody>
            <a:bodyPr wrap="none" lIns="0" tIns="0" rIns="0" bIns="0" anchor="t" anchorCtr="0">
              <a:spAutoFit/>
            </a:bodyPr>
            <a:lstStyle/>
            <a:p>
              <a:pPr algn="l"/>
              <a:r>
                <a:rPr lang="zh-CN" sz="1050" b="1" dirty="0">
                  <a:solidFill>
                    <a:srgbClr val="1565C0"/>
                  </a:solidFill>
                  <a:latin typeface="Arial"/>
                  <a:ea typeface="Microsoft YaHei"/>
                  <a:cs typeface="Arial"/>
                </a:rPr>
                <a:t>English-CLIP + 检测器</a:t>
              </a:r>
            </a:p>
          </p:txBody>
        </p:sp>
        <p:sp>
          <p:nvSpPr>
            <p:cNvPr id="25" name="TextBox 25"/>
            <p:cNvSpPr txBox="1"/>
            <p:nvPr/>
          </p:nvSpPr>
          <p:spPr>
            <a:xfrm>
              <a:off x="2844165" y="2877502"/>
              <a:ext cx="732358" cy="213360"/>
            </a:xfrm>
            <a:prstGeom prst="rect">
              <a:avLst/>
            </a:prstGeom>
            <a:noFill/>
            <a:ln>
              <a:noFill/>
            </a:ln>
          </p:spPr>
          <p:txBody>
            <a:bodyPr wrap="none" lIns="0" tIns="0" rIns="0" bIns="0" anchor="t" anchorCtr="0">
              <a:spAutoFit/>
            </a:bodyPr>
            <a:lstStyle/>
            <a:p>
              <a:pPr algn="l"/>
              <a:r>
                <a:rPr lang="zh-CN" sz="1050" b="1" dirty="0">
                  <a:solidFill>
                    <a:srgbClr val="1565C0"/>
                  </a:solidFill>
                  <a:latin typeface="Arial"/>
                  <a:ea typeface="Microsoft YaHei"/>
                  <a:cs typeface="Arial"/>
                </a:rPr>
                <a:t>+ CoT 推理</a:t>
              </a:r>
            </a:p>
          </p:txBody>
        </p:sp>
        <p:sp>
          <p:nvSpPr>
            <p:cNvPr id="26" name="TextBox 26"/>
            <p:cNvSpPr txBox="1"/>
            <p:nvPr/>
          </p:nvSpPr>
          <p:spPr>
            <a:xfrm>
              <a:off x="2847022" y="3073241"/>
              <a:ext cx="1390626"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OWL-ViT 检测 + 思维链验证</a:t>
              </a:r>
            </a:p>
          </p:txBody>
        </p:sp>
        <p:sp>
          <p:nvSpPr>
            <p:cNvPr id="27" name="TextBox 27"/>
            <p:cNvSpPr txBox="1"/>
            <p:nvPr/>
          </p:nvSpPr>
          <p:spPr>
            <a:xfrm>
              <a:off x="5507355" y="2616518"/>
              <a:ext cx="1187334" cy="274320"/>
            </a:xfrm>
            <a:prstGeom prst="rect">
              <a:avLst/>
            </a:prstGeom>
            <a:noFill/>
            <a:ln>
              <a:noFill/>
            </a:ln>
          </p:spPr>
          <p:txBody>
            <a:bodyPr wrap="none" lIns="0" tIns="0" rIns="0" bIns="0" anchor="t" anchorCtr="0">
              <a:spAutoFit/>
            </a:bodyPr>
            <a:lstStyle/>
            <a:p>
              <a:pPr algn="l"/>
              <a:r>
                <a:rPr lang="zh-CN" sz="1350" b="1" dirty="0">
                  <a:solidFill>
                    <a:srgbClr val="2E7D32"/>
                  </a:solidFill>
                  <a:latin typeface="Cambria"/>
                  <a:ea typeface="SimSun"/>
                  <a:cs typeface="Cambria"/>
                </a:rPr>
                <a:t>Top-1 68.64%</a:t>
              </a:r>
            </a:p>
          </p:txBody>
        </p:sp>
        <p:sp>
          <p:nvSpPr>
            <p:cNvPr id="28" name="TextBox 28"/>
            <p:cNvSpPr txBox="1"/>
            <p:nvPr/>
          </p:nvSpPr>
          <p:spPr>
            <a:xfrm>
              <a:off x="5512118" y="2885599"/>
              <a:ext cx="891648"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Cambria"/>
                  <a:ea typeface="SimSun"/>
                  <a:cs typeface="Cambria"/>
                </a:rPr>
                <a:t>Top-5 95.00%</a:t>
              </a:r>
            </a:p>
          </p:txBody>
        </p:sp>
        <p:sp>
          <p:nvSpPr>
            <p:cNvPr id="29" name="TextBox 29"/>
            <p:cNvSpPr txBox="1"/>
            <p:nvPr/>
          </p:nvSpPr>
          <p:spPr>
            <a:xfrm>
              <a:off x="5514022" y="3073241"/>
              <a:ext cx="571024"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双指标达标</a:t>
              </a:r>
            </a:p>
          </p:txBody>
        </p:sp>
        <p:sp>
          <p:nvSpPr>
            <p:cNvPr id="30" name="Rectangle 30"/>
            <p:cNvSpPr/>
            <p:nvPr/>
          </p:nvSpPr>
          <p:spPr>
            <a:xfrm>
              <a:off x="8382000" y="2619375"/>
              <a:ext cx="1333500" cy="533400"/>
            </a:xfrm>
            <a:prstGeom prst="roundRect">
              <a:avLst>
                <a:gd name="adj" fmla="val 14286"/>
              </a:avLst>
            </a:prstGeom>
            <a:solidFill>
              <a:srgbClr val="FFFFFF"/>
            </a:solidFill>
            <a:ln>
              <a:noFill/>
            </a:ln>
          </p:spPr>
        </p:sp>
        <p:grpSp>
          <p:nvGrpSpPr>
            <p:cNvPr id="33" name="Group 33"/>
            <p:cNvGrpSpPr/>
            <p:nvPr/>
          </p:nvGrpSpPr>
          <p:grpSpPr>
            <a:xfrm>
              <a:off x="8558212" y="2790825"/>
              <a:ext cx="142875" cy="95250"/>
              <a:chOff x="8558212" y="2790825"/>
              <a:chExt cx="142875" cy="95250"/>
            </a:xfrm>
          </p:grpSpPr>
          <p:sp>
            <p:nvSpPr>
              <p:cNvPr id="31" name="Freeform 31"/>
              <p:cNvSpPr/>
              <p:nvPr/>
            </p:nvSpPr>
            <p:spPr>
              <a:xfrm>
                <a:off x="8613775" y="282257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1565C0"/>
                </a:solidFill>
              </a:ln>
            </p:spPr>
          </p:sp>
          <p:sp>
            <p:nvSpPr>
              <p:cNvPr id="32" name="Freeform 32"/>
              <p:cNvSpPr/>
              <p:nvPr/>
            </p:nvSpPr>
            <p:spPr>
              <a:xfrm>
                <a:off x="8558212" y="2790825"/>
                <a:ext cx="142875" cy="95250"/>
              </a:xfrm>
              <a:custGeom>
                <a:avLst/>
                <a:gdLst/>
                <a:ahLst/>
                <a:cxnLst/>
                <a:rect l="l" t="t" r="r" b="b"/>
                <a:pathLst>
                  <a:path w="142875" h="95250">
                    <a:moveTo>
                      <a:pt x="142875" y="47625"/>
                    </a:moveTo>
                    <a:cubicBezTo>
                      <a:pt x="123825" y="79375"/>
                      <a:pt x="100012" y="95250"/>
                      <a:pt x="71438" y="95250"/>
                    </a:cubicBezTo>
                    <a:cubicBezTo>
                      <a:pt x="42862" y="95250"/>
                      <a:pt x="19050" y="79375"/>
                      <a:pt x="0" y="47625"/>
                    </a:cubicBezTo>
                    <a:cubicBezTo>
                      <a:pt x="19050" y="15875"/>
                      <a:pt x="42862" y="0"/>
                      <a:pt x="71438" y="0"/>
                    </a:cubicBezTo>
                    <a:cubicBezTo>
                      <a:pt x="100012" y="0"/>
                      <a:pt x="123825" y="15875"/>
                      <a:pt x="142875" y="47625"/>
                    </a:cubicBezTo>
                  </a:path>
                </a:pathLst>
              </a:custGeom>
              <a:noFill/>
              <a:ln w="19050">
                <a:solidFill>
                  <a:srgbClr val="1565C0"/>
                </a:solidFill>
              </a:ln>
            </p:spPr>
          </p:sp>
        </p:grpSp>
        <p:sp>
          <p:nvSpPr>
            <p:cNvPr id="34" name="TextBox 34"/>
            <p:cNvSpPr txBox="1"/>
            <p:nvPr/>
          </p:nvSpPr>
          <p:spPr>
            <a:xfrm>
              <a:off x="8789670" y="2779395"/>
              <a:ext cx="778955" cy="182880"/>
            </a:xfrm>
            <a:prstGeom prst="rect">
              <a:avLst/>
            </a:prstGeom>
            <a:noFill/>
            <a:ln>
              <a:noFill/>
            </a:ln>
          </p:spPr>
          <p:txBody>
            <a:bodyPr wrap="none" lIns="0" tIns="0" rIns="0" bIns="0" anchor="t" anchorCtr="0">
              <a:spAutoFit/>
            </a:bodyPr>
            <a:lstStyle/>
            <a:p>
              <a:pPr algn="l"/>
              <a:r>
                <a:rPr lang="zh-CN" sz="900" b="1" dirty="0">
                  <a:solidFill>
                    <a:srgbClr val="1A1A1A"/>
                  </a:solidFill>
                  <a:latin typeface="Arial"/>
                  <a:ea typeface="Microsoft YaHei"/>
                  <a:cs typeface="Arial"/>
                </a:rPr>
                <a:t>视觉语言模型</a:t>
              </a:r>
            </a:p>
          </p:txBody>
        </p:sp>
        <p:sp>
          <p:nvSpPr>
            <p:cNvPr id="35" name="TextBox 35"/>
            <p:cNvSpPr txBox="1"/>
            <p:nvPr/>
          </p:nvSpPr>
          <p:spPr>
            <a:xfrm>
              <a:off x="8790622" y="2958941"/>
              <a:ext cx="901065"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在零样本场景有效</a:t>
              </a:r>
            </a:p>
          </p:txBody>
        </p:sp>
        <p:sp>
          <p:nvSpPr>
            <p:cNvPr id="36" name="Rectangle 36"/>
            <p:cNvSpPr/>
            <p:nvPr/>
          </p:nvSpPr>
          <p:spPr>
            <a:xfrm>
              <a:off x="571500" y="3390900"/>
              <a:ext cx="11049000" cy="904875"/>
            </a:xfrm>
            <a:prstGeom prst="roundRect">
              <a:avLst>
                <a:gd name="adj" fmla="val 6316"/>
              </a:avLst>
            </a:prstGeom>
            <a:solidFill>
              <a:srgbClr val="FFF8E1"/>
            </a:solidFill>
            <a:ln w="14288">
              <a:solidFill>
                <a:srgbClr val="FF8F00"/>
              </a:solidFill>
            </a:ln>
          </p:spPr>
        </p:sp>
        <p:sp>
          <p:nvSpPr>
            <p:cNvPr id="37" name="Rectangle 37"/>
            <p:cNvSpPr/>
            <p:nvPr/>
          </p:nvSpPr>
          <p:spPr>
            <a:xfrm>
              <a:off x="762000" y="3648075"/>
              <a:ext cx="571500" cy="381000"/>
            </a:xfrm>
            <a:prstGeom prst="roundRect">
              <a:avLst>
                <a:gd name="adj" fmla="val 20000"/>
              </a:avLst>
            </a:prstGeom>
            <a:solidFill>
              <a:srgbClr val="FF8F00"/>
            </a:solidFill>
            <a:ln>
              <a:noFill/>
            </a:ln>
          </p:spPr>
        </p:sp>
        <p:sp>
          <p:nvSpPr>
            <p:cNvPr id="38" name="TextBox 38"/>
            <p:cNvSpPr txBox="1"/>
            <p:nvPr/>
          </p:nvSpPr>
          <p:spPr>
            <a:xfrm>
              <a:off x="946631" y="3771424"/>
              <a:ext cx="20223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ambria"/>
                  <a:ea typeface="SimSun"/>
                  <a:cs typeface="Cambria"/>
                </a:rPr>
                <a:t>Q2</a:t>
              </a:r>
            </a:p>
          </p:txBody>
        </p:sp>
        <p:sp>
          <p:nvSpPr>
            <p:cNvPr id="39" name="TextBox 39"/>
            <p:cNvSpPr txBox="1"/>
            <p:nvPr/>
          </p:nvSpPr>
          <p:spPr>
            <a:xfrm>
              <a:off x="1509712" y="3602831"/>
              <a:ext cx="658654"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分量估计</a:t>
              </a:r>
            </a:p>
          </p:txBody>
        </p:sp>
        <p:sp>
          <p:nvSpPr>
            <p:cNvPr id="40" name="TextBox 40"/>
            <p:cNvSpPr txBox="1"/>
            <p:nvPr/>
          </p:nvSpPr>
          <p:spPr>
            <a:xfrm>
              <a:off x="1512570" y="3855720"/>
              <a:ext cx="808958"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视觉-物理映射</a:t>
              </a:r>
            </a:p>
          </p:txBody>
        </p:sp>
        <p:sp>
          <p:nvSpPr>
            <p:cNvPr id="41" name="TextBox 41"/>
            <p:cNvSpPr txBox="1"/>
            <p:nvPr/>
          </p:nvSpPr>
          <p:spPr>
            <a:xfrm>
              <a:off x="1513522" y="4035266"/>
              <a:ext cx="1038582" cy="167640"/>
            </a:xfrm>
            <a:prstGeom prst="rect">
              <a:avLst/>
            </a:prstGeom>
            <a:noFill/>
            <a:ln>
              <a:noFill/>
            </a:ln>
          </p:spPr>
          <p:txBody>
            <a:bodyPr wrap="none" lIns="0" tIns="0" rIns="0" bIns="0" anchor="t" anchorCtr="0">
              <a:spAutoFit/>
            </a:bodyPr>
            <a:lstStyle/>
            <a:p>
              <a:pPr algn="l"/>
              <a:r>
                <a:rPr lang="zh-CN" sz="825" dirty="0">
                  <a:solidFill>
                    <a:srgbClr val="9AA0A6"/>
                  </a:solidFill>
                  <a:latin typeface="Arial"/>
                  <a:ea typeface="Microsoft YaHei"/>
                  <a:cs typeface="Arial"/>
                </a:rPr>
                <a:t>单张 RGB 估绝对克数</a:t>
              </a:r>
            </a:p>
          </p:txBody>
        </p:sp>
        <p:sp>
          <p:nvSpPr>
            <p:cNvPr id="42" name="TextBox 42"/>
            <p:cNvSpPr txBox="1"/>
            <p:nvPr/>
          </p:nvSpPr>
          <p:spPr>
            <a:xfrm>
              <a:off x="2844165" y="3610928"/>
              <a:ext cx="805867" cy="213360"/>
            </a:xfrm>
            <a:prstGeom prst="rect">
              <a:avLst/>
            </a:prstGeom>
            <a:noFill/>
            <a:ln>
              <a:noFill/>
            </a:ln>
          </p:spPr>
          <p:txBody>
            <a:bodyPr wrap="none" lIns="0" tIns="0" rIns="0" bIns="0" anchor="t" anchorCtr="0">
              <a:spAutoFit/>
            </a:bodyPr>
            <a:lstStyle/>
            <a:p>
              <a:pPr algn="l"/>
              <a:r>
                <a:rPr lang="zh-CN" sz="1050" b="1" dirty="0">
                  <a:solidFill>
                    <a:srgbClr val="FF8F00"/>
                  </a:solidFill>
                  <a:latin typeface="Arial"/>
                  <a:ea typeface="Microsoft YaHei"/>
                  <a:cs typeface="Arial"/>
                </a:rPr>
                <a:t>CalorieCLIP</a:t>
              </a:r>
            </a:p>
          </p:txBody>
        </p:sp>
        <p:sp>
          <p:nvSpPr>
            <p:cNvPr id="43" name="TextBox 43"/>
            <p:cNvSpPr txBox="1"/>
            <p:nvPr/>
          </p:nvSpPr>
          <p:spPr>
            <a:xfrm>
              <a:off x="2844165" y="3839528"/>
              <a:ext cx="739709" cy="213360"/>
            </a:xfrm>
            <a:prstGeom prst="rect">
              <a:avLst/>
            </a:prstGeom>
            <a:noFill/>
            <a:ln>
              <a:noFill/>
            </a:ln>
          </p:spPr>
          <p:txBody>
            <a:bodyPr wrap="none" lIns="0" tIns="0" rIns="0" bIns="0" anchor="t" anchorCtr="0">
              <a:spAutoFit/>
            </a:bodyPr>
            <a:lstStyle/>
            <a:p>
              <a:pPr algn="l"/>
              <a:r>
                <a:rPr lang="zh-CN" sz="1050" b="1" dirty="0">
                  <a:solidFill>
                    <a:srgbClr val="FF8F00"/>
                  </a:solidFill>
                  <a:latin typeface="Arial"/>
                  <a:ea typeface="Microsoft YaHei"/>
                  <a:cs typeface="Arial"/>
                </a:rPr>
                <a:t>+ 类别校准</a:t>
              </a:r>
            </a:p>
          </p:txBody>
        </p:sp>
        <p:sp>
          <p:nvSpPr>
            <p:cNvPr id="44" name="TextBox 44"/>
            <p:cNvSpPr txBox="1"/>
            <p:nvPr/>
          </p:nvSpPr>
          <p:spPr>
            <a:xfrm>
              <a:off x="2847022" y="4035266"/>
              <a:ext cx="1027581"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热量反推 + 线性校准</a:t>
              </a:r>
            </a:p>
          </p:txBody>
        </p:sp>
        <p:sp>
          <p:nvSpPr>
            <p:cNvPr id="45" name="TextBox 45"/>
            <p:cNvSpPr txBox="1"/>
            <p:nvPr/>
          </p:nvSpPr>
          <p:spPr>
            <a:xfrm>
              <a:off x="5507355" y="3578542"/>
              <a:ext cx="1177883" cy="274320"/>
            </a:xfrm>
            <a:prstGeom prst="rect">
              <a:avLst/>
            </a:prstGeom>
            <a:noFill/>
            <a:ln>
              <a:noFill/>
            </a:ln>
          </p:spPr>
          <p:txBody>
            <a:bodyPr wrap="none" lIns="0" tIns="0" rIns="0" bIns="0" anchor="t" anchorCtr="0">
              <a:spAutoFit/>
            </a:bodyPr>
            <a:lstStyle/>
            <a:p>
              <a:pPr algn="l"/>
              <a:r>
                <a:rPr lang="zh-CN" sz="1350" b="1" dirty="0">
                  <a:solidFill>
                    <a:srgbClr val="2E7D32"/>
                  </a:solidFill>
                  <a:latin typeface="Cambria"/>
                  <a:ea typeface="SimSun"/>
                  <a:cs typeface="Cambria"/>
                </a:rPr>
                <a:t>MAE 21.34g ★</a:t>
              </a:r>
            </a:p>
          </p:txBody>
        </p:sp>
        <p:sp>
          <p:nvSpPr>
            <p:cNvPr id="46" name="TextBox 46"/>
            <p:cNvSpPr txBox="1"/>
            <p:nvPr/>
          </p:nvSpPr>
          <p:spPr>
            <a:xfrm>
              <a:off x="5512118" y="3847624"/>
              <a:ext cx="632266"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Cambria"/>
                  <a:ea typeface="SimSun"/>
                  <a:cs typeface="Cambria"/>
                </a:rPr>
                <a:t>RE 14.34%</a:t>
              </a:r>
            </a:p>
          </p:txBody>
        </p:sp>
        <p:sp>
          <p:nvSpPr>
            <p:cNvPr id="47" name="TextBox 47"/>
            <p:cNvSpPr txBox="1"/>
            <p:nvPr/>
          </p:nvSpPr>
          <p:spPr>
            <a:xfrm>
              <a:off x="5514022" y="4035266"/>
              <a:ext cx="1093589"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性能提升 MAE -83.2%</a:t>
              </a:r>
            </a:p>
          </p:txBody>
        </p:sp>
        <p:sp>
          <p:nvSpPr>
            <p:cNvPr id="48" name="Rectangle 48"/>
            <p:cNvSpPr/>
            <p:nvPr/>
          </p:nvSpPr>
          <p:spPr>
            <a:xfrm>
              <a:off x="8382000" y="3581400"/>
              <a:ext cx="1333500" cy="533400"/>
            </a:xfrm>
            <a:prstGeom prst="roundRect">
              <a:avLst>
                <a:gd name="adj" fmla="val 14286"/>
              </a:avLst>
            </a:prstGeom>
            <a:solidFill>
              <a:srgbClr val="FFFFFF"/>
            </a:solidFill>
            <a:ln>
              <a:noFill/>
            </a:ln>
          </p:spPr>
        </p:sp>
        <p:sp>
          <p:nvSpPr>
            <p:cNvPr id="49" name="Freeform 49"/>
            <p:cNvSpPr/>
            <p:nvPr/>
          </p:nvSpPr>
          <p:spPr>
            <a:xfrm>
              <a:off x="8574088" y="3721100"/>
              <a:ext cx="111125" cy="150812"/>
            </a:xfrm>
            <a:custGeom>
              <a:avLst/>
              <a:gdLst/>
              <a:ahLst/>
              <a:cxnLst/>
              <a:rect l="l" t="t" r="r" b="b"/>
              <a:pathLst>
                <a:path w="111125" h="150812">
                  <a:moveTo>
                    <a:pt x="55563" y="70969"/>
                  </a:moveTo>
                  <a:cubicBezTo>
                    <a:pt x="74081" y="44712"/>
                    <a:pt x="56888" y="8874"/>
                    <a:pt x="47625" y="0"/>
                  </a:cubicBezTo>
                  <a:cubicBezTo>
                    <a:pt x="47625" y="26948"/>
                    <a:pt x="29885" y="42061"/>
                    <a:pt x="18518" y="53229"/>
                  </a:cubicBezTo>
                  <a:cubicBezTo>
                    <a:pt x="7168" y="64405"/>
                    <a:pt x="0" y="79375"/>
                    <a:pt x="0" y="97584"/>
                  </a:cubicBezTo>
                  <a:cubicBezTo>
                    <a:pt x="0" y="126984"/>
                    <a:pt x="24876" y="150812"/>
                    <a:pt x="55563" y="150812"/>
                  </a:cubicBezTo>
                  <a:cubicBezTo>
                    <a:pt x="86249" y="150812"/>
                    <a:pt x="111125" y="126984"/>
                    <a:pt x="111125" y="97584"/>
                  </a:cubicBezTo>
                  <a:cubicBezTo>
                    <a:pt x="111125" y="83995"/>
                    <a:pt x="101346" y="62635"/>
                    <a:pt x="92607" y="53229"/>
                  </a:cubicBezTo>
                  <a:cubicBezTo>
                    <a:pt x="76065" y="79843"/>
                    <a:pt x="66754" y="79843"/>
                    <a:pt x="55563" y="70969"/>
                  </a:cubicBezTo>
                </a:path>
              </a:pathLst>
            </a:custGeom>
            <a:noFill/>
            <a:ln w="19050">
              <a:solidFill>
                <a:srgbClr val="FF8F00"/>
              </a:solidFill>
            </a:ln>
          </p:spPr>
        </p:sp>
        <p:sp>
          <p:nvSpPr>
            <p:cNvPr id="50" name="TextBox 50"/>
            <p:cNvSpPr txBox="1"/>
            <p:nvPr/>
          </p:nvSpPr>
          <p:spPr>
            <a:xfrm>
              <a:off x="8789670" y="3741420"/>
              <a:ext cx="778955" cy="182880"/>
            </a:xfrm>
            <a:prstGeom prst="rect">
              <a:avLst/>
            </a:prstGeom>
            <a:noFill/>
            <a:ln>
              <a:noFill/>
            </a:ln>
          </p:spPr>
          <p:txBody>
            <a:bodyPr wrap="none" lIns="0" tIns="0" rIns="0" bIns="0" anchor="t" anchorCtr="0">
              <a:spAutoFit/>
            </a:bodyPr>
            <a:lstStyle/>
            <a:p>
              <a:pPr algn="l"/>
              <a:r>
                <a:rPr lang="zh-CN" sz="900" b="1" dirty="0">
                  <a:solidFill>
                    <a:srgbClr val="1A1A1A"/>
                  </a:solidFill>
                  <a:latin typeface="Arial"/>
                  <a:ea typeface="Microsoft YaHei"/>
                  <a:cs typeface="Arial"/>
                </a:rPr>
                <a:t>热量反推路径</a:t>
              </a:r>
            </a:p>
          </p:txBody>
        </p:sp>
        <p:sp>
          <p:nvSpPr>
            <p:cNvPr id="51" name="TextBox 51"/>
            <p:cNvSpPr txBox="1"/>
            <p:nvPr/>
          </p:nvSpPr>
          <p:spPr>
            <a:xfrm>
              <a:off x="8790622" y="3920966"/>
              <a:ext cx="901065"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突破单目物理限制</a:t>
              </a:r>
            </a:p>
          </p:txBody>
        </p:sp>
        <p:sp>
          <p:nvSpPr>
            <p:cNvPr id="52" name="Rectangle 52"/>
            <p:cNvSpPr/>
            <p:nvPr/>
          </p:nvSpPr>
          <p:spPr>
            <a:xfrm>
              <a:off x="571500" y="4352925"/>
              <a:ext cx="11049000" cy="904875"/>
            </a:xfrm>
            <a:prstGeom prst="roundRect">
              <a:avLst>
                <a:gd name="adj" fmla="val 6316"/>
              </a:avLst>
            </a:prstGeom>
            <a:solidFill>
              <a:srgbClr val="FFFFFF"/>
            </a:solidFill>
            <a:ln>
              <a:noFill/>
            </a:ln>
          </p:spPr>
        </p:sp>
        <p:sp>
          <p:nvSpPr>
            <p:cNvPr id="53" name="Rectangle 53"/>
            <p:cNvSpPr/>
            <p:nvPr/>
          </p:nvSpPr>
          <p:spPr>
            <a:xfrm>
              <a:off x="762000" y="4610100"/>
              <a:ext cx="571500" cy="381000"/>
            </a:xfrm>
            <a:prstGeom prst="roundRect">
              <a:avLst>
                <a:gd name="adj" fmla="val 20000"/>
              </a:avLst>
            </a:prstGeom>
            <a:solidFill>
              <a:srgbClr val="5C6BC0"/>
            </a:solidFill>
            <a:ln>
              <a:noFill/>
            </a:ln>
          </p:spPr>
        </p:sp>
        <p:sp>
          <p:nvSpPr>
            <p:cNvPr id="54" name="TextBox 54"/>
            <p:cNvSpPr txBox="1"/>
            <p:nvPr/>
          </p:nvSpPr>
          <p:spPr>
            <a:xfrm>
              <a:off x="946631" y="4733449"/>
              <a:ext cx="20223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ambria"/>
                  <a:ea typeface="SimSun"/>
                  <a:cs typeface="Cambria"/>
                </a:rPr>
                <a:t>Q3</a:t>
              </a:r>
            </a:p>
          </p:txBody>
        </p:sp>
        <p:sp>
          <p:nvSpPr>
            <p:cNvPr id="55" name="TextBox 55"/>
            <p:cNvSpPr txBox="1"/>
            <p:nvPr/>
          </p:nvSpPr>
          <p:spPr>
            <a:xfrm>
              <a:off x="1509712" y="4564856"/>
              <a:ext cx="816173"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多盘菜分析</a:t>
              </a:r>
            </a:p>
          </p:txBody>
        </p:sp>
        <p:sp>
          <p:nvSpPr>
            <p:cNvPr id="56" name="TextBox 56"/>
            <p:cNvSpPr txBox="1"/>
            <p:nvPr/>
          </p:nvSpPr>
          <p:spPr>
            <a:xfrm>
              <a:off x="1512570" y="4817745"/>
              <a:ext cx="622935"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系统级集成</a:t>
              </a:r>
            </a:p>
          </p:txBody>
        </p:sp>
        <p:sp>
          <p:nvSpPr>
            <p:cNvPr id="57" name="TextBox 57"/>
            <p:cNvSpPr txBox="1"/>
            <p:nvPr/>
          </p:nvSpPr>
          <p:spPr>
            <a:xfrm>
              <a:off x="1513522" y="4997291"/>
              <a:ext cx="1154097" cy="167640"/>
            </a:xfrm>
            <a:prstGeom prst="rect">
              <a:avLst/>
            </a:prstGeom>
            <a:noFill/>
            <a:ln>
              <a:noFill/>
            </a:ln>
          </p:spPr>
          <p:txBody>
            <a:bodyPr wrap="none" lIns="0" tIns="0" rIns="0" bIns="0" anchor="t" anchorCtr="0">
              <a:spAutoFit/>
            </a:bodyPr>
            <a:lstStyle/>
            <a:p>
              <a:pPr algn="l"/>
              <a:r>
                <a:rPr lang="zh-CN" sz="825" dirty="0">
                  <a:solidFill>
                    <a:srgbClr val="9AA0A6"/>
                  </a:solidFill>
                  <a:latin typeface="Arial"/>
                  <a:ea typeface="Microsoft YaHei"/>
                  <a:cs typeface="Arial"/>
                </a:rPr>
                <a:t>检测 + 分割 + 营养汇总</a:t>
              </a:r>
            </a:p>
          </p:txBody>
        </p:sp>
        <p:sp>
          <p:nvSpPr>
            <p:cNvPr id="58" name="TextBox 58"/>
            <p:cNvSpPr txBox="1"/>
            <p:nvPr/>
          </p:nvSpPr>
          <p:spPr>
            <a:xfrm>
              <a:off x="2844165" y="4572952"/>
              <a:ext cx="1011693" cy="213360"/>
            </a:xfrm>
            <a:prstGeom prst="rect">
              <a:avLst/>
            </a:prstGeom>
            <a:noFill/>
            <a:ln>
              <a:noFill/>
            </a:ln>
          </p:spPr>
          <p:txBody>
            <a:bodyPr wrap="none" lIns="0" tIns="0" rIns="0" bIns="0" anchor="t" anchorCtr="0">
              <a:spAutoFit/>
            </a:bodyPr>
            <a:lstStyle/>
            <a:p>
              <a:pPr algn="l"/>
              <a:r>
                <a:rPr lang="zh-CN" sz="1050" b="1" dirty="0">
                  <a:solidFill>
                    <a:srgbClr val="5C6BC0"/>
                  </a:solidFill>
                  <a:latin typeface="Arial"/>
                  <a:ea typeface="Microsoft YaHei"/>
                  <a:cs typeface="Arial"/>
                </a:rPr>
                <a:t>YOLOv8 + SAM</a:t>
              </a:r>
            </a:p>
          </p:txBody>
        </p:sp>
        <p:sp>
          <p:nvSpPr>
            <p:cNvPr id="59" name="TextBox 59"/>
            <p:cNvSpPr txBox="1"/>
            <p:nvPr/>
          </p:nvSpPr>
          <p:spPr>
            <a:xfrm>
              <a:off x="2844165" y="4801552"/>
              <a:ext cx="886727" cy="213360"/>
            </a:xfrm>
            <a:prstGeom prst="rect">
              <a:avLst/>
            </a:prstGeom>
            <a:noFill/>
            <a:ln>
              <a:noFill/>
            </a:ln>
          </p:spPr>
          <p:txBody>
            <a:bodyPr wrap="none" lIns="0" tIns="0" rIns="0" bIns="0" anchor="t" anchorCtr="0">
              <a:spAutoFit/>
            </a:bodyPr>
            <a:lstStyle/>
            <a:p>
              <a:pPr algn="l"/>
              <a:r>
                <a:rPr lang="zh-CN" sz="1050" b="1" dirty="0">
                  <a:solidFill>
                    <a:srgbClr val="5C6BC0"/>
                  </a:solidFill>
                  <a:latin typeface="Arial"/>
                  <a:ea typeface="Microsoft YaHei"/>
                  <a:cs typeface="Arial"/>
                </a:rPr>
                <a:t>+ 营养成分库</a:t>
              </a:r>
            </a:p>
          </p:txBody>
        </p:sp>
        <p:sp>
          <p:nvSpPr>
            <p:cNvPr id="60" name="TextBox 60"/>
            <p:cNvSpPr txBox="1"/>
            <p:nvPr/>
          </p:nvSpPr>
          <p:spPr>
            <a:xfrm>
              <a:off x="2847022" y="4997291"/>
              <a:ext cx="1099090"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1,657 条中国食物数据</a:t>
              </a:r>
            </a:p>
          </p:txBody>
        </p:sp>
        <p:sp>
          <p:nvSpPr>
            <p:cNvPr id="61" name="TextBox 61"/>
            <p:cNvSpPr txBox="1"/>
            <p:nvPr/>
          </p:nvSpPr>
          <p:spPr>
            <a:xfrm>
              <a:off x="5507355" y="4540568"/>
              <a:ext cx="1414162" cy="274320"/>
            </a:xfrm>
            <a:prstGeom prst="rect">
              <a:avLst/>
            </a:prstGeom>
            <a:noFill/>
            <a:ln>
              <a:noFill/>
            </a:ln>
          </p:spPr>
          <p:txBody>
            <a:bodyPr wrap="none" lIns="0" tIns="0" rIns="0" bIns="0" anchor="t" anchorCtr="0">
              <a:spAutoFit/>
            </a:bodyPr>
            <a:lstStyle/>
            <a:p>
              <a:pPr algn="l"/>
              <a:r>
                <a:rPr lang="zh-CN" sz="1350" b="1" dirty="0">
                  <a:solidFill>
                    <a:srgbClr val="2E7D32"/>
                  </a:solidFill>
                  <a:latin typeface="Cambria"/>
                  <a:ea typeface="SimSun"/>
                  <a:cs typeface="Cambria"/>
                </a:rPr>
                <a:t>2 盘菜 · 502.9g</a:t>
              </a:r>
            </a:p>
          </p:txBody>
        </p:sp>
        <p:sp>
          <p:nvSpPr>
            <p:cNvPr id="62" name="TextBox 62"/>
            <p:cNvSpPr txBox="1"/>
            <p:nvPr/>
          </p:nvSpPr>
          <p:spPr>
            <a:xfrm>
              <a:off x="5512118" y="4809649"/>
              <a:ext cx="980384"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Cambria"/>
                  <a:ea typeface="SimSun"/>
                  <a:cs typeface="Cambria"/>
                </a:rPr>
                <a:t>总热 874.7kcal</a:t>
              </a:r>
            </a:p>
          </p:txBody>
        </p:sp>
        <p:sp>
          <p:nvSpPr>
            <p:cNvPr id="63" name="TextBox 63"/>
            <p:cNvSpPr txBox="1"/>
            <p:nvPr/>
          </p:nvSpPr>
          <p:spPr>
            <a:xfrm>
              <a:off x="5514022" y="4997291"/>
              <a:ext cx="1346621"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蛋白质 17.2g / 碳水 166.1g</a:t>
              </a:r>
            </a:p>
          </p:txBody>
        </p:sp>
        <p:sp>
          <p:nvSpPr>
            <p:cNvPr id="64" name="Rectangle 64"/>
            <p:cNvSpPr/>
            <p:nvPr/>
          </p:nvSpPr>
          <p:spPr>
            <a:xfrm>
              <a:off x="8382000" y="4543425"/>
              <a:ext cx="1333500" cy="533400"/>
            </a:xfrm>
            <a:prstGeom prst="roundRect">
              <a:avLst>
                <a:gd name="adj" fmla="val 14286"/>
              </a:avLst>
            </a:prstGeom>
            <a:solidFill>
              <a:srgbClr val="FFFFFF"/>
            </a:solidFill>
            <a:ln>
              <a:noFill/>
            </a:ln>
          </p:spPr>
        </p:sp>
        <p:grpSp>
          <p:nvGrpSpPr>
            <p:cNvPr id="69" name="Group 69"/>
            <p:cNvGrpSpPr/>
            <p:nvPr/>
          </p:nvGrpSpPr>
          <p:grpSpPr>
            <a:xfrm>
              <a:off x="8566150" y="4683125"/>
              <a:ext cx="127000" cy="158750"/>
              <a:chOff x="8566150" y="4683125"/>
              <a:chExt cx="127000" cy="158750"/>
            </a:xfrm>
          </p:grpSpPr>
          <p:sp>
            <p:nvSpPr>
              <p:cNvPr id="65" name="Freeform 65"/>
              <p:cNvSpPr/>
              <p:nvPr/>
            </p:nvSpPr>
            <p:spPr>
              <a:xfrm>
                <a:off x="8566150" y="4683125"/>
                <a:ext cx="127000" cy="63500"/>
              </a:xfrm>
              <a:custGeom>
                <a:avLst/>
                <a:gdLst/>
                <a:ahLst/>
                <a:cxnLst/>
                <a:rect l="l" t="t" r="r" b="b"/>
                <a:pathLst>
                  <a:path w="127000" h="63500">
                    <a:moveTo>
                      <a:pt x="63500" y="0"/>
                    </a:moveTo>
                    <a:lnTo>
                      <a:pt x="0" y="31750"/>
                    </a:lnTo>
                    <a:lnTo>
                      <a:pt x="63500" y="63500"/>
                    </a:lnTo>
                    <a:lnTo>
                      <a:pt x="127000" y="31750"/>
                    </a:lnTo>
                    <a:lnTo>
                      <a:pt x="63500" y="0"/>
                    </a:lnTo>
                  </a:path>
                </a:pathLst>
              </a:custGeom>
              <a:noFill/>
              <a:ln w="19050">
                <a:solidFill>
                  <a:srgbClr val="5C6BC0"/>
                </a:solidFill>
              </a:ln>
            </p:spPr>
          </p:sp>
          <p:sp>
            <p:nvSpPr>
              <p:cNvPr id="66" name="Freeform 66"/>
              <p:cNvSpPr/>
              <p:nvPr/>
            </p:nvSpPr>
            <p:spPr>
              <a:xfrm>
                <a:off x="8566150" y="4746625"/>
                <a:ext cx="127000" cy="31750"/>
              </a:xfrm>
              <a:custGeom>
                <a:avLst/>
                <a:gdLst/>
                <a:ahLst/>
                <a:cxnLst/>
                <a:rect l="l" t="t" r="r" b="b"/>
                <a:pathLst>
                  <a:path w="127000" h="31750">
                    <a:moveTo>
                      <a:pt x="0" y="0"/>
                    </a:moveTo>
                    <a:lnTo>
                      <a:pt x="63500" y="31750"/>
                    </a:lnTo>
                    <a:lnTo>
                      <a:pt x="127000" y="0"/>
                    </a:lnTo>
                  </a:path>
                </a:pathLst>
              </a:custGeom>
              <a:noFill/>
              <a:ln w="19050">
                <a:solidFill>
                  <a:srgbClr val="5C6BC0"/>
                </a:solidFill>
              </a:ln>
            </p:spPr>
          </p:sp>
          <p:sp>
            <p:nvSpPr>
              <p:cNvPr id="67" name="Freeform 67"/>
              <p:cNvSpPr/>
              <p:nvPr/>
            </p:nvSpPr>
            <p:spPr>
              <a:xfrm>
                <a:off x="8566150" y="4810125"/>
                <a:ext cx="127000" cy="31750"/>
              </a:xfrm>
              <a:custGeom>
                <a:avLst/>
                <a:gdLst/>
                <a:ahLst/>
                <a:cxnLst/>
                <a:rect l="l" t="t" r="r" b="b"/>
                <a:pathLst>
                  <a:path w="127000" h="31750">
                    <a:moveTo>
                      <a:pt x="0" y="0"/>
                    </a:moveTo>
                    <a:lnTo>
                      <a:pt x="63500" y="31750"/>
                    </a:lnTo>
                    <a:lnTo>
                      <a:pt x="127000" y="0"/>
                    </a:lnTo>
                  </a:path>
                </a:pathLst>
              </a:custGeom>
              <a:noFill/>
              <a:ln w="19050">
                <a:solidFill>
                  <a:srgbClr val="5C6BC0"/>
                </a:solidFill>
              </a:ln>
            </p:spPr>
          </p:sp>
          <p:sp>
            <p:nvSpPr>
              <p:cNvPr id="68" name="Freeform 68"/>
              <p:cNvSpPr/>
              <p:nvPr/>
            </p:nvSpPr>
            <p:spPr>
              <a:xfrm>
                <a:off x="8566150" y="4778375"/>
                <a:ext cx="127000" cy="31750"/>
              </a:xfrm>
              <a:custGeom>
                <a:avLst/>
                <a:gdLst/>
                <a:ahLst/>
                <a:cxnLst/>
                <a:rect l="l" t="t" r="r" b="b"/>
                <a:pathLst>
                  <a:path w="127000" h="31750">
                    <a:moveTo>
                      <a:pt x="0" y="0"/>
                    </a:moveTo>
                    <a:lnTo>
                      <a:pt x="63500" y="31750"/>
                    </a:lnTo>
                    <a:lnTo>
                      <a:pt x="127000" y="0"/>
                    </a:lnTo>
                  </a:path>
                </a:pathLst>
              </a:custGeom>
              <a:noFill/>
              <a:ln w="19050">
                <a:solidFill>
                  <a:srgbClr val="5C6BC0"/>
                </a:solidFill>
              </a:ln>
            </p:spPr>
          </p:sp>
        </p:grpSp>
        <p:sp>
          <p:nvSpPr>
            <p:cNvPr id="70" name="TextBox 70"/>
            <p:cNvSpPr txBox="1"/>
            <p:nvPr/>
          </p:nvSpPr>
          <p:spPr>
            <a:xfrm>
              <a:off x="8789670" y="4703445"/>
              <a:ext cx="778955" cy="182880"/>
            </a:xfrm>
            <a:prstGeom prst="rect">
              <a:avLst/>
            </a:prstGeom>
            <a:noFill/>
            <a:ln>
              <a:noFill/>
            </a:ln>
          </p:spPr>
          <p:txBody>
            <a:bodyPr wrap="none" lIns="0" tIns="0" rIns="0" bIns="0" anchor="t" anchorCtr="0">
              <a:spAutoFit/>
            </a:bodyPr>
            <a:lstStyle/>
            <a:p>
              <a:pPr algn="l"/>
              <a:r>
                <a:rPr lang="zh-CN" sz="900" b="1" dirty="0">
                  <a:solidFill>
                    <a:srgbClr val="1A1A1A"/>
                  </a:solidFill>
                  <a:latin typeface="Arial"/>
                  <a:ea typeface="Microsoft YaHei"/>
                  <a:cs typeface="Arial"/>
                </a:rPr>
                <a:t>多级降级策略</a:t>
              </a:r>
            </a:p>
          </p:txBody>
        </p:sp>
        <p:sp>
          <p:nvSpPr>
            <p:cNvPr id="71" name="TextBox 71"/>
            <p:cNvSpPr txBox="1"/>
            <p:nvPr/>
          </p:nvSpPr>
          <p:spPr>
            <a:xfrm>
              <a:off x="8790622" y="4882991"/>
              <a:ext cx="791051"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保证系统鲁棒性</a:t>
              </a:r>
            </a:p>
          </p:txBody>
        </p:sp>
        <p:sp>
          <p:nvSpPr>
            <p:cNvPr id="72" name="Rectangle 72"/>
            <p:cNvSpPr/>
            <p:nvPr/>
          </p:nvSpPr>
          <p:spPr>
            <a:xfrm>
              <a:off x="571500" y="5314950"/>
              <a:ext cx="11049000" cy="904875"/>
            </a:xfrm>
            <a:prstGeom prst="roundRect">
              <a:avLst>
                <a:gd name="adj" fmla="val 6316"/>
              </a:avLst>
            </a:prstGeom>
            <a:solidFill>
              <a:srgbClr val="F5F7FA"/>
            </a:solidFill>
            <a:ln>
              <a:noFill/>
            </a:ln>
          </p:spPr>
        </p:sp>
        <p:sp>
          <p:nvSpPr>
            <p:cNvPr id="73" name="Rectangle 73"/>
            <p:cNvSpPr/>
            <p:nvPr/>
          </p:nvSpPr>
          <p:spPr>
            <a:xfrm>
              <a:off x="762000" y="5572125"/>
              <a:ext cx="571500" cy="381000"/>
            </a:xfrm>
            <a:prstGeom prst="roundRect">
              <a:avLst>
                <a:gd name="adj" fmla="val 20000"/>
              </a:avLst>
            </a:prstGeom>
            <a:solidFill>
              <a:srgbClr val="2E7D32"/>
            </a:solidFill>
            <a:ln>
              <a:noFill/>
            </a:ln>
          </p:spPr>
        </p:sp>
        <p:sp>
          <p:nvSpPr>
            <p:cNvPr id="74" name="TextBox 74"/>
            <p:cNvSpPr txBox="1"/>
            <p:nvPr/>
          </p:nvSpPr>
          <p:spPr>
            <a:xfrm>
              <a:off x="946631" y="5695474"/>
              <a:ext cx="20223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ambria"/>
                  <a:ea typeface="SimSun"/>
                  <a:cs typeface="Cambria"/>
                </a:rPr>
                <a:t>Q4</a:t>
              </a:r>
            </a:p>
          </p:txBody>
        </p:sp>
        <p:sp>
          <p:nvSpPr>
            <p:cNvPr id="75" name="TextBox 75"/>
            <p:cNvSpPr txBox="1"/>
            <p:nvPr/>
          </p:nvSpPr>
          <p:spPr>
            <a:xfrm>
              <a:off x="1509712" y="5526881"/>
              <a:ext cx="658654"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智能问答</a:t>
              </a:r>
            </a:p>
          </p:txBody>
        </p:sp>
        <p:sp>
          <p:nvSpPr>
            <p:cNvPr id="76" name="TextBox 76"/>
            <p:cNvSpPr txBox="1"/>
            <p:nvPr/>
          </p:nvSpPr>
          <p:spPr>
            <a:xfrm>
              <a:off x="1512570" y="5779770"/>
              <a:ext cx="622935" cy="182880"/>
            </a:xfrm>
            <a:prstGeom prst="rect">
              <a:avLst/>
            </a:prstGeom>
            <a:noFill/>
            <a:ln>
              <a:noFill/>
            </a:ln>
          </p:spPr>
          <p:txBody>
            <a:bodyPr wrap="none" lIns="0" tIns="0" rIns="0" bIns="0" anchor="t" anchorCtr="0">
              <a:spAutoFit/>
            </a:bodyPr>
            <a:lstStyle/>
            <a:p>
              <a:pPr algn="l"/>
              <a:r>
                <a:rPr lang="zh-CN" sz="900" dirty="0">
                  <a:solidFill>
                    <a:srgbClr val="5F6368"/>
                  </a:solidFill>
                  <a:latin typeface="Arial"/>
                  <a:ea typeface="Microsoft YaHei"/>
                  <a:cs typeface="Arial"/>
                </a:rPr>
                <a:t>多模态交互</a:t>
              </a:r>
            </a:p>
          </p:txBody>
        </p:sp>
        <p:sp>
          <p:nvSpPr>
            <p:cNvPr id="77" name="TextBox 77"/>
            <p:cNvSpPr txBox="1"/>
            <p:nvPr/>
          </p:nvSpPr>
          <p:spPr>
            <a:xfrm>
              <a:off x="1513522" y="5959316"/>
              <a:ext cx="1027581" cy="167640"/>
            </a:xfrm>
            <a:prstGeom prst="rect">
              <a:avLst/>
            </a:prstGeom>
            <a:noFill/>
            <a:ln>
              <a:noFill/>
            </a:ln>
          </p:spPr>
          <p:txBody>
            <a:bodyPr wrap="none" lIns="0" tIns="0" rIns="0" bIns="0" anchor="t" anchorCtr="0">
              <a:spAutoFit/>
            </a:bodyPr>
            <a:lstStyle/>
            <a:p>
              <a:pPr algn="l"/>
              <a:r>
                <a:rPr lang="zh-CN" sz="825" dirty="0">
                  <a:solidFill>
                    <a:srgbClr val="9AA0A6"/>
                  </a:solidFill>
                  <a:latin typeface="Arial"/>
                  <a:ea typeface="Microsoft YaHei"/>
                  <a:cs typeface="Arial"/>
                </a:rPr>
                <a:t>多轮对话 + 营养解读</a:t>
              </a:r>
            </a:p>
          </p:txBody>
        </p:sp>
        <p:sp>
          <p:nvSpPr>
            <p:cNvPr id="78" name="TextBox 78"/>
            <p:cNvSpPr txBox="1"/>
            <p:nvPr/>
          </p:nvSpPr>
          <p:spPr>
            <a:xfrm>
              <a:off x="2844165" y="5534978"/>
              <a:ext cx="1291028" cy="213360"/>
            </a:xfrm>
            <a:prstGeom prst="rect">
              <a:avLst/>
            </a:prstGeom>
            <a:noFill/>
            <a:ln>
              <a:noFill/>
            </a:ln>
          </p:spPr>
          <p:txBody>
            <a:bodyPr wrap="none" lIns="0" tIns="0" rIns="0" bIns="0" anchor="t" anchorCtr="0">
              <a:spAutoFit/>
            </a:bodyPr>
            <a:lstStyle/>
            <a:p>
              <a:pPr algn="l"/>
              <a:r>
                <a:rPr lang="zh-CN" sz="1050" b="1" dirty="0">
                  <a:solidFill>
                    <a:srgbClr val="2E7D32"/>
                  </a:solidFill>
                  <a:latin typeface="Arial"/>
                  <a:ea typeface="Microsoft YaHei"/>
                  <a:cs typeface="Arial"/>
                </a:rPr>
                <a:t>Ollama + Qwen2.5</a:t>
              </a:r>
            </a:p>
          </p:txBody>
        </p:sp>
        <p:sp>
          <p:nvSpPr>
            <p:cNvPr id="79" name="TextBox 79"/>
            <p:cNvSpPr txBox="1"/>
            <p:nvPr/>
          </p:nvSpPr>
          <p:spPr>
            <a:xfrm>
              <a:off x="2844165" y="5763578"/>
              <a:ext cx="886727" cy="213360"/>
            </a:xfrm>
            <a:prstGeom prst="rect">
              <a:avLst/>
            </a:prstGeom>
            <a:noFill/>
            <a:ln>
              <a:noFill/>
            </a:ln>
          </p:spPr>
          <p:txBody>
            <a:bodyPr wrap="none" lIns="0" tIns="0" rIns="0" bIns="0" anchor="t" anchorCtr="0">
              <a:spAutoFit/>
            </a:bodyPr>
            <a:lstStyle/>
            <a:p>
              <a:pPr algn="l"/>
              <a:r>
                <a:rPr lang="zh-CN" sz="1050" b="1" dirty="0">
                  <a:solidFill>
                    <a:srgbClr val="2E7D32"/>
                  </a:solidFill>
                  <a:latin typeface="Arial"/>
                  <a:ea typeface="Microsoft YaHei"/>
                  <a:cs typeface="Arial"/>
                </a:rPr>
                <a:t>+ 上下文记忆</a:t>
              </a:r>
            </a:p>
          </p:txBody>
        </p:sp>
        <p:sp>
          <p:nvSpPr>
            <p:cNvPr id="80" name="TextBox 80"/>
            <p:cNvSpPr txBox="1"/>
            <p:nvPr/>
          </p:nvSpPr>
          <p:spPr>
            <a:xfrm>
              <a:off x="2847022" y="5959316"/>
              <a:ext cx="791051"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个性化建议生成</a:t>
              </a:r>
            </a:p>
          </p:txBody>
        </p:sp>
        <p:sp>
          <p:nvSpPr>
            <p:cNvPr id="81" name="TextBox 81"/>
            <p:cNvSpPr txBox="1"/>
            <p:nvPr/>
          </p:nvSpPr>
          <p:spPr>
            <a:xfrm>
              <a:off x="5507355" y="5502592"/>
              <a:ext cx="951055" cy="274320"/>
            </a:xfrm>
            <a:prstGeom prst="rect">
              <a:avLst/>
            </a:prstGeom>
            <a:noFill/>
            <a:ln>
              <a:noFill/>
            </a:ln>
          </p:spPr>
          <p:txBody>
            <a:bodyPr wrap="none" lIns="0" tIns="0" rIns="0" bIns="0" anchor="t" anchorCtr="0">
              <a:spAutoFit/>
            </a:bodyPr>
            <a:lstStyle/>
            <a:p>
              <a:pPr algn="l"/>
              <a:r>
                <a:rPr lang="zh-CN" sz="1350" b="1" dirty="0">
                  <a:solidFill>
                    <a:srgbClr val="2E7D32"/>
                  </a:solidFill>
                  <a:latin typeface="Cambria"/>
                  <a:ea typeface="SimSun"/>
                  <a:cs typeface="Cambria"/>
                </a:rPr>
                <a:t>多轮对话 ✓</a:t>
              </a:r>
            </a:p>
          </p:txBody>
        </p:sp>
        <p:sp>
          <p:nvSpPr>
            <p:cNvPr id="82" name="TextBox 82"/>
            <p:cNvSpPr txBox="1"/>
            <p:nvPr/>
          </p:nvSpPr>
          <p:spPr>
            <a:xfrm>
              <a:off x="5512118" y="5771674"/>
              <a:ext cx="1273896"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Cambria"/>
                  <a:ea typeface="SimSun"/>
                  <a:cs typeface="Cambria"/>
                </a:rPr>
                <a:t>指代消解 + 健康画像</a:t>
              </a:r>
            </a:p>
          </p:txBody>
        </p:sp>
        <p:sp>
          <p:nvSpPr>
            <p:cNvPr id="83" name="TextBox 83"/>
            <p:cNvSpPr txBox="1"/>
            <p:nvPr/>
          </p:nvSpPr>
          <p:spPr>
            <a:xfrm>
              <a:off x="5514022" y="5959316"/>
              <a:ext cx="1159597"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占每日 43.7% 热量提醒</a:t>
              </a:r>
            </a:p>
          </p:txBody>
        </p:sp>
        <p:sp>
          <p:nvSpPr>
            <p:cNvPr id="84" name="Rectangle 84"/>
            <p:cNvSpPr/>
            <p:nvPr/>
          </p:nvSpPr>
          <p:spPr>
            <a:xfrm>
              <a:off x="8382000" y="5505450"/>
              <a:ext cx="1333500" cy="533400"/>
            </a:xfrm>
            <a:prstGeom prst="roundRect">
              <a:avLst>
                <a:gd name="adj" fmla="val 14286"/>
              </a:avLst>
            </a:prstGeom>
            <a:solidFill>
              <a:srgbClr val="FFFFFF"/>
            </a:solidFill>
            <a:ln>
              <a:noFill/>
            </a:ln>
          </p:spPr>
        </p:sp>
        <p:grpSp>
          <p:nvGrpSpPr>
            <p:cNvPr id="88" name="Group 88"/>
            <p:cNvGrpSpPr/>
            <p:nvPr/>
          </p:nvGrpSpPr>
          <p:grpSpPr>
            <a:xfrm>
              <a:off x="8558212" y="5661025"/>
              <a:ext cx="142875" cy="134937"/>
              <a:chOff x="8558212" y="5661025"/>
              <a:chExt cx="142875" cy="134937"/>
            </a:xfrm>
          </p:grpSpPr>
          <p:sp>
            <p:nvSpPr>
              <p:cNvPr id="85" name="Freeform 85"/>
              <p:cNvSpPr/>
              <p:nvPr/>
            </p:nvSpPr>
            <p:spPr>
              <a:xfrm>
                <a:off x="8597900" y="5700712"/>
                <a:ext cx="63500" cy="9525"/>
              </a:xfrm>
              <a:custGeom>
                <a:avLst/>
                <a:gdLst/>
                <a:ahLst/>
                <a:cxnLst/>
                <a:rect l="l" t="t" r="r" b="b"/>
                <a:pathLst>
                  <a:path w="63500" h="9525">
                    <a:moveTo>
                      <a:pt x="0" y="0"/>
                    </a:moveTo>
                    <a:lnTo>
                      <a:pt x="63500" y="0"/>
                    </a:lnTo>
                  </a:path>
                </a:pathLst>
              </a:custGeom>
              <a:noFill/>
              <a:ln w="19050">
                <a:solidFill>
                  <a:srgbClr val="2E7D32"/>
                </a:solidFill>
              </a:ln>
            </p:spPr>
          </p:sp>
          <p:sp>
            <p:nvSpPr>
              <p:cNvPr id="86" name="Freeform 86"/>
              <p:cNvSpPr/>
              <p:nvPr/>
            </p:nvSpPr>
            <p:spPr>
              <a:xfrm>
                <a:off x="8597900" y="5732462"/>
                <a:ext cx="47625" cy="9525"/>
              </a:xfrm>
              <a:custGeom>
                <a:avLst/>
                <a:gdLst/>
                <a:ahLst/>
                <a:cxnLst/>
                <a:rect l="l" t="t" r="r" b="b"/>
                <a:pathLst>
                  <a:path w="47625" h="9525">
                    <a:moveTo>
                      <a:pt x="0" y="0"/>
                    </a:moveTo>
                    <a:lnTo>
                      <a:pt x="47625" y="0"/>
                    </a:lnTo>
                  </a:path>
                </a:pathLst>
              </a:custGeom>
              <a:noFill/>
              <a:ln w="19050">
                <a:solidFill>
                  <a:srgbClr val="2E7D32"/>
                </a:solidFill>
              </a:ln>
            </p:spPr>
          </p:sp>
          <p:sp>
            <p:nvSpPr>
              <p:cNvPr id="87" name="Freeform 87"/>
              <p:cNvSpPr/>
              <p:nvPr/>
            </p:nvSpPr>
            <p:spPr>
              <a:xfrm>
                <a:off x="8558212" y="5661025"/>
                <a:ext cx="142875" cy="134937"/>
              </a:xfrm>
              <a:custGeom>
                <a:avLst/>
                <a:gdLst/>
                <a:ahLst/>
                <a:cxnLst/>
                <a:rect l="l" t="t" r="r" b="b"/>
                <a:pathLst>
                  <a:path w="142875" h="134937">
                    <a:moveTo>
                      <a:pt x="119062" y="0"/>
                    </a:moveTo>
                    <a:cubicBezTo>
                      <a:pt x="132214" y="0"/>
                      <a:pt x="142875" y="10661"/>
                      <a:pt x="142875" y="23812"/>
                    </a:cubicBezTo>
                    <a:lnTo>
                      <a:pt x="142875" y="87312"/>
                    </a:lnTo>
                    <a:cubicBezTo>
                      <a:pt x="142875" y="100464"/>
                      <a:pt x="132214" y="111125"/>
                      <a:pt x="119062" y="111125"/>
                    </a:cubicBezTo>
                    <a:lnTo>
                      <a:pt x="79375" y="111125"/>
                    </a:lnTo>
                    <a:lnTo>
                      <a:pt x="39687" y="134937"/>
                    </a:lnTo>
                    <a:lnTo>
                      <a:pt x="39687" y="111125"/>
                    </a:lnTo>
                    <a:lnTo>
                      <a:pt x="23812" y="111125"/>
                    </a:lnTo>
                    <a:cubicBezTo>
                      <a:pt x="10661" y="111125"/>
                      <a:pt x="0" y="100464"/>
                      <a:pt x="0" y="87312"/>
                    </a:cubicBezTo>
                    <a:lnTo>
                      <a:pt x="0" y="23812"/>
                    </a:lnTo>
                    <a:cubicBezTo>
                      <a:pt x="0" y="10661"/>
                      <a:pt x="10661" y="0"/>
                      <a:pt x="23812" y="0"/>
                    </a:cubicBezTo>
                    <a:lnTo>
                      <a:pt x="119062" y="0"/>
                    </a:lnTo>
                  </a:path>
                </a:pathLst>
              </a:custGeom>
              <a:noFill/>
              <a:ln w="19050">
                <a:solidFill>
                  <a:srgbClr val="2E7D32"/>
                </a:solidFill>
              </a:ln>
            </p:spPr>
          </p:sp>
        </p:grpSp>
        <p:sp>
          <p:nvSpPr>
            <p:cNvPr id="89" name="TextBox 89"/>
            <p:cNvSpPr txBox="1"/>
            <p:nvPr/>
          </p:nvSpPr>
          <p:spPr>
            <a:xfrm>
              <a:off x="8789670" y="5665470"/>
              <a:ext cx="904970" cy="182880"/>
            </a:xfrm>
            <a:prstGeom prst="rect">
              <a:avLst/>
            </a:prstGeom>
            <a:noFill/>
            <a:ln>
              <a:noFill/>
            </a:ln>
          </p:spPr>
          <p:txBody>
            <a:bodyPr wrap="none" lIns="0" tIns="0" rIns="0" bIns="0" anchor="t" anchorCtr="0">
              <a:spAutoFit/>
            </a:bodyPr>
            <a:lstStyle/>
            <a:p>
              <a:pPr algn="l"/>
              <a:r>
                <a:rPr lang="zh-CN" sz="900" b="1" dirty="0">
                  <a:solidFill>
                    <a:srgbClr val="1A1A1A"/>
                  </a:solidFill>
                  <a:latin typeface="Arial"/>
                  <a:ea typeface="Microsoft YaHei"/>
                  <a:cs typeface="Arial"/>
                </a:rPr>
                <a:t>端到端用户体验</a:t>
              </a:r>
            </a:p>
          </p:txBody>
        </p:sp>
        <p:sp>
          <p:nvSpPr>
            <p:cNvPr id="90" name="TextBox 90"/>
            <p:cNvSpPr txBox="1"/>
            <p:nvPr/>
          </p:nvSpPr>
          <p:spPr>
            <a:xfrm>
              <a:off x="8790622" y="5845016"/>
              <a:ext cx="901065" cy="167640"/>
            </a:xfrm>
            <a:prstGeom prst="rect">
              <a:avLst/>
            </a:prstGeom>
            <a:noFill/>
            <a:ln>
              <a:noFill/>
            </a:ln>
          </p:spPr>
          <p:txBody>
            <a:bodyPr wrap="none" lIns="0" tIns="0" rIns="0" bIns="0" anchor="t" anchorCtr="0">
              <a:spAutoFit/>
            </a:bodyPr>
            <a:lstStyle/>
            <a:p>
              <a:pPr algn="l"/>
              <a:r>
                <a:rPr lang="zh-CN" sz="825" dirty="0">
                  <a:solidFill>
                    <a:srgbClr val="5F6368"/>
                  </a:solidFill>
                  <a:latin typeface="Arial"/>
                  <a:ea typeface="Microsoft YaHei"/>
                  <a:cs typeface="Arial"/>
                </a:rPr>
                <a:t>从图像到自然语言</a:t>
              </a:r>
            </a:p>
          </p:txBody>
        </p:sp>
      </p:grpSp>
      <p:grpSp>
        <p:nvGrpSpPr>
          <p:cNvPr id="99" name="Group 99"/>
          <p:cNvGrpSpPr/>
          <p:nvPr/>
        </p:nvGrpSpPr>
        <p:grpSpPr>
          <a:xfrm>
            <a:off x="433442" y="6257465"/>
            <a:ext cx="11049000" cy="588169"/>
            <a:chOff x="571500" y="5857875"/>
            <a:chExt cx="11049000" cy="588169"/>
          </a:xfrm>
        </p:grpSpPr>
        <p:sp>
          <p:nvSpPr>
            <p:cNvPr id="92" name="Rectangle 92"/>
            <p:cNvSpPr/>
            <p:nvPr/>
          </p:nvSpPr>
          <p:spPr>
            <a:xfrm>
              <a:off x="571500" y="5857875"/>
              <a:ext cx="11049000" cy="571500"/>
            </a:xfrm>
            <a:prstGeom prst="roundRect">
              <a:avLst>
                <a:gd name="adj" fmla="val 16667"/>
              </a:avLst>
            </a:prstGeom>
            <a:solidFill>
              <a:srgbClr val="0D2A4F"/>
            </a:solidFill>
            <a:ln>
              <a:noFill/>
            </a:ln>
          </p:spPr>
        </p:sp>
        <p:grpSp>
          <p:nvGrpSpPr>
            <p:cNvPr id="96" name="Group 96"/>
            <p:cNvGrpSpPr/>
            <p:nvPr/>
          </p:nvGrpSpPr>
          <p:grpSpPr>
            <a:xfrm>
              <a:off x="790575" y="6057900"/>
              <a:ext cx="171450" cy="171450"/>
              <a:chOff x="790575" y="6057900"/>
              <a:chExt cx="171450" cy="171450"/>
            </a:xfrm>
          </p:grpSpPr>
          <p:sp>
            <p:nvSpPr>
              <p:cNvPr id="93" name="Freeform 93"/>
              <p:cNvSpPr/>
              <p:nvPr/>
            </p:nvSpPr>
            <p:spPr>
              <a:xfrm>
                <a:off x="790575" y="6057900"/>
                <a:ext cx="171450" cy="85725"/>
              </a:xfrm>
              <a:custGeom>
                <a:avLst/>
                <a:gdLst/>
                <a:ahLst/>
                <a:cxnLst/>
                <a:rect l="l" t="t" r="r" b="b"/>
                <a:pathLst>
                  <a:path w="171450" h="85725">
                    <a:moveTo>
                      <a:pt x="0" y="85725"/>
                    </a:moveTo>
                    <a:lnTo>
                      <a:pt x="9525" y="85725"/>
                    </a:lnTo>
                    <a:moveTo>
                      <a:pt x="85725" y="0"/>
                    </a:moveTo>
                    <a:lnTo>
                      <a:pt x="85725" y="9525"/>
                    </a:lnTo>
                    <a:moveTo>
                      <a:pt x="161925" y="85725"/>
                    </a:moveTo>
                    <a:lnTo>
                      <a:pt x="171450" y="85725"/>
                    </a:lnTo>
                    <a:moveTo>
                      <a:pt x="24765" y="24765"/>
                    </a:moveTo>
                    <a:lnTo>
                      <a:pt x="31432" y="31432"/>
                    </a:lnTo>
                    <a:moveTo>
                      <a:pt x="146685" y="24765"/>
                    </a:moveTo>
                    <a:lnTo>
                      <a:pt x="140018" y="31432"/>
                    </a:lnTo>
                  </a:path>
                </a:pathLst>
              </a:custGeom>
              <a:noFill/>
              <a:ln w="19050">
                <a:solidFill>
                  <a:srgbClr val="FFB300"/>
                </a:solidFill>
              </a:ln>
            </p:spPr>
          </p:sp>
          <p:sp>
            <p:nvSpPr>
              <p:cNvPr id="94" name="Freeform 94"/>
              <p:cNvSpPr/>
              <p:nvPr/>
            </p:nvSpPr>
            <p:spPr>
              <a:xfrm>
                <a:off x="824637" y="6096000"/>
                <a:ext cx="103327" cy="133350"/>
              </a:xfrm>
              <a:custGeom>
                <a:avLst/>
                <a:gdLst/>
                <a:ahLst/>
                <a:cxnLst/>
                <a:rect l="l" t="t" r="r" b="b"/>
                <a:pathLst>
                  <a:path w="103327" h="133350">
                    <a:moveTo>
                      <a:pt x="23088" y="85725"/>
                    </a:moveTo>
                    <a:cubicBezTo>
                      <a:pt x="6689" y="73425"/>
                      <a:pt x="0" y="52012"/>
                      <a:pt x="6482" y="32565"/>
                    </a:cubicBezTo>
                    <a:cubicBezTo>
                      <a:pt x="12965" y="13117"/>
                      <a:pt x="31164" y="0"/>
                      <a:pt x="51663" y="0"/>
                    </a:cubicBezTo>
                    <a:cubicBezTo>
                      <a:pt x="72163" y="0"/>
                      <a:pt x="90362" y="13117"/>
                      <a:pt x="96845" y="32565"/>
                    </a:cubicBezTo>
                    <a:cubicBezTo>
                      <a:pt x="103327" y="52012"/>
                      <a:pt x="96638" y="73425"/>
                      <a:pt x="80238" y="85725"/>
                    </a:cubicBezTo>
                    <a:cubicBezTo>
                      <a:pt x="72696" y="93191"/>
                      <a:pt x="69159" y="103802"/>
                      <a:pt x="70713" y="114300"/>
                    </a:cubicBezTo>
                    <a:cubicBezTo>
                      <a:pt x="70713" y="124821"/>
                      <a:pt x="62184" y="133350"/>
                      <a:pt x="51663" y="133350"/>
                    </a:cubicBezTo>
                    <a:cubicBezTo>
                      <a:pt x="41142" y="133350"/>
                      <a:pt x="32613" y="124821"/>
                      <a:pt x="32613" y="114300"/>
                    </a:cubicBezTo>
                    <a:cubicBezTo>
                      <a:pt x="34168" y="103802"/>
                      <a:pt x="30631" y="93191"/>
                      <a:pt x="23088" y="85725"/>
                    </a:cubicBezTo>
                  </a:path>
                </a:pathLst>
              </a:custGeom>
              <a:noFill/>
              <a:ln w="19050">
                <a:solidFill>
                  <a:srgbClr val="FFB300"/>
                </a:solidFill>
              </a:ln>
            </p:spPr>
          </p:sp>
          <p:sp>
            <p:nvSpPr>
              <p:cNvPr id="95" name="Freeform 95"/>
              <p:cNvSpPr/>
              <p:nvPr/>
            </p:nvSpPr>
            <p:spPr>
              <a:xfrm>
                <a:off x="854392" y="6191250"/>
                <a:ext cx="43815" cy="9525"/>
              </a:xfrm>
              <a:custGeom>
                <a:avLst/>
                <a:gdLst/>
                <a:ahLst/>
                <a:cxnLst/>
                <a:rect l="l" t="t" r="r" b="b"/>
                <a:pathLst>
                  <a:path w="43815" h="9525">
                    <a:moveTo>
                      <a:pt x="0" y="0"/>
                    </a:moveTo>
                    <a:lnTo>
                      <a:pt x="43815" y="0"/>
                    </a:lnTo>
                  </a:path>
                </a:pathLst>
              </a:custGeom>
              <a:noFill/>
              <a:ln w="19050">
                <a:solidFill>
                  <a:srgbClr val="FFB300"/>
                </a:solidFill>
              </a:ln>
            </p:spPr>
          </p:sp>
        </p:grpSp>
        <p:sp>
          <p:nvSpPr>
            <p:cNvPr id="97" name="TextBox 97"/>
            <p:cNvSpPr txBox="1"/>
            <p:nvPr/>
          </p:nvSpPr>
          <p:spPr>
            <a:xfrm>
              <a:off x="1082040" y="6049328"/>
              <a:ext cx="1834996" cy="213360"/>
            </a:xfrm>
            <a:prstGeom prst="rect">
              <a:avLst/>
            </a:prstGeom>
            <a:noFill/>
            <a:ln>
              <a:noFill/>
            </a:ln>
          </p:spPr>
          <p:txBody>
            <a:bodyPr wrap="none" lIns="0" tIns="0" rIns="0" bIns="0" anchor="t" anchorCtr="0">
              <a:spAutoFit/>
            </a:bodyPr>
            <a:lstStyle/>
            <a:p>
              <a:pPr algn="l"/>
              <a:r>
                <a:rPr lang="zh-CN" sz="1050" b="1" dirty="0">
                  <a:solidFill>
                    <a:srgbClr val="FFB300"/>
                  </a:solidFill>
                  <a:latin typeface="Cambria"/>
                  <a:ea typeface="SimSun"/>
                  <a:cs typeface="Cambria"/>
                </a:rPr>
                <a:t>统一主线 · UNIFYING THEME</a:t>
              </a:r>
            </a:p>
          </p:txBody>
        </p:sp>
        <p:sp>
          <p:nvSpPr>
            <p:cNvPr id="98" name="TextBox 98"/>
            <p:cNvSpPr txBox="1"/>
            <p:nvPr/>
          </p:nvSpPr>
          <p:spPr>
            <a:xfrm>
              <a:off x="1082992" y="6247924"/>
              <a:ext cx="575848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四问贯穿同一方法学理念:视觉感知 + 专业模型 + 大语言模型 · 领域先验优于盲目堆叠模型容量</a:t>
              </a:r>
            </a:p>
          </p:txBody>
        </p:sp>
      </p:grpSp>
      <p:sp>
        <p:nvSpPr>
          <p:cNvPr id="100" name="TextBox 100"/>
          <p:cNvSpPr txBox="1"/>
          <p:nvPr/>
        </p:nvSpPr>
        <p:spPr>
          <a:xfrm>
            <a:off x="561022" y="6578441"/>
            <a:ext cx="3417079"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6 · End-to-End Panorama</a:t>
            </a:r>
          </a:p>
        </p:txBody>
      </p:sp>
      <p:sp>
        <p:nvSpPr>
          <p:cNvPr id="101" name="TextBox 101"/>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28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91"/>
                                        </p:tgtEl>
                                        <p:attrNameLst>
                                          <p:attrName>style.visibility</p:attrName>
                                        </p:attrNameLst>
                                      </p:cBhvr>
                                      <p:to>
                                        <p:strVal val="visible"/>
                                      </p:to>
                                    </p:set>
                                    <p:animEffect transition="in" filter="wipe(left)">
                                      <p:cBhvr>
                                        <p:cTn id="11" dur="400"/>
                                        <p:tgtEl>
                                          <p:spTgt spid="91"/>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99"/>
                                        </p:tgtEl>
                                        <p:attrNameLst>
                                          <p:attrName>style.visibility</p:attrName>
                                        </p:attrNameLst>
                                      </p:cBhvr>
                                      <p:to>
                                        <p:strVal val="visible"/>
                                      </p:to>
                                    </p:set>
                                    <p:animEffect transition="in" filter="image">
                                      <p:cBhvr>
                                        <p:cTn id="15" dur="4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1" grpId="0"/>
      <p:bldP spid="9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10" name="Group 10"/>
          <p:cNvGrpSpPr/>
          <p:nvPr/>
        </p:nvGrpSpPr>
        <p:grpSpPr>
          <a:xfrm>
            <a:off x="571500" y="457200"/>
            <a:ext cx="10953750" cy="685800"/>
            <a:chOff x="571500" y="457200"/>
            <a:chExt cx="10953750" cy="685800"/>
          </a:xfrm>
        </p:grpSpPr>
        <p:sp>
          <p:nvSpPr>
            <p:cNvPr id="3" name="Rectangle 3"/>
            <p:cNvSpPr/>
            <p:nvPr/>
          </p:nvSpPr>
          <p:spPr>
            <a:xfrm>
              <a:off x="571500" y="457200"/>
              <a:ext cx="57150" cy="381000"/>
            </a:xfrm>
            <a:prstGeom prst="roundRect">
              <a:avLst>
                <a:gd name="adj" fmla="val 50000"/>
              </a:avLst>
            </a:prstGeom>
            <a:solidFill>
              <a:srgbClr val="5C6BC0"/>
            </a:solidFill>
            <a:ln>
              <a:noFill/>
            </a:ln>
          </p:spPr>
        </p:sp>
        <p:sp>
          <p:nvSpPr>
            <p:cNvPr id="4" name="TextBox 4"/>
            <p:cNvSpPr txBox="1"/>
            <p:nvPr/>
          </p:nvSpPr>
          <p:spPr>
            <a:xfrm>
              <a:off x="733425" y="500062"/>
              <a:ext cx="2892504" cy="457200"/>
            </a:xfrm>
            <a:prstGeom prst="rect">
              <a:avLst/>
            </a:prstGeom>
            <a:noFill/>
            <a:ln>
              <a:noFill/>
            </a:ln>
          </p:spPr>
          <p:txBody>
            <a:bodyPr wrap="none" lIns="0" tIns="0" rIns="0" bIns="0" anchor="t" anchorCtr="0">
              <a:spAutoFit/>
            </a:bodyPr>
            <a:lstStyle/>
            <a:p>
              <a:pPr algn="l"/>
              <a:r>
                <a:rPr lang="zh-CN" sz="2250" b="1" dirty="0">
                  <a:solidFill>
                    <a:srgbClr val="1A1A1A"/>
                  </a:solidFill>
                  <a:latin typeface="Cambria"/>
                  <a:ea typeface="SimSun"/>
                  <a:cs typeface="Cambria"/>
                </a:rPr>
                <a:t>研究启示与未来工作</a:t>
              </a:r>
            </a:p>
          </p:txBody>
        </p:sp>
        <p:sp>
          <p:nvSpPr>
            <p:cNvPr id="5" name="TextBox 5"/>
            <p:cNvSpPr txBox="1"/>
            <p:nvPr/>
          </p:nvSpPr>
          <p:spPr>
            <a:xfrm>
              <a:off x="748665" y="896302"/>
              <a:ext cx="4694503" cy="213360"/>
            </a:xfrm>
            <a:prstGeom prst="rect">
              <a:avLst/>
            </a:prstGeom>
            <a:noFill/>
            <a:ln>
              <a:noFill/>
            </a:ln>
          </p:spPr>
          <p:txBody>
            <a:bodyPr wrap="none" lIns="0" tIns="0" rIns="0" bIns="0" anchor="t" anchorCtr="0">
              <a:spAutoFit/>
            </a:bodyPr>
            <a:lstStyle/>
            <a:p>
              <a:pPr algn="l"/>
              <a:r>
                <a:rPr lang="zh-CN" sz="1050" b="1" dirty="0">
                  <a:solidFill>
                    <a:srgbClr val="5F6368"/>
                  </a:solidFill>
                  <a:latin typeface="Arial"/>
                  <a:ea typeface="Microsoft YaHei"/>
                  <a:cs typeface="Arial"/>
                </a:rPr>
                <a:t>CHAPTER 6 · IMPLICATIONS &amp; FUTURE WORK · 1 INSIGHT + 4 DIRECTIONS</a:t>
              </a:r>
            </a:p>
          </p:txBody>
        </p:sp>
        <p:grpSp>
          <p:nvGrpSpPr>
            <p:cNvPr id="9" name="Group 9"/>
            <p:cNvGrpSpPr/>
            <p:nvPr/>
          </p:nvGrpSpPr>
          <p:grpSpPr>
            <a:xfrm>
              <a:off x="9620250" y="571500"/>
              <a:ext cx="1905000" cy="571500"/>
              <a:chOff x="9620250" y="571500"/>
              <a:chExt cx="1905000" cy="571500"/>
            </a:xfrm>
          </p:grpSpPr>
          <p:sp>
            <p:nvSpPr>
              <p:cNvPr id="6" name="Rectangle 6"/>
              <p:cNvSpPr/>
              <p:nvPr/>
            </p:nvSpPr>
            <p:spPr>
              <a:xfrm>
                <a:off x="9620250" y="571500"/>
                <a:ext cx="1905000" cy="571500"/>
              </a:xfrm>
              <a:prstGeom prst="roundRect">
                <a:avLst>
                  <a:gd name="adj" fmla="val 16667"/>
                </a:avLst>
              </a:prstGeom>
              <a:solidFill>
                <a:srgbClr val="F5F7FA"/>
              </a:solidFill>
              <a:ln>
                <a:noFill/>
              </a:ln>
            </p:spPr>
          </p:sp>
          <p:sp>
            <p:nvSpPr>
              <p:cNvPr id="7" name="TextBox 7"/>
              <p:cNvSpPr txBox="1"/>
              <p:nvPr/>
            </p:nvSpPr>
            <p:spPr>
              <a:xfrm>
                <a:off x="9931827" y="692468"/>
                <a:ext cx="1281846" cy="274320"/>
              </a:xfrm>
              <a:prstGeom prst="rect">
                <a:avLst/>
              </a:prstGeom>
              <a:noFill/>
              <a:ln>
                <a:noFill/>
              </a:ln>
            </p:spPr>
            <p:txBody>
              <a:bodyPr wrap="none" lIns="0" tIns="0" rIns="0" bIns="0" anchor="t" anchorCtr="0">
                <a:spAutoFit/>
              </a:bodyPr>
              <a:lstStyle/>
              <a:p>
                <a:pPr algn="ctr"/>
                <a:r>
                  <a:rPr lang="zh-CN" sz="1350" b="1" dirty="0">
                    <a:solidFill>
                      <a:srgbClr val="5C6BC0"/>
                    </a:solidFill>
                    <a:latin typeface="Cambria"/>
                    <a:ea typeface="SimSun"/>
                    <a:cs typeface="Cambria"/>
                  </a:rPr>
                  <a:t>1 启示 + 4 未来</a:t>
                </a:r>
              </a:p>
            </p:txBody>
          </p:sp>
          <p:sp>
            <p:nvSpPr>
              <p:cNvPr id="8" name="TextBox 8"/>
              <p:cNvSpPr txBox="1"/>
              <p:nvPr/>
            </p:nvSpPr>
            <p:spPr>
              <a:xfrm>
                <a:off x="10305253" y="958691"/>
                <a:ext cx="534994" cy="167640"/>
              </a:xfrm>
              <a:prstGeom prst="rect">
                <a:avLst/>
              </a:prstGeom>
              <a:noFill/>
              <a:ln>
                <a:noFill/>
              </a:ln>
            </p:spPr>
            <p:txBody>
              <a:bodyPr wrap="none" lIns="0" tIns="0" rIns="0" bIns="0" anchor="t" anchorCtr="0">
                <a:spAutoFit/>
              </a:bodyPr>
              <a:lstStyle/>
              <a:p>
                <a:pPr algn="ctr"/>
                <a:r>
                  <a:rPr lang="zh-CN" sz="825" b="1" dirty="0">
                    <a:solidFill>
                      <a:srgbClr val="5F6368"/>
                    </a:solidFill>
                    <a:latin typeface="Arial"/>
                    <a:ea typeface="Microsoft YaHei"/>
                    <a:cs typeface="Arial"/>
                  </a:rPr>
                  <a:t>OUTLOOK</a:t>
                </a:r>
              </a:p>
            </p:txBody>
          </p:sp>
        </p:grpSp>
      </p:grpSp>
      <p:sp>
        <p:nvSpPr>
          <p:cNvPr id="11" name="Line 11"/>
          <p:cNvSpPr/>
          <p:nvPr/>
        </p:nvSpPr>
        <p:spPr>
          <a:xfrm>
            <a:off x="571500" y="1285875"/>
            <a:ext cx="11049000" cy="9525"/>
          </a:xfrm>
          <a:custGeom>
            <a:avLst/>
            <a:gdLst/>
            <a:ahLst/>
            <a:cxnLst/>
            <a:rect l="l" t="t" r="r" b="b"/>
            <a:pathLst>
              <a:path w="11049000" h="9525">
                <a:moveTo>
                  <a:pt x="0" y="0"/>
                </a:moveTo>
                <a:lnTo>
                  <a:pt x="11049000" y="0"/>
                </a:lnTo>
              </a:path>
            </a:pathLst>
          </a:custGeom>
          <a:noFill/>
          <a:ln w="14288">
            <a:solidFill>
              <a:srgbClr val="E0E0E0"/>
            </a:solidFill>
          </a:ln>
        </p:spPr>
      </p:sp>
      <p:grpSp>
        <p:nvGrpSpPr>
          <p:cNvPr id="22" name="Group 22"/>
          <p:cNvGrpSpPr/>
          <p:nvPr/>
        </p:nvGrpSpPr>
        <p:grpSpPr>
          <a:xfrm>
            <a:off x="571500" y="1476375"/>
            <a:ext cx="11049000" cy="952500"/>
            <a:chOff x="571500" y="1476375"/>
            <a:chExt cx="11049000" cy="952500"/>
          </a:xfrm>
        </p:grpSpPr>
        <p:sp>
          <p:nvSpPr>
            <p:cNvPr id="12" name="Rectangle 12"/>
            <p:cNvSpPr/>
            <p:nvPr/>
          </p:nvSpPr>
          <p:spPr>
            <a:xfrm>
              <a:off x="571500" y="1476375"/>
              <a:ext cx="11049000" cy="952500"/>
            </a:xfrm>
            <a:prstGeom prst="roundRect">
              <a:avLst>
                <a:gd name="adj" fmla="val 12000"/>
              </a:avLst>
            </a:prstGeom>
            <a:solidFill>
              <a:srgbClr val="FFF8E1"/>
            </a:solidFill>
            <a:ln w="19050">
              <a:solidFill>
                <a:srgbClr val="FF8F00"/>
              </a:solidFill>
            </a:ln>
            <a:effectLst>
              <a:outerShdw blurRad="95250" dist="28575" dir="5400000" algn="ctr" rotWithShape="0">
                <a:srgbClr val="0F172A">
                  <a:alpha val="6000"/>
                </a:srgbClr>
              </a:outerShdw>
            </a:effectLst>
          </p:spPr>
        </p:sp>
        <p:sp>
          <p:nvSpPr>
            <p:cNvPr id="13" name="Rectangle 13"/>
            <p:cNvSpPr/>
            <p:nvPr/>
          </p:nvSpPr>
          <p:spPr>
            <a:xfrm>
              <a:off x="571500" y="1476375"/>
              <a:ext cx="762000" cy="952500"/>
            </a:xfrm>
            <a:prstGeom prst="roundRect">
              <a:avLst>
                <a:gd name="adj" fmla="val 15000"/>
              </a:avLst>
            </a:prstGeom>
            <a:gradFill>
              <a:gsLst>
                <a:gs pos="0">
                  <a:srgbClr val="FF8F00"/>
                </a:gs>
                <a:gs pos="100000">
                  <a:srgbClr val="FFB300"/>
                </a:gs>
              </a:gsLst>
              <a:lin ang="2700000" scaled="1"/>
            </a:gradFill>
            <a:ln>
              <a:noFill/>
            </a:ln>
          </p:spPr>
        </p:sp>
        <p:sp>
          <p:nvSpPr>
            <p:cNvPr id="14" name="Rectangle 14"/>
            <p:cNvSpPr/>
            <p:nvPr/>
          </p:nvSpPr>
          <p:spPr>
            <a:xfrm>
              <a:off x="1219200" y="1476375"/>
              <a:ext cx="114300" cy="952500"/>
            </a:xfrm>
            <a:prstGeom prst="rect">
              <a:avLst/>
            </a:prstGeom>
            <a:gradFill>
              <a:gsLst>
                <a:gs pos="0">
                  <a:srgbClr val="FF8F00"/>
                </a:gs>
                <a:gs pos="100000">
                  <a:srgbClr val="FFB300"/>
                </a:gs>
              </a:gsLst>
              <a:lin ang="2700000" scaled="1"/>
            </a:gradFill>
            <a:ln>
              <a:noFill/>
            </a:ln>
          </p:spPr>
        </p:sp>
        <p:grpSp>
          <p:nvGrpSpPr>
            <p:cNvPr id="18" name="Group 18"/>
            <p:cNvGrpSpPr/>
            <p:nvPr/>
          </p:nvGrpSpPr>
          <p:grpSpPr>
            <a:xfrm>
              <a:off x="838200" y="1847850"/>
              <a:ext cx="228600" cy="228600"/>
              <a:chOff x="838200" y="1847850"/>
              <a:chExt cx="228600" cy="228600"/>
            </a:xfrm>
          </p:grpSpPr>
          <p:sp>
            <p:nvSpPr>
              <p:cNvPr id="15" name="Freeform 15"/>
              <p:cNvSpPr/>
              <p:nvPr/>
            </p:nvSpPr>
            <p:spPr>
              <a:xfrm>
                <a:off x="838200" y="1847850"/>
                <a:ext cx="228600" cy="114300"/>
              </a:xfrm>
              <a:custGeom>
                <a:avLst/>
                <a:gdLst/>
                <a:ahLst/>
                <a:cxnLst/>
                <a:rect l="l" t="t" r="r" b="b"/>
                <a:pathLst>
                  <a:path w="228600" h="114300">
                    <a:moveTo>
                      <a:pt x="0" y="114300"/>
                    </a:moveTo>
                    <a:lnTo>
                      <a:pt x="12700" y="114300"/>
                    </a:lnTo>
                    <a:moveTo>
                      <a:pt x="114300" y="0"/>
                    </a:moveTo>
                    <a:lnTo>
                      <a:pt x="114300" y="12700"/>
                    </a:lnTo>
                    <a:moveTo>
                      <a:pt x="215900" y="114300"/>
                    </a:moveTo>
                    <a:lnTo>
                      <a:pt x="228600" y="114300"/>
                    </a:lnTo>
                    <a:moveTo>
                      <a:pt x="33020" y="33020"/>
                    </a:moveTo>
                    <a:lnTo>
                      <a:pt x="41910" y="41910"/>
                    </a:lnTo>
                    <a:moveTo>
                      <a:pt x="195580" y="33020"/>
                    </a:moveTo>
                    <a:lnTo>
                      <a:pt x="186690" y="41910"/>
                    </a:lnTo>
                  </a:path>
                </a:pathLst>
              </a:custGeom>
              <a:noFill/>
              <a:ln w="19050">
                <a:solidFill>
                  <a:srgbClr val="FFFFFF"/>
                </a:solidFill>
              </a:ln>
            </p:spPr>
          </p:sp>
          <p:sp>
            <p:nvSpPr>
              <p:cNvPr id="16" name="Freeform 16"/>
              <p:cNvSpPr/>
              <p:nvPr/>
            </p:nvSpPr>
            <p:spPr>
              <a:xfrm>
                <a:off x="883615" y="1898650"/>
                <a:ext cx="137769" cy="177800"/>
              </a:xfrm>
              <a:custGeom>
                <a:avLst/>
                <a:gdLst/>
                <a:ahLst/>
                <a:cxnLst/>
                <a:rect l="l" t="t" r="r" b="b"/>
                <a:pathLst>
                  <a:path w="137769" h="177800">
                    <a:moveTo>
                      <a:pt x="30785" y="114300"/>
                    </a:moveTo>
                    <a:cubicBezTo>
                      <a:pt x="8919" y="97901"/>
                      <a:pt x="0" y="69349"/>
                      <a:pt x="8643" y="43420"/>
                    </a:cubicBezTo>
                    <a:cubicBezTo>
                      <a:pt x="17286" y="17490"/>
                      <a:pt x="41552" y="0"/>
                      <a:pt x="68885" y="0"/>
                    </a:cubicBezTo>
                    <a:cubicBezTo>
                      <a:pt x="96217" y="0"/>
                      <a:pt x="120483" y="17490"/>
                      <a:pt x="129126" y="43420"/>
                    </a:cubicBezTo>
                    <a:cubicBezTo>
                      <a:pt x="137769" y="69349"/>
                      <a:pt x="128850" y="97901"/>
                      <a:pt x="106985" y="114300"/>
                    </a:cubicBezTo>
                    <a:cubicBezTo>
                      <a:pt x="96928" y="124255"/>
                      <a:pt x="92212" y="138402"/>
                      <a:pt x="94285" y="152400"/>
                    </a:cubicBezTo>
                    <a:cubicBezTo>
                      <a:pt x="94285" y="166428"/>
                      <a:pt x="82913" y="177800"/>
                      <a:pt x="68885" y="177800"/>
                    </a:cubicBezTo>
                    <a:cubicBezTo>
                      <a:pt x="54857" y="177800"/>
                      <a:pt x="43485" y="166428"/>
                      <a:pt x="43485" y="152400"/>
                    </a:cubicBezTo>
                    <a:cubicBezTo>
                      <a:pt x="45557" y="138402"/>
                      <a:pt x="40841" y="124255"/>
                      <a:pt x="30785" y="114300"/>
                    </a:cubicBezTo>
                  </a:path>
                </a:pathLst>
              </a:custGeom>
              <a:noFill/>
              <a:ln w="19050">
                <a:solidFill>
                  <a:srgbClr val="FFFFFF"/>
                </a:solidFill>
              </a:ln>
            </p:spPr>
          </p:sp>
          <p:sp>
            <p:nvSpPr>
              <p:cNvPr id="17" name="Freeform 17"/>
              <p:cNvSpPr/>
              <p:nvPr/>
            </p:nvSpPr>
            <p:spPr>
              <a:xfrm>
                <a:off x="923290" y="2025650"/>
                <a:ext cx="58420" cy="9525"/>
              </a:xfrm>
              <a:custGeom>
                <a:avLst/>
                <a:gdLst/>
                <a:ahLst/>
                <a:cxnLst/>
                <a:rect l="l" t="t" r="r" b="b"/>
                <a:pathLst>
                  <a:path w="58420" h="9525">
                    <a:moveTo>
                      <a:pt x="0" y="0"/>
                    </a:moveTo>
                    <a:lnTo>
                      <a:pt x="58420" y="0"/>
                    </a:lnTo>
                  </a:path>
                </a:pathLst>
              </a:custGeom>
              <a:noFill/>
              <a:ln w="19050">
                <a:solidFill>
                  <a:srgbClr val="FFFFFF"/>
                </a:solidFill>
              </a:ln>
            </p:spPr>
          </p:sp>
        </p:grpSp>
        <p:sp>
          <p:nvSpPr>
            <p:cNvPr id="19" name="TextBox 19"/>
            <p:cNvSpPr txBox="1"/>
            <p:nvPr/>
          </p:nvSpPr>
          <p:spPr>
            <a:xfrm>
              <a:off x="1511618" y="1675924"/>
              <a:ext cx="1874571" cy="198120"/>
            </a:xfrm>
            <a:prstGeom prst="rect">
              <a:avLst/>
            </a:prstGeom>
            <a:noFill/>
            <a:ln>
              <a:noFill/>
            </a:ln>
          </p:spPr>
          <p:txBody>
            <a:bodyPr wrap="none" lIns="0" tIns="0" rIns="0" bIns="0" anchor="t" anchorCtr="0">
              <a:spAutoFit/>
            </a:bodyPr>
            <a:lstStyle/>
            <a:p>
              <a:pPr algn="l"/>
              <a:r>
                <a:rPr lang="zh-CN" sz="975" b="1" dirty="0">
                  <a:solidFill>
                    <a:srgbClr val="FF8F00"/>
                  </a:solidFill>
                  <a:latin typeface="Cambria"/>
                  <a:ea typeface="SimSun"/>
                  <a:cs typeface="Cambria"/>
                </a:rPr>
                <a:t>CORE IMPLICATION · 核心启示</a:t>
              </a:r>
            </a:p>
          </p:txBody>
        </p:sp>
        <p:sp>
          <p:nvSpPr>
            <p:cNvPr id="20" name="TextBox 20"/>
            <p:cNvSpPr txBox="1"/>
            <p:nvPr/>
          </p:nvSpPr>
          <p:spPr>
            <a:xfrm>
              <a:off x="1503045" y="1888808"/>
              <a:ext cx="5482640" cy="335280"/>
            </a:xfrm>
            <a:prstGeom prst="rect">
              <a:avLst/>
            </a:prstGeom>
            <a:noFill/>
            <a:ln>
              <a:noFill/>
            </a:ln>
          </p:spPr>
          <p:txBody>
            <a:bodyPr wrap="none" lIns="0" tIns="0" rIns="0" bIns="0" anchor="t" anchorCtr="0">
              <a:spAutoFit/>
            </a:bodyPr>
            <a:lstStyle/>
            <a:p>
              <a:pPr algn="l"/>
              <a:r>
                <a:rPr lang="zh-CN" sz="1650" b="1" dirty="0">
                  <a:solidFill>
                    <a:srgbClr val="1A1A1A"/>
                  </a:solidFill>
                  <a:latin typeface="Arial"/>
                  <a:ea typeface="Microsoft YaHei"/>
                  <a:cs typeface="Arial"/>
                </a:rPr>
                <a:t>在物理量估计任务中,领域先验知识比模型容量更重要</a:t>
              </a:r>
            </a:p>
          </p:txBody>
        </p:sp>
        <p:sp>
          <p:nvSpPr>
            <p:cNvPr id="21" name="TextBox 21"/>
            <p:cNvSpPr txBox="1"/>
            <p:nvPr/>
          </p:nvSpPr>
          <p:spPr>
            <a:xfrm>
              <a:off x="1511618" y="2190274"/>
              <a:ext cx="4269796" cy="198120"/>
            </a:xfrm>
            <a:prstGeom prst="rect">
              <a:avLst/>
            </a:prstGeom>
            <a:noFill/>
            <a:ln>
              <a:noFill/>
            </a:ln>
          </p:spPr>
          <p:txBody>
            <a:bodyPr wrap="none" lIns="0" tIns="0" rIns="0" bIns="0" anchor="t" anchorCtr="0">
              <a:spAutoFit/>
            </a:bodyPr>
            <a:lstStyle/>
            <a:p>
              <a:pPr algn="l"/>
              <a:r>
                <a:rPr lang="zh-CN" sz="975" dirty="0">
                  <a:solidFill>
                    <a:srgbClr val="5F6368"/>
                  </a:solidFill>
                  <a:latin typeface="Arial"/>
                  <a:ea typeface="Microsoft YaHei"/>
                  <a:cs typeface="Arial"/>
                </a:rPr>
                <a:t>密度、热量等先验将欠定的"视觉-物理映射"问题转化为可解的分阶段估计</a:t>
              </a:r>
            </a:p>
          </p:txBody>
        </p:sp>
      </p:grpSp>
      <p:sp>
        <p:nvSpPr>
          <p:cNvPr id="23" name="TextBox 23"/>
          <p:cNvSpPr txBox="1"/>
          <p:nvPr/>
        </p:nvSpPr>
        <p:spPr>
          <a:xfrm>
            <a:off x="556260" y="2689860"/>
            <a:ext cx="1878711"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未来工作 · 4 个递进方向</a:t>
            </a:r>
          </a:p>
        </p:txBody>
      </p:sp>
      <p:sp>
        <p:nvSpPr>
          <p:cNvPr id="24" name="Line 24"/>
          <p:cNvSpPr/>
          <p:nvPr/>
        </p:nvSpPr>
        <p:spPr>
          <a:xfrm>
            <a:off x="571500" y="2914650"/>
            <a:ext cx="1524000" cy="9525"/>
          </a:xfrm>
          <a:custGeom>
            <a:avLst/>
            <a:gdLst/>
            <a:ahLst/>
            <a:cxnLst/>
            <a:rect l="l" t="t" r="r" b="b"/>
            <a:pathLst>
              <a:path w="1524000" h="9525">
                <a:moveTo>
                  <a:pt x="0" y="0"/>
                </a:moveTo>
                <a:lnTo>
                  <a:pt x="1524000" y="0"/>
                </a:lnTo>
              </a:path>
            </a:pathLst>
          </a:custGeom>
          <a:noFill/>
          <a:ln w="19050" cap="rnd">
            <a:solidFill>
              <a:srgbClr val="5C6BC0"/>
            </a:solidFill>
          </a:ln>
        </p:spPr>
      </p:sp>
      <p:grpSp>
        <p:nvGrpSpPr>
          <p:cNvPr id="88" name="Group 88"/>
          <p:cNvGrpSpPr/>
          <p:nvPr/>
        </p:nvGrpSpPr>
        <p:grpSpPr>
          <a:xfrm>
            <a:off x="571500" y="3048000"/>
            <a:ext cx="11049000" cy="3190875"/>
            <a:chOff x="571500" y="3048000"/>
            <a:chExt cx="11049000" cy="3190875"/>
          </a:xfrm>
        </p:grpSpPr>
        <p:grpSp>
          <p:nvGrpSpPr>
            <p:cNvPr id="38" name="Group 38"/>
            <p:cNvGrpSpPr/>
            <p:nvPr/>
          </p:nvGrpSpPr>
          <p:grpSpPr>
            <a:xfrm>
              <a:off x="571500" y="3048000"/>
              <a:ext cx="5429250" cy="1524000"/>
              <a:chOff x="571500" y="3048000"/>
              <a:chExt cx="5429250" cy="1524000"/>
            </a:xfrm>
          </p:grpSpPr>
          <p:sp>
            <p:nvSpPr>
              <p:cNvPr id="25" name="Rectangle 25"/>
              <p:cNvSpPr/>
              <p:nvPr/>
            </p:nvSpPr>
            <p:spPr>
              <a:xfrm>
                <a:off x="571500" y="3048000"/>
                <a:ext cx="5429250" cy="1524000"/>
              </a:xfrm>
              <a:prstGeom prst="roundRect">
                <a:avLst>
                  <a:gd name="adj" fmla="val 6250"/>
                </a:avLst>
              </a:prstGeom>
              <a:solidFill>
                <a:srgbClr val="FFFFFF"/>
              </a:solidFill>
              <a:ln w="14288">
                <a:solidFill>
                  <a:srgbClr val="E0E0E0"/>
                </a:solidFill>
              </a:ln>
              <a:effectLst>
                <a:outerShdw blurRad="95250" dist="28575" dir="5400000" algn="ctr" rotWithShape="0">
                  <a:srgbClr val="0F172A">
                    <a:alpha val="6000"/>
                  </a:srgbClr>
                </a:outerShdw>
              </a:effectLst>
            </p:spPr>
          </p:sp>
          <p:sp>
            <p:nvSpPr>
              <p:cNvPr id="26" name="Rectangle 26"/>
              <p:cNvSpPr/>
              <p:nvPr/>
            </p:nvSpPr>
            <p:spPr>
              <a:xfrm>
                <a:off x="704850" y="3181350"/>
                <a:ext cx="381000" cy="381000"/>
              </a:xfrm>
              <a:prstGeom prst="roundRect">
                <a:avLst>
                  <a:gd name="adj" fmla="val 50000"/>
                </a:avLst>
              </a:prstGeom>
              <a:gradFill>
                <a:gsLst>
                  <a:gs pos="0">
                    <a:srgbClr val="1565C0"/>
                  </a:gs>
                  <a:gs pos="100000">
                    <a:srgbClr val="5C6BC0"/>
                  </a:gs>
                </a:gsLst>
                <a:lin ang="2700000" scaled="1"/>
              </a:gradFill>
              <a:ln>
                <a:noFill/>
              </a:ln>
            </p:spPr>
          </p:sp>
          <p:sp>
            <p:nvSpPr>
              <p:cNvPr id="27" name="TextBox 27"/>
              <p:cNvSpPr txBox="1"/>
              <p:nvPr/>
            </p:nvSpPr>
            <p:spPr>
              <a:xfrm>
                <a:off x="849851" y="3292792"/>
                <a:ext cx="9099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1</a:t>
                </a:r>
              </a:p>
            </p:txBody>
          </p:sp>
          <p:grpSp>
            <p:nvGrpSpPr>
              <p:cNvPr id="31" name="Group 31"/>
              <p:cNvGrpSpPr/>
              <p:nvPr/>
            </p:nvGrpSpPr>
            <p:grpSpPr>
              <a:xfrm>
                <a:off x="5572125" y="3217069"/>
                <a:ext cx="190500" cy="214312"/>
                <a:chOff x="5572125" y="3217069"/>
                <a:chExt cx="190500" cy="214312"/>
              </a:xfrm>
            </p:grpSpPr>
            <p:sp>
              <p:nvSpPr>
                <p:cNvPr id="28" name="Freeform 28"/>
                <p:cNvSpPr/>
                <p:nvPr/>
              </p:nvSpPr>
              <p:spPr>
                <a:xfrm>
                  <a:off x="5572125" y="3217069"/>
                  <a:ext cx="190500" cy="71438"/>
                </a:xfrm>
                <a:custGeom>
                  <a:avLst/>
                  <a:gdLst/>
                  <a:ahLst/>
                  <a:cxnLst/>
                  <a:rect l="l" t="t" r="r" b="b"/>
                  <a:pathLst>
                    <a:path w="190500" h="71438">
                      <a:moveTo>
                        <a:pt x="0" y="35719"/>
                      </a:moveTo>
                      <a:cubicBezTo>
                        <a:pt x="0" y="55446"/>
                        <a:pt x="42645" y="71438"/>
                        <a:pt x="95250" y="71438"/>
                      </a:cubicBezTo>
                      <a:cubicBezTo>
                        <a:pt x="147855" y="71438"/>
                        <a:pt x="190500" y="55446"/>
                        <a:pt x="190500" y="35719"/>
                      </a:cubicBezTo>
                      <a:cubicBezTo>
                        <a:pt x="190500" y="15992"/>
                        <a:pt x="147855" y="0"/>
                        <a:pt x="95250" y="0"/>
                      </a:cubicBezTo>
                      <a:cubicBezTo>
                        <a:pt x="42645" y="0"/>
                        <a:pt x="0" y="15992"/>
                        <a:pt x="0" y="35719"/>
                      </a:cubicBezTo>
                    </a:path>
                  </a:pathLst>
                </a:custGeom>
                <a:noFill/>
                <a:ln w="19050">
                  <a:solidFill>
                    <a:srgbClr val="1565C0"/>
                  </a:solidFill>
                </a:ln>
              </p:spPr>
            </p:sp>
            <p:sp>
              <p:nvSpPr>
                <p:cNvPr id="29" name="Freeform 29"/>
                <p:cNvSpPr/>
                <p:nvPr/>
              </p:nvSpPr>
              <p:spPr>
                <a:xfrm>
                  <a:off x="5572125" y="3252788"/>
                  <a:ext cx="190500" cy="107156"/>
                </a:xfrm>
                <a:custGeom>
                  <a:avLst/>
                  <a:gdLst/>
                  <a:ahLst/>
                  <a:cxnLst/>
                  <a:rect l="l" t="t" r="r" b="b"/>
                  <a:pathLst>
                    <a:path w="190500" h="107156">
                      <a:moveTo>
                        <a:pt x="0" y="0"/>
                      </a:moveTo>
                      <a:lnTo>
                        <a:pt x="0" y="71438"/>
                      </a:lnTo>
                      <a:cubicBezTo>
                        <a:pt x="0" y="91164"/>
                        <a:pt x="42645" y="107156"/>
                        <a:pt x="95250" y="107156"/>
                      </a:cubicBezTo>
                      <a:cubicBezTo>
                        <a:pt x="147855" y="107156"/>
                        <a:pt x="190500" y="91164"/>
                        <a:pt x="190500" y="71438"/>
                      </a:cubicBezTo>
                      <a:lnTo>
                        <a:pt x="190500" y="0"/>
                      </a:lnTo>
                    </a:path>
                  </a:pathLst>
                </a:custGeom>
                <a:noFill/>
                <a:ln w="19050">
                  <a:solidFill>
                    <a:srgbClr val="1565C0"/>
                  </a:solidFill>
                </a:ln>
              </p:spPr>
            </p:sp>
            <p:sp>
              <p:nvSpPr>
                <p:cNvPr id="30" name="Freeform 30"/>
                <p:cNvSpPr/>
                <p:nvPr/>
              </p:nvSpPr>
              <p:spPr>
                <a:xfrm>
                  <a:off x="5572125" y="3324225"/>
                  <a:ext cx="190500" cy="107156"/>
                </a:xfrm>
                <a:custGeom>
                  <a:avLst/>
                  <a:gdLst/>
                  <a:ahLst/>
                  <a:cxnLst/>
                  <a:rect l="l" t="t" r="r" b="b"/>
                  <a:pathLst>
                    <a:path w="190500" h="107156">
                      <a:moveTo>
                        <a:pt x="0" y="0"/>
                      </a:moveTo>
                      <a:lnTo>
                        <a:pt x="0" y="71438"/>
                      </a:lnTo>
                      <a:cubicBezTo>
                        <a:pt x="0" y="91164"/>
                        <a:pt x="42645" y="107156"/>
                        <a:pt x="95250" y="107156"/>
                      </a:cubicBezTo>
                      <a:cubicBezTo>
                        <a:pt x="147855" y="107156"/>
                        <a:pt x="190500" y="91164"/>
                        <a:pt x="190500" y="71438"/>
                      </a:cubicBezTo>
                      <a:lnTo>
                        <a:pt x="190500" y="0"/>
                      </a:lnTo>
                    </a:path>
                  </a:pathLst>
                </a:custGeom>
                <a:noFill/>
                <a:ln w="19050">
                  <a:solidFill>
                    <a:srgbClr val="1565C0"/>
                  </a:solidFill>
                </a:ln>
              </p:spPr>
            </p:sp>
          </p:grpSp>
          <p:sp>
            <p:nvSpPr>
              <p:cNvPr id="32" name="TextBox 32"/>
              <p:cNvSpPr txBox="1"/>
              <p:nvPr/>
            </p:nvSpPr>
            <p:spPr>
              <a:xfrm>
                <a:off x="1175385" y="3223260"/>
                <a:ext cx="2214753"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扩展更多食物类别的校准参数</a:t>
                </a:r>
              </a:p>
            </p:txBody>
          </p:sp>
          <p:sp>
            <p:nvSpPr>
              <p:cNvPr id="33" name="TextBox 33"/>
              <p:cNvSpPr txBox="1"/>
              <p:nvPr/>
            </p:nvSpPr>
            <p:spPr>
              <a:xfrm>
                <a:off x="1180148" y="3482816"/>
                <a:ext cx="2134869" cy="167640"/>
              </a:xfrm>
              <a:prstGeom prst="rect">
                <a:avLst/>
              </a:prstGeom>
              <a:noFill/>
              <a:ln>
                <a:noFill/>
              </a:ln>
            </p:spPr>
            <p:txBody>
              <a:bodyPr wrap="none" lIns="0" tIns="0" rIns="0" bIns="0" anchor="t" anchorCtr="0">
                <a:spAutoFit/>
              </a:bodyPr>
              <a:lstStyle/>
              <a:p>
                <a:pPr algn="l"/>
                <a:r>
                  <a:rPr lang="zh-CN" sz="825" b="1" dirty="0">
                    <a:solidFill>
                      <a:srgbClr val="5C6BC0"/>
                    </a:solidFill>
                    <a:latin typeface="Cambria"/>
                    <a:ea typeface="SimSun"/>
                    <a:cs typeface="Cambria"/>
                  </a:rPr>
                  <a:t>FUTURE WORK · CALIBRATION EXPANSION</a:t>
                </a:r>
              </a:p>
            </p:txBody>
          </p:sp>
          <p:sp>
            <p:nvSpPr>
              <p:cNvPr id="34" name="Line 34"/>
              <p:cNvSpPr/>
              <p:nvPr/>
            </p:nvSpPr>
            <p:spPr>
              <a:xfrm>
                <a:off x="762000" y="3714750"/>
                <a:ext cx="5048250" cy="9525"/>
              </a:xfrm>
              <a:custGeom>
                <a:avLst/>
                <a:gdLst/>
                <a:ahLst/>
                <a:cxnLst/>
                <a:rect l="l" t="t" r="r" b="b"/>
                <a:pathLst>
                  <a:path w="5048250" h="9525">
                    <a:moveTo>
                      <a:pt x="0" y="0"/>
                    </a:moveTo>
                    <a:lnTo>
                      <a:pt x="5048250" y="0"/>
                    </a:lnTo>
                  </a:path>
                </a:pathLst>
              </a:custGeom>
              <a:noFill/>
              <a:ln w="9525">
                <a:solidFill>
                  <a:srgbClr val="E0E0E0"/>
                </a:solidFill>
                <a:custDash>
                  <a:ds d="300000" sp="300000"/>
                </a:custDash>
              </a:ln>
            </p:spPr>
          </p:sp>
          <p:sp>
            <p:nvSpPr>
              <p:cNvPr id="35" name="TextBox 35"/>
              <p:cNvSpPr txBox="1"/>
              <p:nvPr/>
            </p:nvSpPr>
            <p:spPr>
              <a:xfrm>
                <a:off x="749618" y="3819049"/>
                <a:ext cx="1565458"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当前校准覆盖部分高频类</a:t>
                </a:r>
              </a:p>
            </p:txBody>
          </p:sp>
          <p:sp>
            <p:nvSpPr>
              <p:cNvPr id="36" name="TextBox 36"/>
              <p:cNvSpPr txBox="1"/>
              <p:nvPr/>
            </p:nvSpPr>
            <p:spPr>
              <a:xfrm>
                <a:off x="749618" y="4028599"/>
                <a:ext cx="1636967"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扩展至 MM-Food 全 55 类</a:t>
                </a:r>
              </a:p>
            </p:txBody>
          </p:sp>
          <p:sp>
            <p:nvSpPr>
              <p:cNvPr id="37" name="TextBox 37"/>
              <p:cNvSpPr txBox="1"/>
              <p:nvPr/>
            </p:nvSpPr>
            <p:spPr>
              <a:xfrm>
                <a:off x="749618" y="4238149"/>
                <a:ext cx="1565458"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进一步迁移至中餐数千类</a:t>
                </a:r>
              </a:p>
            </p:txBody>
          </p:sp>
        </p:grpSp>
        <p:grpSp>
          <p:nvGrpSpPr>
            <p:cNvPr id="54" name="Group 54"/>
            <p:cNvGrpSpPr/>
            <p:nvPr/>
          </p:nvGrpSpPr>
          <p:grpSpPr>
            <a:xfrm>
              <a:off x="6191250" y="3048000"/>
              <a:ext cx="5429250" cy="1524000"/>
              <a:chOff x="6191250" y="3048000"/>
              <a:chExt cx="5429250" cy="1524000"/>
            </a:xfrm>
          </p:grpSpPr>
          <p:sp>
            <p:nvSpPr>
              <p:cNvPr id="39" name="Rectangle 39"/>
              <p:cNvSpPr/>
              <p:nvPr/>
            </p:nvSpPr>
            <p:spPr>
              <a:xfrm>
                <a:off x="6191250" y="3048000"/>
                <a:ext cx="5429250" cy="1524000"/>
              </a:xfrm>
              <a:prstGeom prst="roundRect">
                <a:avLst>
                  <a:gd name="adj" fmla="val 6250"/>
                </a:avLst>
              </a:prstGeom>
              <a:solidFill>
                <a:srgbClr val="FFFFFF"/>
              </a:solidFill>
              <a:ln w="14288">
                <a:solidFill>
                  <a:srgbClr val="E0E0E0"/>
                </a:solidFill>
              </a:ln>
              <a:effectLst>
                <a:outerShdw blurRad="95250" dist="28575" dir="5400000" algn="ctr" rotWithShape="0">
                  <a:srgbClr val="0F172A">
                    <a:alpha val="6000"/>
                  </a:srgbClr>
                </a:outerShdw>
              </a:effectLst>
            </p:spPr>
          </p:sp>
          <p:sp>
            <p:nvSpPr>
              <p:cNvPr id="40" name="Rectangle 40"/>
              <p:cNvSpPr/>
              <p:nvPr/>
            </p:nvSpPr>
            <p:spPr>
              <a:xfrm>
                <a:off x="6324600" y="3181350"/>
                <a:ext cx="381000" cy="381000"/>
              </a:xfrm>
              <a:prstGeom prst="roundRect">
                <a:avLst>
                  <a:gd name="adj" fmla="val 50000"/>
                </a:avLst>
              </a:prstGeom>
              <a:gradFill>
                <a:gsLst>
                  <a:gs pos="0">
                    <a:srgbClr val="1565C0"/>
                  </a:gs>
                  <a:gs pos="100000">
                    <a:srgbClr val="5C6BC0"/>
                  </a:gs>
                </a:gsLst>
                <a:lin ang="2700000" scaled="1"/>
              </a:gradFill>
              <a:ln>
                <a:noFill/>
              </a:ln>
            </p:spPr>
          </p:sp>
          <p:sp>
            <p:nvSpPr>
              <p:cNvPr id="41" name="TextBox 41"/>
              <p:cNvSpPr txBox="1"/>
              <p:nvPr/>
            </p:nvSpPr>
            <p:spPr>
              <a:xfrm>
                <a:off x="6445974" y="32927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2</a:t>
                </a:r>
              </a:p>
            </p:txBody>
          </p:sp>
          <p:grpSp>
            <p:nvGrpSpPr>
              <p:cNvPr id="47" name="Group 47"/>
              <p:cNvGrpSpPr/>
              <p:nvPr/>
            </p:nvGrpSpPr>
            <p:grpSpPr>
              <a:xfrm>
                <a:off x="11179969" y="3217069"/>
                <a:ext cx="214313" cy="211931"/>
                <a:chOff x="11179969" y="3217069"/>
                <a:chExt cx="214313" cy="211931"/>
              </a:xfrm>
            </p:grpSpPr>
            <p:sp>
              <p:nvSpPr>
                <p:cNvPr id="42" name="Freeform 42"/>
                <p:cNvSpPr/>
                <p:nvPr/>
              </p:nvSpPr>
              <p:spPr>
                <a:xfrm>
                  <a:off x="11227594" y="3419475"/>
                  <a:ext cx="119062" cy="9525"/>
                </a:xfrm>
                <a:custGeom>
                  <a:avLst/>
                  <a:gdLst/>
                  <a:ahLst/>
                  <a:cxnLst/>
                  <a:rect l="l" t="t" r="r" b="b"/>
                  <a:pathLst>
                    <a:path w="119062" h="9525">
                      <a:moveTo>
                        <a:pt x="0" y="0"/>
                      </a:moveTo>
                      <a:lnTo>
                        <a:pt x="119062" y="0"/>
                      </a:lnTo>
                    </a:path>
                  </a:pathLst>
                </a:custGeom>
                <a:noFill/>
                <a:ln w="19050">
                  <a:solidFill>
                    <a:srgbClr val="FF8F00"/>
                  </a:solidFill>
                </a:ln>
              </p:spPr>
            </p:sp>
            <p:sp>
              <p:nvSpPr>
                <p:cNvPr id="43" name="Freeform 43"/>
                <p:cNvSpPr/>
                <p:nvPr/>
              </p:nvSpPr>
              <p:spPr>
                <a:xfrm>
                  <a:off x="11215688" y="3240881"/>
                  <a:ext cx="142875" cy="11906"/>
                </a:xfrm>
                <a:custGeom>
                  <a:avLst/>
                  <a:gdLst/>
                  <a:ahLst/>
                  <a:cxnLst/>
                  <a:rect l="l" t="t" r="r" b="b"/>
                  <a:pathLst>
                    <a:path w="142875" h="11906">
                      <a:moveTo>
                        <a:pt x="0" y="11906"/>
                      </a:moveTo>
                      <a:lnTo>
                        <a:pt x="71438" y="0"/>
                      </a:lnTo>
                      <a:lnTo>
                        <a:pt x="142875" y="11906"/>
                      </a:lnTo>
                    </a:path>
                  </a:pathLst>
                </a:custGeom>
                <a:noFill/>
                <a:ln w="19050">
                  <a:solidFill>
                    <a:srgbClr val="FF8F00"/>
                  </a:solidFill>
                </a:ln>
              </p:spPr>
            </p:sp>
            <p:sp>
              <p:nvSpPr>
                <p:cNvPr id="44" name="Freeform 44"/>
                <p:cNvSpPr/>
                <p:nvPr/>
              </p:nvSpPr>
              <p:spPr>
                <a:xfrm>
                  <a:off x="11287125" y="3217069"/>
                  <a:ext cx="9525" cy="202406"/>
                </a:xfrm>
                <a:custGeom>
                  <a:avLst/>
                  <a:gdLst/>
                  <a:ahLst/>
                  <a:cxnLst/>
                  <a:rect l="l" t="t" r="r" b="b"/>
                  <a:pathLst>
                    <a:path w="9525" h="202406">
                      <a:moveTo>
                        <a:pt x="0" y="0"/>
                      </a:moveTo>
                      <a:lnTo>
                        <a:pt x="0" y="202406"/>
                      </a:lnTo>
                    </a:path>
                  </a:pathLst>
                </a:custGeom>
                <a:noFill/>
                <a:ln w="19050">
                  <a:solidFill>
                    <a:srgbClr val="FF8F00"/>
                  </a:solidFill>
                </a:ln>
              </p:spPr>
            </p:sp>
            <p:sp>
              <p:nvSpPr>
                <p:cNvPr id="45" name="Freeform 45"/>
                <p:cNvSpPr/>
                <p:nvPr/>
              </p:nvSpPr>
              <p:spPr>
                <a:xfrm>
                  <a:off x="11179969" y="3252788"/>
                  <a:ext cx="71438" cy="107156"/>
                </a:xfrm>
                <a:custGeom>
                  <a:avLst/>
                  <a:gdLst/>
                  <a:ahLst/>
                  <a:cxnLst/>
                  <a:rect l="l" t="t" r="r" b="b"/>
                  <a:pathLst>
                    <a:path w="71438" h="107156">
                      <a:moveTo>
                        <a:pt x="71438" y="71438"/>
                      </a:moveTo>
                      <a:lnTo>
                        <a:pt x="35719" y="0"/>
                      </a:lnTo>
                      <a:lnTo>
                        <a:pt x="0" y="71438"/>
                      </a:lnTo>
                      <a:cubicBezTo>
                        <a:pt x="0" y="91164"/>
                        <a:pt x="15992" y="107156"/>
                        <a:pt x="35719" y="107156"/>
                      </a:cubicBezTo>
                      <a:cubicBezTo>
                        <a:pt x="55446" y="107156"/>
                        <a:pt x="71438" y="91164"/>
                        <a:pt x="71438" y="71438"/>
                      </a:cubicBezTo>
                    </a:path>
                  </a:pathLst>
                </a:custGeom>
                <a:noFill/>
                <a:ln w="19050">
                  <a:solidFill>
                    <a:srgbClr val="FF8F00"/>
                  </a:solidFill>
                </a:ln>
              </p:spPr>
            </p:sp>
            <p:sp>
              <p:nvSpPr>
                <p:cNvPr id="46" name="Freeform 46"/>
                <p:cNvSpPr/>
                <p:nvPr/>
              </p:nvSpPr>
              <p:spPr>
                <a:xfrm>
                  <a:off x="11322844" y="3252788"/>
                  <a:ext cx="71438" cy="107156"/>
                </a:xfrm>
                <a:custGeom>
                  <a:avLst/>
                  <a:gdLst/>
                  <a:ahLst/>
                  <a:cxnLst/>
                  <a:rect l="l" t="t" r="r" b="b"/>
                  <a:pathLst>
                    <a:path w="71438" h="107156">
                      <a:moveTo>
                        <a:pt x="71438" y="71438"/>
                      </a:moveTo>
                      <a:lnTo>
                        <a:pt x="35719" y="0"/>
                      </a:lnTo>
                      <a:lnTo>
                        <a:pt x="0" y="71438"/>
                      </a:lnTo>
                      <a:cubicBezTo>
                        <a:pt x="0" y="91164"/>
                        <a:pt x="15992" y="107156"/>
                        <a:pt x="35719" y="107156"/>
                      </a:cubicBezTo>
                      <a:cubicBezTo>
                        <a:pt x="55446" y="107156"/>
                        <a:pt x="71438" y="91164"/>
                        <a:pt x="71438" y="71438"/>
                      </a:cubicBezTo>
                    </a:path>
                  </a:pathLst>
                </a:custGeom>
                <a:noFill/>
                <a:ln w="19050">
                  <a:solidFill>
                    <a:srgbClr val="FF8F00"/>
                  </a:solidFill>
                </a:ln>
              </p:spPr>
            </p:sp>
          </p:grpSp>
          <p:sp>
            <p:nvSpPr>
              <p:cNvPr id="48" name="TextBox 48"/>
              <p:cNvSpPr txBox="1"/>
              <p:nvPr/>
            </p:nvSpPr>
            <p:spPr>
              <a:xfrm>
                <a:off x="6795135" y="3223260"/>
                <a:ext cx="1878711"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加入参照物检测解决尺度</a:t>
                </a:r>
              </a:p>
            </p:txBody>
          </p:sp>
          <p:sp>
            <p:nvSpPr>
              <p:cNvPr id="49" name="TextBox 49"/>
              <p:cNvSpPr txBox="1"/>
              <p:nvPr/>
            </p:nvSpPr>
            <p:spPr>
              <a:xfrm>
                <a:off x="6799898" y="3482816"/>
                <a:ext cx="1880737" cy="167640"/>
              </a:xfrm>
              <a:prstGeom prst="rect">
                <a:avLst/>
              </a:prstGeom>
              <a:noFill/>
              <a:ln>
                <a:noFill/>
              </a:ln>
            </p:spPr>
            <p:txBody>
              <a:bodyPr wrap="none" lIns="0" tIns="0" rIns="0" bIns="0" anchor="t" anchorCtr="0">
                <a:spAutoFit/>
              </a:bodyPr>
              <a:lstStyle/>
              <a:p>
                <a:pPr algn="l"/>
                <a:r>
                  <a:rPr lang="zh-CN" sz="825" b="1" dirty="0">
                    <a:solidFill>
                      <a:srgbClr val="5C6BC0"/>
                    </a:solidFill>
                    <a:latin typeface="Cambria"/>
                    <a:ea typeface="SimSun"/>
                    <a:cs typeface="Cambria"/>
                  </a:rPr>
                  <a:t>FUTURE WORK · REFERENCE OBJECT</a:t>
                </a:r>
              </a:p>
            </p:txBody>
          </p:sp>
          <p:sp>
            <p:nvSpPr>
              <p:cNvPr id="50" name="Line 50"/>
              <p:cNvSpPr/>
              <p:nvPr/>
            </p:nvSpPr>
            <p:spPr>
              <a:xfrm>
                <a:off x="6381750" y="3714750"/>
                <a:ext cx="5048250" cy="9525"/>
              </a:xfrm>
              <a:custGeom>
                <a:avLst/>
                <a:gdLst/>
                <a:ahLst/>
                <a:cxnLst/>
                <a:rect l="l" t="t" r="r" b="b"/>
                <a:pathLst>
                  <a:path w="5048250" h="9525">
                    <a:moveTo>
                      <a:pt x="0" y="0"/>
                    </a:moveTo>
                    <a:lnTo>
                      <a:pt x="5048250" y="0"/>
                    </a:lnTo>
                  </a:path>
                </a:pathLst>
              </a:custGeom>
              <a:noFill/>
              <a:ln w="9525">
                <a:solidFill>
                  <a:srgbClr val="E0E0E0"/>
                </a:solidFill>
                <a:custDash>
                  <a:ds d="300000" sp="300000"/>
                </a:custDash>
              </a:ln>
            </p:spPr>
          </p:sp>
          <p:sp>
            <p:nvSpPr>
              <p:cNvPr id="51" name="TextBox 51"/>
              <p:cNvSpPr txBox="1"/>
              <p:nvPr/>
            </p:nvSpPr>
            <p:spPr>
              <a:xfrm>
                <a:off x="6369368" y="3819049"/>
                <a:ext cx="1565458"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检测硬币、餐具、纸巾等</a:t>
                </a:r>
              </a:p>
            </p:txBody>
          </p:sp>
          <p:sp>
            <p:nvSpPr>
              <p:cNvPr id="52" name="TextBox 52"/>
              <p:cNvSpPr txBox="1"/>
              <p:nvPr/>
            </p:nvSpPr>
            <p:spPr>
              <a:xfrm>
                <a:off x="6369368" y="4028599"/>
                <a:ext cx="1584960"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像素 → 厘米绝对尺度标定</a:t>
                </a:r>
              </a:p>
            </p:txBody>
          </p:sp>
          <p:sp>
            <p:nvSpPr>
              <p:cNvPr id="53" name="TextBox 53"/>
              <p:cNvSpPr txBox="1"/>
              <p:nvPr/>
            </p:nvSpPr>
            <p:spPr>
              <a:xfrm>
                <a:off x="6369368" y="4238149"/>
                <a:ext cx="1506950"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解决米饭 412g 偏高问题</a:t>
                </a:r>
              </a:p>
            </p:txBody>
          </p:sp>
        </p:grpSp>
        <p:grpSp>
          <p:nvGrpSpPr>
            <p:cNvPr id="71" name="Group 71"/>
            <p:cNvGrpSpPr/>
            <p:nvPr/>
          </p:nvGrpSpPr>
          <p:grpSpPr>
            <a:xfrm>
              <a:off x="571500" y="4714875"/>
              <a:ext cx="5429250" cy="1524000"/>
              <a:chOff x="571500" y="4714875"/>
              <a:chExt cx="5429250" cy="1524000"/>
            </a:xfrm>
          </p:grpSpPr>
          <p:sp>
            <p:nvSpPr>
              <p:cNvPr id="55" name="Rectangle 55"/>
              <p:cNvSpPr/>
              <p:nvPr/>
            </p:nvSpPr>
            <p:spPr>
              <a:xfrm>
                <a:off x="571500" y="4714875"/>
                <a:ext cx="5429250" cy="1524000"/>
              </a:xfrm>
              <a:prstGeom prst="roundRect">
                <a:avLst>
                  <a:gd name="adj" fmla="val 6250"/>
                </a:avLst>
              </a:prstGeom>
              <a:solidFill>
                <a:srgbClr val="FFFFFF"/>
              </a:solidFill>
              <a:ln w="14288">
                <a:solidFill>
                  <a:srgbClr val="E0E0E0"/>
                </a:solidFill>
              </a:ln>
              <a:effectLst>
                <a:outerShdw blurRad="95250" dist="28575" dir="5400000" algn="ctr" rotWithShape="0">
                  <a:srgbClr val="0F172A">
                    <a:alpha val="6000"/>
                  </a:srgbClr>
                </a:outerShdw>
              </a:effectLst>
            </p:spPr>
          </p:sp>
          <p:sp>
            <p:nvSpPr>
              <p:cNvPr id="56" name="Rectangle 56"/>
              <p:cNvSpPr/>
              <p:nvPr/>
            </p:nvSpPr>
            <p:spPr>
              <a:xfrm>
                <a:off x="704850" y="4848225"/>
                <a:ext cx="381000" cy="381000"/>
              </a:xfrm>
              <a:prstGeom prst="roundRect">
                <a:avLst>
                  <a:gd name="adj" fmla="val 50000"/>
                </a:avLst>
              </a:prstGeom>
              <a:gradFill>
                <a:gsLst>
                  <a:gs pos="0">
                    <a:srgbClr val="1565C0"/>
                  </a:gs>
                  <a:gs pos="100000">
                    <a:srgbClr val="5C6BC0"/>
                  </a:gs>
                </a:gsLst>
                <a:lin ang="2700000" scaled="1"/>
              </a:gradFill>
              <a:ln>
                <a:noFill/>
              </a:ln>
            </p:spPr>
          </p:sp>
          <p:sp>
            <p:nvSpPr>
              <p:cNvPr id="57" name="TextBox 57"/>
              <p:cNvSpPr txBox="1"/>
              <p:nvPr/>
            </p:nvSpPr>
            <p:spPr>
              <a:xfrm>
                <a:off x="826224" y="49596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3</a:t>
                </a:r>
              </a:p>
            </p:txBody>
          </p:sp>
          <p:grpSp>
            <p:nvGrpSpPr>
              <p:cNvPr id="64" name="Group 64"/>
              <p:cNvGrpSpPr/>
              <p:nvPr/>
            </p:nvGrpSpPr>
            <p:grpSpPr>
              <a:xfrm>
                <a:off x="5560219" y="4883944"/>
                <a:ext cx="214312" cy="214312"/>
                <a:chOff x="5560219" y="4883944"/>
                <a:chExt cx="214312" cy="214312"/>
              </a:xfrm>
            </p:grpSpPr>
            <p:sp>
              <p:nvSpPr>
                <p:cNvPr id="58" name="Freeform 58"/>
                <p:cNvSpPr/>
                <p:nvPr/>
              </p:nvSpPr>
              <p:spPr>
                <a:xfrm>
                  <a:off x="5667375" y="5003006"/>
                  <a:ext cx="83344" cy="95250"/>
                </a:xfrm>
                <a:custGeom>
                  <a:avLst/>
                  <a:gdLst/>
                  <a:ahLst/>
                  <a:cxnLst/>
                  <a:rect l="l" t="t" r="r" b="b"/>
                  <a:pathLst>
                    <a:path w="83344" h="95250">
                      <a:moveTo>
                        <a:pt x="41672" y="0"/>
                      </a:moveTo>
                      <a:cubicBezTo>
                        <a:pt x="18657" y="0"/>
                        <a:pt x="0" y="18657"/>
                        <a:pt x="0" y="41672"/>
                      </a:cubicBezTo>
                      <a:lnTo>
                        <a:pt x="0" y="53578"/>
                      </a:lnTo>
                      <a:cubicBezTo>
                        <a:pt x="0" y="76593"/>
                        <a:pt x="18657" y="95250"/>
                        <a:pt x="41672" y="95250"/>
                      </a:cubicBezTo>
                      <a:cubicBezTo>
                        <a:pt x="64687" y="95250"/>
                        <a:pt x="83344" y="76593"/>
                        <a:pt x="83344" y="53578"/>
                      </a:cubicBezTo>
                      <a:lnTo>
                        <a:pt x="83344" y="32147"/>
                      </a:lnTo>
                    </a:path>
                  </a:pathLst>
                </a:custGeom>
                <a:noFill/>
                <a:ln w="19050">
                  <a:solidFill>
                    <a:srgbClr val="1565C0"/>
                  </a:solidFill>
                </a:ln>
              </p:spPr>
            </p:sp>
            <p:sp>
              <p:nvSpPr>
                <p:cNvPr id="59" name="Freeform 59"/>
                <p:cNvSpPr/>
                <p:nvPr/>
              </p:nvSpPr>
              <p:spPr>
                <a:xfrm>
                  <a:off x="5584031" y="5003006"/>
                  <a:ext cx="83344" cy="95250"/>
                </a:xfrm>
                <a:custGeom>
                  <a:avLst/>
                  <a:gdLst/>
                  <a:ahLst/>
                  <a:cxnLst/>
                  <a:rect l="l" t="t" r="r" b="b"/>
                  <a:pathLst>
                    <a:path w="83344" h="95250">
                      <a:moveTo>
                        <a:pt x="41672" y="0"/>
                      </a:moveTo>
                      <a:cubicBezTo>
                        <a:pt x="64687" y="0"/>
                        <a:pt x="83344" y="18657"/>
                        <a:pt x="83344" y="41672"/>
                      </a:cubicBezTo>
                      <a:lnTo>
                        <a:pt x="83344" y="53578"/>
                      </a:lnTo>
                      <a:cubicBezTo>
                        <a:pt x="83344" y="76593"/>
                        <a:pt x="64687" y="95250"/>
                        <a:pt x="41672" y="95250"/>
                      </a:cubicBezTo>
                      <a:cubicBezTo>
                        <a:pt x="18657" y="95250"/>
                        <a:pt x="0" y="76593"/>
                        <a:pt x="0" y="53578"/>
                      </a:cubicBezTo>
                      <a:lnTo>
                        <a:pt x="0" y="32147"/>
                      </a:lnTo>
                    </a:path>
                  </a:pathLst>
                </a:custGeom>
                <a:noFill/>
                <a:ln w="19050">
                  <a:solidFill>
                    <a:srgbClr val="1565C0"/>
                  </a:solidFill>
                </a:ln>
              </p:spPr>
            </p:sp>
            <p:sp>
              <p:nvSpPr>
                <p:cNvPr id="60" name="Freeform 60"/>
                <p:cNvSpPr/>
                <p:nvPr/>
              </p:nvSpPr>
              <p:spPr>
                <a:xfrm>
                  <a:off x="5726906" y="4955381"/>
                  <a:ext cx="47625" cy="83344"/>
                </a:xfrm>
                <a:custGeom>
                  <a:avLst/>
                  <a:gdLst/>
                  <a:ahLst/>
                  <a:cxnLst/>
                  <a:rect l="l" t="t" r="r" b="b"/>
                  <a:pathLst>
                    <a:path w="47625" h="83344">
                      <a:moveTo>
                        <a:pt x="5953" y="83344"/>
                      </a:moveTo>
                      <a:cubicBezTo>
                        <a:pt x="28968" y="83344"/>
                        <a:pt x="47625" y="64687"/>
                        <a:pt x="47625" y="41672"/>
                      </a:cubicBezTo>
                      <a:cubicBezTo>
                        <a:pt x="47625" y="18657"/>
                        <a:pt x="28968" y="0"/>
                        <a:pt x="5953" y="0"/>
                      </a:cubicBezTo>
                      <a:lnTo>
                        <a:pt x="0" y="0"/>
                      </a:lnTo>
                    </a:path>
                  </a:pathLst>
                </a:custGeom>
                <a:noFill/>
                <a:ln w="19050">
                  <a:solidFill>
                    <a:srgbClr val="1565C0"/>
                  </a:solidFill>
                </a:ln>
              </p:spPr>
            </p:sp>
            <p:sp>
              <p:nvSpPr>
                <p:cNvPr id="61" name="Freeform 61"/>
                <p:cNvSpPr/>
                <p:nvPr/>
              </p:nvSpPr>
              <p:spPr>
                <a:xfrm>
                  <a:off x="5667375" y="4883944"/>
                  <a:ext cx="83344" cy="75009"/>
                </a:xfrm>
                <a:custGeom>
                  <a:avLst/>
                  <a:gdLst/>
                  <a:ahLst/>
                  <a:cxnLst/>
                  <a:rect l="l" t="t" r="r" b="b"/>
                  <a:pathLst>
                    <a:path w="83344" h="75009">
                      <a:moveTo>
                        <a:pt x="83344" y="75009"/>
                      </a:moveTo>
                      <a:lnTo>
                        <a:pt x="83344" y="41672"/>
                      </a:lnTo>
                      <a:cubicBezTo>
                        <a:pt x="83344" y="18657"/>
                        <a:pt x="64687" y="0"/>
                        <a:pt x="41672" y="0"/>
                      </a:cubicBezTo>
                      <a:cubicBezTo>
                        <a:pt x="18657" y="0"/>
                        <a:pt x="0" y="18657"/>
                        <a:pt x="0" y="41672"/>
                      </a:cubicBezTo>
                    </a:path>
                  </a:pathLst>
                </a:custGeom>
                <a:noFill/>
                <a:ln w="19050">
                  <a:solidFill>
                    <a:srgbClr val="1565C0"/>
                  </a:solidFill>
                </a:ln>
              </p:spPr>
            </p:sp>
            <p:sp>
              <p:nvSpPr>
                <p:cNvPr id="62" name="Freeform 62"/>
                <p:cNvSpPr/>
                <p:nvPr/>
              </p:nvSpPr>
              <p:spPr>
                <a:xfrm>
                  <a:off x="5560219" y="4955381"/>
                  <a:ext cx="47625" cy="83344"/>
                </a:xfrm>
                <a:custGeom>
                  <a:avLst/>
                  <a:gdLst/>
                  <a:ahLst/>
                  <a:cxnLst/>
                  <a:rect l="l" t="t" r="r" b="b"/>
                  <a:pathLst>
                    <a:path w="47625" h="83344">
                      <a:moveTo>
                        <a:pt x="41672" y="83344"/>
                      </a:moveTo>
                      <a:cubicBezTo>
                        <a:pt x="18657" y="83344"/>
                        <a:pt x="0" y="64687"/>
                        <a:pt x="0" y="41672"/>
                      </a:cubicBezTo>
                      <a:cubicBezTo>
                        <a:pt x="0" y="18657"/>
                        <a:pt x="18657" y="0"/>
                        <a:pt x="41672" y="0"/>
                      </a:cubicBezTo>
                      <a:lnTo>
                        <a:pt x="47625" y="0"/>
                      </a:lnTo>
                    </a:path>
                  </a:pathLst>
                </a:custGeom>
                <a:noFill/>
                <a:ln w="19050">
                  <a:solidFill>
                    <a:srgbClr val="1565C0"/>
                  </a:solidFill>
                </a:ln>
              </p:spPr>
            </p:sp>
            <p:sp>
              <p:nvSpPr>
                <p:cNvPr id="63" name="Freeform 63"/>
                <p:cNvSpPr/>
                <p:nvPr/>
              </p:nvSpPr>
              <p:spPr>
                <a:xfrm>
                  <a:off x="5584031" y="4883944"/>
                  <a:ext cx="83344" cy="160734"/>
                </a:xfrm>
                <a:custGeom>
                  <a:avLst/>
                  <a:gdLst/>
                  <a:ahLst/>
                  <a:cxnLst/>
                  <a:rect l="l" t="t" r="r" b="b"/>
                  <a:pathLst>
                    <a:path w="83344" h="160734">
                      <a:moveTo>
                        <a:pt x="0" y="75009"/>
                      </a:moveTo>
                      <a:lnTo>
                        <a:pt x="0" y="41672"/>
                      </a:lnTo>
                      <a:cubicBezTo>
                        <a:pt x="0" y="18657"/>
                        <a:pt x="18657" y="0"/>
                        <a:pt x="41672" y="0"/>
                      </a:cubicBezTo>
                      <a:cubicBezTo>
                        <a:pt x="64687" y="0"/>
                        <a:pt x="83344" y="18657"/>
                        <a:pt x="83344" y="41672"/>
                      </a:cubicBezTo>
                      <a:lnTo>
                        <a:pt x="83344" y="160734"/>
                      </a:lnTo>
                    </a:path>
                  </a:pathLst>
                </a:custGeom>
                <a:noFill/>
                <a:ln w="19050">
                  <a:solidFill>
                    <a:srgbClr val="1565C0"/>
                  </a:solidFill>
                </a:ln>
              </p:spPr>
            </p:sp>
          </p:grpSp>
          <p:sp>
            <p:nvSpPr>
              <p:cNvPr id="65" name="TextBox 65"/>
              <p:cNvSpPr txBox="1"/>
              <p:nvPr/>
            </p:nvSpPr>
            <p:spPr>
              <a:xfrm>
                <a:off x="1175385" y="4890135"/>
                <a:ext cx="2088737"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使用专用分类模型替代 CLIP</a:t>
                </a:r>
              </a:p>
            </p:txBody>
          </p:sp>
          <p:sp>
            <p:nvSpPr>
              <p:cNvPr id="66" name="TextBox 66"/>
              <p:cNvSpPr txBox="1"/>
              <p:nvPr/>
            </p:nvSpPr>
            <p:spPr>
              <a:xfrm>
                <a:off x="1180148" y="5149691"/>
                <a:ext cx="1909616" cy="167640"/>
              </a:xfrm>
              <a:prstGeom prst="rect">
                <a:avLst/>
              </a:prstGeom>
              <a:noFill/>
              <a:ln>
                <a:noFill/>
              </a:ln>
            </p:spPr>
            <p:txBody>
              <a:bodyPr wrap="none" lIns="0" tIns="0" rIns="0" bIns="0" anchor="t" anchorCtr="0">
                <a:spAutoFit/>
              </a:bodyPr>
              <a:lstStyle/>
              <a:p>
                <a:pPr algn="l"/>
                <a:r>
                  <a:rPr lang="zh-CN" sz="825" b="1" dirty="0">
                    <a:solidFill>
                      <a:srgbClr val="5C6BC0"/>
                    </a:solidFill>
                    <a:latin typeface="Cambria"/>
                    <a:ea typeface="SimSun"/>
                    <a:cs typeface="Cambria"/>
                  </a:rPr>
                  <a:t>FUTURE WORK · SPECIALIZED MODEL</a:t>
                </a:r>
              </a:p>
            </p:txBody>
          </p:sp>
          <p:sp>
            <p:nvSpPr>
              <p:cNvPr id="67" name="Line 67"/>
              <p:cNvSpPr/>
              <p:nvPr/>
            </p:nvSpPr>
            <p:spPr>
              <a:xfrm>
                <a:off x="762000" y="5381625"/>
                <a:ext cx="5048250" cy="9525"/>
              </a:xfrm>
              <a:custGeom>
                <a:avLst/>
                <a:gdLst/>
                <a:ahLst/>
                <a:cxnLst/>
                <a:rect l="l" t="t" r="r" b="b"/>
                <a:pathLst>
                  <a:path w="5048250" h="9525">
                    <a:moveTo>
                      <a:pt x="0" y="0"/>
                    </a:moveTo>
                    <a:lnTo>
                      <a:pt x="5048250" y="0"/>
                    </a:lnTo>
                  </a:path>
                </a:pathLst>
              </a:custGeom>
              <a:noFill/>
              <a:ln w="9525">
                <a:solidFill>
                  <a:srgbClr val="E0E0E0"/>
                </a:solidFill>
                <a:custDash>
                  <a:ds d="300000" sp="300000"/>
                </a:custDash>
              </a:ln>
            </p:spPr>
          </p:sp>
          <p:sp>
            <p:nvSpPr>
              <p:cNvPr id="68" name="TextBox 68"/>
              <p:cNvSpPr txBox="1"/>
              <p:nvPr/>
            </p:nvSpPr>
            <p:spPr>
              <a:xfrm>
                <a:off x="749618" y="5485924"/>
                <a:ext cx="1675971"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CLIP 零样本有上限 68.64%</a:t>
                </a:r>
              </a:p>
            </p:txBody>
          </p:sp>
          <p:sp>
            <p:nvSpPr>
              <p:cNvPr id="69" name="TextBox 69"/>
              <p:cNvSpPr txBox="1"/>
              <p:nvPr/>
            </p:nvSpPr>
            <p:spPr>
              <a:xfrm>
                <a:off x="749618" y="5695474"/>
                <a:ext cx="1435441"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训练食物专用分类骨干</a:t>
                </a:r>
              </a:p>
            </p:txBody>
          </p:sp>
          <p:sp>
            <p:nvSpPr>
              <p:cNvPr id="70" name="TextBox 70"/>
              <p:cNvSpPr txBox="1"/>
              <p:nvPr/>
            </p:nvSpPr>
            <p:spPr>
              <a:xfrm>
                <a:off x="749618" y="5905024"/>
                <a:ext cx="1714976"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解决细粒度混淆 + 水果误识</a:t>
                </a:r>
              </a:p>
            </p:txBody>
          </p:sp>
        </p:grpSp>
        <p:grpSp>
          <p:nvGrpSpPr>
            <p:cNvPr id="87" name="Group 87"/>
            <p:cNvGrpSpPr/>
            <p:nvPr/>
          </p:nvGrpSpPr>
          <p:grpSpPr>
            <a:xfrm>
              <a:off x="6191250" y="4714875"/>
              <a:ext cx="5429250" cy="1524000"/>
              <a:chOff x="6191250" y="4714875"/>
              <a:chExt cx="5429250" cy="1524000"/>
            </a:xfrm>
          </p:grpSpPr>
          <p:sp>
            <p:nvSpPr>
              <p:cNvPr id="72" name="Rectangle 72"/>
              <p:cNvSpPr/>
              <p:nvPr/>
            </p:nvSpPr>
            <p:spPr>
              <a:xfrm>
                <a:off x="6191250" y="4714875"/>
                <a:ext cx="5429250" cy="1524000"/>
              </a:xfrm>
              <a:prstGeom prst="roundRect">
                <a:avLst>
                  <a:gd name="adj" fmla="val 6250"/>
                </a:avLst>
              </a:prstGeom>
              <a:solidFill>
                <a:srgbClr val="FFFFFF"/>
              </a:solidFill>
              <a:ln w="14288">
                <a:solidFill>
                  <a:srgbClr val="E0E0E0"/>
                </a:solidFill>
              </a:ln>
              <a:effectLst>
                <a:outerShdw blurRad="95250" dist="28575" dir="5400000" algn="ctr" rotWithShape="0">
                  <a:srgbClr val="0F172A">
                    <a:alpha val="6000"/>
                  </a:srgbClr>
                </a:outerShdw>
              </a:effectLst>
            </p:spPr>
          </p:sp>
          <p:sp>
            <p:nvSpPr>
              <p:cNvPr id="73" name="Rectangle 73"/>
              <p:cNvSpPr/>
              <p:nvPr/>
            </p:nvSpPr>
            <p:spPr>
              <a:xfrm>
                <a:off x="6324600" y="4848225"/>
                <a:ext cx="381000" cy="381000"/>
              </a:xfrm>
              <a:prstGeom prst="roundRect">
                <a:avLst>
                  <a:gd name="adj" fmla="val 50000"/>
                </a:avLst>
              </a:prstGeom>
              <a:gradFill>
                <a:gsLst>
                  <a:gs pos="0">
                    <a:srgbClr val="1565C0"/>
                  </a:gs>
                  <a:gs pos="100000">
                    <a:srgbClr val="5C6BC0"/>
                  </a:gs>
                </a:gsLst>
                <a:lin ang="2700000" scaled="1"/>
              </a:gradFill>
              <a:ln>
                <a:noFill/>
              </a:ln>
            </p:spPr>
          </p:sp>
          <p:sp>
            <p:nvSpPr>
              <p:cNvPr id="74" name="TextBox 74"/>
              <p:cNvSpPr txBox="1"/>
              <p:nvPr/>
            </p:nvSpPr>
            <p:spPr>
              <a:xfrm>
                <a:off x="6445974" y="49596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Cambria"/>
                    <a:ea typeface="SimSun"/>
                    <a:cs typeface="Cambria"/>
                  </a:rPr>
                  <a:t>4</a:t>
                </a:r>
              </a:p>
            </p:txBody>
          </p:sp>
          <p:grpSp>
            <p:nvGrpSpPr>
              <p:cNvPr id="80" name="Group 80"/>
              <p:cNvGrpSpPr/>
              <p:nvPr/>
            </p:nvGrpSpPr>
            <p:grpSpPr>
              <a:xfrm>
                <a:off x="11191875" y="4895850"/>
                <a:ext cx="190500" cy="190500"/>
                <a:chOff x="11191875" y="4895850"/>
                <a:chExt cx="190500" cy="190500"/>
              </a:xfrm>
            </p:grpSpPr>
            <p:sp>
              <p:nvSpPr>
                <p:cNvPr id="75" name="Freeform 75"/>
                <p:cNvSpPr/>
                <p:nvPr/>
              </p:nvSpPr>
              <p:spPr>
                <a:xfrm>
                  <a:off x="11191875" y="4895850"/>
                  <a:ext cx="47625" cy="35719"/>
                </a:xfrm>
                <a:custGeom>
                  <a:avLst/>
                  <a:gdLst/>
                  <a:ahLst/>
                  <a:cxnLst/>
                  <a:rect l="l" t="t" r="r" b="b"/>
                  <a:pathLst>
                    <a:path w="47625" h="35719">
                      <a:moveTo>
                        <a:pt x="0" y="35719"/>
                      </a:moveTo>
                      <a:lnTo>
                        <a:pt x="0" y="23812"/>
                      </a:lnTo>
                      <a:cubicBezTo>
                        <a:pt x="0" y="10661"/>
                        <a:pt x="10661" y="0"/>
                        <a:pt x="23812" y="0"/>
                      </a:cubicBezTo>
                      <a:lnTo>
                        <a:pt x="47625" y="0"/>
                      </a:lnTo>
                    </a:path>
                  </a:pathLst>
                </a:custGeom>
                <a:noFill/>
                <a:ln w="19050">
                  <a:solidFill>
                    <a:srgbClr val="5C6BC0"/>
                  </a:solidFill>
                </a:ln>
              </p:spPr>
            </p:sp>
            <p:sp>
              <p:nvSpPr>
                <p:cNvPr id="76" name="Freeform 76"/>
                <p:cNvSpPr/>
                <p:nvPr/>
              </p:nvSpPr>
              <p:spPr>
                <a:xfrm>
                  <a:off x="11191875" y="5050631"/>
                  <a:ext cx="47625" cy="35719"/>
                </a:xfrm>
                <a:custGeom>
                  <a:avLst/>
                  <a:gdLst/>
                  <a:ahLst/>
                  <a:cxnLst/>
                  <a:rect l="l" t="t" r="r" b="b"/>
                  <a:pathLst>
                    <a:path w="47625" h="35719">
                      <a:moveTo>
                        <a:pt x="0" y="0"/>
                      </a:moveTo>
                      <a:lnTo>
                        <a:pt x="0" y="11906"/>
                      </a:lnTo>
                      <a:cubicBezTo>
                        <a:pt x="0" y="25058"/>
                        <a:pt x="10661" y="35719"/>
                        <a:pt x="23812" y="35719"/>
                      </a:cubicBezTo>
                      <a:lnTo>
                        <a:pt x="47625" y="35719"/>
                      </a:lnTo>
                    </a:path>
                  </a:pathLst>
                </a:custGeom>
                <a:noFill/>
                <a:ln w="19050">
                  <a:solidFill>
                    <a:srgbClr val="5C6BC0"/>
                  </a:solidFill>
                </a:ln>
              </p:spPr>
            </p:sp>
            <p:sp>
              <p:nvSpPr>
                <p:cNvPr id="77" name="Freeform 77"/>
                <p:cNvSpPr/>
                <p:nvPr/>
              </p:nvSpPr>
              <p:spPr>
                <a:xfrm>
                  <a:off x="11334750" y="4895850"/>
                  <a:ext cx="47625" cy="35719"/>
                </a:xfrm>
                <a:custGeom>
                  <a:avLst/>
                  <a:gdLst/>
                  <a:ahLst/>
                  <a:cxnLst/>
                  <a:rect l="l" t="t" r="r" b="b"/>
                  <a:pathLst>
                    <a:path w="47625" h="35719">
                      <a:moveTo>
                        <a:pt x="0" y="0"/>
                      </a:moveTo>
                      <a:lnTo>
                        <a:pt x="23812" y="0"/>
                      </a:lnTo>
                      <a:cubicBezTo>
                        <a:pt x="36964" y="0"/>
                        <a:pt x="47625" y="10661"/>
                        <a:pt x="47625" y="23812"/>
                      </a:cubicBezTo>
                      <a:lnTo>
                        <a:pt x="47625" y="35719"/>
                      </a:lnTo>
                    </a:path>
                  </a:pathLst>
                </a:custGeom>
                <a:noFill/>
                <a:ln w="19050">
                  <a:solidFill>
                    <a:srgbClr val="5C6BC0"/>
                  </a:solidFill>
                </a:ln>
              </p:spPr>
            </p:sp>
            <p:sp>
              <p:nvSpPr>
                <p:cNvPr id="78" name="Freeform 78"/>
                <p:cNvSpPr/>
                <p:nvPr/>
              </p:nvSpPr>
              <p:spPr>
                <a:xfrm>
                  <a:off x="11334750" y="5050631"/>
                  <a:ext cx="47625" cy="35719"/>
                </a:xfrm>
                <a:custGeom>
                  <a:avLst/>
                  <a:gdLst/>
                  <a:ahLst/>
                  <a:cxnLst/>
                  <a:rect l="l" t="t" r="r" b="b"/>
                  <a:pathLst>
                    <a:path w="47625" h="35719">
                      <a:moveTo>
                        <a:pt x="0" y="35719"/>
                      </a:moveTo>
                      <a:lnTo>
                        <a:pt x="23812" y="35719"/>
                      </a:lnTo>
                      <a:cubicBezTo>
                        <a:pt x="36964" y="35719"/>
                        <a:pt x="47625" y="25058"/>
                        <a:pt x="47625" y="11906"/>
                      </a:cubicBezTo>
                      <a:lnTo>
                        <a:pt x="47625" y="0"/>
                      </a:lnTo>
                    </a:path>
                  </a:pathLst>
                </a:custGeom>
                <a:noFill/>
                <a:ln w="19050">
                  <a:solidFill>
                    <a:srgbClr val="5C6BC0"/>
                  </a:solidFill>
                </a:ln>
              </p:spPr>
            </p:sp>
            <p:sp>
              <p:nvSpPr>
                <p:cNvPr id="79" name="Freeform 79"/>
                <p:cNvSpPr/>
                <p:nvPr/>
              </p:nvSpPr>
              <p:spPr>
                <a:xfrm>
                  <a:off x="11203781" y="4991100"/>
                  <a:ext cx="166688" cy="9525"/>
                </a:xfrm>
                <a:custGeom>
                  <a:avLst/>
                  <a:gdLst/>
                  <a:ahLst/>
                  <a:cxnLst/>
                  <a:rect l="l" t="t" r="r" b="b"/>
                  <a:pathLst>
                    <a:path w="166688" h="9525">
                      <a:moveTo>
                        <a:pt x="0" y="0"/>
                      </a:moveTo>
                      <a:lnTo>
                        <a:pt x="166688" y="0"/>
                      </a:lnTo>
                    </a:path>
                  </a:pathLst>
                </a:custGeom>
                <a:noFill/>
                <a:ln w="19050">
                  <a:solidFill>
                    <a:srgbClr val="5C6BC0"/>
                  </a:solidFill>
                </a:ln>
              </p:spPr>
            </p:sp>
          </p:grpSp>
          <p:sp>
            <p:nvSpPr>
              <p:cNvPr id="81" name="TextBox 81"/>
              <p:cNvSpPr txBox="1"/>
              <p:nvPr/>
            </p:nvSpPr>
            <p:spPr>
              <a:xfrm>
                <a:off x="6795135" y="4890135"/>
                <a:ext cx="2071935"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引入多视角 / 多模态传感器</a:t>
                </a:r>
              </a:p>
            </p:txBody>
          </p:sp>
          <p:sp>
            <p:nvSpPr>
              <p:cNvPr id="82" name="TextBox 82"/>
              <p:cNvSpPr txBox="1"/>
              <p:nvPr/>
            </p:nvSpPr>
            <p:spPr>
              <a:xfrm>
                <a:off x="6799898" y="5149691"/>
                <a:ext cx="1944270" cy="167640"/>
              </a:xfrm>
              <a:prstGeom prst="rect">
                <a:avLst/>
              </a:prstGeom>
              <a:noFill/>
              <a:ln>
                <a:noFill/>
              </a:ln>
            </p:spPr>
            <p:txBody>
              <a:bodyPr wrap="none" lIns="0" tIns="0" rIns="0" bIns="0" anchor="t" anchorCtr="0">
                <a:spAutoFit/>
              </a:bodyPr>
              <a:lstStyle/>
              <a:p>
                <a:pPr algn="l"/>
                <a:r>
                  <a:rPr lang="zh-CN" sz="825" b="1" dirty="0">
                    <a:solidFill>
                      <a:srgbClr val="5C6BC0"/>
                    </a:solidFill>
                    <a:latin typeface="Cambria"/>
                    <a:ea typeface="SimSun"/>
                    <a:cs typeface="Cambria"/>
                  </a:rPr>
                  <a:t>FUTURE WORK · MULTI-VIEW SENSING</a:t>
                </a:r>
              </a:p>
            </p:txBody>
          </p:sp>
          <p:sp>
            <p:nvSpPr>
              <p:cNvPr id="83" name="Line 83"/>
              <p:cNvSpPr/>
              <p:nvPr/>
            </p:nvSpPr>
            <p:spPr>
              <a:xfrm>
                <a:off x="6381750" y="5381625"/>
                <a:ext cx="5048250" cy="9525"/>
              </a:xfrm>
              <a:custGeom>
                <a:avLst/>
                <a:gdLst/>
                <a:ahLst/>
                <a:cxnLst/>
                <a:rect l="l" t="t" r="r" b="b"/>
                <a:pathLst>
                  <a:path w="5048250" h="9525">
                    <a:moveTo>
                      <a:pt x="0" y="0"/>
                    </a:moveTo>
                    <a:lnTo>
                      <a:pt x="5048250" y="0"/>
                    </a:lnTo>
                  </a:path>
                </a:pathLst>
              </a:custGeom>
              <a:noFill/>
              <a:ln w="9525">
                <a:solidFill>
                  <a:srgbClr val="E0E0E0"/>
                </a:solidFill>
                <a:custDash>
                  <a:ds d="300000" sp="300000"/>
                </a:custDash>
              </a:ln>
            </p:spPr>
          </p:sp>
          <p:sp>
            <p:nvSpPr>
              <p:cNvPr id="84" name="TextBox 84"/>
              <p:cNvSpPr txBox="1"/>
              <p:nvPr/>
            </p:nvSpPr>
            <p:spPr>
              <a:xfrm>
                <a:off x="6369368" y="5485924"/>
                <a:ext cx="1526453"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多视角恢复 3D 几何结构</a:t>
                </a:r>
              </a:p>
            </p:txBody>
          </p:sp>
          <p:sp>
            <p:nvSpPr>
              <p:cNvPr id="85" name="TextBox 85"/>
              <p:cNvSpPr txBox="1"/>
              <p:nvPr/>
            </p:nvSpPr>
            <p:spPr>
              <a:xfrm>
                <a:off x="6369368" y="5695474"/>
                <a:ext cx="1584960"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深度相机 / 结构光传感器</a:t>
                </a:r>
              </a:p>
            </p:txBody>
          </p:sp>
          <p:sp>
            <p:nvSpPr>
              <p:cNvPr id="86" name="TextBox 86"/>
              <p:cNvSpPr txBox="1"/>
              <p:nvPr/>
            </p:nvSpPr>
            <p:spPr>
              <a:xfrm>
                <a:off x="6369368" y="5905024"/>
                <a:ext cx="1175409" cy="198120"/>
              </a:xfrm>
              <a:prstGeom prst="rect">
                <a:avLst/>
              </a:prstGeom>
              <a:noFill/>
              <a:ln>
                <a:noFill/>
              </a:ln>
            </p:spPr>
            <p:txBody>
              <a:bodyPr wrap="none" lIns="0" tIns="0" rIns="0" bIns="0" anchor="t" anchorCtr="0">
                <a:spAutoFit/>
              </a:bodyPr>
              <a:lstStyle/>
              <a:p>
                <a:pPr algn="l"/>
                <a:r>
                  <a:rPr lang="zh-CN" sz="975" dirty="0">
                    <a:solidFill>
                      <a:srgbClr val="1A1A1A"/>
                    </a:solidFill>
                    <a:latin typeface="Arial"/>
                    <a:ea typeface="Microsoft YaHei"/>
                    <a:cs typeface="Arial"/>
                  </a:rPr>
                  <a:t>· 突破单目理论限制</a:t>
                </a:r>
              </a:p>
            </p:txBody>
          </p:sp>
        </p:grpSp>
      </p:grpSp>
      <p:sp>
        <p:nvSpPr>
          <p:cNvPr id="89" name="TextBox 89"/>
          <p:cNvSpPr txBox="1"/>
          <p:nvPr/>
        </p:nvSpPr>
        <p:spPr>
          <a:xfrm>
            <a:off x="561022" y="6578441"/>
            <a:ext cx="3711641" cy="167640"/>
          </a:xfrm>
          <a:prstGeom prst="rect">
            <a:avLst/>
          </a:prstGeom>
          <a:noFill/>
          <a:ln>
            <a:noFill/>
          </a:ln>
        </p:spPr>
        <p:txBody>
          <a:bodyPr wrap="none" lIns="0" tIns="0" rIns="0" bIns="0" anchor="t" anchorCtr="0">
            <a:spAutoFit/>
          </a:bodyPr>
          <a:lstStyle/>
          <a:p>
            <a:pPr algn="l"/>
            <a:r>
              <a:rPr lang="zh-CN" sz="825" b="1" dirty="0">
                <a:solidFill>
                  <a:srgbClr val="9AA0A6"/>
                </a:solidFill>
                <a:latin typeface="Arial"/>
                <a:ea typeface="Microsoft YaHei"/>
                <a:cs typeface="Arial"/>
              </a:rPr>
              <a:t>智能食物营养分析系统答辩 · Chapter 6 · Implications &amp; Future Work</a:t>
            </a:r>
          </a:p>
        </p:txBody>
      </p:sp>
      <p:sp>
        <p:nvSpPr>
          <p:cNvPr id="90" name="TextBox 90"/>
          <p:cNvSpPr txBox="1"/>
          <p:nvPr/>
        </p:nvSpPr>
        <p:spPr>
          <a:xfrm>
            <a:off x="11223049" y="6578441"/>
            <a:ext cx="407928" cy="167640"/>
          </a:xfrm>
          <a:prstGeom prst="rect">
            <a:avLst/>
          </a:prstGeom>
          <a:noFill/>
          <a:ln>
            <a:noFill/>
          </a:ln>
        </p:spPr>
        <p:txBody>
          <a:bodyPr wrap="none" lIns="0" tIns="0" rIns="0" bIns="0" anchor="t" anchorCtr="0">
            <a:spAutoFit/>
          </a:bodyPr>
          <a:lstStyle/>
          <a:p>
            <a:pPr algn="r"/>
            <a:r>
              <a:rPr lang="zh-CN" sz="825" b="1" dirty="0">
                <a:solidFill>
                  <a:srgbClr val="9AA0A6"/>
                </a:solidFill>
                <a:latin typeface="Cambria"/>
                <a:ea typeface="SimSun"/>
                <a:cs typeface="Cambria"/>
              </a:rPr>
              <a:t>29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400"/>
                                        <p:tgtEl>
                                          <p:spTgt spid="2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88"/>
                                        </p:tgtEl>
                                        <p:attrNameLst>
                                          <p:attrName>style.visibility</p:attrName>
                                        </p:attrNameLst>
                                      </p:cBhvr>
                                      <p:to>
                                        <p:strVal val="visible"/>
                                      </p:to>
                                    </p:set>
                                    <p:animEffect transition="in" filter="slide(fromBottom)">
                                      <p:cBhvr>
                                        <p:cTn id="15" dur="4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2" grpId="0"/>
      <p:bldP spid="8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D2A4F"/>
              </a:gs>
              <a:gs pos="60000">
                <a:srgbClr val="1565C0"/>
              </a:gs>
              <a:gs pos="100000">
                <a:srgbClr val="5C6BC0"/>
              </a:gs>
            </a:gsLst>
            <a:lin ang="2700000" scaled="1"/>
          </a:gradFill>
          <a:ln>
            <a:noFill/>
          </a:ln>
        </p:spPr>
      </p:sp>
      <p:sp>
        <p:nvSpPr>
          <p:cNvPr id="3" name="Rectangle 3"/>
          <p:cNvSpPr/>
          <p:nvPr/>
        </p:nvSpPr>
        <p:spPr>
          <a:xfrm>
            <a:off x="0" y="0"/>
            <a:ext cx="12192000" cy="6858000"/>
          </a:xfrm>
          <a:prstGeom prst="rect">
            <a:avLst/>
          </a:prstGeom>
          <a:gradFill>
            <a:gsLst>
              <a:gs pos="0">
                <a:srgbClr val="FF8F00">
                  <a:alpha val="20000"/>
                </a:srgbClr>
              </a:gs>
              <a:gs pos="100000">
                <a:srgbClr val="FF8F00">
                  <a:alpha val="0"/>
                </a:srgbClr>
              </a:gs>
            </a:gsLst>
            <a:path path="circle">
              <a:fillToRect l="50000" t="50000" r="50000" b="50000"/>
            </a:path>
          </a:gradFill>
          <a:ln>
            <a:noFill/>
          </a:ln>
        </p:spPr>
      </p:sp>
      <p:sp>
        <p:nvSpPr>
          <p:cNvPr id="4" name="Rectangle 4"/>
          <p:cNvSpPr/>
          <p:nvPr/>
        </p:nvSpPr>
        <p:spPr>
          <a:xfrm>
            <a:off x="0" y="0"/>
            <a:ext cx="12192000" cy="6858000"/>
          </a:xfrm>
          <a:prstGeom prst="rect">
            <a:avLst/>
          </a:prstGeom>
          <a:gradFill>
            <a:gsLst>
              <a:gs pos="0">
                <a:srgbClr val="FFB300">
                  <a:alpha val="15000"/>
                </a:srgbClr>
              </a:gs>
              <a:gs pos="100000">
                <a:srgbClr val="FFB300">
                  <a:alpha val="0"/>
                </a:srgbClr>
              </a:gs>
            </a:gsLst>
            <a:path path="circle">
              <a:fillToRect l="50000" t="50000" r="50000" b="50000"/>
            </a:path>
          </a:gradFill>
          <a:ln>
            <a:noFill/>
          </a:ln>
        </p:spPr>
      </p:sp>
      <p:sp>
        <p:nvSpPr>
          <p:cNvPr id="5" name="Ellipse 5"/>
          <p:cNvSpPr/>
          <p:nvPr/>
        </p:nvSpPr>
        <p:spPr>
          <a:xfrm>
            <a:off x="10925175" y="1304925"/>
            <a:ext cx="57150" cy="57150"/>
          </a:xfrm>
          <a:prstGeom prst="ellipse">
            <a:avLst/>
          </a:prstGeom>
          <a:solidFill>
            <a:srgbClr val="FFFFFF">
              <a:alpha val="30000"/>
            </a:srgbClr>
          </a:solidFill>
          <a:ln>
            <a:noFill/>
          </a:ln>
        </p:spPr>
      </p:sp>
      <p:sp>
        <p:nvSpPr>
          <p:cNvPr id="6" name="Ellipse 6"/>
          <p:cNvSpPr/>
          <p:nvPr/>
        </p:nvSpPr>
        <p:spPr>
          <a:xfrm>
            <a:off x="11220450" y="1600200"/>
            <a:ext cx="38100" cy="38100"/>
          </a:xfrm>
          <a:prstGeom prst="ellipse">
            <a:avLst/>
          </a:prstGeom>
          <a:solidFill>
            <a:srgbClr val="FFFFFF">
              <a:alpha val="22000"/>
            </a:srgbClr>
          </a:solidFill>
          <a:ln>
            <a:noFill/>
          </a:ln>
        </p:spPr>
      </p:sp>
      <p:sp>
        <p:nvSpPr>
          <p:cNvPr id="7" name="Ellipse 7"/>
          <p:cNvSpPr/>
          <p:nvPr/>
        </p:nvSpPr>
        <p:spPr>
          <a:xfrm>
            <a:off x="10739438" y="1690688"/>
            <a:ext cx="47625" cy="47625"/>
          </a:xfrm>
          <a:prstGeom prst="ellipse">
            <a:avLst/>
          </a:prstGeom>
          <a:solidFill>
            <a:srgbClr val="FF8F00">
              <a:alpha val="45000"/>
            </a:srgbClr>
          </a:solidFill>
          <a:ln>
            <a:noFill/>
          </a:ln>
        </p:spPr>
      </p:sp>
      <p:sp>
        <p:nvSpPr>
          <p:cNvPr id="8" name="Ellipse 8"/>
          <p:cNvSpPr/>
          <p:nvPr/>
        </p:nvSpPr>
        <p:spPr>
          <a:xfrm>
            <a:off x="1114425" y="6067425"/>
            <a:ext cx="57150" cy="57150"/>
          </a:xfrm>
          <a:prstGeom prst="ellipse">
            <a:avLst/>
          </a:prstGeom>
          <a:solidFill>
            <a:srgbClr val="FFFFFF">
              <a:alpha val="25000"/>
            </a:srgbClr>
          </a:solidFill>
          <a:ln>
            <a:noFill/>
          </a:ln>
        </p:spPr>
      </p:sp>
      <p:sp>
        <p:nvSpPr>
          <p:cNvPr id="9" name="Ellipse 9"/>
          <p:cNvSpPr/>
          <p:nvPr/>
        </p:nvSpPr>
        <p:spPr>
          <a:xfrm>
            <a:off x="742950" y="6457950"/>
            <a:ext cx="38100" cy="38100"/>
          </a:xfrm>
          <a:prstGeom prst="ellipse">
            <a:avLst/>
          </a:prstGeom>
          <a:solidFill>
            <a:srgbClr val="FF8F00">
              <a:alpha val="35000"/>
            </a:srgbClr>
          </a:solidFill>
          <a:ln>
            <a:noFill/>
          </a:ln>
        </p:spPr>
      </p:sp>
      <p:sp>
        <p:nvSpPr>
          <p:cNvPr id="10" name="Ellipse 10"/>
          <p:cNvSpPr/>
          <p:nvPr/>
        </p:nvSpPr>
        <p:spPr>
          <a:xfrm>
            <a:off x="10458450" y="5695950"/>
            <a:ext cx="38100" cy="38100"/>
          </a:xfrm>
          <a:prstGeom prst="ellipse">
            <a:avLst/>
          </a:prstGeom>
          <a:solidFill>
            <a:srgbClr val="FFFFFF">
              <a:alpha val="20000"/>
            </a:srgbClr>
          </a:solidFill>
          <a:ln>
            <a:noFill/>
          </a:ln>
        </p:spPr>
      </p:sp>
      <p:sp>
        <p:nvSpPr>
          <p:cNvPr id="11" name="Ellipse 11"/>
          <p:cNvSpPr/>
          <p:nvPr/>
        </p:nvSpPr>
        <p:spPr>
          <a:xfrm>
            <a:off x="1885950" y="1123950"/>
            <a:ext cx="38100" cy="38100"/>
          </a:xfrm>
          <a:prstGeom prst="ellipse">
            <a:avLst/>
          </a:prstGeom>
          <a:solidFill>
            <a:srgbClr val="FFB300">
              <a:alpha val="30000"/>
            </a:srgbClr>
          </a:solidFill>
          <a:ln>
            <a:noFill/>
          </a:ln>
        </p:spPr>
      </p:sp>
      <p:sp>
        <p:nvSpPr>
          <p:cNvPr id="12" name="TextBox 12"/>
          <p:cNvSpPr txBox="1"/>
          <p:nvPr/>
        </p:nvSpPr>
        <p:spPr>
          <a:xfrm>
            <a:off x="5075589" y="839152"/>
            <a:ext cx="2040822" cy="213360"/>
          </a:xfrm>
          <a:prstGeom prst="rect">
            <a:avLst/>
          </a:prstGeom>
          <a:noFill/>
          <a:ln>
            <a:noFill/>
          </a:ln>
        </p:spPr>
        <p:txBody>
          <a:bodyPr wrap="none" lIns="0" tIns="0" rIns="0" bIns="0" anchor="t" anchorCtr="0">
            <a:spAutoFit/>
          </a:bodyPr>
          <a:lstStyle/>
          <a:p>
            <a:pPr algn="ctr"/>
            <a:r>
              <a:rPr lang="zh-CN" sz="1050" b="1" dirty="0">
                <a:solidFill>
                  <a:srgbClr val="FFFFFF">
                    <a:alphaMod val="65000"/>
                  </a:srgbClr>
                </a:solidFill>
                <a:latin typeface="Cambria"/>
                <a:ea typeface="SimSun"/>
                <a:cs typeface="Cambria"/>
              </a:rPr>
              <a:t>END OF PRESENTATION · Q &amp; A</a:t>
            </a:r>
          </a:p>
        </p:txBody>
      </p:sp>
      <p:sp>
        <p:nvSpPr>
          <p:cNvPr id="13" name="Line 13"/>
          <p:cNvSpPr/>
          <p:nvPr/>
        </p:nvSpPr>
        <p:spPr>
          <a:xfrm>
            <a:off x="5143500" y="1143000"/>
            <a:ext cx="1905000" cy="9525"/>
          </a:xfrm>
          <a:custGeom>
            <a:avLst/>
            <a:gdLst/>
            <a:ahLst/>
            <a:cxnLst/>
            <a:rect l="l" t="t" r="r" b="b"/>
            <a:pathLst>
              <a:path w="1905000" h="9525">
                <a:moveTo>
                  <a:pt x="0" y="0"/>
                </a:moveTo>
                <a:lnTo>
                  <a:pt x="1905000" y="0"/>
                </a:lnTo>
              </a:path>
            </a:pathLst>
          </a:custGeom>
          <a:noFill/>
          <a:ln w="19050" cap="rnd">
            <a:solidFill>
              <a:srgbClr val="FF8F00"/>
            </a:solidFill>
          </a:ln>
        </p:spPr>
      </p:sp>
      <p:grpSp>
        <p:nvGrpSpPr>
          <p:cNvPr id="20" name="Group 20"/>
          <p:cNvGrpSpPr/>
          <p:nvPr/>
        </p:nvGrpSpPr>
        <p:grpSpPr>
          <a:xfrm>
            <a:off x="5829300" y="1352550"/>
            <a:ext cx="533400" cy="533400"/>
            <a:chOff x="5829300" y="1352550"/>
            <a:chExt cx="533400" cy="533400"/>
          </a:xfrm>
        </p:grpSpPr>
        <p:sp>
          <p:nvSpPr>
            <p:cNvPr id="14" name="Ellipse 14"/>
            <p:cNvSpPr/>
            <p:nvPr/>
          </p:nvSpPr>
          <p:spPr>
            <a:xfrm>
              <a:off x="5829300" y="1352550"/>
              <a:ext cx="533400" cy="533400"/>
            </a:xfrm>
            <a:prstGeom prst="ellipse">
              <a:avLst/>
            </a:prstGeom>
            <a:solidFill>
              <a:srgbClr val="FFFFFF">
                <a:alpha val="10000"/>
              </a:srgbClr>
            </a:solidFill>
            <a:ln>
              <a:noFill/>
            </a:ln>
            <a:effectLst>
              <a:outerShdw blurRad="114300" dist="38100" dir="5400000" algn="ctr" rotWithShape="0">
                <a:srgbClr val="0F172A">
                  <a:alpha val="22500"/>
                </a:srgbClr>
              </a:outerShdw>
            </a:effectLst>
          </p:spPr>
        </p:sp>
        <p:sp>
          <p:nvSpPr>
            <p:cNvPr id="15" name="Ellipse 15"/>
            <p:cNvSpPr/>
            <p:nvPr/>
          </p:nvSpPr>
          <p:spPr>
            <a:xfrm>
              <a:off x="5829300" y="1352550"/>
              <a:ext cx="533400" cy="533400"/>
            </a:xfrm>
            <a:prstGeom prst="ellipse">
              <a:avLst/>
            </a:prstGeom>
            <a:noFill/>
            <a:ln w="14288">
              <a:solidFill>
                <a:srgbClr val="FF8F00">
                  <a:alpha val="55000"/>
                </a:srgbClr>
              </a:solidFill>
            </a:ln>
          </p:spPr>
        </p:sp>
        <p:grpSp>
          <p:nvGrpSpPr>
            <p:cNvPr id="19" name="Group 19"/>
            <p:cNvGrpSpPr/>
            <p:nvPr/>
          </p:nvGrpSpPr>
          <p:grpSpPr>
            <a:xfrm>
              <a:off x="6007100" y="1519238"/>
              <a:ext cx="177800" cy="206081"/>
              <a:chOff x="6007100" y="1519238"/>
              <a:chExt cx="177800" cy="206081"/>
            </a:xfrm>
          </p:grpSpPr>
          <p:sp>
            <p:nvSpPr>
              <p:cNvPr id="16" name="Freeform 16"/>
              <p:cNvSpPr/>
              <p:nvPr/>
            </p:nvSpPr>
            <p:spPr>
              <a:xfrm>
                <a:off x="6007100" y="1552575"/>
                <a:ext cx="177800" cy="172744"/>
              </a:xfrm>
              <a:custGeom>
                <a:avLst/>
                <a:gdLst/>
                <a:ahLst/>
                <a:cxnLst/>
                <a:rect l="l" t="t" r="r" b="b"/>
                <a:pathLst>
                  <a:path w="177800" h="172744">
                    <a:moveTo>
                      <a:pt x="0" y="59107"/>
                    </a:moveTo>
                    <a:cubicBezTo>
                      <a:pt x="0" y="93578"/>
                      <a:pt x="4934" y="118215"/>
                      <a:pt x="24692" y="147763"/>
                    </a:cubicBezTo>
                    <a:cubicBezTo>
                      <a:pt x="39705" y="167732"/>
                      <a:pt x="59763" y="172733"/>
                      <a:pt x="81143" y="158742"/>
                    </a:cubicBezTo>
                    <a:cubicBezTo>
                      <a:pt x="85877" y="155764"/>
                      <a:pt x="91923" y="155764"/>
                      <a:pt x="96668" y="158742"/>
                    </a:cubicBezTo>
                    <a:cubicBezTo>
                      <a:pt x="118037" y="172744"/>
                      <a:pt x="138095" y="167732"/>
                      <a:pt x="153108" y="147763"/>
                    </a:cubicBezTo>
                    <a:cubicBezTo>
                      <a:pt x="172866" y="118204"/>
                      <a:pt x="177800" y="93578"/>
                      <a:pt x="177800" y="59119"/>
                    </a:cubicBezTo>
                    <a:cubicBezTo>
                      <a:pt x="177800" y="29548"/>
                      <a:pt x="155686" y="0"/>
                      <a:pt x="128416" y="0"/>
                    </a:cubicBezTo>
                    <a:cubicBezTo>
                      <a:pt x="114337" y="0"/>
                      <a:pt x="101635" y="7701"/>
                      <a:pt x="92634" y="16002"/>
                    </a:cubicBezTo>
                    <a:cubicBezTo>
                      <a:pt x="90516" y="17924"/>
                      <a:pt x="87284" y="17924"/>
                      <a:pt x="85166" y="16002"/>
                    </a:cubicBezTo>
                    <a:cubicBezTo>
                      <a:pt x="76176" y="7712"/>
                      <a:pt x="63463" y="0"/>
                      <a:pt x="49384" y="0"/>
                    </a:cubicBezTo>
                    <a:cubicBezTo>
                      <a:pt x="22114" y="0"/>
                      <a:pt x="0" y="29559"/>
                      <a:pt x="0" y="59107"/>
                    </a:cubicBezTo>
                  </a:path>
                </a:pathLst>
              </a:custGeom>
              <a:noFill/>
              <a:ln w="19050">
                <a:solidFill>
                  <a:srgbClr val="FFB300"/>
                </a:solidFill>
              </a:ln>
            </p:spPr>
          </p:sp>
          <p:sp>
            <p:nvSpPr>
              <p:cNvPr id="17" name="Freeform 17"/>
              <p:cNvSpPr/>
              <p:nvPr/>
            </p:nvSpPr>
            <p:spPr>
              <a:xfrm>
                <a:off x="6040438" y="1585912"/>
                <a:ext cx="16669" cy="33338"/>
              </a:xfrm>
              <a:custGeom>
                <a:avLst/>
                <a:gdLst/>
                <a:ahLst/>
                <a:cxnLst/>
                <a:rect l="l" t="t" r="r" b="b"/>
                <a:pathLst>
                  <a:path w="16669" h="33338">
                    <a:moveTo>
                      <a:pt x="0" y="33338"/>
                    </a:moveTo>
                    <a:cubicBezTo>
                      <a:pt x="0" y="17002"/>
                      <a:pt x="5045" y="7334"/>
                      <a:pt x="16669" y="0"/>
                    </a:cubicBezTo>
                  </a:path>
                </a:pathLst>
              </a:custGeom>
              <a:noFill/>
              <a:ln w="19050">
                <a:solidFill>
                  <a:srgbClr val="FFB300"/>
                </a:solidFill>
              </a:ln>
            </p:spPr>
          </p:sp>
          <p:sp>
            <p:nvSpPr>
              <p:cNvPr id="18" name="Freeform 18"/>
              <p:cNvSpPr/>
              <p:nvPr/>
            </p:nvSpPr>
            <p:spPr>
              <a:xfrm>
                <a:off x="6096000" y="1519238"/>
                <a:ext cx="33338" cy="44450"/>
              </a:xfrm>
              <a:custGeom>
                <a:avLst/>
                <a:gdLst/>
                <a:ahLst/>
                <a:cxnLst/>
                <a:rect l="l" t="t" r="r" b="b"/>
                <a:pathLst>
                  <a:path w="33338" h="44450">
                    <a:moveTo>
                      <a:pt x="0" y="44450"/>
                    </a:moveTo>
                    <a:cubicBezTo>
                      <a:pt x="0" y="31115"/>
                      <a:pt x="9635" y="0"/>
                      <a:pt x="33338" y="0"/>
                    </a:cubicBezTo>
                  </a:path>
                </a:pathLst>
              </a:custGeom>
              <a:noFill/>
              <a:ln w="19050">
                <a:solidFill>
                  <a:srgbClr val="FFB300"/>
                </a:solidFill>
              </a:ln>
            </p:spPr>
          </p:sp>
        </p:grpSp>
      </p:grpSp>
      <p:sp>
        <p:nvSpPr>
          <p:cNvPr id="21" name="TextBox 21"/>
          <p:cNvSpPr txBox="1"/>
          <p:nvPr/>
        </p:nvSpPr>
        <p:spPr>
          <a:xfrm>
            <a:off x="3635464" y="1985010"/>
            <a:ext cx="4921072" cy="1463040"/>
          </a:xfrm>
          <a:prstGeom prst="rect">
            <a:avLst/>
          </a:prstGeom>
          <a:noFill/>
          <a:ln>
            <a:noFill/>
          </a:ln>
          <a:effectLst>
            <a:outerShdw blurRad="190500" dist="57150" dir="5400000" algn="ctr" rotWithShape="0">
              <a:srgbClr val="FF8F00">
                <a:alpha val="30000"/>
              </a:srgbClr>
            </a:outerShdw>
          </a:effectLst>
        </p:spPr>
        <p:txBody>
          <a:bodyPr wrap="none" lIns="0" tIns="0" rIns="0" bIns="0" anchor="t" anchorCtr="0">
            <a:spAutoFit/>
          </a:bodyPr>
          <a:lstStyle/>
          <a:p>
            <a:pPr algn="ctr"/>
            <a:r>
              <a:rPr lang="zh-CN" sz="7200" b="1" dirty="0">
                <a:gradFill>
                  <a:gsLst>
                    <a:gs pos="0">
                      <a:srgbClr val="FFFFFF"/>
                    </a:gs>
                    <a:gs pos="60000">
                      <a:srgbClr val="FFB300"/>
                    </a:gs>
                    <a:gs pos="100000">
                      <a:srgbClr val="FF8F00"/>
                    </a:gs>
                  </a:gsLst>
                  <a:lin ang="0" scaled="1"/>
                </a:gradFill>
                <a:latin typeface="Cambria"/>
                <a:ea typeface="SimSun"/>
                <a:cs typeface="Cambria"/>
              </a:rPr>
              <a:t>Thank You</a:t>
            </a:r>
          </a:p>
        </p:txBody>
      </p:sp>
      <p:sp>
        <p:nvSpPr>
          <p:cNvPr id="22" name="TextBox 22"/>
          <p:cNvSpPr txBox="1"/>
          <p:nvPr/>
        </p:nvSpPr>
        <p:spPr>
          <a:xfrm>
            <a:off x="3351981" y="3074670"/>
            <a:ext cx="5488038" cy="487680"/>
          </a:xfrm>
          <a:prstGeom prst="rect">
            <a:avLst/>
          </a:prstGeom>
          <a:noFill/>
          <a:ln>
            <a:noFill/>
          </a:ln>
        </p:spPr>
        <p:txBody>
          <a:bodyPr wrap="none" lIns="0" tIns="0" rIns="0" bIns="0" anchor="t" anchorCtr="0">
            <a:spAutoFit/>
          </a:bodyPr>
          <a:lstStyle/>
          <a:p>
            <a:pPr algn="ctr"/>
            <a:r>
              <a:rPr lang="zh-CN" sz="2400" b="1" dirty="0">
                <a:solidFill>
                  <a:srgbClr val="FFFFFF"/>
                </a:solidFill>
                <a:latin typeface="Cambria"/>
                <a:ea typeface="SimSun"/>
                <a:cs typeface="Cambria"/>
              </a:rPr>
              <a:t>感谢聆听 · 欢迎评委老师提问与指导</a:t>
            </a:r>
          </a:p>
        </p:txBody>
      </p:sp>
      <p:grpSp>
        <p:nvGrpSpPr>
          <p:cNvPr id="27" name="Group 27"/>
          <p:cNvGrpSpPr/>
          <p:nvPr/>
        </p:nvGrpSpPr>
        <p:grpSpPr>
          <a:xfrm>
            <a:off x="4191000" y="3629025"/>
            <a:ext cx="3810000" cy="171450"/>
            <a:chOff x="4191000" y="3629025"/>
            <a:chExt cx="3810000" cy="171450"/>
          </a:xfrm>
        </p:grpSpPr>
        <p:sp>
          <p:nvSpPr>
            <p:cNvPr id="23" name="Line 23"/>
            <p:cNvSpPr/>
            <p:nvPr/>
          </p:nvSpPr>
          <p:spPr>
            <a:xfrm>
              <a:off x="4191000" y="3714750"/>
              <a:ext cx="1714500" cy="9525"/>
            </a:xfrm>
            <a:custGeom>
              <a:avLst/>
              <a:gdLst/>
              <a:ahLst/>
              <a:cxnLst/>
              <a:rect l="l" t="t" r="r" b="b"/>
              <a:pathLst>
                <a:path w="1714500" h="9525">
                  <a:moveTo>
                    <a:pt x="0" y="0"/>
                  </a:moveTo>
                  <a:lnTo>
                    <a:pt x="1714500" y="0"/>
                  </a:lnTo>
                </a:path>
              </a:pathLst>
            </a:custGeom>
            <a:noFill/>
            <a:ln w="14288" cap="rnd">
              <a:solidFill>
                <a:srgbClr val="FF8F00">
                  <a:alpha val="55000"/>
                </a:srgbClr>
              </a:solidFill>
            </a:ln>
          </p:spPr>
        </p:sp>
        <p:sp>
          <p:nvSpPr>
            <p:cNvPr id="24" name="Ellipse 24"/>
            <p:cNvSpPr/>
            <p:nvPr/>
          </p:nvSpPr>
          <p:spPr>
            <a:xfrm>
              <a:off x="6048375" y="3667125"/>
              <a:ext cx="95250" cy="95250"/>
            </a:xfrm>
            <a:prstGeom prst="ellipse">
              <a:avLst/>
            </a:prstGeom>
            <a:solidFill>
              <a:srgbClr val="FF8F00"/>
            </a:solidFill>
            <a:ln>
              <a:noFill/>
            </a:ln>
          </p:spPr>
        </p:sp>
        <p:sp>
          <p:nvSpPr>
            <p:cNvPr id="25" name="Ellipse 25"/>
            <p:cNvSpPr/>
            <p:nvPr/>
          </p:nvSpPr>
          <p:spPr>
            <a:xfrm>
              <a:off x="6010275" y="3629025"/>
              <a:ext cx="171450" cy="171450"/>
            </a:xfrm>
            <a:prstGeom prst="ellipse">
              <a:avLst/>
            </a:prstGeom>
            <a:noFill/>
            <a:ln w="9525">
              <a:solidFill>
                <a:srgbClr val="FF8F00">
                  <a:alpha val="45000"/>
                </a:srgbClr>
              </a:solidFill>
            </a:ln>
          </p:spPr>
        </p:sp>
        <p:sp>
          <p:nvSpPr>
            <p:cNvPr id="26" name="Line 26"/>
            <p:cNvSpPr/>
            <p:nvPr/>
          </p:nvSpPr>
          <p:spPr>
            <a:xfrm>
              <a:off x="6286500" y="3714750"/>
              <a:ext cx="1714500" cy="9525"/>
            </a:xfrm>
            <a:custGeom>
              <a:avLst/>
              <a:gdLst/>
              <a:ahLst/>
              <a:cxnLst/>
              <a:rect l="l" t="t" r="r" b="b"/>
              <a:pathLst>
                <a:path w="1714500" h="9525">
                  <a:moveTo>
                    <a:pt x="0" y="0"/>
                  </a:moveTo>
                  <a:lnTo>
                    <a:pt x="1714500" y="0"/>
                  </a:lnTo>
                </a:path>
              </a:pathLst>
            </a:custGeom>
            <a:noFill/>
            <a:ln w="14288" cap="rnd">
              <a:solidFill>
                <a:srgbClr val="FF8F00">
                  <a:alpha val="55000"/>
                </a:srgbClr>
              </a:solidFill>
            </a:ln>
          </p:spPr>
        </p:sp>
      </p:grpSp>
      <p:grpSp>
        <p:nvGrpSpPr>
          <p:cNvPr id="53" name="Group 53"/>
          <p:cNvGrpSpPr/>
          <p:nvPr/>
        </p:nvGrpSpPr>
        <p:grpSpPr>
          <a:xfrm>
            <a:off x="2952750" y="4191000"/>
            <a:ext cx="6286500" cy="762000"/>
            <a:chOff x="2952750" y="4191000"/>
            <a:chExt cx="6286500" cy="762000"/>
          </a:xfrm>
        </p:grpSpPr>
        <p:grpSp>
          <p:nvGrpSpPr>
            <p:cNvPr id="37" name="Group 37"/>
            <p:cNvGrpSpPr/>
            <p:nvPr/>
          </p:nvGrpSpPr>
          <p:grpSpPr>
            <a:xfrm>
              <a:off x="2952750" y="4191000"/>
              <a:ext cx="1905000" cy="762000"/>
              <a:chOff x="2952750" y="4191000"/>
              <a:chExt cx="1905000" cy="762000"/>
            </a:xfrm>
          </p:grpSpPr>
          <p:sp>
            <p:nvSpPr>
              <p:cNvPr id="28" name="Rectangle 28"/>
              <p:cNvSpPr/>
              <p:nvPr/>
            </p:nvSpPr>
            <p:spPr>
              <a:xfrm>
                <a:off x="2952750" y="4191000"/>
                <a:ext cx="1905000" cy="762000"/>
              </a:xfrm>
              <a:prstGeom prst="roundRect">
                <a:avLst>
                  <a:gd name="adj" fmla="val 15000"/>
                </a:avLst>
              </a:prstGeom>
              <a:solidFill>
                <a:srgbClr val="FFFFFF">
                  <a:alpha val="12000"/>
                </a:srgbClr>
              </a:solidFill>
              <a:ln>
                <a:noFill/>
              </a:ln>
              <a:effectLst>
                <a:outerShdw blurRad="114300" dist="38100" dir="5400000" algn="ctr" rotWithShape="0">
                  <a:srgbClr val="0F172A">
                    <a:alpha val="22500"/>
                  </a:srgbClr>
                </a:outerShdw>
              </a:effectLst>
            </p:spPr>
          </p:sp>
          <p:sp>
            <p:nvSpPr>
              <p:cNvPr id="29" name="Rectangle 29"/>
              <p:cNvSpPr/>
              <p:nvPr/>
            </p:nvSpPr>
            <p:spPr>
              <a:xfrm>
                <a:off x="2952750" y="4191000"/>
                <a:ext cx="1905000" cy="762000"/>
              </a:xfrm>
              <a:prstGeom prst="roundRect">
                <a:avLst>
                  <a:gd name="adj" fmla="val 15000"/>
                </a:avLst>
              </a:prstGeom>
              <a:noFill/>
              <a:ln w="9525">
                <a:solidFill>
                  <a:srgbClr val="FFFFFF">
                    <a:alpha val="25000"/>
                  </a:srgbClr>
                </a:solidFill>
              </a:ln>
            </p:spPr>
          </p:sp>
          <p:grpSp>
            <p:nvGrpSpPr>
              <p:cNvPr id="34" name="Group 34"/>
              <p:cNvGrpSpPr/>
              <p:nvPr/>
            </p:nvGrpSpPr>
            <p:grpSpPr>
              <a:xfrm>
                <a:off x="3117056" y="4355306"/>
                <a:ext cx="185738" cy="185738"/>
                <a:chOff x="3117056" y="4355306"/>
                <a:chExt cx="185738" cy="185738"/>
              </a:xfrm>
            </p:grpSpPr>
            <p:sp>
              <p:nvSpPr>
                <p:cNvPr id="30" name="Freeform 30"/>
                <p:cNvSpPr/>
                <p:nvPr/>
              </p:nvSpPr>
              <p:spPr>
                <a:xfrm>
                  <a:off x="3137694" y="4355306"/>
                  <a:ext cx="82550" cy="82550"/>
                </a:xfrm>
                <a:custGeom>
                  <a:avLst/>
                  <a:gdLst/>
                  <a:ahLst/>
                  <a:cxnLst/>
                  <a:rect l="l" t="t" r="r" b="b"/>
                  <a:pathLst>
                    <a:path w="82550" h="82550">
                      <a:moveTo>
                        <a:pt x="0" y="41275"/>
                      </a:moveTo>
                      <a:cubicBezTo>
                        <a:pt x="0" y="64071"/>
                        <a:pt x="18479" y="82550"/>
                        <a:pt x="41275" y="82550"/>
                      </a:cubicBezTo>
                      <a:cubicBezTo>
                        <a:pt x="64071" y="82550"/>
                        <a:pt x="82550" y="64071"/>
                        <a:pt x="82550" y="41275"/>
                      </a:cubicBezTo>
                      <a:cubicBezTo>
                        <a:pt x="82550" y="18479"/>
                        <a:pt x="64071" y="0"/>
                        <a:pt x="41275" y="0"/>
                      </a:cubicBezTo>
                      <a:cubicBezTo>
                        <a:pt x="18479" y="0"/>
                        <a:pt x="0" y="18479"/>
                        <a:pt x="0" y="41275"/>
                      </a:cubicBezTo>
                    </a:path>
                  </a:pathLst>
                </a:custGeom>
                <a:noFill/>
                <a:ln w="19050">
                  <a:solidFill>
                    <a:srgbClr val="FFB300"/>
                  </a:solidFill>
                </a:ln>
              </p:spPr>
            </p:sp>
            <p:sp>
              <p:nvSpPr>
                <p:cNvPr id="31" name="Freeform 31"/>
                <p:cNvSpPr/>
                <p:nvPr/>
              </p:nvSpPr>
              <p:spPr>
                <a:xfrm>
                  <a:off x="3117056" y="4479131"/>
                  <a:ext cx="123825" cy="61912"/>
                </a:xfrm>
                <a:custGeom>
                  <a:avLst/>
                  <a:gdLst/>
                  <a:ahLst/>
                  <a:cxnLst/>
                  <a:rect l="l" t="t" r="r" b="b"/>
                  <a:pathLst>
                    <a:path w="123825" h="61912">
                      <a:moveTo>
                        <a:pt x="0" y="61912"/>
                      </a:moveTo>
                      <a:lnTo>
                        <a:pt x="0" y="41275"/>
                      </a:lnTo>
                      <a:cubicBezTo>
                        <a:pt x="0" y="18479"/>
                        <a:pt x="18479" y="0"/>
                        <a:pt x="41275" y="0"/>
                      </a:cubicBezTo>
                      <a:lnTo>
                        <a:pt x="82550" y="0"/>
                      </a:lnTo>
                      <a:cubicBezTo>
                        <a:pt x="105346" y="0"/>
                        <a:pt x="123825" y="18479"/>
                        <a:pt x="123825" y="41275"/>
                      </a:cubicBezTo>
                      <a:lnTo>
                        <a:pt x="123825" y="61912"/>
                      </a:lnTo>
                    </a:path>
                  </a:pathLst>
                </a:custGeom>
                <a:noFill/>
                <a:ln w="19050">
                  <a:solidFill>
                    <a:srgbClr val="FFB300"/>
                  </a:solidFill>
                </a:ln>
              </p:spPr>
            </p:sp>
            <p:sp>
              <p:nvSpPr>
                <p:cNvPr id="32" name="Freeform 32"/>
                <p:cNvSpPr/>
                <p:nvPr/>
              </p:nvSpPr>
              <p:spPr>
                <a:xfrm>
                  <a:off x="3251200" y="4356648"/>
                  <a:ext cx="31037" cy="79970"/>
                </a:xfrm>
                <a:custGeom>
                  <a:avLst/>
                  <a:gdLst/>
                  <a:ahLst/>
                  <a:cxnLst/>
                  <a:rect l="l" t="t" r="r" b="b"/>
                  <a:pathLst>
                    <a:path w="31037" h="79970">
                      <a:moveTo>
                        <a:pt x="0" y="0"/>
                      </a:moveTo>
                      <a:cubicBezTo>
                        <a:pt x="18263" y="4676"/>
                        <a:pt x="31037" y="21133"/>
                        <a:pt x="31037" y="39985"/>
                      </a:cubicBezTo>
                      <a:cubicBezTo>
                        <a:pt x="31037" y="58838"/>
                        <a:pt x="18263" y="75294"/>
                        <a:pt x="0" y="79970"/>
                      </a:cubicBezTo>
                    </a:path>
                  </a:pathLst>
                </a:custGeom>
                <a:noFill/>
                <a:ln w="19050">
                  <a:solidFill>
                    <a:srgbClr val="FFB300"/>
                  </a:solidFill>
                </a:ln>
              </p:spPr>
            </p:sp>
            <p:sp>
              <p:nvSpPr>
                <p:cNvPr id="33" name="Freeform 33"/>
                <p:cNvSpPr/>
                <p:nvPr/>
              </p:nvSpPr>
              <p:spPr>
                <a:xfrm>
                  <a:off x="3271838" y="4480679"/>
                  <a:ext cx="30956" cy="60365"/>
                </a:xfrm>
                <a:custGeom>
                  <a:avLst/>
                  <a:gdLst/>
                  <a:ahLst/>
                  <a:cxnLst/>
                  <a:rect l="l" t="t" r="r" b="b"/>
                  <a:pathLst>
                    <a:path w="30956" h="60365">
                      <a:moveTo>
                        <a:pt x="30956" y="60365"/>
                      </a:moveTo>
                      <a:lnTo>
                        <a:pt x="30956" y="39727"/>
                      </a:lnTo>
                      <a:cubicBezTo>
                        <a:pt x="30849" y="20994"/>
                        <a:pt x="18138" y="4683"/>
                        <a:pt x="0" y="0"/>
                      </a:cubicBezTo>
                    </a:path>
                  </a:pathLst>
                </a:custGeom>
                <a:noFill/>
                <a:ln w="19050">
                  <a:solidFill>
                    <a:srgbClr val="FFB300"/>
                  </a:solidFill>
                </a:ln>
              </p:spPr>
            </p:sp>
          </p:grpSp>
          <p:sp>
            <p:nvSpPr>
              <p:cNvPr id="35" name="TextBox 35"/>
              <p:cNvSpPr txBox="1"/>
              <p:nvPr/>
            </p:nvSpPr>
            <p:spPr>
              <a:xfrm>
                <a:off x="3417570" y="4398645"/>
                <a:ext cx="501720" cy="182880"/>
              </a:xfrm>
              <a:prstGeom prst="rect">
                <a:avLst/>
              </a:prstGeom>
              <a:noFill/>
              <a:ln>
                <a:noFill/>
              </a:ln>
            </p:spPr>
            <p:txBody>
              <a:bodyPr wrap="none" lIns="0" tIns="0" rIns="0" bIns="0" anchor="t" anchorCtr="0">
                <a:spAutoFit/>
              </a:bodyPr>
              <a:lstStyle/>
              <a:p>
                <a:pPr algn="l"/>
                <a:r>
                  <a:rPr lang="zh-CN" sz="900" b="1" dirty="0">
                    <a:solidFill>
                      <a:srgbClr val="FFB300"/>
                    </a:solidFill>
                    <a:latin typeface="Cambria"/>
                    <a:ea typeface="SimSun"/>
                    <a:cs typeface="Cambria"/>
                  </a:rPr>
                  <a:t>ADVISOR</a:t>
                </a:r>
              </a:p>
            </p:txBody>
          </p:sp>
          <p:sp>
            <p:nvSpPr>
              <p:cNvPr id="36" name="TextBox 36"/>
              <p:cNvSpPr txBox="1"/>
              <p:nvPr/>
            </p:nvSpPr>
            <p:spPr>
              <a:xfrm>
                <a:off x="3130868" y="4638199"/>
                <a:ext cx="1389936"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感谢指导教师悉心指导</a:t>
                </a:r>
              </a:p>
            </p:txBody>
          </p:sp>
        </p:grpSp>
        <p:grpSp>
          <p:nvGrpSpPr>
            <p:cNvPr id="43" name="Group 43"/>
            <p:cNvGrpSpPr/>
            <p:nvPr/>
          </p:nvGrpSpPr>
          <p:grpSpPr>
            <a:xfrm>
              <a:off x="5143500" y="4191000"/>
              <a:ext cx="1905000" cy="762000"/>
              <a:chOff x="5143500" y="4191000"/>
              <a:chExt cx="1905000" cy="762000"/>
            </a:xfrm>
          </p:grpSpPr>
          <p:sp>
            <p:nvSpPr>
              <p:cNvPr id="38" name="Rectangle 38"/>
              <p:cNvSpPr/>
              <p:nvPr/>
            </p:nvSpPr>
            <p:spPr>
              <a:xfrm>
                <a:off x="5143500" y="4191000"/>
                <a:ext cx="1905000" cy="762000"/>
              </a:xfrm>
              <a:prstGeom prst="roundRect">
                <a:avLst>
                  <a:gd name="adj" fmla="val 15000"/>
                </a:avLst>
              </a:prstGeom>
              <a:solidFill>
                <a:srgbClr val="FFFFFF">
                  <a:alpha val="12000"/>
                </a:srgbClr>
              </a:solidFill>
              <a:ln>
                <a:noFill/>
              </a:ln>
              <a:effectLst>
                <a:outerShdw blurRad="114300" dist="38100" dir="5400000" algn="ctr" rotWithShape="0">
                  <a:srgbClr val="0F172A">
                    <a:alpha val="22500"/>
                  </a:srgbClr>
                </a:outerShdw>
              </a:effectLst>
            </p:spPr>
          </p:sp>
          <p:sp>
            <p:nvSpPr>
              <p:cNvPr id="39" name="Rectangle 39"/>
              <p:cNvSpPr/>
              <p:nvPr/>
            </p:nvSpPr>
            <p:spPr>
              <a:xfrm>
                <a:off x="5143500" y="4191000"/>
                <a:ext cx="1905000" cy="762000"/>
              </a:xfrm>
              <a:prstGeom prst="roundRect">
                <a:avLst>
                  <a:gd name="adj" fmla="val 15000"/>
                </a:avLst>
              </a:prstGeom>
              <a:noFill/>
              <a:ln w="9525">
                <a:solidFill>
                  <a:srgbClr val="FFFFFF">
                    <a:alpha val="25000"/>
                  </a:srgbClr>
                </a:solidFill>
              </a:ln>
            </p:spPr>
          </p:sp>
          <p:sp>
            <p:nvSpPr>
              <p:cNvPr id="40" name="Freeform 40"/>
              <p:cNvSpPr/>
              <p:nvPr/>
            </p:nvSpPr>
            <p:spPr>
              <a:xfrm>
                <a:off x="5304233" y="4362978"/>
                <a:ext cx="192697" cy="167747"/>
              </a:xfrm>
              <a:custGeom>
                <a:avLst/>
                <a:gdLst/>
                <a:ahLst/>
                <a:cxnLst/>
                <a:rect l="l" t="t" r="r" b="b"/>
                <a:pathLst>
                  <a:path w="192697" h="167747">
                    <a:moveTo>
                      <a:pt x="173832" y="91100"/>
                    </a:moveTo>
                    <a:lnTo>
                      <a:pt x="96442" y="167747"/>
                    </a:lnTo>
                    <a:lnTo>
                      <a:pt x="19051" y="91100"/>
                    </a:lnTo>
                    <a:cubicBezTo>
                      <a:pt x="5134" y="77557"/>
                      <a:pt x="0" y="57347"/>
                      <a:pt x="5766" y="38804"/>
                    </a:cubicBezTo>
                    <a:cubicBezTo>
                      <a:pt x="11531" y="20262"/>
                      <a:pt x="27220" y="6527"/>
                      <a:pt x="46362" y="3263"/>
                    </a:cubicBezTo>
                    <a:cubicBezTo>
                      <a:pt x="65505" y="0"/>
                      <a:pt x="84858" y="7761"/>
                      <a:pt x="96442" y="23347"/>
                    </a:cubicBezTo>
                    <a:cubicBezTo>
                      <a:pt x="108074" y="7877"/>
                      <a:pt x="127386" y="218"/>
                      <a:pt x="146459" y="3512"/>
                    </a:cubicBezTo>
                    <a:cubicBezTo>
                      <a:pt x="165532" y="6806"/>
                      <a:pt x="181157" y="20498"/>
                      <a:pt x="186927" y="38973"/>
                    </a:cubicBezTo>
                    <a:cubicBezTo>
                      <a:pt x="192697" y="57448"/>
                      <a:pt x="187641" y="77599"/>
                      <a:pt x="173832" y="91161"/>
                    </a:cubicBezTo>
                  </a:path>
                </a:pathLst>
              </a:custGeom>
              <a:noFill/>
              <a:ln w="19050">
                <a:solidFill>
                  <a:srgbClr val="FFB300"/>
                </a:solidFill>
              </a:ln>
            </p:spPr>
          </p:sp>
          <p:sp>
            <p:nvSpPr>
              <p:cNvPr id="41" name="TextBox 41"/>
              <p:cNvSpPr txBox="1"/>
              <p:nvPr/>
            </p:nvSpPr>
            <p:spPr>
              <a:xfrm>
                <a:off x="5608320" y="4398645"/>
                <a:ext cx="369403" cy="182880"/>
              </a:xfrm>
              <a:prstGeom prst="rect">
                <a:avLst/>
              </a:prstGeom>
              <a:noFill/>
              <a:ln>
                <a:noFill/>
              </a:ln>
            </p:spPr>
            <p:txBody>
              <a:bodyPr wrap="none" lIns="0" tIns="0" rIns="0" bIns="0" anchor="t" anchorCtr="0">
                <a:spAutoFit/>
              </a:bodyPr>
              <a:lstStyle/>
              <a:p>
                <a:pPr algn="l"/>
                <a:r>
                  <a:rPr lang="zh-CN" sz="900" b="1" dirty="0">
                    <a:solidFill>
                      <a:srgbClr val="FFB300"/>
                    </a:solidFill>
                    <a:latin typeface="Cambria"/>
                    <a:ea typeface="SimSun"/>
                    <a:cs typeface="Cambria"/>
                  </a:rPr>
                  <a:t>PEERS</a:t>
                </a:r>
              </a:p>
            </p:txBody>
          </p:sp>
          <p:sp>
            <p:nvSpPr>
              <p:cNvPr id="42" name="TextBox 42"/>
              <p:cNvSpPr txBox="1"/>
              <p:nvPr/>
            </p:nvSpPr>
            <p:spPr>
              <a:xfrm>
                <a:off x="5321618" y="4638199"/>
                <a:ext cx="125341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感谢同学讨论与启发</a:t>
                </a:r>
              </a:p>
            </p:txBody>
          </p:sp>
        </p:grpSp>
        <p:grpSp>
          <p:nvGrpSpPr>
            <p:cNvPr id="52" name="Group 52"/>
            <p:cNvGrpSpPr/>
            <p:nvPr/>
          </p:nvGrpSpPr>
          <p:grpSpPr>
            <a:xfrm>
              <a:off x="7334250" y="4191000"/>
              <a:ext cx="1905000" cy="762000"/>
              <a:chOff x="7334250" y="4191000"/>
              <a:chExt cx="1905000" cy="762000"/>
            </a:xfrm>
          </p:grpSpPr>
          <p:sp>
            <p:nvSpPr>
              <p:cNvPr id="44" name="Rectangle 44"/>
              <p:cNvSpPr/>
              <p:nvPr/>
            </p:nvSpPr>
            <p:spPr>
              <a:xfrm>
                <a:off x="7334250" y="4191000"/>
                <a:ext cx="1905000" cy="762000"/>
              </a:xfrm>
              <a:prstGeom prst="roundRect">
                <a:avLst>
                  <a:gd name="adj" fmla="val 15000"/>
                </a:avLst>
              </a:prstGeom>
              <a:solidFill>
                <a:srgbClr val="FFFFFF">
                  <a:alpha val="12000"/>
                </a:srgbClr>
              </a:solidFill>
              <a:ln>
                <a:noFill/>
              </a:ln>
              <a:effectLst>
                <a:outerShdw blurRad="114300" dist="38100" dir="5400000" algn="ctr" rotWithShape="0">
                  <a:srgbClr val="0F172A">
                    <a:alpha val="22500"/>
                  </a:srgbClr>
                </a:outerShdw>
              </a:effectLst>
            </p:spPr>
          </p:sp>
          <p:sp>
            <p:nvSpPr>
              <p:cNvPr id="45" name="Rectangle 45"/>
              <p:cNvSpPr/>
              <p:nvPr/>
            </p:nvSpPr>
            <p:spPr>
              <a:xfrm>
                <a:off x="7334250" y="4191000"/>
                <a:ext cx="1905000" cy="762000"/>
              </a:xfrm>
              <a:prstGeom prst="roundRect">
                <a:avLst>
                  <a:gd name="adj" fmla="val 15000"/>
                </a:avLst>
              </a:prstGeom>
              <a:noFill/>
              <a:ln w="9525">
                <a:solidFill>
                  <a:srgbClr val="FFFFFF">
                    <a:alpha val="25000"/>
                  </a:srgbClr>
                </a:solidFill>
              </a:ln>
            </p:spPr>
          </p:sp>
          <p:grpSp>
            <p:nvGrpSpPr>
              <p:cNvPr id="49" name="Group 49"/>
              <p:cNvGrpSpPr/>
              <p:nvPr/>
            </p:nvGrpSpPr>
            <p:grpSpPr>
              <a:xfrm>
                <a:off x="7528503" y="4355306"/>
                <a:ext cx="125844" cy="185738"/>
                <a:chOff x="7528503" y="4355306"/>
                <a:chExt cx="125844" cy="185738"/>
              </a:xfrm>
            </p:grpSpPr>
            <p:sp>
              <p:nvSpPr>
                <p:cNvPr id="46" name="Freeform 46"/>
                <p:cNvSpPr/>
                <p:nvPr/>
              </p:nvSpPr>
              <p:spPr>
                <a:xfrm>
                  <a:off x="7560469" y="4355306"/>
                  <a:ext cx="61912" cy="9525"/>
                </a:xfrm>
                <a:custGeom>
                  <a:avLst/>
                  <a:gdLst/>
                  <a:ahLst/>
                  <a:cxnLst/>
                  <a:rect l="l" t="t" r="r" b="b"/>
                  <a:pathLst>
                    <a:path w="61912" h="9525">
                      <a:moveTo>
                        <a:pt x="0" y="0"/>
                      </a:moveTo>
                      <a:lnTo>
                        <a:pt x="61912" y="0"/>
                      </a:lnTo>
                    </a:path>
                  </a:pathLst>
                </a:custGeom>
                <a:noFill/>
                <a:ln w="19050">
                  <a:solidFill>
                    <a:srgbClr val="FFB300"/>
                  </a:solidFill>
                </a:ln>
              </p:spPr>
            </p:sp>
            <p:sp>
              <p:nvSpPr>
                <p:cNvPr id="47" name="Freeform 47"/>
                <p:cNvSpPr/>
                <p:nvPr/>
              </p:nvSpPr>
              <p:spPr>
                <a:xfrm>
                  <a:off x="7570788" y="4417219"/>
                  <a:ext cx="41275" cy="9525"/>
                </a:xfrm>
                <a:custGeom>
                  <a:avLst/>
                  <a:gdLst/>
                  <a:ahLst/>
                  <a:cxnLst/>
                  <a:rect l="l" t="t" r="r" b="b"/>
                  <a:pathLst>
                    <a:path w="41275" h="9525">
                      <a:moveTo>
                        <a:pt x="0" y="0"/>
                      </a:moveTo>
                      <a:lnTo>
                        <a:pt x="41275" y="0"/>
                      </a:lnTo>
                    </a:path>
                  </a:pathLst>
                </a:custGeom>
                <a:noFill/>
                <a:ln w="19050">
                  <a:solidFill>
                    <a:srgbClr val="FFB300"/>
                  </a:solidFill>
                </a:ln>
              </p:spPr>
            </p:sp>
            <p:sp>
              <p:nvSpPr>
                <p:cNvPr id="48" name="Freeform 48"/>
                <p:cNvSpPr/>
                <p:nvPr/>
              </p:nvSpPr>
              <p:spPr>
                <a:xfrm>
                  <a:off x="7528503" y="4355306"/>
                  <a:ext cx="125844" cy="185738"/>
                </a:xfrm>
                <a:custGeom>
                  <a:avLst/>
                  <a:gdLst/>
                  <a:ahLst/>
                  <a:cxnLst/>
                  <a:rect l="l" t="t" r="r" b="b"/>
                  <a:pathLst>
                    <a:path w="125844" h="185738">
                      <a:moveTo>
                        <a:pt x="42284" y="0"/>
                      </a:moveTo>
                      <a:lnTo>
                        <a:pt x="42284" y="61912"/>
                      </a:lnTo>
                      <a:lnTo>
                        <a:pt x="1009" y="175419"/>
                      </a:lnTo>
                      <a:cubicBezTo>
                        <a:pt x="0" y="177449"/>
                        <a:pt x="3" y="179836"/>
                        <a:pt x="1017" y="181864"/>
                      </a:cubicBezTo>
                      <a:cubicBezTo>
                        <a:pt x="2031" y="183892"/>
                        <a:pt x="3939" y="185327"/>
                        <a:pt x="6169" y="185738"/>
                      </a:cubicBezTo>
                      <a:lnTo>
                        <a:pt x="119675" y="185738"/>
                      </a:lnTo>
                      <a:cubicBezTo>
                        <a:pt x="121905" y="185327"/>
                        <a:pt x="123813" y="183892"/>
                        <a:pt x="124827" y="181864"/>
                      </a:cubicBezTo>
                      <a:cubicBezTo>
                        <a:pt x="125841" y="179836"/>
                        <a:pt x="125844" y="177449"/>
                        <a:pt x="124834" y="175419"/>
                      </a:cubicBezTo>
                      <a:lnTo>
                        <a:pt x="83559" y="61912"/>
                      </a:lnTo>
                      <a:lnTo>
                        <a:pt x="83559" y="0"/>
                      </a:lnTo>
                    </a:path>
                  </a:pathLst>
                </a:custGeom>
                <a:noFill/>
                <a:ln w="19050">
                  <a:solidFill>
                    <a:srgbClr val="FFB300"/>
                  </a:solidFill>
                </a:ln>
              </p:spPr>
            </p:sp>
          </p:grpSp>
          <p:sp>
            <p:nvSpPr>
              <p:cNvPr id="50" name="TextBox 50"/>
              <p:cNvSpPr txBox="1"/>
              <p:nvPr/>
            </p:nvSpPr>
            <p:spPr>
              <a:xfrm>
                <a:off x="7799070" y="4398645"/>
                <a:ext cx="804158" cy="182880"/>
              </a:xfrm>
              <a:prstGeom prst="rect">
                <a:avLst/>
              </a:prstGeom>
              <a:noFill/>
              <a:ln>
                <a:noFill/>
              </a:ln>
            </p:spPr>
            <p:txBody>
              <a:bodyPr wrap="none" lIns="0" tIns="0" rIns="0" bIns="0" anchor="t" anchorCtr="0">
                <a:spAutoFit/>
              </a:bodyPr>
              <a:lstStyle/>
              <a:p>
                <a:pPr algn="l"/>
                <a:r>
                  <a:rPr lang="zh-CN" sz="900" b="1" dirty="0">
                    <a:solidFill>
                      <a:srgbClr val="FFB300"/>
                    </a:solidFill>
                    <a:latin typeface="Cambria"/>
                    <a:ea typeface="SimSun"/>
                    <a:cs typeface="Cambria"/>
                  </a:rPr>
                  <a:t>OPEN SOURCE</a:t>
                </a:r>
              </a:p>
            </p:txBody>
          </p:sp>
          <p:sp>
            <p:nvSpPr>
              <p:cNvPr id="51" name="TextBox 51"/>
              <p:cNvSpPr txBox="1"/>
              <p:nvPr/>
            </p:nvSpPr>
            <p:spPr>
              <a:xfrm>
                <a:off x="7512368" y="4638199"/>
                <a:ext cx="1389936"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感谢开源工具与数据集</a:t>
                </a:r>
              </a:p>
            </p:txBody>
          </p:sp>
        </p:grpSp>
      </p:grpSp>
      <p:grpSp>
        <p:nvGrpSpPr>
          <p:cNvPr id="61" name="Group 61"/>
          <p:cNvGrpSpPr/>
          <p:nvPr/>
        </p:nvGrpSpPr>
        <p:grpSpPr>
          <a:xfrm>
            <a:off x="3238500" y="5258752"/>
            <a:ext cx="5715000" cy="213360"/>
            <a:chOff x="3238500" y="5258752"/>
            <a:chExt cx="5715000" cy="213360"/>
          </a:xfrm>
        </p:grpSpPr>
        <p:sp>
          <p:nvSpPr>
            <p:cNvPr id="54" name="Line 54"/>
            <p:cNvSpPr/>
            <p:nvPr/>
          </p:nvSpPr>
          <p:spPr>
            <a:xfrm>
              <a:off x="3238500" y="5334000"/>
              <a:ext cx="1143000" cy="9525"/>
            </a:xfrm>
            <a:custGeom>
              <a:avLst/>
              <a:gdLst/>
              <a:ahLst/>
              <a:cxnLst/>
              <a:rect l="l" t="t" r="r" b="b"/>
              <a:pathLst>
                <a:path w="1143000" h="9525">
                  <a:moveTo>
                    <a:pt x="0" y="0"/>
                  </a:moveTo>
                  <a:lnTo>
                    <a:pt x="1143000" y="0"/>
                  </a:lnTo>
                </a:path>
              </a:pathLst>
            </a:custGeom>
            <a:noFill/>
            <a:ln w="9525">
              <a:solidFill>
                <a:srgbClr val="FFFFFF">
                  <a:alpha val="30000"/>
                </a:srgbClr>
              </a:solidFill>
            </a:ln>
          </p:spPr>
        </p:sp>
        <p:sp>
          <p:nvSpPr>
            <p:cNvPr id="55" name="TextBox 55"/>
            <p:cNvSpPr txBox="1"/>
            <p:nvPr/>
          </p:nvSpPr>
          <p:spPr>
            <a:xfrm>
              <a:off x="4653915" y="5258752"/>
              <a:ext cx="902491" cy="161583"/>
            </a:xfrm>
            <a:prstGeom prst="rect">
              <a:avLst/>
            </a:prstGeom>
            <a:noFill/>
            <a:ln>
              <a:noFill/>
            </a:ln>
          </p:spPr>
          <p:txBody>
            <a:bodyPr wrap="none" lIns="0" tIns="0" rIns="0" bIns="0" anchor="t" anchorCtr="0">
              <a:spAutoFit/>
            </a:bodyPr>
            <a:lstStyle/>
            <a:p>
              <a:pPr algn="l"/>
              <a:r>
                <a:rPr lang="zh-CN" sz="1050" b="1" dirty="0">
                  <a:solidFill>
                    <a:srgbClr val="FFFFFF">
                      <a:alphaMod val="85000"/>
                    </a:srgbClr>
                  </a:solidFill>
                  <a:latin typeface="Cambria"/>
                  <a:ea typeface="SimSun"/>
                  <a:cs typeface="Cambria"/>
                </a:rPr>
                <a:t>答辩人 · </a:t>
              </a:r>
              <a:r>
                <a:rPr lang="zh-CN" altLang="en-US" sz="1050" b="1" dirty="0">
                  <a:solidFill>
                    <a:srgbClr val="FFFFFF">
                      <a:alphaMod val="85000"/>
                    </a:srgbClr>
                  </a:solidFill>
                  <a:latin typeface="Cambria"/>
                  <a:ea typeface="SimSun"/>
                  <a:cs typeface="Cambria"/>
                </a:rPr>
                <a:t>刘思彤</a:t>
              </a:r>
              <a:endParaRPr lang="zh-CN" sz="1050" b="1" dirty="0">
                <a:solidFill>
                  <a:srgbClr val="FFFFFF">
                    <a:alphaMod val="85000"/>
                  </a:srgbClr>
                </a:solidFill>
                <a:latin typeface="Cambria"/>
                <a:ea typeface="SimSun"/>
                <a:cs typeface="Cambria"/>
              </a:endParaRPr>
            </a:p>
          </p:txBody>
        </p:sp>
        <p:sp>
          <p:nvSpPr>
            <p:cNvPr id="56" name="Ellipse 56"/>
            <p:cNvSpPr/>
            <p:nvPr/>
          </p:nvSpPr>
          <p:spPr>
            <a:xfrm>
              <a:off x="5695950" y="5314950"/>
              <a:ext cx="38100" cy="38100"/>
            </a:xfrm>
            <a:prstGeom prst="ellipse">
              <a:avLst/>
            </a:prstGeom>
            <a:solidFill>
              <a:srgbClr val="FF8F00"/>
            </a:solidFill>
            <a:ln>
              <a:noFill/>
            </a:ln>
          </p:spPr>
        </p:sp>
        <p:sp>
          <p:nvSpPr>
            <p:cNvPr id="57" name="TextBox 57"/>
            <p:cNvSpPr txBox="1"/>
            <p:nvPr/>
          </p:nvSpPr>
          <p:spPr>
            <a:xfrm>
              <a:off x="5892165" y="5258752"/>
              <a:ext cx="1055799" cy="213360"/>
            </a:xfrm>
            <a:prstGeom prst="rect">
              <a:avLst/>
            </a:prstGeom>
            <a:noFill/>
            <a:ln>
              <a:noFill/>
            </a:ln>
          </p:spPr>
          <p:txBody>
            <a:bodyPr wrap="none" lIns="0" tIns="0" rIns="0" bIns="0" anchor="t" anchorCtr="0">
              <a:spAutoFit/>
            </a:bodyPr>
            <a:lstStyle/>
            <a:p>
              <a:pPr algn="l"/>
              <a:r>
                <a:rPr lang="zh-CN" sz="1050" b="1" dirty="0">
                  <a:solidFill>
                    <a:srgbClr val="FFFFFF">
                      <a:alphaMod val="85000"/>
                    </a:srgbClr>
                  </a:solidFill>
                  <a:latin typeface="Cambria"/>
                  <a:ea typeface="SimSun"/>
                  <a:cs typeface="Cambria"/>
                </a:rPr>
                <a:t>智能系统大作业</a:t>
              </a:r>
            </a:p>
          </p:txBody>
        </p:sp>
        <p:sp>
          <p:nvSpPr>
            <p:cNvPr id="58" name="Ellipse 58"/>
            <p:cNvSpPr/>
            <p:nvPr/>
          </p:nvSpPr>
          <p:spPr>
            <a:xfrm>
              <a:off x="7124700" y="5314950"/>
              <a:ext cx="38100" cy="38100"/>
            </a:xfrm>
            <a:prstGeom prst="ellipse">
              <a:avLst/>
            </a:prstGeom>
            <a:solidFill>
              <a:srgbClr val="FF8F00"/>
            </a:solidFill>
            <a:ln>
              <a:noFill/>
            </a:ln>
          </p:spPr>
        </p:sp>
        <p:sp>
          <p:nvSpPr>
            <p:cNvPr id="59" name="TextBox 59"/>
            <p:cNvSpPr txBox="1"/>
            <p:nvPr/>
          </p:nvSpPr>
          <p:spPr>
            <a:xfrm>
              <a:off x="7320915" y="5258752"/>
              <a:ext cx="835271" cy="213360"/>
            </a:xfrm>
            <a:prstGeom prst="rect">
              <a:avLst/>
            </a:prstGeom>
            <a:noFill/>
            <a:ln>
              <a:noFill/>
            </a:ln>
          </p:spPr>
          <p:txBody>
            <a:bodyPr wrap="none" lIns="0" tIns="0" rIns="0" bIns="0" anchor="t" anchorCtr="0">
              <a:spAutoFit/>
            </a:bodyPr>
            <a:lstStyle/>
            <a:p>
              <a:pPr algn="l"/>
              <a:r>
                <a:rPr lang="zh-CN" sz="1050" b="1" dirty="0">
                  <a:solidFill>
                    <a:srgbClr val="FFFFFF">
                      <a:alphaMod val="85000"/>
                    </a:srgbClr>
                  </a:solidFill>
                  <a:latin typeface="Cambria"/>
                  <a:ea typeface="SimSun"/>
                  <a:cs typeface="Cambria"/>
                </a:rPr>
                <a:t>2026-08-23</a:t>
              </a:r>
            </a:p>
          </p:txBody>
        </p:sp>
        <p:sp>
          <p:nvSpPr>
            <p:cNvPr id="60" name="Line 60"/>
            <p:cNvSpPr/>
            <p:nvPr/>
          </p:nvSpPr>
          <p:spPr>
            <a:xfrm>
              <a:off x="8286750" y="5334000"/>
              <a:ext cx="666750" cy="9525"/>
            </a:xfrm>
            <a:custGeom>
              <a:avLst/>
              <a:gdLst/>
              <a:ahLst/>
              <a:cxnLst/>
              <a:rect l="l" t="t" r="r" b="b"/>
              <a:pathLst>
                <a:path w="666750" h="9525">
                  <a:moveTo>
                    <a:pt x="0" y="0"/>
                  </a:moveTo>
                  <a:lnTo>
                    <a:pt x="666750" y="0"/>
                  </a:lnTo>
                </a:path>
              </a:pathLst>
            </a:custGeom>
            <a:noFill/>
            <a:ln w="9525">
              <a:solidFill>
                <a:srgbClr val="FFFFFF">
                  <a:alpha val="30000"/>
                </a:srgbClr>
              </a:solidFill>
            </a:ln>
          </p:spPr>
        </p:sp>
      </p:grpSp>
      <p:sp>
        <p:nvSpPr>
          <p:cNvPr id="62" name="TextBox 62"/>
          <p:cNvSpPr txBox="1"/>
          <p:nvPr/>
        </p:nvSpPr>
        <p:spPr>
          <a:xfrm>
            <a:off x="3282752" y="5800249"/>
            <a:ext cx="5626541" cy="150041"/>
          </a:xfrm>
          <a:prstGeom prst="rect">
            <a:avLst/>
          </a:prstGeom>
          <a:noFill/>
          <a:ln>
            <a:noFill/>
          </a:ln>
        </p:spPr>
        <p:txBody>
          <a:bodyPr wrap="none" lIns="0" tIns="0" rIns="0" bIns="0" anchor="t" anchorCtr="0">
            <a:spAutoFit/>
          </a:bodyPr>
          <a:lstStyle/>
          <a:p>
            <a:pPr algn="ctr"/>
            <a:r>
              <a:rPr lang="zh-CN" altLang="en-US" sz="975" i="1" dirty="0">
                <a:solidFill>
                  <a:srgbClr val="FFFFFF">
                    <a:alphaMod val="65000"/>
                  </a:srgbClr>
                </a:solidFill>
                <a:latin typeface="Cambria"/>
                <a:ea typeface="SimSun"/>
                <a:cs typeface="Cambria"/>
              </a:rPr>
              <a:t>注：本幻灯片仅展示了核心成果，更加具体的其他内容请参考</a:t>
            </a:r>
            <a:r>
              <a:rPr lang="en-US" altLang="zh-CN" sz="975" i="1" dirty="0">
                <a:solidFill>
                  <a:srgbClr val="FFFFFF">
                    <a:alphaMod val="65000"/>
                  </a:srgbClr>
                </a:solidFill>
                <a:latin typeface="Cambria"/>
                <a:ea typeface="SimSun"/>
                <a:cs typeface="Cambria"/>
              </a:rPr>
              <a:t>readme</a:t>
            </a:r>
            <a:r>
              <a:rPr lang="zh-CN" altLang="en-US" sz="975" i="1" dirty="0">
                <a:solidFill>
                  <a:srgbClr val="FFFFFF">
                    <a:alphaMod val="65000"/>
                  </a:srgbClr>
                </a:solidFill>
                <a:latin typeface="Cambria"/>
                <a:ea typeface="SimSun"/>
                <a:cs typeface="Cambria"/>
              </a:rPr>
              <a:t>、完整实验报告与失败案例分析</a:t>
            </a:r>
            <a:endParaRPr lang="zh-CN" sz="975" i="1" dirty="0">
              <a:solidFill>
                <a:srgbClr val="FFFFFF">
                  <a:alphaMod val="65000"/>
                </a:srgbClr>
              </a:solidFill>
              <a:latin typeface="Cambria"/>
              <a:ea typeface="SimSun"/>
              <a:cs typeface="Cambria"/>
            </a:endParaRPr>
          </a:p>
        </p:txBody>
      </p:sp>
      <p:sp>
        <p:nvSpPr>
          <p:cNvPr id="63" name="TextBox 63"/>
          <p:cNvSpPr txBox="1"/>
          <p:nvPr/>
        </p:nvSpPr>
        <p:spPr>
          <a:xfrm>
            <a:off x="4608588" y="6483191"/>
            <a:ext cx="2974824" cy="167640"/>
          </a:xfrm>
          <a:prstGeom prst="rect">
            <a:avLst/>
          </a:prstGeom>
          <a:noFill/>
          <a:ln>
            <a:noFill/>
          </a:ln>
        </p:spPr>
        <p:txBody>
          <a:bodyPr wrap="none" lIns="0" tIns="0" rIns="0" bIns="0" anchor="t" anchorCtr="0">
            <a:spAutoFit/>
          </a:bodyPr>
          <a:lstStyle/>
          <a:p>
            <a:pPr algn="ctr"/>
            <a:r>
              <a:rPr lang="zh-CN" sz="825" dirty="0">
                <a:solidFill>
                  <a:srgbClr val="FFFFFF">
                    <a:alphaMod val="55000"/>
                  </a:srgbClr>
                </a:solidFill>
                <a:latin typeface="Arial"/>
                <a:ea typeface="Microsoft YaHei"/>
                <a:cs typeface="Arial"/>
              </a:rPr>
              <a:t>智能食物营养分析系统答辩 · Chapter 6 · Closing · 30 / 30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image">
                                      <p:cBhvr>
                                        <p:cTn id="7" dur="400"/>
                                        <p:tgtEl>
                                          <p:spTgt spid="53"/>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61"/>
                                        </p:tgtEl>
                                        <p:attrNameLst>
                                          <p:attrName>style.visibility</p:attrName>
                                        </p:attrNameLst>
                                      </p:cBhvr>
                                      <p:to>
                                        <p:strVal val="visible"/>
                                      </p:to>
                                    </p:set>
                                    <p:animEffect transition="in" filter="fade">
                                      <p:cBhvr>
                                        <p:cTn id="11"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6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63C0DA-CB56-58F7-6B0E-A3BCC16660C9}"/>
              </a:ext>
            </a:extLst>
          </p:cNvPr>
          <p:cNvSpPr>
            <a:spLocks noGrp="1"/>
          </p:cNvSpPr>
          <p:nvPr>
            <p:ph type="ctrTitle"/>
          </p:nvPr>
        </p:nvSpPr>
        <p:spPr>
          <a:xfrm>
            <a:off x="2209800" y="2130425"/>
            <a:ext cx="7772400" cy="1470025"/>
          </a:xfrm>
        </p:spPr>
        <p:txBody>
          <a:bodyPr/>
          <a:lstStyle/>
          <a:p>
            <a:r>
              <a:rPr lang="en-US" altLang="zh-CN" dirty="0"/>
              <a:t>GitHub</a:t>
            </a:r>
            <a:r>
              <a:rPr lang="zh-CN" altLang="en-US" dirty="0"/>
              <a:t>链接：</a:t>
            </a:r>
          </a:p>
        </p:txBody>
      </p:sp>
      <p:sp>
        <p:nvSpPr>
          <p:cNvPr id="3" name="副标题 2">
            <a:extLst>
              <a:ext uri="{FF2B5EF4-FFF2-40B4-BE49-F238E27FC236}">
                <a16:creationId xmlns:a16="http://schemas.microsoft.com/office/drawing/2014/main" id="{B36784DB-D4D2-841E-F3AE-7E92D916127C}"/>
              </a:ext>
            </a:extLst>
          </p:cNvPr>
          <p:cNvSpPr>
            <a:spLocks noGrp="1"/>
          </p:cNvSpPr>
          <p:nvPr>
            <p:ph type="subTitle" idx="1"/>
          </p:nvPr>
        </p:nvSpPr>
        <p:spPr>
          <a:xfrm>
            <a:off x="2895600" y="3791858"/>
            <a:ext cx="6400800" cy="1752600"/>
          </a:xfrm>
        </p:spPr>
        <p:txBody>
          <a:bodyPr/>
          <a:lstStyle/>
          <a:p>
            <a:r>
              <a:rPr lang="en-US" altLang="zh-CN" dirty="0"/>
              <a:t>https://github.com/Liu-Sitong123/liusitong-calorie-agent</a:t>
            </a:r>
            <a:endParaRPr lang="zh-CN" altLang="en-US" dirty="0"/>
          </a:p>
        </p:txBody>
      </p:sp>
    </p:spTree>
    <p:extLst>
      <p:ext uri="{BB962C8B-B14F-4D97-AF65-F5344CB8AC3E}">
        <p14:creationId xmlns:p14="http://schemas.microsoft.com/office/powerpoint/2010/main" val="542600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17281</Words>
  <Application>Microsoft Office PowerPoint</Application>
  <PresentationFormat>宽屏</PresentationFormat>
  <Paragraphs>1167</Paragraphs>
  <Slides>31</Slides>
  <Notes>30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31</vt:i4>
      </vt:variant>
    </vt:vector>
  </HeadingPairs>
  <TitlesOfParts>
    <vt:vector size="36" baseType="lpstr">
      <vt:lpstr>Arial</vt:lpstr>
      <vt:lpstr>Calibri</vt:lpstr>
      <vt:lpstr>Cambria</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GitHub链接：</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sitong liu</cp:lastModifiedBy>
  <cp:revision>7</cp:revision>
  <dcterms:created xsi:type="dcterms:W3CDTF">2013-01-27T09:14:16Z</dcterms:created>
  <dcterms:modified xsi:type="dcterms:W3CDTF">2026-08-23T09:55:21Z</dcterms:modified>
  <cp:category/>
</cp:coreProperties>
</file>